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y="5143500" cx="9144000"/>
  <p:notesSz cx="5143500" cy="9144000"/>
  <p:embeddedFontLst>
    <p:embeddedFont>
      <p:font typeface="Quattrocento Sans"/>
      <p:regular r:id="rId64"/>
      <p:bold r:id="rId65"/>
      <p:italic r:id="rId66"/>
      <p:boldItalic r:id="rId67"/>
    </p:embeddedFont>
    <p:embeddedFont>
      <p:font typeface="Carlito"/>
      <p:bold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2C9997-6F46-4A23-839E-9CD501ED875D}">
  <a:tblStyle styleId="{032C9997-6F46-4A23-839E-9CD501ED875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QuattrocentoSans-regular.fntdata"/><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QuattrocentoSans-italic.fntdata"/><Relationship Id="rId21" Type="http://schemas.openxmlformats.org/officeDocument/2006/relationships/slide" Target="slides/slide16.xml"/><Relationship Id="rId65" Type="http://schemas.openxmlformats.org/officeDocument/2006/relationships/font" Target="fonts/QuattrocentoSans-bold.fntdata"/><Relationship Id="rId24" Type="http://schemas.openxmlformats.org/officeDocument/2006/relationships/slide" Target="slides/slide19.xml"/><Relationship Id="rId68" Type="http://schemas.openxmlformats.org/officeDocument/2006/relationships/font" Target="fonts/Carlito-bold.fntdata"/><Relationship Id="rId23" Type="http://schemas.openxmlformats.org/officeDocument/2006/relationships/slide" Target="slides/slide18.xml"/><Relationship Id="rId67" Type="http://schemas.openxmlformats.org/officeDocument/2006/relationships/font" Target="fonts/QuattrocentoSans-bold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Carlito-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9" name="Google Shape;59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2" name="Google Shape;712;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3" name="Google Shape;713;p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9" name="Google Shape;739;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 name="Google Shape;740;p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 name="Google Shape;761;p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6" name="Google Shape;786;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7" name="Google Shape;787;p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 name="Google Shape;809;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0" name="Google Shape;810;p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6" name="Google Shape;85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7" name="Google Shape;85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2" name="Google Shape;872;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3" name="Google Shape;873;p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4" name="Google Shape;914;p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5" name="Google Shape;915;p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7" name="Google Shape;947;p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8" name="Google Shape;948;p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0" name="Google Shape;970;p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1" name="Google Shape;971;p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1" name="Google Shape;1001;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2" name="Google Shape;1002;p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2" name="Google Shape;1032;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3" name="Google Shape;1033;p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1" name="Google Shape;1061;p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2" name="Google Shape;1062;p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5" name="Google Shape;1085;p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6" name="Google Shape;1086;p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5" name="Google Shape;1115;p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6" name="Google Shape;1116;p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7" name="Google Shape;1137;p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8" name="Google Shape;1138;p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5" name="Google Shape;1175;p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6" name="Google Shape;1176;p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2" name="Google Shape;1202;p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3" name="Google Shape;1203;p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2" name="Google Shape;1232;p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3" name="Google Shape;1233;p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2" name="Google Shape;1262;p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3" name="Google Shape;1263;p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6" name="Google Shape;1286;p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7" name="Google Shape;1287;p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4" name="Google Shape;1304;p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5" name="Google Shape;1305;p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4" name="Google Shape;1324;p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5" name="Google Shape;1325;p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5" name="Google Shape;1345;p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6" name="Google Shape;1346;p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0" name="Google Shape;1370;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1" name="Google Shape;1371;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5" name="Google Shape;1395;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6" name="Google Shape;1396;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8" name="Shape 1418"/>
        <p:cNvGrpSpPr/>
        <p:nvPr/>
      </p:nvGrpSpPr>
      <p:grpSpPr>
        <a:xfrm>
          <a:off x="0" y="0"/>
          <a:ext cx="0" cy="0"/>
          <a:chOff x="0" y="0"/>
          <a:chExt cx="0" cy="0"/>
        </a:xfrm>
      </p:grpSpPr>
      <p:sp>
        <p:nvSpPr>
          <p:cNvPr id="1419" name="Google Shape;1419;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0" name="Google Shape;1420;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1" name="Google Shape;1421;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6" name="Google Shape;1446;p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7" name="Google Shape;1447;p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0" name="Google Shape;1470;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1" name="Google Shape;1471;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5" name="Shape 1495"/>
        <p:cNvGrpSpPr/>
        <p:nvPr/>
      </p:nvGrpSpPr>
      <p:grpSpPr>
        <a:xfrm>
          <a:off x="0" y="0"/>
          <a:ext cx="0" cy="0"/>
          <a:chOff x="0" y="0"/>
          <a:chExt cx="0" cy="0"/>
        </a:xfrm>
      </p:grpSpPr>
      <p:sp>
        <p:nvSpPr>
          <p:cNvPr id="1496" name="Google Shape;1496;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7" name="Google Shape;1497;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8" name="Google Shape;1498;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8" name="Shape 1518"/>
        <p:cNvGrpSpPr/>
        <p:nvPr/>
      </p:nvGrpSpPr>
      <p:grpSpPr>
        <a:xfrm>
          <a:off x="0" y="0"/>
          <a:ext cx="0" cy="0"/>
          <a:chOff x="0" y="0"/>
          <a:chExt cx="0" cy="0"/>
        </a:xfrm>
      </p:grpSpPr>
      <p:sp>
        <p:nvSpPr>
          <p:cNvPr id="1519" name="Google Shape;1519;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0" name="Google Shape;1520;p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1" name="Google Shape;1521;p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5" name="Shape 1545"/>
        <p:cNvGrpSpPr/>
        <p:nvPr/>
      </p:nvGrpSpPr>
      <p:grpSpPr>
        <a:xfrm>
          <a:off x="0" y="0"/>
          <a:ext cx="0" cy="0"/>
          <a:chOff x="0" y="0"/>
          <a:chExt cx="0" cy="0"/>
        </a:xfrm>
      </p:grpSpPr>
      <p:sp>
        <p:nvSpPr>
          <p:cNvPr id="1546" name="Google Shape;1546;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7" name="Google Shape;1547;p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8" name="Google Shape;1548;p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2" name="Shape 1582"/>
        <p:cNvGrpSpPr/>
        <p:nvPr/>
      </p:nvGrpSpPr>
      <p:grpSpPr>
        <a:xfrm>
          <a:off x="0" y="0"/>
          <a:ext cx="0" cy="0"/>
          <a:chOff x="0" y="0"/>
          <a:chExt cx="0" cy="0"/>
        </a:xfrm>
      </p:grpSpPr>
      <p:sp>
        <p:nvSpPr>
          <p:cNvPr id="1583" name="Google Shape;1583;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4" name="Google Shape;1584;p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5" name="Google Shape;1585;p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9" name="Shape 1609"/>
        <p:cNvGrpSpPr/>
        <p:nvPr/>
      </p:nvGrpSpPr>
      <p:grpSpPr>
        <a:xfrm>
          <a:off x="0" y="0"/>
          <a:ext cx="0" cy="0"/>
          <a:chOff x="0" y="0"/>
          <a:chExt cx="0" cy="0"/>
        </a:xfrm>
      </p:grpSpPr>
      <p:sp>
        <p:nvSpPr>
          <p:cNvPr id="1610" name="Google Shape;1610;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1" name="Google Shape;1611;p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2" name="Google Shape;1612;p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9" name="Shape 1639"/>
        <p:cNvGrpSpPr/>
        <p:nvPr/>
      </p:nvGrpSpPr>
      <p:grpSpPr>
        <a:xfrm>
          <a:off x="0" y="0"/>
          <a:ext cx="0" cy="0"/>
          <a:chOff x="0" y="0"/>
          <a:chExt cx="0" cy="0"/>
        </a:xfrm>
      </p:grpSpPr>
      <p:sp>
        <p:nvSpPr>
          <p:cNvPr id="1640" name="Google Shape;1640;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1" name="Google Shape;1641;p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2" name="Google Shape;1642;p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6.png"/><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0.png"/><Relationship Id="rId4" Type="http://schemas.openxmlformats.org/officeDocument/2006/relationships/image" Target="../media/image23.png"/><Relationship Id="rId5"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8.png"/><Relationship Id="rId4" Type="http://schemas.openxmlformats.org/officeDocument/2006/relationships/image" Target="../media/image24.png"/><Relationship Id="rId5" Type="http://schemas.openxmlformats.org/officeDocument/2006/relationships/image" Target="../media/image3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2.png"/><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6.png"/><Relationship Id="rId4" Type="http://schemas.openxmlformats.org/officeDocument/2006/relationships/image" Target="../media/image3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6.png"/><Relationship Id="rId4" Type="http://schemas.openxmlformats.org/officeDocument/2006/relationships/image" Target="../media/image4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4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9.png"/><Relationship Id="rId4" Type="http://schemas.openxmlformats.org/officeDocument/2006/relationships/image" Target="../media/image2.jp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grpSp>
        <p:nvGrpSpPr>
          <p:cNvPr id="16" name="Google Shape;16;p3"/>
          <p:cNvGrpSpPr/>
          <p:nvPr/>
        </p:nvGrpSpPr>
        <p:grpSpPr>
          <a:xfrm>
            <a:off x="4857750" y="190500"/>
            <a:ext cx="4286400" cy="5337138"/>
            <a:chOff x="4857750" y="190500"/>
            <a:chExt cx="4286400" cy="5337138"/>
          </a:xfrm>
        </p:grpSpPr>
        <p:sp>
          <p:nvSpPr>
            <p:cNvPr id="17" name="Google Shape;17;p3"/>
            <p:cNvSpPr/>
            <p:nvPr/>
          </p:nvSpPr>
          <p:spPr>
            <a:xfrm>
              <a:off x="4857750" y="190500"/>
              <a:ext cx="4286400" cy="2857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 name="Google Shape;18;p3"/>
            <p:cNvSpPr txBox="1"/>
            <p:nvPr/>
          </p:nvSpPr>
          <p:spPr>
            <a:xfrm>
              <a:off x="4857750" y="2670138"/>
              <a:ext cx="4286400" cy="2857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8600">
                  <a:solidFill>
                    <a:srgbClr val="FF0000"/>
                  </a:solidFill>
                  <a:latin typeface="Arial"/>
                  <a:ea typeface="Arial"/>
                  <a:cs typeface="Arial"/>
                  <a:sym typeface="Arial"/>
                </a:rPr>
                <a:t> </a:t>
              </a:r>
              <a:r>
                <a:rPr b="0" lang="en-US" sz="18600">
                  <a:solidFill>
                    <a:srgbClr val="FF0000"/>
                  </a:solidFill>
                  <a:latin typeface="Arial"/>
                  <a:ea typeface="Arial"/>
                  <a:cs typeface="Arial"/>
                  <a:sym typeface="Arial"/>
                </a:rPr>
                <a:t>DL</a:t>
              </a:r>
              <a:endParaRPr b="0" sz="18600">
                <a:solidFill>
                  <a:srgbClr val="FF0000"/>
                </a:solidFill>
                <a:latin typeface="Arial"/>
                <a:ea typeface="Arial"/>
                <a:cs typeface="Arial"/>
                <a:sym typeface="Arial"/>
              </a:endParaRPr>
            </a:p>
          </p:txBody>
        </p:sp>
      </p:grpSp>
      <p:grpSp>
        <p:nvGrpSpPr>
          <p:cNvPr id="19" name="Google Shape;19;p3"/>
          <p:cNvGrpSpPr/>
          <p:nvPr/>
        </p:nvGrpSpPr>
        <p:grpSpPr>
          <a:xfrm>
            <a:off x="571500" y="523875"/>
            <a:ext cx="8001000" cy="190500"/>
            <a:chOff x="571500" y="523875"/>
            <a:chExt cx="8001000" cy="190500"/>
          </a:xfrm>
        </p:grpSpPr>
        <p:sp>
          <p:nvSpPr>
            <p:cNvPr id="20" name="Google Shape;20;p3"/>
            <p:cNvSpPr/>
            <p:nvPr/>
          </p:nvSpPr>
          <p:spPr>
            <a:xfrm>
              <a:off x="571500" y="523875"/>
              <a:ext cx="80010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 name="Google Shape;21;p3"/>
            <p:cNvSpPr txBox="1"/>
            <p:nvPr/>
          </p:nvSpPr>
          <p:spPr>
            <a:xfrm>
              <a:off x="571500" y="523875"/>
              <a:ext cx="8001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F0B429"/>
                  </a:solidFill>
                  <a:latin typeface="Carlito"/>
                  <a:ea typeface="Carlito"/>
                  <a:cs typeface="Carlito"/>
                  <a:sym typeface="Carlito"/>
                </a:rPr>
                <a:t>FACULTY DEVELOPMENT PROGRAMME · LIVE TECHNICAL SESSION</a:t>
              </a:r>
              <a:endParaRPr b="1" sz="850">
                <a:solidFill>
                  <a:srgbClr val="F0B429"/>
                </a:solidFill>
                <a:latin typeface="Carlito"/>
                <a:ea typeface="Carlito"/>
                <a:cs typeface="Carlito"/>
                <a:sym typeface="Carlito"/>
              </a:endParaRPr>
            </a:p>
          </p:txBody>
        </p:sp>
      </p:grpSp>
      <p:grpSp>
        <p:nvGrpSpPr>
          <p:cNvPr id="22" name="Google Shape;22;p3"/>
          <p:cNvGrpSpPr/>
          <p:nvPr/>
        </p:nvGrpSpPr>
        <p:grpSpPr>
          <a:xfrm>
            <a:off x="0" y="809625"/>
            <a:ext cx="9144000" cy="1748007"/>
            <a:chOff x="0" y="809625"/>
            <a:chExt cx="9144000" cy="1748007"/>
          </a:xfrm>
        </p:grpSpPr>
        <p:sp>
          <p:nvSpPr>
            <p:cNvPr id="23" name="Google Shape;23;p3"/>
            <p:cNvSpPr/>
            <p:nvPr/>
          </p:nvSpPr>
          <p:spPr>
            <a:xfrm>
              <a:off x="571500" y="809625"/>
              <a:ext cx="80010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a:p>
          </p:txBody>
        </p:sp>
        <p:sp>
          <p:nvSpPr>
            <p:cNvPr id="24" name="Google Shape;24;p3"/>
            <p:cNvSpPr txBox="1"/>
            <p:nvPr/>
          </p:nvSpPr>
          <p:spPr>
            <a:xfrm>
              <a:off x="0" y="1128732"/>
              <a:ext cx="9144000" cy="1428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800">
                  <a:solidFill>
                    <a:srgbClr val="F5F1E6"/>
                  </a:solidFill>
                  <a:latin typeface="Carlito"/>
                  <a:ea typeface="Carlito"/>
                  <a:cs typeface="Carlito"/>
                  <a:sym typeface="Carlito"/>
                </a:rPr>
                <a:t>Deep Learning Applications </a:t>
              </a:r>
              <a:endParaRPr b="1" sz="3800">
                <a:solidFill>
                  <a:srgbClr val="F5F1E6"/>
                </a:solidFill>
                <a:latin typeface="Carlito"/>
                <a:ea typeface="Carlito"/>
                <a:cs typeface="Carlito"/>
                <a:sym typeface="Carlito"/>
              </a:endParaRPr>
            </a:p>
            <a:p>
              <a:pPr indent="0" lvl="0" marL="0" rtl="0" algn="ctr">
                <a:spcBef>
                  <a:spcPts val="600"/>
                </a:spcBef>
                <a:spcAft>
                  <a:spcPts val="0"/>
                </a:spcAft>
                <a:buNone/>
              </a:pPr>
              <a:r>
                <a:rPr b="1" lang="en-US" sz="3800">
                  <a:solidFill>
                    <a:srgbClr val="F0B429"/>
                  </a:solidFill>
                  <a:latin typeface="Carlito"/>
                  <a:ea typeface="Carlito"/>
                  <a:cs typeface="Carlito"/>
                  <a:sym typeface="Carlito"/>
                </a:rPr>
                <a:t>for</a:t>
              </a:r>
              <a:endParaRPr b="1" sz="3800">
                <a:solidFill>
                  <a:srgbClr val="F0B429"/>
                </a:solidFill>
                <a:latin typeface="Carlito"/>
                <a:ea typeface="Carlito"/>
                <a:cs typeface="Carlito"/>
                <a:sym typeface="Carlito"/>
              </a:endParaRPr>
            </a:p>
            <a:p>
              <a:pPr indent="0" lvl="0" marL="0" rtl="0" algn="ctr">
                <a:spcBef>
                  <a:spcPts val="600"/>
                </a:spcBef>
                <a:spcAft>
                  <a:spcPts val="600"/>
                </a:spcAft>
                <a:buNone/>
              </a:pPr>
              <a:r>
                <a:rPr b="1" lang="en-US" sz="3800">
                  <a:solidFill>
                    <a:srgbClr val="F0B429"/>
                  </a:solidFill>
                  <a:latin typeface="Carlito"/>
                  <a:ea typeface="Carlito"/>
                  <a:cs typeface="Carlito"/>
                  <a:sym typeface="Carlito"/>
                </a:rPr>
                <a:t>Resource Optimization</a:t>
              </a:r>
              <a:endParaRPr b="1" sz="3800">
                <a:solidFill>
                  <a:srgbClr val="F0B429"/>
                </a:solidFill>
                <a:latin typeface="Carlito"/>
                <a:ea typeface="Carlito"/>
                <a:cs typeface="Carlito"/>
                <a:sym typeface="Carlito"/>
              </a:endParaRPr>
            </a:p>
          </p:txBody>
        </p:sp>
      </p:grpSp>
      <p:grpSp>
        <p:nvGrpSpPr>
          <p:cNvPr id="25" name="Google Shape;25;p3"/>
          <p:cNvGrpSpPr/>
          <p:nvPr/>
        </p:nvGrpSpPr>
        <p:grpSpPr>
          <a:xfrm>
            <a:off x="571500" y="2704825"/>
            <a:ext cx="8001000" cy="398882"/>
            <a:chOff x="571500" y="2333625"/>
            <a:chExt cx="8001000" cy="398882"/>
          </a:xfrm>
        </p:grpSpPr>
        <p:sp>
          <p:nvSpPr>
            <p:cNvPr id="26" name="Google Shape;26;p3"/>
            <p:cNvSpPr/>
            <p:nvPr/>
          </p:nvSpPr>
          <p:spPr>
            <a:xfrm>
              <a:off x="571500" y="2333625"/>
              <a:ext cx="8001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 name="Google Shape;27;p3"/>
            <p:cNvSpPr txBox="1"/>
            <p:nvPr/>
          </p:nvSpPr>
          <p:spPr>
            <a:xfrm>
              <a:off x="571500" y="2446607"/>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300">
                  <a:solidFill>
                    <a:srgbClr val="94A3B8"/>
                  </a:solidFill>
                  <a:latin typeface="Carlito"/>
                  <a:ea typeface="Carlito"/>
                  <a:cs typeface="Carlito"/>
                  <a:sym typeface="Carlito"/>
                </a:rPr>
                <a:t>Efficient training, compression, and deployment of neural networks</a:t>
              </a:r>
              <a:endParaRPr b="0" sz="1300">
                <a:solidFill>
                  <a:srgbClr val="94A3B8"/>
                </a:solidFill>
                <a:latin typeface="Carlito"/>
                <a:ea typeface="Carlito"/>
                <a:cs typeface="Carlito"/>
                <a:sym typeface="Carlito"/>
              </a:endParaRPr>
            </a:p>
          </p:txBody>
        </p:sp>
      </p:grpSp>
      <p:sp>
        <p:nvSpPr>
          <p:cNvPr id="28" name="Google Shape;28;p3"/>
          <p:cNvSpPr/>
          <p:nvPr/>
        </p:nvSpPr>
        <p:spPr>
          <a:xfrm>
            <a:off x="571500" y="3133525"/>
            <a:ext cx="762000" cy="38100"/>
          </a:xfrm>
          <a:prstGeom prst="rect">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9" name="Google Shape;29;p3"/>
          <p:cNvCxnSpPr/>
          <p:nvPr/>
        </p:nvCxnSpPr>
        <p:spPr>
          <a:xfrm>
            <a:off x="2714625" y="3921020"/>
            <a:ext cx="0" cy="952500"/>
          </a:xfrm>
          <a:prstGeom prst="straightConnector1">
            <a:avLst/>
          </a:prstGeom>
          <a:solidFill>
            <a:srgbClr val="FFFFFF"/>
          </a:solidFill>
          <a:ln cap="flat" cmpd="sng" w="14300">
            <a:solidFill>
              <a:srgbClr val="2A3B52"/>
            </a:solidFill>
            <a:prstDash val="solid"/>
            <a:round/>
            <a:headEnd len="sm" w="sm" type="none"/>
            <a:tailEnd len="sm" w="sm" type="none"/>
          </a:ln>
        </p:spPr>
      </p:cxnSp>
      <p:cxnSp>
        <p:nvCxnSpPr>
          <p:cNvPr id="30" name="Google Shape;30;p3"/>
          <p:cNvCxnSpPr/>
          <p:nvPr/>
        </p:nvCxnSpPr>
        <p:spPr>
          <a:xfrm>
            <a:off x="4714875" y="3921020"/>
            <a:ext cx="0" cy="952500"/>
          </a:xfrm>
          <a:prstGeom prst="straightConnector1">
            <a:avLst/>
          </a:prstGeom>
          <a:solidFill>
            <a:srgbClr val="FFFFFF"/>
          </a:solidFill>
          <a:ln cap="flat" cmpd="sng" w="14300">
            <a:solidFill>
              <a:srgbClr val="2A3B52"/>
            </a:solidFill>
            <a:prstDash val="solid"/>
            <a:round/>
            <a:headEnd len="sm" w="sm" type="none"/>
            <a:tailEnd len="sm" w="sm" type="none"/>
          </a:ln>
        </p:spPr>
      </p:cxnSp>
      <p:grpSp>
        <p:nvGrpSpPr>
          <p:cNvPr id="31" name="Google Shape;31;p3"/>
          <p:cNvGrpSpPr/>
          <p:nvPr/>
        </p:nvGrpSpPr>
        <p:grpSpPr>
          <a:xfrm>
            <a:off x="571500" y="3778145"/>
            <a:ext cx="2000100" cy="1143000"/>
            <a:chOff x="571500" y="3333750"/>
            <a:chExt cx="2000100" cy="1143000"/>
          </a:xfrm>
        </p:grpSpPr>
        <p:sp>
          <p:nvSpPr>
            <p:cNvPr id="32" name="Google Shape;32;p3"/>
            <p:cNvSpPr/>
            <p:nvPr/>
          </p:nvSpPr>
          <p:spPr>
            <a:xfrm>
              <a:off x="571500" y="3333750"/>
              <a:ext cx="20001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 name="Google Shape;33;p3"/>
            <p:cNvSpPr txBox="1"/>
            <p:nvPr/>
          </p:nvSpPr>
          <p:spPr>
            <a:xfrm>
              <a:off x="571500" y="3333750"/>
              <a:ext cx="20001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PRESENTED BY</a:t>
              </a:r>
              <a:endParaRPr b="1" sz="800">
                <a:solidFill>
                  <a:srgbClr val="94A3B8"/>
                </a:solidFill>
                <a:latin typeface="Carlito"/>
                <a:ea typeface="Carlito"/>
                <a:cs typeface="Carlito"/>
                <a:sym typeface="Carlito"/>
              </a:endParaRPr>
            </a:p>
            <a:p>
              <a:pPr indent="0" lvl="0" marL="0" rtl="0" algn="l">
                <a:spcBef>
                  <a:spcPts val="750"/>
                </a:spcBef>
                <a:spcAft>
                  <a:spcPts val="0"/>
                </a:spcAft>
                <a:buNone/>
              </a:pPr>
              <a:r>
                <a:rPr b="1" lang="en-US" sz="1250">
                  <a:solidFill>
                    <a:srgbClr val="F5F1E6"/>
                  </a:solidFill>
                  <a:latin typeface="Carlito"/>
                  <a:ea typeface="Carlito"/>
                  <a:cs typeface="Carlito"/>
                  <a:sym typeface="Carlito"/>
                </a:rPr>
                <a:t>Er. Abhishek Kumar Shukla</a:t>
              </a:r>
              <a:endParaRPr b="1" sz="1250">
                <a:solidFill>
                  <a:srgbClr val="F5F1E6"/>
                </a:solidFill>
                <a:latin typeface="Carlito"/>
                <a:ea typeface="Carlito"/>
                <a:cs typeface="Carlito"/>
                <a:sym typeface="Carlito"/>
              </a:endParaRPr>
            </a:p>
            <a:p>
              <a:pPr indent="0" lvl="0" marL="0" rtl="0" algn="l">
                <a:spcBef>
                  <a:spcPts val="450"/>
                </a:spcBef>
                <a:spcAft>
                  <a:spcPts val="0"/>
                </a:spcAft>
                <a:buNone/>
              </a:pPr>
              <a:r>
                <a:rPr b="0" lang="en-US" sz="850">
                  <a:solidFill>
                    <a:srgbClr val="94A3B8"/>
                  </a:solidFill>
                  <a:latin typeface="Carlito"/>
                  <a:ea typeface="Carlito"/>
                  <a:cs typeface="Carlito"/>
                  <a:sym typeface="Carlito"/>
                </a:rPr>
                <a:t>Senior AI Developer</a:t>
              </a:r>
              <a:br>
                <a:rPr b="0" lang="en-US" sz="850">
                  <a:solidFill>
                    <a:srgbClr val="94A3B8"/>
                  </a:solidFill>
                  <a:latin typeface="Carlito"/>
                  <a:ea typeface="Carlito"/>
                  <a:cs typeface="Carlito"/>
                  <a:sym typeface="Carlito"/>
                </a:rPr>
              </a:br>
              <a:r>
                <a:rPr b="0" lang="en-US" sz="850">
                  <a:solidFill>
                    <a:srgbClr val="94A3B8"/>
                  </a:solidFill>
                  <a:latin typeface="Carlito"/>
                  <a:ea typeface="Carlito"/>
                  <a:cs typeface="Carlito"/>
                  <a:sym typeface="Carlito"/>
                </a:rPr>
                <a:t>UniConverge Technologies</a:t>
              </a:r>
              <a:endParaRPr b="0" sz="850">
                <a:solidFill>
                  <a:srgbClr val="94A3B8"/>
                </a:solidFill>
                <a:latin typeface="Carlito"/>
                <a:ea typeface="Carlito"/>
                <a:cs typeface="Carlito"/>
                <a:sym typeface="Carlito"/>
              </a:endParaRPr>
            </a:p>
          </p:txBody>
        </p:sp>
      </p:grpSp>
      <p:grpSp>
        <p:nvGrpSpPr>
          <p:cNvPr id="34" name="Google Shape;34;p3"/>
          <p:cNvGrpSpPr/>
          <p:nvPr/>
        </p:nvGrpSpPr>
        <p:grpSpPr>
          <a:xfrm>
            <a:off x="2857500" y="3778145"/>
            <a:ext cx="1762200" cy="1143000"/>
            <a:chOff x="2857500" y="3333750"/>
            <a:chExt cx="1762200" cy="1143000"/>
          </a:xfrm>
        </p:grpSpPr>
        <p:sp>
          <p:nvSpPr>
            <p:cNvPr id="35" name="Google Shape;35;p3"/>
            <p:cNvSpPr/>
            <p:nvPr/>
          </p:nvSpPr>
          <p:spPr>
            <a:xfrm>
              <a:off x="2857500" y="3333750"/>
              <a:ext cx="17622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 name="Google Shape;36;p3"/>
            <p:cNvSpPr txBox="1"/>
            <p:nvPr/>
          </p:nvSpPr>
          <p:spPr>
            <a:xfrm>
              <a:off x="2857500" y="3333750"/>
              <a:ext cx="17622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DATE · TIME</a:t>
              </a:r>
              <a:endParaRPr b="1" sz="800">
                <a:solidFill>
                  <a:srgbClr val="F0B429"/>
                </a:solidFill>
                <a:latin typeface="Carlito"/>
                <a:ea typeface="Carlito"/>
                <a:cs typeface="Carlito"/>
                <a:sym typeface="Carlito"/>
              </a:endParaRPr>
            </a:p>
            <a:p>
              <a:pPr indent="0" lvl="0" marL="0" rtl="0" algn="l">
                <a:spcBef>
                  <a:spcPts val="750"/>
                </a:spcBef>
                <a:spcAft>
                  <a:spcPts val="0"/>
                </a:spcAft>
                <a:buNone/>
              </a:pPr>
              <a:r>
                <a:rPr b="1" lang="en-US" sz="1150">
                  <a:solidFill>
                    <a:srgbClr val="F5F1E6"/>
                  </a:solidFill>
                  <a:latin typeface="Carlito"/>
                  <a:ea typeface="Carlito"/>
                  <a:cs typeface="Carlito"/>
                  <a:sym typeface="Carlito"/>
                </a:rPr>
                <a:t>30 July 2026</a:t>
              </a:r>
              <a:endParaRPr b="1" sz="1150">
                <a:solidFill>
                  <a:srgbClr val="F5F1E6"/>
                </a:solidFill>
                <a:latin typeface="Carlito"/>
                <a:ea typeface="Carlito"/>
                <a:cs typeface="Carlito"/>
                <a:sym typeface="Carlito"/>
              </a:endParaRPr>
            </a:p>
            <a:p>
              <a:pPr indent="0" lvl="0" marL="0" rtl="0" algn="l">
                <a:spcBef>
                  <a:spcPts val="450"/>
                </a:spcBef>
                <a:spcAft>
                  <a:spcPts val="0"/>
                </a:spcAft>
                <a:buNone/>
              </a:pPr>
              <a:r>
                <a:rPr b="0" lang="en-US" sz="850">
                  <a:solidFill>
                    <a:srgbClr val="94A3B8"/>
                  </a:solidFill>
                  <a:latin typeface="Carlito"/>
                  <a:ea typeface="Carlito"/>
                  <a:cs typeface="Carlito"/>
                  <a:sym typeface="Carlito"/>
                </a:rPr>
                <a:t>11:30 AM – 1:00 PM (90 min)</a:t>
              </a:r>
              <a:endParaRPr b="0" sz="850">
                <a:solidFill>
                  <a:srgbClr val="94A3B8"/>
                </a:solidFill>
                <a:latin typeface="Carlito"/>
                <a:ea typeface="Carlito"/>
                <a:cs typeface="Carlito"/>
                <a:sym typeface="Carlito"/>
              </a:endParaRPr>
            </a:p>
          </p:txBody>
        </p:sp>
      </p:grpSp>
      <p:pic>
        <p:nvPicPr>
          <p:cNvPr id="37" name="Google Shape;37;p3" title="uct consulting.png"/>
          <p:cNvPicPr preferRelativeResize="0"/>
          <p:nvPr/>
        </p:nvPicPr>
        <p:blipFill>
          <a:blip r:embed="rId4">
            <a:alphaModFix/>
          </a:blip>
          <a:stretch>
            <a:fillRect/>
          </a:stretch>
        </p:blipFill>
        <p:spPr>
          <a:xfrm>
            <a:off x="6134000" y="166323"/>
            <a:ext cx="1899599" cy="634425"/>
          </a:xfrm>
          <a:prstGeom prst="rect">
            <a:avLst/>
          </a:prstGeom>
          <a:noFill/>
          <a:ln>
            <a:noFill/>
          </a:ln>
        </p:spPr>
      </p:pic>
      <p:pic>
        <p:nvPicPr>
          <p:cNvPr id="38" name="Google Shape;38;p3" title="WhatsApp Image 2026-07-22 at 7.27.24 AM.jpeg"/>
          <p:cNvPicPr preferRelativeResize="0"/>
          <p:nvPr/>
        </p:nvPicPr>
        <p:blipFill rotWithShape="1">
          <a:blip r:embed="rId5">
            <a:alphaModFix/>
          </a:blip>
          <a:srcRect b="7201" l="0" r="0" t="0"/>
          <a:stretch/>
        </p:blipFill>
        <p:spPr>
          <a:xfrm>
            <a:off x="8123150" y="163325"/>
            <a:ext cx="822775" cy="845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43" name="Shape 43"/>
        <p:cNvGrpSpPr/>
        <p:nvPr/>
      </p:nvGrpSpPr>
      <p:grpSpPr>
        <a:xfrm>
          <a:off x="0" y="0"/>
          <a:ext cx="0" cy="0"/>
          <a:chOff x="0" y="0"/>
          <a:chExt cx="0" cy="0"/>
        </a:xfrm>
      </p:grpSpPr>
      <p:sp>
        <p:nvSpPr>
          <p:cNvPr id="44" name="Google Shape;44;p4"/>
          <p:cNvSpPr/>
          <p:nvPr/>
        </p:nvSpPr>
        <p:spPr>
          <a:xfrm>
            <a:off x="457200" y="458986"/>
            <a:ext cx="15855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Carlito"/>
              <a:buNone/>
            </a:pPr>
            <a:r>
              <a:rPr b="0" i="0" lang="en-US" sz="800" u="none" cap="none" strike="noStrike">
                <a:solidFill>
                  <a:srgbClr val="F0B429"/>
                </a:solidFill>
                <a:latin typeface="Carlito"/>
                <a:ea typeface="Carlito"/>
                <a:cs typeface="Carlito"/>
                <a:sym typeface="Carlito"/>
              </a:rPr>
              <a:t>SESSION ROADMAP</a:t>
            </a:r>
            <a:endParaRPr b="0" i="0" sz="800" u="none" cap="none" strike="noStrike">
              <a:solidFill>
                <a:schemeClr val="dk1"/>
              </a:solidFill>
              <a:latin typeface="Calibri"/>
              <a:ea typeface="Calibri"/>
              <a:cs typeface="Calibri"/>
              <a:sym typeface="Calibri"/>
            </a:endParaRPr>
          </a:p>
        </p:txBody>
      </p:sp>
      <p:sp>
        <p:nvSpPr>
          <p:cNvPr id="45" name="Google Shape;45;p4"/>
          <p:cNvSpPr/>
          <p:nvPr/>
        </p:nvSpPr>
        <p:spPr>
          <a:xfrm>
            <a:off x="457200" y="662583"/>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Contents</a:t>
            </a:r>
            <a:endParaRPr b="0" i="0" sz="2250" u="none" cap="none" strike="noStrike">
              <a:solidFill>
                <a:schemeClr val="dk1"/>
              </a:solidFill>
              <a:latin typeface="Calibri"/>
              <a:ea typeface="Calibri"/>
              <a:cs typeface="Calibri"/>
              <a:sym typeface="Calibri"/>
            </a:endParaRPr>
          </a:p>
        </p:txBody>
      </p:sp>
      <p:sp>
        <p:nvSpPr>
          <p:cNvPr id="46" name="Google Shape;46;p4"/>
          <p:cNvSpPr/>
          <p:nvPr/>
        </p:nvSpPr>
        <p:spPr>
          <a:xfrm>
            <a:off x="457200" y="1048345"/>
            <a:ext cx="8229600" cy="172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4A3B8"/>
              </a:buClr>
              <a:buSzPts val="900"/>
              <a:buFont typeface="Carlito"/>
              <a:buNone/>
            </a:pPr>
            <a:r>
              <a:rPr b="0" i="0" lang="en-US" sz="900" u="none" cap="none" strike="noStrike">
                <a:solidFill>
                  <a:srgbClr val="94A3B8"/>
                </a:solidFill>
                <a:latin typeface="Carlito"/>
                <a:ea typeface="Carlito"/>
                <a:cs typeface="Carlito"/>
                <a:sym typeface="Carlito"/>
              </a:rPr>
              <a:t>Eight sections · Part A (1–6) conceptual, Part B (7–8) live demo and results</a:t>
            </a:r>
            <a:endParaRPr b="0" i="0" sz="900" u="none" cap="none" strike="noStrike">
              <a:solidFill>
                <a:schemeClr val="dk1"/>
              </a:solidFill>
              <a:latin typeface="Calibri"/>
              <a:ea typeface="Calibri"/>
              <a:cs typeface="Calibri"/>
              <a:sym typeface="Calibri"/>
            </a:endParaRPr>
          </a:p>
        </p:txBody>
      </p:sp>
      <p:grpSp>
        <p:nvGrpSpPr>
          <p:cNvPr id="47" name="Google Shape;47;p4"/>
          <p:cNvGrpSpPr/>
          <p:nvPr/>
        </p:nvGrpSpPr>
        <p:grpSpPr>
          <a:xfrm>
            <a:off x="457200" y="1333500"/>
            <a:ext cx="8229600" cy="3086100"/>
            <a:chOff x="457200" y="1333500"/>
            <a:chExt cx="8229600" cy="3086100"/>
          </a:xfrm>
        </p:grpSpPr>
        <p:sp>
          <p:nvSpPr>
            <p:cNvPr id="48" name="Google Shape;48;p4"/>
            <p:cNvSpPr/>
            <p:nvPr/>
          </p:nvSpPr>
          <p:spPr>
            <a:xfrm>
              <a:off x="457200" y="1333500"/>
              <a:ext cx="4000500" cy="685800"/>
            </a:xfrm>
            <a:prstGeom prst="roundRect">
              <a:avLst>
                <a:gd fmla="val 11111" name="adj"/>
              </a:avLst>
            </a:prstGeom>
            <a:solidFill>
              <a:srgbClr val="111E2F"/>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 name="Google Shape;49;p4"/>
            <p:cNvSpPr txBox="1"/>
            <p:nvPr/>
          </p:nvSpPr>
          <p:spPr>
            <a:xfrm>
              <a:off x="457200" y="1333500"/>
              <a:ext cx="5715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0B429"/>
                  </a:solidFill>
                  <a:latin typeface="Arial"/>
                  <a:ea typeface="Arial"/>
                  <a:cs typeface="Arial"/>
                  <a:sym typeface="Arial"/>
                </a:rPr>
                <a:t>01</a:t>
              </a:r>
              <a:endParaRPr b="1" sz="1600">
                <a:solidFill>
                  <a:srgbClr val="F0B429"/>
                </a:solidFill>
                <a:latin typeface="Arial"/>
                <a:ea typeface="Arial"/>
                <a:cs typeface="Arial"/>
                <a:sym typeface="Arial"/>
              </a:endParaRPr>
            </a:p>
          </p:txBody>
        </p:sp>
        <p:cxnSp>
          <p:nvCxnSpPr>
            <p:cNvPr id="50" name="Google Shape;50;p4"/>
            <p:cNvCxnSpPr/>
            <p:nvPr/>
          </p:nvCxnSpPr>
          <p:spPr>
            <a:xfrm>
              <a:off x="1028700" y="1466850"/>
              <a:ext cx="0" cy="419100"/>
            </a:xfrm>
            <a:prstGeom prst="straightConnector1">
              <a:avLst/>
            </a:prstGeom>
            <a:solidFill>
              <a:srgbClr val="FFFFFF"/>
            </a:solidFill>
            <a:ln cap="flat" cmpd="sng" w="14300">
              <a:solidFill>
                <a:srgbClr val="F0B429"/>
              </a:solidFill>
              <a:prstDash val="solid"/>
              <a:round/>
              <a:headEnd len="sm" w="sm" type="none"/>
              <a:tailEnd len="sm" w="sm" type="none"/>
            </a:ln>
          </p:spPr>
        </p:cxnSp>
        <p:sp>
          <p:nvSpPr>
            <p:cNvPr id="51" name="Google Shape;51;p4"/>
            <p:cNvSpPr txBox="1"/>
            <p:nvPr/>
          </p:nvSpPr>
          <p:spPr>
            <a:xfrm>
              <a:off x="1181100" y="1333500"/>
              <a:ext cx="31242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F5F1E6"/>
                  </a:solidFill>
                  <a:latin typeface="Carlito"/>
                  <a:ea typeface="Carlito"/>
                  <a:cs typeface="Carlito"/>
                  <a:sym typeface="Carlito"/>
                </a:rPr>
                <a:t>Why Resource Optimization Matters</a:t>
              </a:r>
              <a:endParaRPr b="1" sz="1100">
                <a:solidFill>
                  <a:srgbClr val="F5F1E6"/>
                </a:solidFill>
                <a:latin typeface="Carlito"/>
                <a:ea typeface="Carlito"/>
                <a:cs typeface="Carlito"/>
                <a:sym typeface="Carlito"/>
              </a:endParaRPr>
            </a:p>
            <a:p>
              <a:pPr indent="0" lvl="0" marL="0" rtl="0" algn="l">
                <a:spcBef>
                  <a:spcPts val="225"/>
                </a:spcBef>
                <a:spcAft>
                  <a:spcPts val="0"/>
                </a:spcAft>
                <a:buNone/>
              </a:pPr>
              <a:r>
                <a:rPr lang="en-US" sz="850">
                  <a:solidFill>
                    <a:srgbClr val="94A3B8"/>
                  </a:solidFill>
                  <a:latin typeface="Carlito"/>
                  <a:ea typeface="Carlito"/>
                  <a:cs typeface="Carlito"/>
                  <a:sym typeface="Carlito"/>
                </a:rPr>
                <a:t>The deployment gap</a:t>
              </a:r>
              <a:endParaRPr sz="850">
                <a:solidFill>
                  <a:srgbClr val="94A3B8"/>
                </a:solidFill>
                <a:latin typeface="Carlito"/>
                <a:ea typeface="Carlito"/>
                <a:cs typeface="Carlito"/>
                <a:sym typeface="Carlito"/>
              </a:endParaRPr>
            </a:p>
          </p:txBody>
        </p:sp>
        <p:sp>
          <p:nvSpPr>
            <p:cNvPr id="52" name="Google Shape;52;p4"/>
            <p:cNvSpPr/>
            <p:nvPr/>
          </p:nvSpPr>
          <p:spPr>
            <a:xfrm>
              <a:off x="4686300" y="1333500"/>
              <a:ext cx="4000500" cy="685800"/>
            </a:xfrm>
            <a:prstGeom prst="roundRect">
              <a:avLst>
                <a:gd fmla="val 11111" name="adj"/>
              </a:avLst>
            </a:prstGeom>
            <a:solidFill>
              <a:srgbClr val="111E2F"/>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 name="Google Shape;53;p4"/>
            <p:cNvSpPr txBox="1"/>
            <p:nvPr/>
          </p:nvSpPr>
          <p:spPr>
            <a:xfrm>
              <a:off x="4686300" y="1333500"/>
              <a:ext cx="5715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0B429"/>
                  </a:solidFill>
                  <a:latin typeface="Arial"/>
                  <a:ea typeface="Arial"/>
                  <a:cs typeface="Arial"/>
                  <a:sym typeface="Arial"/>
                </a:rPr>
                <a:t>02</a:t>
              </a:r>
              <a:endParaRPr b="1" sz="1600">
                <a:solidFill>
                  <a:srgbClr val="F0B429"/>
                </a:solidFill>
                <a:latin typeface="Arial"/>
                <a:ea typeface="Arial"/>
                <a:cs typeface="Arial"/>
                <a:sym typeface="Arial"/>
              </a:endParaRPr>
            </a:p>
          </p:txBody>
        </p:sp>
        <p:cxnSp>
          <p:nvCxnSpPr>
            <p:cNvPr id="54" name="Google Shape;54;p4"/>
            <p:cNvCxnSpPr/>
            <p:nvPr/>
          </p:nvCxnSpPr>
          <p:spPr>
            <a:xfrm>
              <a:off x="5257800" y="1466850"/>
              <a:ext cx="0" cy="419100"/>
            </a:xfrm>
            <a:prstGeom prst="straightConnector1">
              <a:avLst/>
            </a:prstGeom>
            <a:solidFill>
              <a:srgbClr val="FFFFFF"/>
            </a:solidFill>
            <a:ln cap="flat" cmpd="sng" w="14300">
              <a:solidFill>
                <a:srgbClr val="F0B429"/>
              </a:solidFill>
              <a:prstDash val="solid"/>
              <a:round/>
              <a:headEnd len="sm" w="sm" type="none"/>
              <a:tailEnd len="sm" w="sm" type="none"/>
            </a:ln>
          </p:spPr>
        </p:cxnSp>
        <p:sp>
          <p:nvSpPr>
            <p:cNvPr id="55" name="Google Shape;55;p4"/>
            <p:cNvSpPr txBox="1"/>
            <p:nvPr/>
          </p:nvSpPr>
          <p:spPr>
            <a:xfrm>
              <a:off x="5410200" y="1333500"/>
              <a:ext cx="31242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F5F1E6"/>
                  </a:solidFill>
                  <a:latin typeface="Carlito"/>
                  <a:ea typeface="Carlito"/>
                  <a:cs typeface="Carlito"/>
                  <a:sym typeface="Carlito"/>
                </a:rPr>
                <a:t>The Cost of Scale</a:t>
              </a:r>
              <a:endParaRPr b="1" sz="1100">
                <a:solidFill>
                  <a:srgbClr val="F5F1E6"/>
                </a:solidFill>
                <a:latin typeface="Carlito"/>
                <a:ea typeface="Carlito"/>
                <a:cs typeface="Carlito"/>
                <a:sym typeface="Carlito"/>
              </a:endParaRPr>
            </a:p>
            <a:p>
              <a:pPr indent="0" lvl="0" marL="0" rtl="0" algn="l">
                <a:spcBef>
                  <a:spcPts val="225"/>
                </a:spcBef>
                <a:spcAft>
                  <a:spcPts val="0"/>
                </a:spcAft>
                <a:buNone/>
              </a:pPr>
              <a:r>
                <a:rPr lang="en-US" sz="850">
                  <a:solidFill>
                    <a:srgbClr val="94A3B8"/>
                  </a:solidFill>
                  <a:latin typeface="Carlito"/>
                  <a:ea typeface="Carlito"/>
                  <a:cs typeface="Carlito"/>
                  <a:sym typeface="Carlito"/>
                </a:rPr>
                <a:t>Memory &amp; compute reality</a:t>
              </a:r>
              <a:endParaRPr sz="850">
                <a:solidFill>
                  <a:srgbClr val="94A3B8"/>
                </a:solidFill>
                <a:latin typeface="Carlito"/>
                <a:ea typeface="Carlito"/>
                <a:cs typeface="Carlito"/>
                <a:sym typeface="Carlito"/>
              </a:endParaRPr>
            </a:p>
          </p:txBody>
        </p:sp>
        <p:sp>
          <p:nvSpPr>
            <p:cNvPr id="56" name="Google Shape;56;p4"/>
            <p:cNvSpPr/>
            <p:nvPr/>
          </p:nvSpPr>
          <p:spPr>
            <a:xfrm>
              <a:off x="457200" y="2133600"/>
              <a:ext cx="4000500" cy="685800"/>
            </a:xfrm>
            <a:prstGeom prst="roundRect">
              <a:avLst>
                <a:gd fmla="val 11111" name="adj"/>
              </a:avLst>
            </a:prstGeom>
            <a:solidFill>
              <a:srgbClr val="111E2F"/>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4"/>
            <p:cNvSpPr txBox="1"/>
            <p:nvPr/>
          </p:nvSpPr>
          <p:spPr>
            <a:xfrm>
              <a:off x="457200" y="2133600"/>
              <a:ext cx="5715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0B429"/>
                  </a:solidFill>
                  <a:latin typeface="Arial"/>
                  <a:ea typeface="Arial"/>
                  <a:cs typeface="Arial"/>
                  <a:sym typeface="Arial"/>
                </a:rPr>
                <a:t>03</a:t>
              </a:r>
              <a:endParaRPr b="1" sz="1600">
                <a:solidFill>
                  <a:srgbClr val="F0B429"/>
                </a:solidFill>
                <a:latin typeface="Arial"/>
                <a:ea typeface="Arial"/>
                <a:cs typeface="Arial"/>
                <a:sym typeface="Arial"/>
              </a:endParaRPr>
            </a:p>
          </p:txBody>
        </p:sp>
        <p:cxnSp>
          <p:nvCxnSpPr>
            <p:cNvPr id="58" name="Google Shape;58;p4"/>
            <p:cNvCxnSpPr/>
            <p:nvPr/>
          </p:nvCxnSpPr>
          <p:spPr>
            <a:xfrm>
              <a:off x="1028700" y="2266950"/>
              <a:ext cx="0" cy="419100"/>
            </a:xfrm>
            <a:prstGeom prst="straightConnector1">
              <a:avLst/>
            </a:prstGeom>
            <a:solidFill>
              <a:srgbClr val="FFFFFF"/>
            </a:solidFill>
            <a:ln cap="flat" cmpd="sng" w="14300">
              <a:solidFill>
                <a:srgbClr val="F0B429"/>
              </a:solidFill>
              <a:prstDash val="solid"/>
              <a:round/>
              <a:headEnd len="sm" w="sm" type="none"/>
              <a:tailEnd len="sm" w="sm" type="none"/>
            </a:ln>
          </p:spPr>
        </p:cxnSp>
        <p:sp>
          <p:nvSpPr>
            <p:cNvPr id="59" name="Google Shape;59;p4"/>
            <p:cNvSpPr txBox="1"/>
            <p:nvPr/>
          </p:nvSpPr>
          <p:spPr>
            <a:xfrm>
              <a:off x="1181100" y="2133600"/>
              <a:ext cx="31242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F5F1E6"/>
                  </a:solidFill>
                  <a:latin typeface="Carlito"/>
                  <a:ea typeface="Carlito"/>
                  <a:cs typeface="Carlito"/>
                  <a:sym typeface="Carlito"/>
                </a:rPr>
                <a:t>Efficient Training: </a:t>
              </a:r>
              <a:r>
                <a:rPr b="1" lang="en-US" sz="1100">
                  <a:solidFill>
                    <a:srgbClr val="F0B429"/>
                  </a:solidFill>
                  <a:latin typeface="Arial"/>
                  <a:ea typeface="Arial"/>
                  <a:cs typeface="Arial"/>
                  <a:sym typeface="Arial"/>
                </a:rPr>
                <a:t>PEFT</a:t>
              </a:r>
              <a:r>
                <a:rPr b="1" lang="en-US" sz="1100">
                  <a:solidFill>
                    <a:srgbClr val="F5F1E6"/>
                  </a:solidFill>
                  <a:latin typeface="Carlito"/>
                  <a:ea typeface="Carlito"/>
                  <a:cs typeface="Carlito"/>
                  <a:sym typeface="Carlito"/>
                </a:rPr>
                <a:t> &amp; </a:t>
              </a:r>
              <a:r>
                <a:rPr b="1" lang="en-US" sz="1100">
                  <a:solidFill>
                    <a:srgbClr val="F0B429"/>
                  </a:solidFill>
                  <a:latin typeface="Arial"/>
                  <a:ea typeface="Arial"/>
                  <a:cs typeface="Arial"/>
                  <a:sym typeface="Arial"/>
                </a:rPr>
                <a:t>LoRA</a:t>
              </a:r>
              <a:endParaRPr b="1" sz="1100">
                <a:solidFill>
                  <a:srgbClr val="F5F1E6"/>
                </a:solidFill>
                <a:latin typeface="Carlito"/>
                <a:ea typeface="Carlito"/>
                <a:cs typeface="Carlito"/>
                <a:sym typeface="Carlito"/>
              </a:endParaRPr>
            </a:p>
            <a:p>
              <a:pPr indent="0" lvl="0" marL="0" rtl="0" algn="l">
                <a:spcBef>
                  <a:spcPts val="225"/>
                </a:spcBef>
                <a:spcAft>
                  <a:spcPts val="0"/>
                </a:spcAft>
                <a:buNone/>
              </a:pPr>
              <a:r>
                <a:rPr lang="en-US" sz="850">
                  <a:solidFill>
                    <a:srgbClr val="94A3B8"/>
                  </a:solidFill>
                  <a:latin typeface="Carlito"/>
                  <a:ea typeface="Carlito"/>
                  <a:cs typeface="Carlito"/>
                  <a:sym typeface="Carlito"/>
                </a:rPr>
                <a:t>Train less, not from scratch</a:t>
              </a:r>
              <a:endParaRPr sz="850">
                <a:solidFill>
                  <a:srgbClr val="94A3B8"/>
                </a:solidFill>
                <a:latin typeface="Carlito"/>
                <a:ea typeface="Carlito"/>
                <a:cs typeface="Carlito"/>
                <a:sym typeface="Carlito"/>
              </a:endParaRPr>
            </a:p>
          </p:txBody>
        </p:sp>
        <p:sp>
          <p:nvSpPr>
            <p:cNvPr id="60" name="Google Shape;60;p4"/>
            <p:cNvSpPr/>
            <p:nvPr/>
          </p:nvSpPr>
          <p:spPr>
            <a:xfrm>
              <a:off x="4686300" y="2133600"/>
              <a:ext cx="4000500" cy="685800"/>
            </a:xfrm>
            <a:prstGeom prst="roundRect">
              <a:avLst>
                <a:gd fmla="val 11111" name="adj"/>
              </a:avLst>
            </a:prstGeom>
            <a:solidFill>
              <a:srgbClr val="111E2F"/>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 name="Google Shape;61;p4"/>
            <p:cNvSpPr txBox="1"/>
            <p:nvPr/>
          </p:nvSpPr>
          <p:spPr>
            <a:xfrm>
              <a:off x="4686300" y="2133600"/>
              <a:ext cx="5715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0B429"/>
                  </a:solidFill>
                  <a:latin typeface="Arial"/>
                  <a:ea typeface="Arial"/>
                  <a:cs typeface="Arial"/>
                  <a:sym typeface="Arial"/>
                </a:rPr>
                <a:t>04</a:t>
              </a:r>
              <a:endParaRPr b="1" sz="1600">
                <a:solidFill>
                  <a:srgbClr val="F0B429"/>
                </a:solidFill>
                <a:latin typeface="Arial"/>
                <a:ea typeface="Arial"/>
                <a:cs typeface="Arial"/>
                <a:sym typeface="Arial"/>
              </a:endParaRPr>
            </a:p>
          </p:txBody>
        </p:sp>
        <p:cxnSp>
          <p:nvCxnSpPr>
            <p:cNvPr id="62" name="Google Shape;62;p4"/>
            <p:cNvCxnSpPr/>
            <p:nvPr/>
          </p:nvCxnSpPr>
          <p:spPr>
            <a:xfrm>
              <a:off x="5257800" y="2266950"/>
              <a:ext cx="0" cy="419100"/>
            </a:xfrm>
            <a:prstGeom prst="straightConnector1">
              <a:avLst/>
            </a:prstGeom>
            <a:solidFill>
              <a:srgbClr val="FFFFFF"/>
            </a:solidFill>
            <a:ln cap="flat" cmpd="sng" w="14300">
              <a:solidFill>
                <a:srgbClr val="F0B429"/>
              </a:solidFill>
              <a:prstDash val="solid"/>
              <a:round/>
              <a:headEnd len="sm" w="sm" type="none"/>
              <a:tailEnd len="sm" w="sm" type="none"/>
            </a:ln>
          </p:spPr>
        </p:cxnSp>
        <p:sp>
          <p:nvSpPr>
            <p:cNvPr id="63" name="Google Shape;63;p4"/>
            <p:cNvSpPr txBox="1"/>
            <p:nvPr/>
          </p:nvSpPr>
          <p:spPr>
            <a:xfrm>
              <a:off x="5410200" y="2133600"/>
              <a:ext cx="31242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F5F1E6"/>
                  </a:solidFill>
                  <a:latin typeface="Carlito"/>
                  <a:ea typeface="Carlito"/>
                  <a:cs typeface="Carlito"/>
                  <a:sym typeface="Carlito"/>
                </a:rPr>
                <a:t>Precision Formats</a:t>
              </a:r>
              <a:endParaRPr b="1" sz="1100">
                <a:solidFill>
                  <a:srgbClr val="F5F1E6"/>
                </a:solidFill>
                <a:latin typeface="Carlito"/>
                <a:ea typeface="Carlito"/>
                <a:cs typeface="Carlito"/>
                <a:sym typeface="Carlito"/>
              </a:endParaRPr>
            </a:p>
            <a:p>
              <a:pPr indent="0" lvl="0" marL="0" rtl="0" algn="l">
                <a:spcBef>
                  <a:spcPts val="225"/>
                </a:spcBef>
                <a:spcAft>
                  <a:spcPts val="0"/>
                </a:spcAft>
                <a:buNone/>
              </a:pPr>
              <a:r>
                <a:rPr lang="en-US" sz="850">
                  <a:solidFill>
                    <a:srgbClr val="F0B429"/>
                  </a:solidFill>
                  <a:latin typeface="Arial"/>
                  <a:ea typeface="Arial"/>
                  <a:cs typeface="Arial"/>
                  <a:sym typeface="Arial"/>
                </a:rPr>
                <a:t>FP32</a:t>
              </a:r>
              <a:r>
                <a:rPr lang="en-US" sz="850">
                  <a:solidFill>
                    <a:srgbClr val="94A3B8"/>
                  </a:solidFill>
                  <a:latin typeface="Carlito"/>
                  <a:ea typeface="Carlito"/>
                  <a:cs typeface="Carlito"/>
                  <a:sym typeface="Carlito"/>
                </a:rPr>
                <a:t> · </a:t>
              </a:r>
              <a:r>
                <a:rPr lang="en-US" sz="850">
                  <a:solidFill>
                    <a:srgbClr val="F0B429"/>
                  </a:solidFill>
                  <a:latin typeface="Arial"/>
                  <a:ea typeface="Arial"/>
                  <a:cs typeface="Arial"/>
                  <a:sym typeface="Arial"/>
                </a:rPr>
                <a:t>FP16</a:t>
              </a:r>
              <a:r>
                <a:rPr lang="en-US" sz="850">
                  <a:solidFill>
                    <a:srgbClr val="94A3B8"/>
                  </a:solidFill>
                  <a:latin typeface="Carlito"/>
                  <a:ea typeface="Carlito"/>
                  <a:cs typeface="Carlito"/>
                  <a:sym typeface="Carlito"/>
                </a:rPr>
                <a:t> · </a:t>
              </a:r>
              <a:r>
                <a:rPr lang="en-US" sz="850">
                  <a:solidFill>
                    <a:srgbClr val="F0B429"/>
                  </a:solidFill>
                  <a:latin typeface="Arial"/>
                  <a:ea typeface="Arial"/>
                  <a:cs typeface="Arial"/>
                  <a:sym typeface="Arial"/>
                </a:rPr>
                <a:t>BF16</a:t>
              </a:r>
              <a:r>
                <a:rPr lang="en-US" sz="850">
                  <a:solidFill>
                    <a:srgbClr val="94A3B8"/>
                  </a:solidFill>
                  <a:latin typeface="Carlito"/>
                  <a:ea typeface="Carlito"/>
                  <a:cs typeface="Carlito"/>
                  <a:sym typeface="Carlito"/>
                </a:rPr>
                <a:t> · </a:t>
              </a:r>
              <a:r>
                <a:rPr lang="en-US" sz="850">
                  <a:solidFill>
                    <a:srgbClr val="F0B429"/>
                  </a:solidFill>
                  <a:latin typeface="Arial"/>
                  <a:ea typeface="Arial"/>
                  <a:cs typeface="Arial"/>
                  <a:sym typeface="Arial"/>
                </a:rPr>
                <a:t>INT8</a:t>
              </a:r>
              <a:endParaRPr sz="850">
                <a:solidFill>
                  <a:srgbClr val="94A3B8"/>
                </a:solidFill>
                <a:latin typeface="Carlito"/>
                <a:ea typeface="Carlito"/>
                <a:cs typeface="Carlito"/>
                <a:sym typeface="Carlito"/>
              </a:endParaRPr>
            </a:p>
          </p:txBody>
        </p:sp>
        <p:sp>
          <p:nvSpPr>
            <p:cNvPr id="64" name="Google Shape;64;p4"/>
            <p:cNvSpPr/>
            <p:nvPr/>
          </p:nvSpPr>
          <p:spPr>
            <a:xfrm>
              <a:off x="457200" y="2933700"/>
              <a:ext cx="4000500" cy="685800"/>
            </a:xfrm>
            <a:prstGeom prst="roundRect">
              <a:avLst>
                <a:gd fmla="val 11111" name="adj"/>
              </a:avLst>
            </a:prstGeom>
            <a:solidFill>
              <a:srgbClr val="111E2F"/>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4"/>
            <p:cNvSpPr txBox="1"/>
            <p:nvPr/>
          </p:nvSpPr>
          <p:spPr>
            <a:xfrm>
              <a:off x="457200" y="2933700"/>
              <a:ext cx="5715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0B429"/>
                  </a:solidFill>
                  <a:latin typeface="Arial"/>
                  <a:ea typeface="Arial"/>
                  <a:cs typeface="Arial"/>
                  <a:sym typeface="Arial"/>
                </a:rPr>
                <a:t>05</a:t>
              </a:r>
              <a:endParaRPr b="1" sz="1600">
                <a:solidFill>
                  <a:srgbClr val="F0B429"/>
                </a:solidFill>
                <a:latin typeface="Arial"/>
                <a:ea typeface="Arial"/>
                <a:cs typeface="Arial"/>
                <a:sym typeface="Arial"/>
              </a:endParaRPr>
            </a:p>
          </p:txBody>
        </p:sp>
        <p:cxnSp>
          <p:nvCxnSpPr>
            <p:cNvPr id="66" name="Google Shape;66;p4"/>
            <p:cNvCxnSpPr/>
            <p:nvPr/>
          </p:nvCxnSpPr>
          <p:spPr>
            <a:xfrm>
              <a:off x="1028700" y="3067050"/>
              <a:ext cx="0" cy="419100"/>
            </a:xfrm>
            <a:prstGeom prst="straightConnector1">
              <a:avLst/>
            </a:prstGeom>
            <a:solidFill>
              <a:srgbClr val="FFFFFF"/>
            </a:solidFill>
            <a:ln cap="flat" cmpd="sng" w="14300">
              <a:solidFill>
                <a:srgbClr val="F0B429"/>
              </a:solidFill>
              <a:prstDash val="solid"/>
              <a:round/>
              <a:headEnd len="sm" w="sm" type="none"/>
              <a:tailEnd len="sm" w="sm" type="none"/>
            </a:ln>
          </p:spPr>
        </p:cxnSp>
        <p:sp>
          <p:nvSpPr>
            <p:cNvPr id="67" name="Google Shape;67;p4"/>
            <p:cNvSpPr txBox="1"/>
            <p:nvPr/>
          </p:nvSpPr>
          <p:spPr>
            <a:xfrm>
              <a:off x="1181100" y="2933700"/>
              <a:ext cx="31242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F5F1E6"/>
                  </a:solidFill>
                  <a:latin typeface="Carlito"/>
                  <a:ea typeface="Carlito"/>
                  <a:cs typeface="Carlito"/>
                  <a:sym typeface="Carlito"/>
                </a:rPr>
                <a:t>Quantization</a:t>
              </a:r>
              <a:endParaRPr b="1" sz="1100">
                <a:solidFill>
                  <a:srgbClr val="F5F1E6"/>
                </a:solidFill>
                <a:latin typeface="Carlito"/>
                <a:ea typeface="Carlito"/>
                <a:cs typeface="Carlito"/>
                <a:sym typeface="Carlito"/>
              </a:endParaRPr>
            </a:p>
            <a:p>
              <a:pPr indent="0" lvl="0" marL="0" rtl="0" algn="l">
                <a:spcBef>
                  <a:spcPts val="225"/>
                </a:spcBef>
                <a:spcAft>
                  <a:spcPts val="0"/>
                </a:spcAft>
                <a:buNone/>
              </a:pPr>
              <a:r>
                <a:rPr lang="en-US" sz="850">
                  <a:solidFill>
                    <a:srgbClr val="94A3B8"/>
                  </a:solidFill>
                  <a:latin typeface="Carlito"/>
                  <a:ea typeface="Carlito"/>
                  <a:cs typeface="Carlito"/>
                  <a:sym typeface="Carlito"/>
                </a:rPr>
                <a:t>Compress for deployment</a:t>
              </a:r>
              <a:endParaRPr sz="850">
                <a:solidFill>
                  <a:srgbClr val="94A3B8"/>
                </a:solidFill>
                <a:latin typeface="Carlito"/>
                <a:ea typeface="Carlito"/>
                <a:cs typeface="Carlito"/>
                <a:sym typeface="Carlito"/>
              </a:endParaRPr>
            </a:p>
          </p:txBody>
        </p:sp>
        <p:sp>
          <p:nvSpPr>
            <p:cNvPr id="68" name="Google Shape;68;p4"/>
            <p:cNvSpPr/>
            <p:nvPr/>
          </p:nvSpPr>
          <p:spPr>
            <a:xfrm>
              <a:off x="4686300" y="2933700"/>
              <a:ext cx="4000500" cy="685800"/>
            </a:xfrm>
            <a:prstGeom prst="roundRect">
              <a:avLst>
                <a:gd fmla="val 11111" name="adj"/>
              </a:avLst>
            </a:prstGeom>
            <a:solidFill>
              <a:srgbClr val="111E2F"/>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 name="Google Shape;69;p4"/>
            <p:cNvSpPr txBox="1"/>
            <p:nvPr/>
          </p:nvSpPr>
          <p:spPr>
            <a:xfrm>
              <a:off x="4686300" y="2933700"/>
              <a:ext cx="5715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0B429"/>
                  </a:solidFill>
                  <a:latin typeface="Arial"/>
                  <a:ea typeface="Arial"/>
                  <a:cs typeface="Arial"/>
                  <a:sym typeface="Arial"/>
                </a:rPr>
                <a:t>06</a:t>
              </a:r>
              <a:endParaRPr b="1" sz="1600">
                <a:solidFill>
                  <a:srgbClr val="F0B429"/>
                </a:solidFill>
                <a:latin typeface="Arial"/>
                <a:ea typeface="Arial"/>
                <a:cs typeface="Arial"/>
                <a:sym typeface="Arial"/>
              </a:endParaRPr>
            </a:p>
          </p:txBody>
        </p:sp>
        <p:cxnSp>
          <p:nvCxnSpPr>
            <p:cNvPr id="70" name="Google Shape;70;p4"/>
            <p:cNvCxnSpPr/>
            <p:nvPr/>
          </p:nvCxnSpPr>
          <p:spPr>
            <a:xfrm>
              <a:off x="5257800" y="3067050"/>
              <a:ext cx="0" cy="419100"/>
            </a:xfrm>
            <a:prstGeom prst="straightConnector1">
              <a:avLst/>
            </a:prstGeom>
            <a:solidFill>
              <a:srgbClr val="FFFFFF"/>
            </a:solidFill>
            <a:ln cap="flat" cmpd="sng" w="14300">
              <a:solidFill>
                <a:srgbClr val="F0B429"/>
              </a:solidFill>
              <a:prstDash val="solid"/>
              <a:round/>
              <a:headEnd len="sm" w="sm" type="none"/>
              <a:tailEnd len="sm" w="sm" type="none"/>
            </a:ln>
          </p:spPr>
        </p:cxnSp>
        <p:sp>
          <p:nvSpPr>
            <p:cNvPr id="71" name="Google Shape;71;p4"/>
            <p:cNvSpPr txBox="1"/>
            <p:nvPr/>
          </p:nvSpPr>
          <p:spPr>
            <a:xfrm>
              <a:off x="5410200" y="2933700"/>
              <a:ext cx="31242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F5F1E6"/>
                  </a:solidFill>
                  <a:latin typeface="Carlito"/>
                  <a:ea typeface="Carlito"/>
                  <a:cs typeface="Carlito"/>
                  <a:sym typeface="Carlito"/>
                </a:rPr>
                <a:t>Model Export &amp; </a:t>
              </a:r>
              <a:r>
                <a:rPr b="1" lang="en-US" sz="1100">
                  <a:solidFill>
                    <a:srgbClr val="F0B429"/>
                  </a:solidFill>
                  <a:latin typeface="Arial"/>
                  <a:ea typeface="Arial"/>
                  <a:cs typeface="Arial"/>
                  <a:sym typeface="Arial"/>
                </a:rPr>
                <a:t>ONNX</a:t>
              </a:r>
              <a:endParaRPr b="1" sz="1100">
                <a:solidFill>
                  <a:srgbClr val="F5F1E6"/>
                </a:solidFill>
                <a:latin typeface="Carlito"/>
                <a:ea typeface="Carlito"/>
                <a:cs typeface="Carlito"/>
                <a:sym typeface="Carlito"/>
              </a:endParaRPr>
            </a:p>
            <a:p>
              <a:pPr indent="0" lvl="0" marL="0" rtl="0" algn="l">
                <a:spcBef>
                  <a:spcPts val="225"/>
                </a:spcBef>
                <a:spcAft>
                  <a:spcPts val="0"/>
                </a:spcAft>
                <a:buNone/>
              </a:pPr>
              <a:r>
                <a:rPr lang="en-US" sz="850">
                  <a:solidFill>
                    <a:srgbClr val="94A3B8"/>
                  </a:solidFill>
                  <a:latin typeface="Carlito"/>
                  <a:ea typeface="Carlito"/>
                  <a:cs typeface="Carlito"/>
                  <a:sym typeface="Carlito"/>
                </a:rPr>
                <a:t>Portable deployment format</a:t>
              </a:r>
              <a:endParaRPr sz="850">
                <a:solidFill>
                  <a:srgbClr val="94A3B8"/>
                </a:solidFill>
                <a:latin typeface="Carlito"/>
                <a:ea typeface="Carlito"/>
                <a:cs typeface="Carlito"/>
                <a:sym typeface="Carlito"/>
              </a:endParaRPr>
            </a:p>
          </p:txBody>
        </p:sp>
        <p:sp>
          <p:nvSpPr>
            <p:cNvPr id="72" name="Google Shape;72;p4"/>
            <p:cNvSpPr/>
            <p:nvPr/>
          </p:nvSpPr>
          <p:spPr>
            <a:xfrm>
              <a:off x="457200" y="3733800"/>
              <a:ext cx="4000500" cy="685800"/>
            </a:xfrm>
            <a:prstGeom prst="roundRect">
              <a:avLst>
                <a:gd fmla="val 11111" name="adj"/>
              </a:avLst>
            </a:prstGeom>
            <a:solidFill>
              <a:srgbClr val="111E2F"/>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 name="Google Shape;73;p4"/>
            <p:cNvSpPr txBox="1"/>
            <p:nvPr/>
          </p:nvSpPr>
          <p:spPr>
            <a:xfrm>
              <a:off x="457200" y="3733800"/>
              <a:ext cx="5715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0B429"/>
                  </a:solidFill>
                  <a:latin typeface="Arial"/>
                  <a:ea typeface="Arial"/>
                  <a:cs typeface="Arial"/>
                  <a:sym typeface="Arial"/>
                </a:rPr>
                <a:t>07</a:t>
              </a:r>
              <a:endParaRPr b="1" sz="1600">
                <a:solidFill>
                  <a:srgbClr val="F0B429"/>
                </a:solidFill>
                <a:latin typeface="Arial"/>
                <a:ea typeface="Arial"/>
                <a:cs typeface="Arial"/>
                <a:sym typeface="Arial"/>
              </a:endParaRPr>
            </a:p>
          </p:txBody>
        </p:sp>
        <p:cxnSp>
          <p:nvCxnSpPr>
            <p:cNvPr id="74" name="Google Shape;74;p4"/>
            <p:cNvCxnSpPr/>
            <p:nvPr/>
          </p:nvCxnSpPr>
          <p:spPr>
            <a:xfrm>
              <a:off x="1028700" y="3867150"/>
              <a:ext cx="0" cy="419100"/>
            </a:xfrm>
            <a:prstGeom prst="straightConnector1">
              <a:avLst/>
            </a:prstGeom>
            <a:solidFill>
              <a:srgbClr val="FFFFFF"/>
            </a:solidFill>
            <a:ln cap="flat" cmpd="sng" w="14300">
              <a:solidFill>
                <a:srgbClr val="F0B429"/>
              </a:solidFill>
              <a:prstDash val="solid"/>
              <a:round/>
              <a:headEnd len="sm" w="sm" type="none"/>
              <a:tailEnd len="sm" w="sm" type="none"/>
            </a:ln>
          </p:spPr>
        </p:cxnSp>
        <p:sp>
          <p:nvSpPr>
            <p:cNvPr id="75" name="Google Shape;75;p4"/>
            <p:cNvSpPr txBox="1"/>
            <p:nvPr/>
          </p:nvSpPr>
          <p:spPr>
            <a:xfrm>
              <a:off x="1181100" y="3733800"/>
              <a:ext cx="31242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F5F1E6"/>
                  </a:solidFill>
                  <a:latin typeface="Carlito"/>
                  <a:ea typeface="Carlito"/>
                  <a:cs typeface="Carlito"/>
                  <a:sym typeface="Carlito"/>
                </a:rPr>
                <a:t>Live Demo: Two Models, One Journey</a:t>
              </a:r>
              <a:endParaRPr b="1" sz="1100">
                <a:solidFill>
                  <a:srgbClr val="F5F1E6"/>
                </a:solidFill>
                <a:latin typeface="Carlito"/>
                <a:ea typeface="Carlito"/>
                <a:cs typeface="Carlito"/>
                <a:sym typeface="Carlito"/>
              </a:endParaRPr>
            </a:p>
            <a:p>
              <a:pPr indent="0" lvl="0" marL="0" rtl="0" algn="l">
                <a:spcBef>
                  <a:spcPts val="225"/>
                </a:spcBef>
                <a:spcAft>
                  <a:spcPts val="0"/>
                </a:spcAft>
                <a:buNone/>
              </a:pPr>
              <a:r>
                <a:rPr lang="en-US" sz="850">
                  <a:solidFill>
                    <a:srgbClr val="94A3B8"/>
                  </a:solidFill>
                  <a:latin typeface="Carlito"/>
                  <a:ea typeface="Carlito"/>
                  <a:cs typeface="Carlito"/>
                  <a:sym typeface="Carlito"/>
                </a:rPr>
                <a:t>Hands-on in Google Colab</a:t>
              </a:r>
              <a:endParaRPr sz="850">
                <a:solidFill>
                  <a:srgbClr val="94A3B8"/>
                </a:solidFill>
                <a:latin typeface="Carlito"/>
                <a:ea typeface="Carlito"/>
                <a:cs typeface="Carlito"/>
                <a:sym typeface="Carlito"/>
              </a:endParaRPr>
            </a:p>
          </p:txBody>
        </p:sp>
        <p:sp>
          <p:nvSpPr>
            <p:cNvPr id="76" name="Google Shape;76;p4"/>
            <p:cNvSpPr/>
            <p:nvPr/>
          </p:nvSpPr>
          <p:spPr>
            <a:xfrm>
              <a:off x="4686300" y="3733800"/>
              <a:ext cx="4000500" cy="685800"/>
            </a:xfrm>
            <a:prstGeom prst="roundRect">
              <a:avLst>
                <a:gd fmla="val 11111" name="adj"/>
              </a:avLst>
            </a:prstGeom>
            <a:solidFill>
              <a:srgbClr val="111E2F"/>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4"/>
            <p:cNvSpPr txBox="1"/>
            <p:nvPr/>
          </p:nvSpPr>
          <p:spPr>
            <a:xfrm>
              <a:off x="4686300" y="3733800"/>
              <a:ext cx="5715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0B429"/>
                  </a:solidFill>
                  <a:latin typeface="Arial"/>
                  <a:ea typeface="Arial"/>
                  <a:cs typeface="Arial"/>
                  <a:sym typeface="Arial"/>
                </a:rPr>
                <a:t>08</a:t>
              </a:r>
              <a:endParaRPr b="1" sz="1600">
                <a:solidFill>
                  <a:srgbClr val="F0B429"/>
                </a:solidFill>
                <a:latin typeface="Arial"/>
                <a:ea typeface="Arial"/>
                <a:cs typeface="Arial"/>
                <a:sym typeface="Arial"/>
              </a:endParaRPr>
            </a:p>
          </p:txBody>
        </p:sp>
        <p:cxnSp>
          <p:nvCxnSpPr>
            <p:cNvPr id="78" name="Google Shape;78;p4"/>
            <p:cNvCxnSpPr/>
            <p:nvPr/>
          </p:nvCxnSpPr>
          <p:spPr>
            <a:xfrm>
              <a:off x="5257800" y="3867150"/>
              <a:ext cx="0" cy="419100"/>
            </a:xfrm>
            <a:prstGeom prst="straightConnector1">
              <a:avLst/>
            </a:prstGeom>
            <a:solidFill>
              <a:srgbClr val="FFFFFF"/>
            </a:solidFill>
            <a:ln cap="flat" cmpd="sng" w="14300">
              <a:solidFill>
                <a:srgbClr val="F0B429"/>
              </a:solidFill>
              <a:prstDash val="solid"/>
              <a:round/>
              <a:headEnd len="sm" w="sm" type="none"/>
              <a:tailEnd len="sm" w="sm" type="none"/>
            </a:ln>
          </p:spPr>
        </p:cxnSp>
        <p:sp>
          <p:nvSpPr>
            <p:cNvPr id="79" name="Google Shape;79;p4"/>
            <p:cNvSpPr txBox="1"/>
            <p:nvPr/>
          </p:nvSpPr>
          <p:spPr>
            <a:xfrm>
              <a:off x="5410200" y="3733800"/>
              <a:ext cx="31242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F5F1E6"/>
                  </a:solidFill>
                  <a:latin typeface="Carlito"/>
                  <a:ea typeface="Carlito"/>
                  <a:cs typeface="Carlito"/>
                  <a:sym typeface="Carlito"/>
                </a:rPr>
                <a:t>Live Results, Benchmarking &amp; Takeaways</a:t>
              </a:r>
              <a:endParaRPr b="1" sz="1100">
                <a:solidFill>
                  <a:srgbClr val="F5F1E6"/>
                </a:solidFill>
                <a:latin typeface="Carlito"/>
                <a:ea typeface="Carlito"/>
                <a:cs typeface="Carlito"/>
                <a:sym typeface="Carlito"/>
              </a:endParaRPr>
            </a:p>
            <a:p>
              <a:pPr indent="0" lvl="0" marL="0" rtl="0" algn="l">
                <a:spcBef>
                  <a:spcPts val="225"/>
                </a:spcBef>
                <a:spcAft>
                  <a:spcPts val="0"/>
                </a:spcAft>
                <a:buNone/>
              </a:pPr>
              <a:r>
                <a:rPr lang="en-US" sz="850">
                  <a:solidFill>
                    <a:srgbClr val="94A3B8"/>
                  </a:solidFill>
                  <a:latin typeface="Carlito"/>
                  <a:ea typeface="Carlito"/>
                  <a:cs typeface="Carlito"/>
                  <a:sym typeface="Carlito"/>
                </a:rPr>
                <a:t>Verified measured numbers</a:t>
              </a:r>
              <a:endParaRPr sz="850">
                <a:solidFill>
                  <a:srgbClr val="94A3B8"/>
                </a:solidFill>
                <a:latin typeface="Carlito"/>
                <a:ea typeface="Carlito"/>
                <a:cs typeface="Carlito"/>
                <a:sym typeface="Carlito"/>
              </a:endParaRPr>
            </a:p>
          </p:txBody>
        </p:sp>
      </p:grpSp>
      <p:sp>
        <p:nvSpPr>
          <p:cNvPr id="80" name="Google Shape;80;p4"/>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81" name="Google Shape;81;p4"/>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02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pic>
        <p:nvPicPr>
          <p:cNvPr id="82" name="Google Shape;82;p4" title="WhatsApp Image 2026-07-22 at 7.27.24 AM.jpeg"/>
          <p:cNvPicPr preferRelativeResize="0"/>
          <p:nvPr/>
        </p:nvPicPr>
        <p:blipFill>
          <a:blip r:embed="rId3">
            <a:alphaModFix/>
          </a:blip>
          <a:stretch>
            <a:fillRect/>
          </a:stretch>
        </p:blipFill>
        <p:spPr>
          <a:xfrm>
            <a:off x="7806836" y="247382"/>
            <a:ext cx="822775" cy="911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p5"/>
          <p:cNvSpPr txBox="1"/>
          <p:nvPr/>
        </p:nvSpPr>
        <p:spPr>
          <a:xfrm>
            <a:off x="4286250" y="476250"/>
            <a:ext cx="4286400" cy="381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US" sz="24050">
                <a:solidFill>
                  <a:srgbClr val="132237"/>
                </a:solidFill>
                <a:latin typeface="Arial"/>
                <a:ea typeface="Arial"/>
                <a:cs typeface="Arial"/>
                <a:sym typeface="Arial"/>
              </a:rPr>
              <a:t>01</a:t>
            </a:r>
            <a:endParaRPr b="0" sz="24050">
              <a:solidFill>
                <a:srgbClr val="132237"/>
              </a:solidFill>
              <a:latin typeface="Arial"/>
              <a:ea typeface="Arial"/>
              <a:cs typeface="Arial"/>
              <a:sym typeface="Arial"/>
            </a:endParaRPr>
          </a:p>
        </p:txBody>
      </p:sp>
      <p:sp>
        <p:nvSpPr>
          <p:cNvPr id="89" name="Google Shape;89;p5"/>
          <p:cNvSpPr/>
          <p:nvPr/>
        </p:nvSpPr>
        <p:spPr>
          <a:xfrm>
            <a:off x="762000" y="1333500"/>
            <a:ext cx="6096000" cy="2476500"/>
          </a:xfrm>
          <a:prstGeom prst="roundRect">
            <a:avLst>
              <a:gd fmla="val 3076" name="adj"/>
            </a:avLst>
          </a:prstGeom>
          <a:solidFill>
            <a:srgbClr val="111E2F"/>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90" name="Google Shape;90;p5"/>
          <p:cNvCxnSpPr/>
          <p:nvPr/>
        </p:nvCxnSpPr>
        <p:spPr>
          <a:xfrm>
            <a:off x="1028700" y="1666875"/>
            <a:ext cx="0" cy="1809600"/>
          </a:xfrm>
          <a:prstGeom prst="straightConnector1">
            <a:avLst/>
          </a:prstGeom>
          <a:solidFill>
            <a:srgbClr val="FFFFFF"/>
          </a:solidFill>
          <a:ln cap="rnd" cmpd="sng" w="28575">
            <a:solidFill>
              <a:srgbClr val="F0B429"/>
            </a:solidFill>
            <a:prstDash val="solid"/>
            <a:round/>
            <a:headEnd len="sm" w="sm" type="none"/>
            <a:tailEnd len="sm" w="sm" type="none"/>
          </a:ln>
        </p:spPr>
      </p:cxnSp>
      <p:sp>
        <p:nvSpPr>
          <p:cNvPr id="91" name="Google Shape;91;p5"/>
          <p:cNvSpPr txBox="1"/>
          <p:nvPr/>
        </p:nvSpPr>
        <p:spPr>
          <a:xfrm>
            <a:off x="1238250" y="1333500"/>
            <a:ext cx="5334000" cy="2476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PART 01 / 08</a:t>
            </a:r>
            <a:endParaRPr b="1" sz="1000">
              <a:solidFill>
                <a:srgbClr val="F0B429"/>
              </a:solidFill>
              <a:latin typeface="Carlito"/>
              <a:ea typeface="Carlito"/>
              <a:cs typeface="Carlito"/>
              <a:sym typeface="Carlito"/>
            </a:endParaRPr>
          </a:p>
          <a:p>
            <a:pPr indent="0" lvl="0" marL="0" rtl="0" algn="l">
              <a:spcBef>
                <a:spcPts val="900"/>
              </a:spcBef>
              <a:spcAft>
                <a:spcPts val="0"/>
              </a:spcAft>
              <a:buNone/>
            </a:pPr>
            <a:r>
              <a:rPr b="1" lang="en-US" sz="2800">
                <a:solidFill>
                  <a:srgbClr val="F5F1E6"/>
                </a:solidFill>
                <a:latin typeface="Carlito"/>
                <a:ea typeface="Carlito"/>
                <a:cs typeface="Carlito"/>
                <a:sym typeface="Carlito"/>
              </a:rPr>
              <a:t>Why Resource Optimization Matters</a:t>
            </a:r>
            <a:endParaRPr b="1" sz="2800">
              <a:solidFill>
                <a:srgbClr val="F5F1E6"/>
              </a:solidFill>
              <a:latin typeface="Carlito"/>
              <a:ea typeface="Carlito"/>
              <a:cs typeface="Carlito"/>
              <a:sym typeface="Carlito"/>
            </a:endParaRPr>
          </a:p>
          <a:p>
            <a:pPr indent="0" lvl="0" marL="0" rtl="0" algn="l">
              <a:spcBef>
                <a:spcPts val="1200"/>
              </a:spcBef>
              <a:spcAft>
                <a:spcPts val="0"/>
              </a:spcAft>
              <a:buNone/>
            </a:pPr>
            <a:r>
              <a:rPr b="0" lang="en-US" sz="1400">
                <a:solidFill>
                  <a:srgbClr val="94A3B8"/>
                </a:solidFill>
                <a:latin typeface="Carlito"/>
                <a:ea typeface="Carlito"/>
                <a:cs typeface="Carlito"/>
                <a:sym typeface="Carlito"/>
              </a:rPr>
              <a:t>The gap between what a model can do in a paper and what it can do on real, constrained hardware.</a:t>
            </a:r>
            <a:endParaRPr b="0" sz="1400">
              <a:solidFill>
                <a:srgbClr val="94A3B8"/>
              </a:solidFill>
              <a:latin typeface="Carlito"/>
              <a:ea typeface="Carlito"/>
              <a:cs typeface="Carlito"/>
              <a:sym typeface="Carlito"/>
            </a:endParaRPr>
          </a:p>
        </p:txBody>
      </p:sp>
      <p:sp>
        <p:nvSpPr>
          <p:cNvPr id="92" name="Google Shape;92;p5"/>
          <p:cNvSpPr txBox="1"/>
          <p:nvPr/>
        </p:nvSpPr>
        <p:spPr>
          <a:xfrm>
            <a:off x="457200" y="4857750"/>
            <a:ext cx="78582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00">
                <a:solidFill>
                  <a:srgbClr val="64748B"/>
                </a:solidFill>
                <a:latin typeface="Carlito"/>
                <a:ea typeface="Carlito"/>
                <a:cs typeface="Carlito"/>
                <a:sym typeface="Carlito"/>
              </a:rPr>
              <a:t>DEEP LEARNING FOR RESOURCE OPTIMIZATION</a:t>
            </a:r>
            <a:endParaRPr b="0" sz="800">
              <a:solidFill>
                <a:srgbClr val="64748B"/>
              </a:solidFill>
              <a:latin typeface="Carlito"/>
              <a:ea typeface="Carlito"/>
              <a:cs typeface="Carlito"/>
              <a:sym typeface="Carlito"/>
            </a:endParaRPr>
          </a:p>
        </p:txBody>
      </p:sp>
      <p:sp>
        <p:nvSpPr>
          <p:cNvPr id="93" name="Google Shape;93;p5"/>
          <p:cNvSpPr txBox="1"/>
          <p:nvPr/>
        </p:nvSpPr>
        <p:spPr>
          <a:xfrm>
            <a:off x="8334375" y="4857750"/>
            <a:ext cx="4953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US" sz="800">
                <a:solidFill>
                  <a:srgbClr val="94A3B8"/>
                </a:solidFill>
                <a:latin typeface="Arial"/>
                <a:ea typeface="Arial"/>
                <a:cs typeface="Arial"/>
                <a:sym typeface="Arial"/>
              </a:rPr>
              <a:t>03 </a:t>
            </a:r>
            <a:r>
              <a:rPr b="0" lang="en-US" sz="800">
                <a:solidFill>
                  <a:srgbClr val="64748B"/>
                </a:solidFill>
                <a:latin typeface="Arial"/>
                <a:ea typeface="Arial"/>
                <a:cs typeface="Arial"/>
                <a:sym typeface="Arial"/>
              </a:rPr>
              <a:t>/ 58</a:t>
            </a:r>
            <a:endParaRPr b="0" sz="800">
              <a:solidFill>
                <a:srgbClr val="94A3B8"/>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98" name="Shape 98"/>
        <p:cNvGrpSpPr/>
        <p:nvPr/>
      </p:nvGrpSpPr>
      <p:grpSpPr>
        <a:xfrm>
          <a:off x="0" y="0"/>
          <a:ext cx="0" cy="0"/>
          <a:chOff x="0" y="0"/>
          <a:chExt cx="0" cy="0"/>
        </a:xfrm>
      </p:grpSpPr>
      <p:sp>
        <p:nvSpPr>
          <p:cNvPr id="99" name="Google Shape;99;p6"/>
          <p:cNvSpPr/>
          <p:nvPr/>
        </p:nvSpPr>
        <p:spPr>
          <a:xfrm>
            <a:off x="457200" y="458986"/>
            <a:ext cx="2459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01 · WHY OPTIMIZATION MATTERS</a:t>
            </a:r>
            <a:endParaRPr b="0" i="0" sz="800" u="none" cap="none" strike="noStrike">
              <a:solidFill>
                <a:schemeClr val="dk1"/>
              </a:solidFill>
              <a:latin typeface="Calibri"/>
              <a:ea typeface="Calibri"/>
              <a:cs typeface="Calibri"/>
              <a:sym typeface="Calibri"/>
            </a:endParaRPr>
          </a:p>
        </p:txBody>
      </p:sp>
      <p:sp>
        <p:nvSpPr>
          <p:cNvPr id="100" name="Google Shape;100;p6"/>
          <p:cNvSpPr/>
          <p:nvPr/>
        </p:nvSpPr>
        <p:spPr>
          <a:xfrm>
            <a:off x="457200" y="662583"/>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The Problem: Bigger Models, Harder Constraints</a:t>
            </a:r>
            <a:endParaRPr b="0" i="0" sz="2250" u="none" cap="none" strike="noStrike">
              <a:solidFill>
                <a:schemeClr val="dk1"/>
              </a:solidFill>
              <a:latin typeface="Calibri"/>
              <a:ea typeface="Calibri"/>
              <a:cs typeface="Calibri"/>
              <a:sym typeface="Calibri"/>
            </a:endParaRPr>
          </a:p>
        </p:txBody>
      </p:sp>
      <p:grpSp>
        <p:nvGrpSpPr>
          <p:cNvPr id="101" name="Google Shape;101;p6"/>
          <p:cNvGrpSpPr/>
          <p:nvPr/>
        </p:nvGrpSpPr>
        <p:grpSpPr>
          <a:xfrm>
            <a:off x="457200" y="1238250"/>
            <a:ext cx="3943200" cy="3238500"/>
            <a:chOff x="457200" y="1238250"/>
            <a:chExt cx="3943200" cy="3238500"/>
          </a:xfrm>
        </p:grpSpPr>
        <p:sp>
          <p:nvSpPr>
            <p:cNvPr id="102" name="Google Shape;102;p6"/>
            <p:cNvSpPr/>
            <p:nvPr/>
          </p:nvSpPr>
          <p:spPr>
            <a:xfrm>
              <a:off x="457200" y="1238250"/>
              <a:ext cx="3943200" cy="3238500"/>
            </a:xfrm>
            <a:prstGeom prst="roundRect">
              <a:avLst>
                <a:gd fmla="val 2352" name="adj"/>
              </a:avLst>
            </a:prstGeom>
            <a:solidFill>
              <a:srgbClr val="111E2F"/>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03" name="Google Shape;103;p6"/>
            <p:cNvCxnSpPr/>
            <p:nvPr/>
          </p:nvCxnSpPr>
          <p:spPr>
            <a:xfrm>
              <a:off x="457200" y="1238250"/>
              <a:ext cx="0" cy="3238500"/>
            </a:xfrm>
            <a:prstGeom prst="straightConnector1">
              <a:avLst/>
            </a:prstGeom>
            <a:solidFill>
              <a:srgbClr val="FFFFFF"/>
            </a:solidFill>
            <a:ln cap="rnd" cmpd="sng" w="28575">
              <a:solidFill>
                <a:srgbClr val="F0B429"/>
              </a:solidFill>
              <a:prstDash val="solid"/>
              <a:round/>
              <a:headEnd len="sm" w="sm" type="none"/>
              <a:tailEnd len="sm" w="sm" type="none"/>
            </a:ln>
          </p:spPr>
        </p:cxnSp>
        <p:sp>
          <p:nvSpPr>
            <p:cNvPr id="104" name="Google Shape;104;p6"/>
            <p:cNvSpPr txBox="1"/>
            <p:nvPr/>
          </p:nvSpPr>
          <p:spPr>
            <a:xfrm>
              <a:off x="685800" y="1466850"/>
              <a:ext cx="3486300" cy="27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 01 · THE HARDWARE GAP</a:t>
              </a:r>
              <a:endParaRPr b="1" sz="1000">
                <a:solidFill>
                  <a:srgbClr val="F0B429"/>
                </a:solidFill>
                <a:latin typeface="Carlito"/>
                <a:ea typeface="Carlito"/>
                <a:cs typeface="Carlito"/>
                <a:sym typeface="Carlito"/>
              </a:endParaRPr>
            </a:p>
            <a:p>
              <a:pPr indent="0" lvl="0" marL="0" rtl="0" algn="l">
                <a:spcBef>
                  <a:spcPts val="900"/>
                </a:spcBef>
                <a:spcAft>
                  <a:spcPts val="0"/>
                </a:spcAft>
                <a:buNone/>
              </a:pPr>
              <a:r>
                <a:rPr b="1" lang="en-US" sz="2000">
                  <a:solidFill>
                    <a:srgbClr val="F5F1E6"/>
                  </a:solidFill>
                  <a:latin typeface="Carlito"/>
                  <a:ea typeface="Carlito"/>
                  <a:cs typeface="Carlito"/>
                  <a:sym typeface="Carlito"/>
                </a:rPr>
                <a:t>Bigger Models vs. Static Hardware</a:t>
              </a:r>
              <a:endParaRPr b="1" sz="2000">
                <a:solidFill>
                  <a:srgbClr val="F5F1E6"/>
                </a:solidFill>
                <a:latin typeface="Carlito"/>
                <a:ea typeface="Carlito"/>
                <a:cs typeface="Carlito"/>
                <a:sym typeface="Carlito"/>
              </a:endParaRPr>
            </a:p>
            <a:p>
              <a:pPr indent="0" lvl="0" marL="0" rtl="0" algn="l">
                <a:spcBef>
                  <a:spcPts val="1200"/>
                </a:spcBef>
                <a:spcAft>
                  <a:spcPts val="0"/>
                </a:spcAft>
                <a:buNone/>
              </a:pPr>
              <a:r>
                <a:rPr b="0" lang="en-US" sz="1100">
                  <a:solidFill>
                    <a:srgbClr val="94A3B8"/>
                  </a:solidFill>
                  <a:latin typeface="Carlito"/>
                  <a:ea typeface="Carlito"/>
                  <a:cs typeface="Carlito"/>
                  <a:sym typeface="Carlito"/>
                </a:rPr>
                <a:t>State-of-the-art model sizes have grown from millions to hundreds of billions of parameters in under a decade.</a:t>
              </a:r>
              <a:endParaRPr b="0" sz="1100">
                <a:solidFill>
                  <a:srgbClr val="94A3B8"/>
                </a:solidFill>
                <a:latin typeface="Carlito"/>
                <a:ea typeface="Carlito"/>
                <a:cs typeface="Carlito"/>
                <a:sym typeface="Carlito"/>
              </a:endParaRPr>
            </a:p>
            <a:p>
              <a:pPr indent="0" lvl="0" marL="0" rtl="0" algn="l">
                <a:spcBef>
                  <a:spcPts val="900"/>
                </a:spcBef>
                <a:spcAft>
                  <a:spcPts val="0"/>
                </a:spcAft>
                <a:buNone/>
              </a:pPr>
              <a:r>
                <a:rPr b="0" lang="en-US" sz="1100">
                  <a:solidFill>
                    <a:srgbClr val="94A3B8"/>
                  </a:solidFill>
                  <a:latin typeface="Carlito"/>
                  <a:ea typeface="Carlito"/>
                  <a:cs typeface="Carlito"/>
                  <a:sym typeface="Carlito"/>
                </a:rPr>
                <a:t>Meanwhile, deployable target devices — laptops, phones, edge sensors, and single research GPUs — have not grown at the same rate, sharply widening the capability-hardware gap.</a:t>
              </a:r>
              <a:endParaRPr b="0" sz="1100">
                <a:solidFill>
                  <a:srgbClr val="94A3B8"/>
                </a:solidFill>
                <a:latin typeface="Carlito"/>
                <a:ea typeface="Carlito"/>
                <a:cs typeface="Carlito"/>
                <a:sym typeface="Carlito"/>
              </a:endParaRPr>
            </a:p>
          </p:txBody>
        </p:sp>
      </p:grpSp>
      <p:grpSp>
        <p:nvGrpSpPr>
          <p:cNvPr id="105" name="Google Shape;105;p6"/>
          <p:cNvGrpSpPr/>
          <p:nvPr/>
        </p:nvGrpSpPr>
        <p:grpSpPr>
          <a:xfrm>
            <a:off x="4743450" y="1238250"/>
            <a:ext cx="3943200" cy="3238500"/>
            <a:chOff x="4743450" y="1238250"/>
            <a:chExt cx="3943200" cy="3238500"/>
          </a:xfrm>
        </p:grpSpPr>
        <p:sp>
          <p:nvSpPr>
            <p:cNvPr id="106" name="Google Shape;106;p6"/>
            <p:cNvSpPr/>
            <p:nvPr/>
          </p:nvSpPr>
          <p:spPr>
            <a:xfrm>
              <a:off x="4743450" y="1238250"/>
              <a:ext cx="3943200" cy="3238500"/>
            </a:xfrm>
            <a:prstGeom prst="roundRect">
              <a:avLst>
                <a:gd fmla="val 2352" name="adj"/>
              </a:avLst>
            </a:prstGeom>
            <a:solidFill>
              <a:srgbClr val="111E2F"/>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07" name="Google Shape;107;p6"/>
            <p:cNvCxnSpPr/>
            <p:nvPr/>
          </p:nvCxnSpPr>
          <p:spPr>
            <a:xfrm>
              <a:off x="4743450" y="1238250"/>
              <a:ext cx="0" cy="3238500"/>
            </a:xfrm>
            <a:prstGeom prst="straightConnector1">
              <a:avLst/>
            </a:prstGeom>
            <a:solidFill>
              <a:srgbClr val="FFFFFF"/>
            </a:solidFill>
            <a:ln cap="rnd" cmpd="sng" w="28575">
              <a:solidFill>
                <a:srgbClr val="F0B429"/>
              </a:solidFill>
              <a:prstDash val="solid"/>
              <a:round/>
              <a:headEnd len="sm" w="sm" type="none"/>
              <a:tailEnd len="sm" w="sm" type="none"/>
            </a:ln>
          </p:spPr>
        </p:cxnSp>
        <p:sp>
          <p:nvSpPr>
            <p:cNvPr id="108" name="Google Shape;108;p6"/>
            <p:cNvSpPr txBox="1"/>
            <p:nvPr/>
          </p:nvSpPr>
          <p:spPr>
            <a:xfrm>
              <a:off x="4972050" y="1466850"/>
              <a:ext cx="3486300" cy="27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 02 · THE PIVOTAL QUESTION</a:t>
              </a:r>
              <a:endParaRPr b="1" sz="1000">
                <a:solidFill>
                  <a:srgbClr val="F0B429"/>
                </a:solidFill>
                <a:latin typeface="Carlito"/>
                <a:ea typeface="Carlito"/>
                <a:cs typeface="Carlito"/>
                <a:sym typeface="Carlito"/>
              </a:endParaRPr>
            </a:p>
            <a:p>
              <a:pPr indent="0" lvl="0" marL="0" rtl="0" algn="l">
                <a:spcBef>
                  <a:spcPts val="900"/>
                </a:spcBef>
                <a:spcAft>
                  <a:spcPts val="0"/>
                </a:spcAft>
                <a:buNone/>
              </a:pPr>
              <a:r>
                <a:rPr b="1" lang="en-US" sz="2000">
                  <a:solidFill>
                    <a:srgbClr val="F5F1E6"/>
                  </a:solidFill>
                  <a:latin typeface="Carlito"/>
                  <a:ea typeface="Carlito"/>
                  <a:cs typeface="Carlito"/>
                  <a:sym typeface="Carlito"/>
                </a:rPr>
                <a:t>Designing for Deployability</a:t>
              </a:r>
              <a:endParaRPr b="1" sz="2000">
                <a:solidFill>
                  <a:srgbClr val="F5F1E6"/>
                </a:solidFill>
                <a:latin typeface="Carlito"/>
                <a:ea typeface="Carlito"/>
                <a:cs typeface="Carlito"/>
                <a:sym typeface="Carlito"/>
              </a:endParaRPr>
            </a:p>
            <a:p>
              <a:pPr indent="0" lvl="0" marL="0" rtl="0" algn="l">
                <a:spcBef>
                  <a:spcPts val="1200"/>
                </a:spcBef>
                <a:spcAft>
                  <a:spcPts val="0"/>
                </a:spcAft>
                <a:buNone/>
              </a:pPr>
              <a:r>
                <a:rPr b="0" i="1" lang="en-US" sz="1250">
                  <a:solidFill>
                    <a:srgbClr val="F0B429"/>
                  </a:solidFill>
                  <a:latin typeface="Carlito"/>
                  <a:ea typeface="Carlito"/>
                  <a:cs typeface="Carlito"/>
                  <a:sym typeface="Carlito"/>
                </a:rPr>
                <a:t>"Can we make an already-good model small enough, fast enough, and cheap enough to actually deploy where it's needed?"</a:t>
              </a:r>
              <a:endParaRPr b="0" i="1" sz="1250">
                <a:solidFill>
                  <a:srgbClr val="F0B429"/>
                </a:solidFill>
                <a:latin typeface="Carlito"/>
                <a:ea typeface="Carlito"/>
                <a:cs typeface="Carlito"/>
                <a:sym typeface="Carlito"/>
              </a:endParaRPr>
            </a:p>
            <a:p>
              <a:pPr indent="0" lvl="0" marL="0" rtl="0" algn="l">
                <a:spcBef>
                  <a:spcPts val="1200"/>
                </a:spcBef>
                <a:spcAft>
                  <a:spcPts val="0"/>
                </a:spcAft>
                <a:buNone/>
              </a:pPr>
              <a:r>
                <a:rPr b="0" lang="en-US" sz="1100">
                  <a:solidFill>
                    <a:srgbClr val="94A3B8"/>
                  </a:solidFill>
                  <a:latin typeface="Carlito"/>
                  <a:ea typeface="Carlito"/>
                  <a:cs typeface="Carlito"/>
                  <a:sym typeface="Carlito"/>
                </a:rPr>
                <a:t>Every optimization technique in this session answers that core question from a different angle:</a:t>
              </a:r>
              <a:endParaRPr b="0" sz="1100">
                <a:solidFill>
                  <a:srgbClr val="94A3B8"/>
                </a:solidFill>
                <a:latin typeface="Carlito"/>
                <a:ea typeface="Carlito"/>
                <a:cs typeface="Carlito"/>
                <a:sym typeface="Carlito"/>
              </a:endParaRPr>
            </a:p>
            <a:p>
              <a:pPr indent="0" lvl="0" marL="0" rtl="0" algn="l">
                <a:spcBef>
                  <a:spcPts val="900"/>
                </a:spcBef>
                <a:spcAft>
                  <a:spcPts val="0"/>
                </a:spcAft>
                <a:buNone/>
              </a:pPr>
              <a:r>
                <a:rPr lang="en-US" sz="900">
                  <a:solidFill>
                    <a:srgbClr val="F0B429"/>
                  </a:solidFill>
                  <a:latin typeface="Courier New"/>
                  <a:ea typeface="Courier New"/>
                  <a:cs typeface="Courier New"/>
                  <a:sym typeface="Courier New"/>
                </a:rPr>
                <a:t>PEFT / LoRAQuantizationONNX Export</a:t>
              </a:r>
              <a:endParaRPr>
                <a:latin typeface="Carlito"/>
                <a:ea typeface="Carlito"/>
                <a:cs typeface="Carlito"/>
                <a:sym typeface="Carlito"/>
              </a:endParaRPr>
            </a:p>
          </p:txBody>
        </p:sp>
      </p:grpSp>
      <p:sp>
        <p:nvSpPr>
          <p:cNvPr id="109" name="Google Shape;109;p6"/>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10" name="Google Shape;110;p6"/>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04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15" name="Shape 115"/>
        <p:cNvGrpSpPr/>
        <p:nvPr/>
      </p:nvGrpSpPr>
      <p:grpSpPr>
        <a:xfrm>
          <a:off x="0" y="0"/>
          <a:ext cx="0" cy="0"/>
          <a:chOff x="0" y="0"/>
          <a:chExt cx="0" cy="0"/>
        </a:xfrm>
      </p:grpSpPr>
      <p:sp>
        <p:nvSpPr>
          <p:cNvPr id="116" name="Google Shape;116;p7"/>
          <p:cNvSpPr/>
          <p:nvPr/>
        </p:nvSpPr>
        <p:spPr>
          <a:xfrm>
            <a:off x="457200" y="458986"/>
            <a:ext cx="2459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01 · WHY OPTIMIZATION MATTERS</a:t>
            </a:r>
            <a:endParaRPr b="0" i="0" sz="800" u="none" cap="none" strike="noStrike">
              <a:solidFill>
                <a:schemeClr val="dk1"/>
              </a:solidFill>
              <a:latin typeface="Calibri"/>
              <a:ea typeface="Calibri"/>
              <a:cs typeface="Calibri"/>
              <a:sym typeface="Calibri"/>
            </a:endParaRPr>
          </a:p>
        </p:txBody>
      </p:sp>
      <p:sp>
        <p:nvSpPr>
          <p:cNvPr id="117" name="Google Shape;117;p7"/>
          <p:cNvSpPr/>
          <p:nvPr/>
        </p:nvSpPr>
        <p:spPr>
          <a:xfrm>
            <a:off x="457200" y="662583"/>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Three Resources Being Optimized</a:t>
            </a:r>
            <a:endParaRPr b="0" i="0" sz="2250" u="none" cap="none" strike="noStrike">
              <a:solidFill>
                <a:schemeClr val="dk1"/>
              </a:solidFill>
              <a:latin typeface="Calibri"/>
              <a:ea typeface="Calibri"/>
              <a:cs typeface="Calibri"/>
              <a:sym typeface="Calibri"/>
            </a:endParaRPr>
          </a:p>
        </p:txBody>
      </p:sp>
      <p:sp>
        <p:nvSpPr>
          <p:cNvPr id="118" name="Google Shape;118;p7"/>
          <p:cNvSpPr/>
          <p:nvPr/>
        </p:nvSpPr>
        <p:spPr>
          <a:xfrm>
            <a:off x="457200" y="1048345"/>
            <a:ext cx="8229600" cy="172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4A3B8"/>
              </a:buClr>
              <a:buSzPts val="900"/>
              <a:buFont typeface="Carlito"/>
              <a:buNone/>
            </a:pPr>
            <a:r>
              <a:rPr b="0" i="0" lang="en-US" sz="900" u="none" cap="none" strike="noStrike">
                <a:solidFill>
                  <a:srgbClr val="94A3B8"/>
                </a:solidFill>
                <a:latin typeface="Carlito"/>
                <a:ea typeface="Carlito"/>
                <a:cs typeface="Carlito"/>
                <a:sym typeface="Carlito"/>
              </a:rPr>
              <a:t>Every technique in this session trades one of these three levers.</a:t>
            </a:r>
            <a:endParaRPr b="0" i="0" sz="900" u="none" cap="none" strike="noStrike">
              <a:solidFill>
                <a:schemeClr val="dk1"/>
              </a:solidFill>
              <a:latin typeface="Calibri"/>
              <a:ea typeface="Calibri"/>
              <a:cs typeface="Calibri"/>
              <a:sym typeface="Calibri"/>
            </a:endParaRPr>
          </a:p>
        </p:txBody>
      </p:sp>
      <p:grpSp>
        <p:nvGrpSpPr>
          <p:cNvPr id="119" name="Google Shape;119;p7"/>
          <p:cNvGrpSpPr/>
          <p:nvPr/>
        </p:nvGrpSpPr>
        <p:grpSpPr>
          <a:xfrm>
            <a:off x="457200" y="1333500"/>
            <a:ext cx="2590800" cy="3238575"/>
            <a:chOff x="457200" y="1333500"/>
            <a:chExt cx="2590800" cy="3238575"/>
          </a:xfrm>
        </p:grpSpPr>
        <p:sp>
          <p:nvSpPr>
            <p:cNvPr id="120" name="Google Shape;120;p7"/>
            <p:cNvSpPr/>
            <p:nvPr/>
          </p:nvSpPr>
          <p:spPr>
            <a:xfrm>
              <a:off x="457200" y="1333500"/>
              <a:ext cx="2590800" cy="3238500"/>
            </a:xfrm>
            <a:prstGeom prst="roundRect">
              <a:avLst>
                <a:gd fmla="val 294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7"/>
            <p:cNvSpPr/>
            <p:nvPr/>
          </p:nvSpPr>
          <p:spPr>
            <a:xfrm>
              <a:off x="457200" y="1333500"/>
              <a:ext cx="2590800" cy="28500"/>
            </a:xfrm>
            <a:prstGeom prst="rect">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7"/>
            <p:cNvSpPr txBox="1"/>
            <p:nvPr/>
          </p:nvSpPr>
          <p:spPr>
            <a:xfrm>
              <a:off x="457200" y="1362075"/>
              <a:ext cx="2590800" cy="3210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lang="en-US" sz="2800">
                  <a:solidFill>
                    <a:srgbClr val="F0B429"/>
                  </a:solidFill>
                  <a:latin typeface="Material Icons"/>
                  <a:ea typeface="Material Icons"/>
                  <a:cs typeface="Material Icons"/>
                  <a:sym typeface="Material Icons"/>
                </a:rPr>
                <a:t>memory</a:t>
              </a:r>
              <a:endParaRPr sz="2800">
                <a:solidFill>
                  <a:srgbClr val="F0B429"/>
                </a:solidFill>
                <a:latin typeface="Material Icons"/>
                <a:ea typeface="Material Icons"/>
                <a:cs typeface="Material Icons"/>
                <a:sym typeface="Material Icons"/>
              </a:endParaRPr>
            </a:p>
            <a:p>
              <a:pPr indent="0" lvl="0" marL="0" rtl="0" algn="l">
                <a:spcBef>
                  <a:spcPts val="1200"/>
                </a:spcBef>
                <a:spcAft>
                  <a:spcPts val="0"/>
                </a:spcAft>
                <a:buNone/>
              </a:pPr>
              <a:r>
                <a:rPr b="1" lang="en-US" sz="800">
                  <a:solidFill>
                    <a:srgbClr val="F0B429"/>
                  </a:solidFill>
                  <a:latin typeface="Arial"/>
                  <a:ea typeface="Arial"/>
                  <a:cs typeface="Arial"/>
                  <a:sym typeface="Arial"/>
                </a:rPr>
                <a:t>RESOURCE 01</a:t>
              </a:r>
              <a:endParaRPr b="1" sz="800">
                <a:solidFill>
                  <a:srgbClr val="F0B429"/>
                </a:solidFill>
                <a:latin typeface="Arial"/>
                <a:ea typeface="Arial"/>
                <a:cs typeface="Arial"/>
                <a:sym typeface="Arial"/>
              </a:endParaRPr>
            </a:p>
            <a:p>
              <a:pPr indent="0" lvl="0" marL="0" rtl="0" algn="l">
                <a:spcBef>
                  <a:spcPts val="300"/>
                </a:spcBef>
                <a:spcAft>
                  <a:spcPts val="0"/>
                </a:spcAft>
                <a:buNone/>
              </a:pPr>
              <a:r>
                <a:rPr b="1" lang="en-US" sz="1800">
                  <a:solidFill>
                    <a:srgbClr val="F5F1E6"/>
                  </a:solidFill>
                  <a:latin typeface="Carlito"/>
                  <a:ea typeface="Carlito"/>
                  <a:cs typeface="Carlito"/>
                  <a:sym typeface="Carlito"/>
                </a:rPr>
                <a:t>Memory</a:t>
              </a:r>
              <a:endParaRPr b="1" sz="1800">
                <a:solidFill>
                  <a:srgbClr val="F5F1E6"/>
                </a:solidFill>
                <a:latin typeface="Carlito"/>
                <a:ea typeface="Carlito"/>
                <a:cs typeface="Carlito"/>
                <a:sym typeface="Carlito"/>
              </a:endParaRPr>
            </a:p>
            <a:p>
              <a:pPr indent="0" lvl="0" marL="0" rtl="0" algn="l">
                <a:spcBef>
                  <a:spcPts val="900"/>
                </a:spcBef>
                <a:spcAft>
                  <a:spcPts val="0"/>
                </a:spcAft>
                <a:buNone/>
              </a:pPr>
              <a:r>
                <a:rPr lang="en-US" sz="1050">
                  <a:solidFill>
                    <a:srgbClr val="94A3B8"/>
                  </a:solidFill>
                  <a:latin typeface="Carlito"/>
                  <a:ea typeface="Carlito"/>
                  <a:cs typeface="Carlito"/>
                  <a:sym typeface="Carlito"/>
                </a:rPr>
                <a:t>GPU/CPU RAM required to hold model weights, activations, and optimizer states. Often the hard limit on what can even be loaded onto a device — before speed or cost ever become a factor. If a model doesn't fit in memory, nothing else matters.</a:t>
              </a:r>
              <a:endParaRPr sz="1050">
                <a:solidFill>
                  <a:srgbClr val="94A3B8"/>
                </a:solidFill>
                <a:latin typeface="Carlito"/>
                <a:ea typeface="Carlito"/>
                <a:cs typeface="Carlito"/>
                <a:sym typeface="Carlito"/>
              </a:endParaRPr>
            </a:p>
          </p:txBody>
        </p:sp>
      </p:grpSp>
      <p:grpSp>
        <p:nvGrpSpPr>
          <p:cNvPr id="123" name="Google Shape;123;p7"/>
          <p:cNvGrpSpPr/>
          <p:nvPr/>
        </p:nvGrpSpPr>
        <p:grpSpPr>
          <a:xfrm>
            <a:off x="3276600" y="1333500"/>
            <a:ext cx="2590800" cy="3238575"/>
            <a:chOff x="3276600" y="1333500"/>
            <a:chExt cx="2590800" cy="3238575"/>
          </a:xfrm>
        </p:grpSpPr>
        <p:sp>
          <p:nvSpPr>
            <p:cNvPr id="124" name="Google Shape;124;p7"/>
            <p:cNvSpPr/>
            <p:nvPr/>
          </p:nvSpPr>
          <p:spPr>
            <a:xfrm>
              <a:off x="3276600" y="1333500"/>
              <a:ext cx="2590800" cy="3238500"/>
            </a:xfrm>
            <a:prstGeom prst="roundRect">
              <a:avLst>
                <a:gd fmla="val 294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7"/>
            <p:cNvSpPr/>
            <p:nvPr/>
          </p:nvSpPr>
          <p:spPr>
            <a:xfrm>
              <a:off x="3276600" y="1333500"/>
              <a:ext cx="2590800" cy="28500"/>
            </a:xfrm>
            <a:prstGeom prst="rect">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7"/>
            <p:cNvSpPr txBox="1"/>
            <p:nvPr/>
          </p:nvSpPr>
          <p:spPr>
            <a:xfrm>
              <a:off x="3276600" y="1362075"/>
              <a:ext cx="2590800" cy="3210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lang="en-US" sz="2800">
                  <a:solidFill>
                    <a:srgbClr val="F0B429"/>
                  </a:solidFill>
                  <a:latin typeface="Material Icons"/>
                  <a:ea typeface="Material Icons"/>
                  <a:cs typeface="Material Icons"/>
                  <a:sym typeface="Material Icons"/>
                </a:rPr>
                <a:t>schedule</a:t>
              </a:r>
              <a:endParaRPr sz="2800">
                <a:solidFill>
                  <a:srgbClr val="F0B429"/>
                </a:solidFill>
                <a:latin typeface="Material Icons"/>
                <a:ea typeface="Material Icons"/>
                <a:cs typeface="Material Icons"/>
                <a:sym typeface="Material Icons"/>
              </a:endParaRPr>
            </a:p>
            <a:p>
              <a:pPr indent="0" lvl="0" marL="0" rtl="0" algn="l">
                <a:spcBef>
                  <a:spcPts val="1200"/>
                </a:spcBef>
                <a:spcAft>
                  <a:spcPts val="0"/>
                </a:spcAft>
                <a:buNone/>
              </a:pPr>
              <a:r>
                <a:rPr b="1" lang="en-US" sz="800">
                  <a:solidFill>
                    <a:srgbClr val="F0B429"/>
                  </a:solidFill>
                  <a:latin typeface="Arial"/>
                  <a:ea typeface="Arial"/>
                  <a:cs typeface="Arial"/>
                  <a:sym typeface="Arial"/>
                </a:rPr>
                <a:t>RESOURCE 02</a:t>
              </a:r>
              <a:endParaRPr b="1" sz="800">
                <a:solidFill>
                  <a:srgbClr val="F0B429"/>
                </a:solidFill>
                <a:latin typeface="Arial"/>
                <a:ea typeface="Arial"/>
                <a:cs typeface="Arial"/>
                <a:sym typeface="Arial"/>
              </a:endParaRPr>
            </a:p>
            <a:p>
              <a:pPr indent="0" lvl="0" marL="0" rtl="0" algn="l">
                <a:spcBef>
                  <a:spcPts val="300"/>
                </a:spcBef>
                <a:spcAft>
                  <a:spcPts val="0"/>
                </a:spcAft>
                <a:buNone/>
              </a:pPr>
              <a:r>
                <a:rPr b="1" lang="en-US" sz="1800">
                  <a:solidFill>
                    <a:srgbClr val="F5F1E6"/>
                  </a:solidFill>
                  <a:latin typeface="Carlito"/>
                  <a:ea typeface="Carlito"/>
                  <a:cs typeface="Carlito"/>
                  <a:sym typeface="Carlito"/>
                </a:rPr>
                <a:t>Compute Time</a:t>
              </a:r>
              <a:endParaRPr b="1" sz="1800">
                <a:solidFill>
                  <a:srgbClr val="F5F1E6"/>
                </a:solidFill>
                <a:latin typeface="Carlito"/>
                <a:ea typeface="Carlito"/>
                <a:cs typeface="Carlito"/>
                <a:sym typeface="Carlito"/>
              </a:endParaRPr>
            </a:p>
            <a:p>
              <a:pPr indent="0" lvl="0" marL="0" rtl="0" algn="l">
                <a:spcBef>
                  <a:spcPts val="900"/>
                </a:spcBef>
                <a:spcAft>
                  <a:spcPts val="0"/>
                </a:spcAft>
                <a:buNone/>
              </a:pPr>
              <a:r>
                <a:rPr lang="en-US" sz="1050">
                  <a:solidFill>
                    <a:srgbClr val="94A3B8"/>
                  </a:solidFill>
                  <a:latin typeface="Carlito"/>
                  <a:ea typeface="Carlito"/>
                  <a:cs typeface="Carlito"/>
                  <a:sym typeface="Carlito"/>
                </a:rPr>
                <a:t>Two distinct time budgets: training time (how long until a usable model exists) and inference latency (how fast a single prediction returns once deployed). Both cost real money and limit what users will tolerate.</a:t>
              </a:r>
              <a:endParaRPr sz="1050">
                <a:solidFill>
                  <a:srgbClr val="94A3B8"/>
                </a:solidFill>
                <a:latin typeface="Carlito"/>
                <a:ea typeface="Carlito"/>
                <a:cs typeface="Carlito"/>
                <a:sym typeface="Carlito"/>
              </a:endParaRPr>
            </a:p>
          </p:txBody>
        </p:sp>
      </p:grpSp>
      <p:grpSp>
        <p:nvGrpSpPr>
          <p:cNvPr id="127" name="Google Shape;127;p7"/>
          <p:cNvGrpSpPr/>
          <p:nvPr/>
        </p:nvGrpSpPr>
        <p:grpSpPr>
          <a:xfrm>
            <a:off x="6096000" y="1333500"/>
            <a:ext cx="2590800" cy="3238575"/>
            <a:chOff x="6096000" y="1333500"/>
            <a:chExt cx="2590800" cy="3238575"/>
          </a:xfrm>
        </p:grpSpPr>
        <p:sp>
          <p:nvSpPr>
            <p:cNvPr id="128" name="Google Shape;128;p7"/>
            <p:cNvSpPr/>
            <p:nvPr/>
          </p:nvSpPr>
          <p:spPr>
            <a:xfrm>
              <a:off x="6096000" y="1333500"/>
              <a:ext cx="2590800" cy="3238500"/>
            </a:xfrm>
            <a:prstGeom prst="roundRect">
              <a:avLst>
                <a:gd fmla="val 294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7"/>
            <p:cNvSpPr/>
            <p:nvPr/>
          </p:nvSpPr>
          <p:spPr>
            <a:xfrm>
              <a:off x="6096000" y="1333500"/>
              <a:ext cx="2590800" cy="28500"/>
            </a:xfrm>
            <a:prstGeom prst="rect">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7"/>
            <p:cNvSpPr txBox="1"/>
            <p:nvPr/>
          </p:nvSpPr>
          <p:spPr>
            <a:xfrm>
              <a:off x="6096000" y="1362075"/>
              <a:ext cx="2590800" cy="3210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lang="en-US" sz="2800">
                  <a:solidFill>
                    <a:srgbClr val="F0B429"/>
                  </a:solidFill>
                  <a:latin typeface="Material Icons"/>
                  <a:ea typeface="Material Icons"/>
                  <a:cs typeface="Material Icons"/>
                  <a:sym typeface="Material Icons"/>
                </a:rPr>
                <a:t>bolt</a:t>
              </a:r>
              <a:endParaRPr sz="2800">
                <a:solidFill>
                  <a:srgbClr val="F0B429"/>
                </a:solidFill>
                <a:latin typeface="Material Icons"/>
                <a:ea typeface="Material Icons"/>
                <a:cs typeface="Material Icons"/>
                <a:sym typeface="Material Icons"/>
              </a:endParaRPr>
            </a:p>
            <a:p>
              <a:pPr indent="0" lvl="0" marL="0" rtl="0" algn="l">
                <a:spcBef>
                  <a:spcPts val="1200"/>
                </a:spcBef>
                <a:spcAft>
                  <a:spcPts val="0"/>
                </a:spcAft>
                <a:buNone/>
              </a:pPr>
              <a:r>
                <a:rPr b="1" lang="en-US" sz="800">
                  <a:solidFill>
                    <a:srgbClr val="F0B429"/>
                  </a:solidFill>
                  <a:latin typeface="Arial"/>
                  <a:ea typeface="Arial"/>
                  <a:cs typeface="Arial"/>
                  <a:sym typeface="Arial"/>
                </a:rPr>
                <a:t>RESOURCE 03</a:t>
              </a:r>
              <a:endParaRPr b="1" sz="800">
                <a:solidFill>
                  <a:srgbClr val="F0B429"/>
                </a:solidFill>
                <a:latin typeface="Arial"/>
                <a:ea typeface="Arial"/>
                <a:cs typeface="Arial"/>
                <a:sym typeface="Arial"/>
              </a:endParaRPr>
            </a:p>
            <a:p>
              <a:pPr indent="0" lvl="0" marL="0" rtl="0" algn="l">
                <a:spcBef>
                  <a:spcPts val="300"/>
                </a:spcBef>
                <a:spcAft>
                  <a:spcPts val="0"/>
                </a:spcAft>
                <a:buNone/>
              </a:pPr>
              <a:r>
                <a:rPr b="1" lang="en-US" sz="1800">
                  <a:solidFill>
                    <a:srgbClr val="F5F1E6"/>
                  </a:solidFill>
                  <a:latin typeface="Carlito"/>
                  <a:ea typeface="Carlito"/>
                  <a:cs typeface="Carlito"/>
                  <a:sym typeface="Carlito"/>
                </a:rPr>
                <a:t>Energy / Cost</a:t>
              </a:r>
              <a:endParaRPr b="1" sz="1800">
                <a:solidFill>
                  <a:srgbClr val="F5F1E6"/>
                </a:solidFill>
                <a:latin typeface="Carlito"/>
                <a:ea typeface="Carlito"/>
                <a:cs typeface="Carlito"/>
                <a:sym typeface="Carlito"/>
              </a:endParaRPr>
            </a:p>
            <a:p>
              <a:pPr indent="0" lvl="0" marL="0" rtl="0" algn="l">
                <a:spcBef>
                  <a:spcPts val="900"/>
                </a:spcBef>
                <a:spcAft>
                  <a:spcPts val="0"/>
                </a:spcAft>
                <a:buNone/>
              </a:pPr>
              <a:r>
                <a:rPr lang="en-US" sz="1050">
                  <a:solidFill>
                    <a:srgbClr val="94A3B8"/>
                  </a:solidFill>
                  <a:latin typeface="Carlito"/>
                  <a:ea typeface="Carlito"/>
                  <a:cs typeface="Carlito"/>
                  <a:sym typeface="Carlito"/>
                </a:rPr>
                <a:t>Cloud GPU-hours and power draw translate directly into money and, at scale, into a real carbon footprint. Optimization isn't just a technical preference — it determines what's sustainable to run continuously.</a:t>
              </a:r>
              <a:endParaRPr sz="1050">
                <a:solidFill>
                  <a:srgbClr val="94A3B8"/>
                </a:solidFill>
                <a:latin typeface="Carlito"/>
                <a:ea typeface="Carlito"/>
                <a:cs typeface="Carlito"/>
                <a:sym typeface="Carlito"/>
              </a:endParaRPr>
            </a:p>
          </p:txBody>
        </p:sp>
      </p:grpSp>
      <p:sp>
        <p:nvSpPr>
          <p:cNvPr id="131" name="Google Shape;131;p7"/>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32" name="Google Shape;132;p7"/>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05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37" name="Shape 137"/>
        <p:cNvGrpSpPr/>
        <p:nvPr/>
      </p:nvGrpSpPr>
      <p:grpSpPr>
        <a:xfrm>
          <a:off x="0" y="0"/>
          <a:ext cx="0" cy="0"/>
          <a:chOff x="0" y="0"/>
          <a:chExt cx="0" cy="0"/>
        </a:xfrm>
      </p:grpSpPr>
      <p:sp>
        <p:nvSpPr>
          <p:cNvPr id="138" name="Google Shape;138;p8"/>
          <p:cNvSpPr/>
          <p:nvPr/>
        </p:nvSpPr>
        <p:spPr>
          <a:xfrm>
            <a:off x="457200" y="458986"/>
            <a:ext cx="2459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01 · WHY OPTIMIZATION MATTERS</a:t>
            </a:r>
            <a:endParaRPr b="0" i="0" sz="800" u="none" cap="none" strike="noStrike">
              <a:solidFill>
                <a:schemeClr val="dk1"/>
              </a:solidFill>
              <a:latin typeface="Calibri"/>
              <a:ea typeface="Calibri"/>
              <a:cs typeface="Calibri"/>
              <a:sym typeface="Calibri"/>
            </a:endParaRPr>
          </a:p>
        </p:txBody>
      </p:sp>
      <p:sp>
        <p:nvSpPr>
          <p:cNvPr id="139" name="Google Shape;139;p8"/>
          <p:cNvSpPr/>
          <p:nvPr/>
        </p:nvSpPr>
        <p:spPr>
          <a:xfrm>
            <a:off x="457200" y="662583"/>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Two Different Optimization Moments</a:t>
            </a:r>
            <a:endParaRPr b="0" i="0" sz="2250" u="none" cap="none" strike="noStrike">
              <a:solidFill>
                <a:schemeClr val="dk1"/>
              </a:solidFill>
              <a:latin typeface="Calibri"/>
              <a:ea typeface="Calibri"/>
              <a:cs typeface="Calibri"/>
              <a:sym typeface="Calibri"/>
            </a:endParaRPr>
          </a:p>
        </p:txBody>
      </p:sp>
      <p:grpSp>
        <p:nvGrpSpPr>
          <p:cNvPr id="140" name="Google Shape;140;p8"/>
          <p:cNvGrpSpPr/>
          <p:nvPr/>
        </p:nvGrpSpPr>
        <p:grpSpPr>
          <a:xfrm>
            <a:off x="457200" y="1238250"/>
            <a:ext cx="8229600" cy="3352800"/>
            <a:chOff x="457200" y="1238250"/>
            <a:chExt cx="8229600" cy="3352800"/>
          </a:xfrm>
        </p:grpSpPr>
        <p:sp>
          <p:nvSpPr>
            <p:cNvPr id="141" name="Google Shape;141;p8"/>
            <p:cNvSpPr/>
            <p:nvPr/>
          </p:nvSpPr>
          <p:spPr>
            <a:xfrm>
              <a:off x="457200" y="1238250"/>
              <a:ext cx="3962400" cy="2667000"/>
            </a:xfrm>
            <a:prstGeom prst="roundRect">
              <a:avLst>
                <a:gd fmla="val 2857" name="adj"/>
              </a:avLst>
            </a:prstGeom>
            <a:solidFill>
              <a:srgbClr val="111E2F"/>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42" name="Google Shape;142;p8"/>
            <p:cNvCxnSpPr/>
            <p:nvPr/>
          </p:nvCxnSpPr>
          <p:spPr>
            <a:xfrm>
              <a:off x="457200" y="1238250"/>
              <a:ext cx="0" cy="2667000"/>
            </a:xfrm>
            <a:prstGeom prst="straightConnector1">
              <a:avLst/>
            </a:prstGeom>
            <a:solidFill>
              <a:srgbClr val="FFFFFF"/>
            </a:solidFill>
            <a:ln cap="rnd" cmpd="sng" w="28575">
              <a:solidFill>
                <a:srgbClr val="F0B429"/>
              </a:solidFill>
              <a:prstDash val="solid"/>
              <a:round/>
              <a:headEnd len="sm" w="sm" type="none"/>
              <a:tailEnd len="sm" w="sm" type="none"/>
            </a:ln>
          </p:spPr>
        </p:cxnSp>
        <p:sp>
          <p:nvSpPr>
            <p:cNvPr id="143" name="Google Shape;143;p8"/>
            <p:cNvSpPr txBox="1"/>
            <p:nvPr/>
          </p:nvSpPr>
          <p:spPr>
            <a:xfrm>
              <a:off x="685800" y="1447800"/>
              <a:ext cx="35052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Arial"/>
                  <a:ea typeface="Arial"/>
                  <a:cs typeface="Arial"/>
                  <a:sym typeface="Arial"/>
                </a:rPr>
                <a:t>MOMENT 01</a:t>
              </a:r>
              <a:endParaRPr b="1" sz="800">
                <a:solidFill>
                  <a:srgbClr val="F0B429"/>
                </a:solidFill>
                <a:latin typeface="Arial"/>
                <a:ea typeface="Arial"/>
                <a:cs typeface="Arial"/>
                <a:sym typeface="Arial"/>
              </a:endParaRPr>
            </a:p>
            <a:p>
              <a:pPr indent="0" lvl="0" marL="0" rtl="0" algn="l">
                <a:spcBef>
                  <a:spcPts val="450"/>
                </a:spcBef>
                <a:spcAft>
                  <a:spcPts val="0"/>
                </a:spcAft>
                <a:buNone/>
              </a:pPr>
              <a:r>
                <a:rPr b="1" lang="en-US" sz="1800">
                  <a:solidFill>
                    <a:srgbClr val="F5F1E6"/>
                  </a:solidFill>
                  <a:latin typeface="Carlito"/>
                  <a:ea typeface="Carlito"/>
                  <a:cs typeface="Carlito"/>
                  <a:sym typeface="Carlito"/>
                </a:rPr>
                <a:t>Training-Time Optimization</a:t>
              </a:r>
              <a:endParaRPr b="1" sz="1800">
                <a:solidFill>
                  <a:srgbClr val="F5F1E6"/>
                </a:solidFill>
                <a:latin typeface="Carlito"/>
                <a:ea typeface="Carlito"/>
                <a:cs typeface="Carlito"/>
                <a:sym typeface="Carlito"/>
              </a:endParaRPr>
            </a:p>
            <a:p>
              <a:pPr indent="0" lvl="0" marL="0" rtl="0" algn="l">
                <a:spcBef>
                  <a:spcPts val="900"/>
                </a:spcBef>
                <a:spcAft>
                  <a:spcPts val="0"/>
                </a:spcAft>
                <a:buNone/>
              </a:pPr>
              <a:r>
                <a:rPr lang="en-US" sz="1100">
                  <a:solidFill>
                    <a:srgbClr val="94A3B8"/>
                  </a:solidFill>
                  <a:latin typeface="Carlito"/>
                  <a:ea typeface="Carlito"/>
                  <a:cs typeface="Carlito"/>
                  <a:sym typeface="Carlito"/>
                </a:rPr>
                <a:t>How do we adapt or build a model without needing the enormous compute budget that training from scratch would require? This is where </a:t>
              </a:r>
              <a:r>
                <a:rPr lang="en-US" sz="1100">
                  <a:solidFill>
                    <a:srgbClr val="F0B429"/>
                  </a:solidFill>
                  <a:latin typeface="Carlito"/>
                  <a:ea typeface="Carlito"/>
                  <a:cs typeface="Carlito"/>
                  <a:sym typeface="Carlito"/>
                </a:rPr>
                <a:t>PEFT</a:t>
              </a:r>
              <a:r>
                <a:rPr lang="en-US" sz="1100">
                  <a:solidFill>
                    <a:srgbClr val="94A3B8"/>
                  </a:solidFill>
                  <a:latin typeface="Carlito"/>
                  <a:ea typeface="Carlito"/>
                  <a:cs typeface="Carlito"/>
                  <a:sym typeface="Carlito"/>
                </a:rPr>
                <a:t> and </a:t>
              </a:r>
              <a:r>
                <a:rPr lang="en-US" sz="1100">
                  <a:solidFill>
                    <a:srgbClr val="F0B429"/>
                  </a:solidFill>
                  <a:latin typeface="Carlito"/>
                  <a:ea typeface="Carlito"/>
                  <a:cs typeface="Carlito"/>
                  <a:sym typeface="Carlito"/>
                </a:rPr>
                <a:t>LoRA</a:t>
              </a:r>
              <a:r>
                <a:rPr lang="en-US" sz="1100">
                  <a:solidFill>
                    <a:srgbClr val="94A3B8"/>
                  </a:solidFill>
                  <a:latin typeface="Carlito"/>
                  <a:ea typeface="Carlito"/>
                  <a:cs typeface="Carlito"/>
                  <a:sym typeface="Carlito"/>
                </a:rPr>
                <a:t> come in — freeze most of the pretrained model and train only a small targeted addition.</a:t>
              </a:r>
              <a:endParaRPr sz="1100">
                <a:solidFill>
                  <a:srgbClr val="94A3B8"/>
                </a:solidFill>
                <a:latin typeface="Carlito"/>
                <a:ea typeface="Carlito"/>
                <a:cs typeface="Carlito"/>
                <a:sym typeface="Carlito"/>
              </a:endParaRPr>
            </a:p>
            <a:p>
              <a:pPr indent="0" lvl="0" marL="0" rtl="0" algn="l">
                <a:spcBef>
                  <a:spcPts val="1200"/>
                </a:spcBef>
                <a:spcAft>
                  <a:spcPts val="0"/>
                </a:spcAft>
                <a:buNone/>
              </a:pPr>
              <a:r>
                <a:rPr lang="en-US" sz="950">
                  <a:solidFill>
                    <a:srgbClr val="F0B429"/>
                  </a:solidFill>
                  <a:latin typeface="Courier New"/>
                  <a:ea typeface="Courier New"/>
                  <a:cs typeface="Courier New"/>
                  <a:sym typeface="Courier New"/>
                </a:rPr>
                <a:t>Tools → PEFT · LoRA · QLoRA</a:t>
              </a:r>
              <a:endParaRPr sz="950">
                <a:solidFill>
                  <a:srgbClr val="F0B429"/>
                </a:solidFill>
                <a:latin typeface="Courier New"/>
                <a:ea typeface="Courier New"/>
                <a:cs typeface="Courier New"/>
                <a:sym typeface="Courier New"/>
              </a:endParaRPr>
            </a:p>
          </p:txBody>
        </p:sp>
        <p:sp>
          <p:nvSpPr>
            <p:cNvPr id="144" name="Google Shape;144;p8"/>
            <p:cNvSpPr/>
            <p:nvPr/>
          </p:nvSpPr>
          <p:spPr>
            <a:xfrm>
              <a:off x="4724400" y="1238250"/>
              <a:ext cx="3962400" cy="2667000"/>
            </a:xfrm>
            <a:prstGeom prst="roundRect">
              <a:avLst>
                <a:gd fmla="val 2857" name="adj"/>
              </a:avLst>
            </a:prstGeom>
            <a:solidFill>
              <a:srgbClr val="111E2F"/>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45" name="Google Shape;145;p8"/>
            <p:cNvCxnSpPr/>
            <p:nvPr/>
          </p:nvCxnSpPr>
          <p:spPr>
            <a:xfrm>
              <a:off x="4724400" y="1238250"/>
              <a:ext cx="0" cy="2667000"/>
            </a:xfrm>
            <a:prstGeom prst="straightConnector1">
              <a:avLst/>
            </a:prstGeom>
            <a:solidFill>
              <a:srgbClr val="FFFFFF"/>
            </a:solidFill>
            <a:ln cap="rnd" cmpd="sng" w="28575">
              <a:solidFill>
                <a:srgbClr val="F0B429"/>
              </a:solidFill>
              <a:prstDash val="solid"/>
              <a:round/>
              <a:headEnd len="sm" w="sm" type="none"/>
              <a:tailEnd len="sm" w="sm" type="none"/>
            </a:ln>
          </p:spPr>
        </p:cxnSp>
        <p:sp>
          <p:nvSpPr>
            <p:cNvPr id="146" name="Google Shape;146;p8"/>
            <p:cNvSpPr txBox="1"/>
            <p:nvPr/>
          </p:nvSpPr>
          <p:spPr>
            <a:xfrm>
              <a:off x="4953000" y="1447800"/>
              <a:ext cx="35052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Arial"/>
                  <a:ea typeface="Arial"/>
                  <a:cs typeface="Arial"/>
                  <a:sym typeface="Arial"/>
                </a:rPr>
                <a:t>MOMENT 02</a:t>
              </a:r>
              <a:endParaRPr b="1" sz="800">
                <a:solidFill>
                  <a:srgbClr val="F0B429"/>
                </a:solidFill>
                <a:latin typeface="Arial"/>
                <a:ea typeface="Arial"/>
                <a:cs typeface="Arial"/>
                <a:sym typeface="Arial"/>
              </a:endParaRPr>
            </a:p>
            <a:p>
              <a:pPr indent="0" lvl="0" marL="0" rtl="0" algn="l">
                <a:spcBef>
                  <a:spcPts val="450"/>
                </a:spcBef>
                <a:spcAft>
                  <a:spcPts val="0"/>
                </a:spcAft>
                <a:buNone/>
              </a:pPr>
              <a:r>
                <a:rPr b="1" lang="en-US" sz="1800">
                  <a:solidFill>
                    <a:srgbClr val="F5F1E6"/>
                  </a:solidFill>
                  <a:latin typeface="Carlito"/>
                  <a:ea typeface="Carlito"/>
                  <a:cs typeface="Carlito"/>
                  <a:sym typeface="Carlito"/>
                </a:rPr>
                <a:t>Deployment-Time Optimization</a:t>
              </a:r>
              <a:endParaRPr b="1" sz="1800">
                <a:solidFill>
                  <a:srgbClr val="F5F1E6"/>
                </a:solidFill>
                <a:latin typeface="Carlito"/>
                <a:ea typeface="Carlito"/>
                <a:cs typeface="Carlito"/>
                <a:sym typeface="Carlito"/>
              </a:endParaRPr>
            </a:p>
            <a:p>
              <a:pPr indent="0" lvl="0" marL="0" rtl="0" algn="l">
                <a:spcBef>
                  <a:spcPts val="900"/>
                </a:spcBef>
                <a:spcAft>
                  <a:spcPts val="0"/>
                </a:spcAft>
                <a:buNone/>
              </a:pPr>
              <a:r>
                <a:rPr lang="en-US" sz="1100">
                  <a:solidFill>
                    <a:srgbClr val="94A3B8"/>
                  </a:solidFill>
                  <a:latin typeface="Carlito"/>
                  <a:ea typeface="Carlito"/>
                  <a:cs typeface="Carlito"/>
                  <a:sym typeface="Carlito"/>
                </a:rPr>
                <a:t>Once a model is trained, how do we shrink and speed it up for where it will actually run? This is where precision formats, quantization, and </a:t>
              </a:r>
              <a:r>
                <a:rPr lang="en-US" sz="1100">
                  <a:solidFill>
                    <a:srgbClr val="F0B429"/>
                  </a:solidFill>
                  <a:latin typeface="Carlito"/>
                  <a:ea typeface="Carlito"/>
                  <a:cs typeface="Carlito"/>
                  <a:sym typeface="Carlito"/>
                </a:rPr>
                <a:t>ONNX</a:t>
              </a:r>
              <a:r>
                <a:rPr lang="en-US" sz="1100">
                  <a:solidFill>
                    <a:srgbClr val="94A3B8"/>
                  </a:solidFill>
                  <a:latin typeface="Carlito"/>
                  <a:ea typeface="Carlito"/>
                  <a:cs typeface="Carlito"/>
                  <a:sym typeface="Carlito"/>
                </a:rPr>
                <a:t> export come in — reduce bytes per parameter, then ship a portable runtime.</a:t>
              </a:r>
              <a:endParaRPr sz="1100">
                <a:solidFill>
                  <a:srgbClr val="94A3B8"/>
                </a:solidFill>
                <a:latin typeface="Carlito"/>
                <a:ea typeface="Carlito"/>
                <a:cs typeface="Carlito"/>
                <a:sym typeface="Carlito"/>
              </a:endParaRPr>
            </a:p>
            <a:p>
              <a:pPr indent="0" lvl="0" marL="0" rtl="0" algn="l">
                <a:spcBef>
                  <a:spcPts val="1200"/>
                </a:spcBef>
                <a:spcAft>
                  <a:spcPts val="0"/>
                </a:spcAft>
                <a:buNone/>
              </a:pPr>
              <a:r>
                <a:rPr lang="en-US" sz="950">
                  <a:solidFill>
                    <a:srgbClr val="F0B429"/>
                  </a:solidFill>
                  <a:latin typeface="Courier New"/>
                  <a:ea typeface="Courier New"/>
                  <a:cs typeface="Courier New"/>
                  <a:sym typeface="Courier New"/>
                </a:rPr>
                <a:t>Tools → FP16/BF16 · INT8 · ONNX</a:t>
              </a:r>
              <a:endParaRPr sz="950">
                <a:solidFill>
                  <a:srgbClr val="F0B429"/>
                </a:solidFill>
                <a:latin typeface="Courier New"/>
                <a:ea typeface="Courier New"/>
                <a:cs typeface="Courier New"/>
                <a:sym typeface="Courier New"/>
              </a:endParaRPr>
            </a:p>
          </p:txBody>
        </p:sp>
        <p:sp>
          <p:nvSpPr>
            <p:cNvPr id="147" name="Google Shape;147;p8"/>
            <p:cNvSpPr/>
            <p:nvPr/>
          </p:nvSpPr>
          <p:spPr>
            <a:xfrm>
              <a:off x="457200" y="4133850"/>
              <a:ext cx="8229600" cy="457200"/>
            </a:xfrm>
            <a:prstGeom prst="roundRect">
              <a:avLst>
                <a:gd fmla="val 12500" name="adj"/>
              </a:avLst>
            </a:prstGeom>
            <a:solidFill>
              <a:srgbClr val="111E2F"/>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48" name="Google Shape;148;p8"/>
            <p:cNvCxnSpPr/>
            <p:nvPr/>
          </p:nvCxnSpPr>
          <p:spPr>
            <a:xfrm>
              <a:off x="457200" y="4133850"/>
              <a:ext cx="0" cy="457200"/>
            </a:xfrm>
            <a:prstGeom prst="straightConnector1">
              <a:avLst/>
            </a:prstGeom>
            <a:solidFill>
              <a:srgbClr val="FFFFFF"/>
            </a:solidFill>
            <a:ln cap="rnd" cmpd="sng" w="28575">
              <a:solidFill>
                <a:srgbClr val="F0B429"/>
              </a:solidFill>
              <a:prstDash val="solid"/>
              <a:round/>
              <a:headEnd len="sm" w="sm" type="none"/>
              <a:tailEnd len="sm" w="sm" type="none"/>
            </a:ln>
          </p:spPr>
        </p:cxnSp>
        <p:sp>
          <p:nvSpPr>
            <p:cNvPr id="149" name="Google Shape;149;p8"/>
            <p:cNvSpPr txBox="1"/>
            <p:nvPr/>
          </p:nvSpPr>
          <p:spPr>
            <a:xfrm>
              <a:off x="685800" y="4133850"/>
              <a:ext cx="77724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950">
                  <a:solidFill>
                    <a:srgbClr val="F0B429"/>
                  </a:solidFill>
                  <a:latin typeface="Courier New"/>
                  <a:ea typeface="Courier New"/>
                  <a:cs typeface="Courier New"/>
                  <a:sym typeface="Courier New"/>
                </a:rPr>
                <a:t>Today's session covers both, in that order, then demonstrates each hands-on.</a:t>
              </a:r>
              <a:endParaRPr sz="950">
                <a:solidFill>
                  <a:srgbClr val="F0B429"/>
                </a:solidFill>
                <a:latin typeface="Courier New"/>
                <a:ea typeface="Courier New"/>
                <a:cs typeface="Courier New"/>
                <a:sym typeface="Courier New"/>
              </a:endParaRPr>
            </a:p>
          </p:txBody>
        </p:sp>
      </p:grpSp>
      <p:sp>
        <p:nvSpPr>
          <p:cNvPr id="150" name="Google Shape;150;p8"/>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51" name="Google Shape;151;p8"/>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06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56" name="Shape 156"/>
        <p:cNvGrpSpPr/>
        <p:nvPr/>
      </p:nvGrpSpPr>
      <p:grpSpPr>
        <a:xfrm>
          <a:off x="0" y="0"/>
          <a:ext cx="0" cy="0"/>
          <a:chOff x="0" y="0"/>
          <a:chExt cx="0" cy="0"/>
        </a:xfrm>
      </p:grpSpPr>
      <p:sp>
        <p:nvSpPr>
          <p:cNvPr id="157" name="Google Shape;157;p9"/>
          <p:cNvSpPr/>
          <p:nvPr/>
        </p:nvSpPr>
        <p:spPr>
          <a:xfrm>
            <a:off x="457200" y="458986"/>
            <a:ext cx="2459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01 · WHY OPTIMIZATION MATTERS</a:t>
            </a:r>
            <a:endParaRPr b="0" i="0" sz="800" u="none" cap="none" strike="noStrike">
              <a:solidFill>
                <a:schemeClr val="dk1"/>
              </a:solidFill>
              <a:latin typeface="Calibri"/>
              <a:ea typeface="Calibri"/>
              <a:cs typeface="Calibri"/>
              <a:sym typeface="Calibri"/>
            </a:endParaRPr>
          </a:p>
        </p:txBody>
      </p:sp>
      <p:sp>
        <p:nvSpPr>
          <p:cNvPr id="158" name="Google Shape;158;p9"/>
          <p:cNvSpPr/>
          <p:nvPr/>
        </p:nvSpPr>
        <p:spPr>
          <a:xfrm>
            <a:off x="457200" y="662583"/>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Setting Up the Rest of This Session</a:t>
            </a:r>
            <a:endParaRPr b="0" i="0" sz="2250" u="none" cap="none" strike="noStrike">
              <a:solidFill>
                <a:schemeClr val="dk1"/>
              </a:solidFill>
              <a:latin typeface="Calibri"/>
              <a:ea typeface="Calibri"/>
              <a:cs typeface="Calibri"/>
              <a:sym typeface="Calibri"/>
            </a:endParaRPr>
          </a:p>
        </p:txBody>
      </p:sp>
      <p:sp>
        <p:nvSpPr>
          <p:cNvPr id="159" name="Google Shape;159;p9"/>
          <p:cNvSpPr/>
          <p:nvPr/>
        </p:nvSpPr>
        <p:spPr>
          <a:xfrm>
            <a:off x="457200" y="1123950"/>
            <a:ext cx="82296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F5F1E6"/>
                </a:solidFill>
                <a:latin typeface="Carlito"/>
                <a:ea typeface="Carlito"/>
                <a:cs typeface="Carlito"/>
                <a:sym typeface="Carlito"/>
              </a:rPr>
              <a:t>Every technique in this session answers the same question differently: </a:t>
            </a:r>
            <a:r>
              <a:rPr b="1" lang="en-US" sz="1100">
                <a:solidFill>
                  <a:srgbClr val="F0B429"/>
                </a:solidFill>
                <a:latin typeface="Carlito"/>
                <a:ea typeface="Carlito"/>
                <a:cs typeface="Carlito"/>
                <a:sym typeface="Carlito"/>
              </a:rPr>
              <a:t>how do we get most of a large model's capability at a fraction of the resource cost?</a:t>
            </a:r>
            <a:endParaRPr b="0" sz="1100">
              <a:solidFill>
                <a:srgbClr val="F5F1E6"/>
              </a:solidFill>
              <a:latin typeface="Carlito"/>
              <a:ea typeface="Carlito"/>
              <a:cs typeface="Carlito"/>
              <a:sym typeface="Carlito"/>
            </a:endParaRPr>
          </a:p>
          <a:p>
            <a:pPr indent="0" lvl="0" marL="0" rtl="0" algn="l">
              <a:spcBef>
                <a:spcPts val="600"/>
              </a:spcBef>
              <a:spcAft>
                <a:spcPts val="0"/>
              </a:spcAft>
              <a:buNone/>
            </a:pPr>
            <a:r>
              <a:rPr b="0" lang="en-US" sz="1100">
                <a:solidFill>
                  <a:srgbClr val="94A3B8"/>
                </a:solidFill>
                <a:latin typeface="Carlito"/>
                <a:ea typeface="Carlito"/>
                <a:cs typeface="Carlito"/>
                <a:sym typeface="Carlito"/>
              </a:rPr>
              <a:t>The five techniques that follow each attack a different part of the problem — training cost, numeric storage, runtime speed, or portability. Together they form a complete optimization stack.</a:t>
            </a:r>
            <a:endParaRPr b="0" sz="1100">
              <a:solidFill>
                <a:srgbClr val="94A3B8"/>
              </a:solidFill>
              <a:latin typeface="Carlito"/>
              <a:ea typeface="Carlito"/>
              <a:cs typeface="Carlito"/>
              <a:sym typeface="Carlito"/>
            </a:endParaRPr>
          </a:p>
        </p:txBody>
      </p:sp>
      <p:grpSp>
        <p:nvGrpSpPr>
          <p:cNvPr id="160" name="Google Shape;160;p9"/>
          <p:cNvGrpSpPr/>
          <p:nvPr/>
        </p:nvGrpSpPr>
        <p:grpSpPr>
          <a:xfrm>
            <a:off x="457200" y="2047875"/>
            <a:ext cx="1485900" cy="2095575"/>
            <a:chOff x="457200" y="2047875"/>
            <a:chExt cx="1485900" cy="2095575"/>
          </a:xfrm>
        </p:grpSpPr>
        <p:sp>
          <p:nvSpPr>
            <p:cNvPr id="161" name="Google Shape;161;p9"/>
            <p:cNvSpPr/>
            <p:nvPr/>
          </p:nvSpPr>
          <p:spPr>
            <a:xfrm>
              <a:off x="457200" y="2047875"/>
              <a:ext cx="1485900" cy="2095500"/>
            </a:xfrm>
            <a:prstGeom prst="roundRect">
              <a:avLst>
                <a:gd fmla="val 5128"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9"/>
            <p:cNvSpPr/>
            <p:nvPr/>
          </p:nvSpPr>
          <p:spPr>
            <a:xfrm>
              <a:off x="457200" y="2047875"/>
              <a:ext cx="1485900" cy="28500"/>
            </a:xfrm>
            <a:prstGeom prst="rect">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9"/>
            <p:cNvSpPr txBox="1"/>
            <p:nvPr/>
          </p:nvSpPr>
          <p:spPr>
            <a:xfrm>
              <a:off x="457200" y="2076450"/>
              <a:ext cx="1485900" cy="2067000"/>
            </a:xfrm>
            <a:prstGeom prst="rect">
              <a:avLst/>
            </a:prstGeom>
            <a:noFill/>
            <a:ln>
              <a:noFill/>
            </a:ln>
          </p:spPr>
          <p:txBody>
            <a:bodyPr anchorCtr="0" anchor="t" bIns="152400" lIns="152400" spcFirstLastPara="1" rIns="152400" wrap="square" tIns="152400">
              <a:noAutofit/>
            </a:bodyPr>
            <a:lstStyle/>
            <a:p>
              <a:pPr indent="0" lvl="0" marL="0" rtl="0" algn="l">
                <a:spcBef>
                  <a:spcPts val="0"/>
                </a:spcBef>
                <a:spcAft>
                  <a:spcPts val="0"/>
                </a:spcAft>
                <a:buNone/>
              </a:pPr>
              <a:r>
                <a:rPr lang="en-US" sz="2000">
                  <a:solidFill>
                    <a:srgbClr val="F0B429"/>
                  </a:solidFill>
                  <a:latin typeface="Material Icons"/>
                  <a:ea typeface="Material Icons"/>
                  <a:cs typeface="Material Icons"/>
                  <a:sym typeface="Material Icons"/>
                </a:rPr>
                <a:t>trending_up </a:t>
              </a:r>
              <a:r>
                <a:rPr b="1" lang="en-US" sz="800">
                  <a:solidFill>
                    <a:srgbClr val="64748B"/>
                  </a:solidFill>
                  <a:latin typeface="Arial"/>
                  <a:ea typeface="Arial"/>
                  <a:cs typeface="Arial"/>
                  <a:sym typeface="Arial"/>
                </a:rPr>
                <a:t>STEP 01</a:t>
              </a:r>
              <a:endParaRPr/>
            </a:p>
            <a:p>
              <a:pPr indent="0" lvl="0" marL="0" rtl="0" algn="l">
                <a:spcBef>
                  <a:spcPts val="0"/>
                </a:spcBef>
                <a:spcAft>
                  <a:spcPts val="0"/>
                </a:spcAft>
                <a:buNone/>
              </a:pPr>
              <a:r>
                <a:rPr b="1" lang="en-US" sz="1300">
                  <a:solidFill>
                    <a:srgbClr val="F5F1E6"/>
                  </a:solidFill>
                  <a:latin typeface="Carlito"/>
                  <a:ea typeface="Carlito"/>
                  <a:cs typeface="Carlito"/>
                  <a:sym typeface="Carlito"/>
                </a:rPr>
                <a:t>Cost of Scale</a:t>
              </a:r>
              <a:endParaRPr b="1" sz="1300">
                <a:solidFill>
                  <a:srgbClr val="F5F1E6"/>
                </a:solidFill>
                <a:latin typeface="Carlito"/>
                <a:ea typeface="Carlito"/>
                <a:cs typeface="Carlito"/>
                <a:sym typeface="Carlito"/>
              </a:endParaRPr>
            </a:p>
            <a:p>
              <a:pPr indent="0" lvl="0" marL="0" rtl="0" algn="l">
                <a:spcBef>
                  <a:spcPts val="600"/>
                </a:spcBef>
                <a:spcAft>
                  <a:spcPts val="0"/>
                </a:spcAft>
                <a:buNone/>
              </a:pPr>
              <a:r>
                <a:rPr lang="en-US" sz="950">
                  <a:solidFill>
                    <a:srgbClr val="94A3B8"/>
                  </a:solidFill>
                  <a:latin typeface="Carlito"/>
                  <a:ea typeface="Carlito"/>
                  <a:cs typeface="Carlito"/>
                  <a:sym typeface="Carlito"/>
                </a:rPr>
                <a:t>Why full fine-tuning is expensive</a:t>
              </a:r>
              <a:endParaRPr sz="950">
                <a:solidFill>
                  <a:srgbClr val="94A3B8"/>
                </a:solidFill>
                <a:latin typeface="Carlito"/>
                <a:ea typeface="Carlito"/>
                <a:cs typeface="Carlito"/>
                <a:sym typeface="Carlito"/>
              </a:endParaRPr>
            </a:p>
          </p:txBody>
        </p:sp>
      </p:grpSp>
      <p:grpSp>
        <p:nvGrpSpPr>
          <p:cNvPr id="164" name="Google Shape;164;p9"/>
          <p:cNvGrpSpPr/>
          <p:nvPr/>
        </p:nvGrpSpPr>
        <p:grpSpPr>
          <a:xfrm>
            <a:off x="2143125" y="2047875"/>
            <a:ext cx="1485900" cy="2095575"/>
            <a:chOff x="2143125" y="2047875"/>
            <a:chExt cx="1485900" cy="2095575"/>
          </a:xfrm>
        </p:grpSpPr>
        <p:sp>
          <p:nvSpPr>
            <p:cNvPr id="165" name="Google Shape;165;p9"/>
            <p:cNvSpPr/>
            <p:nvPr/>
          </p:nvSpPr>
          <p:spPr>
            <a:xfrm>
              <a:off x="2143125" y="2047875"/>
              <a:ext cx="1485900" cy="2095500"/>
            </a:xfrm>
            <a:prstGeom prst="roundRect">
              <a:avLst>
                <a:gd fmla="val 5128"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9"/>
            <p:cNvSpPr/>
            <p:nvPr/>
          </p:nvSpPr>
          <p:spPr>
            <a:xfrm>
              <a:off x="2143125" y="2047875"/>
              <a:ext cx="1485900" cy="28500"/>
            </a:xfrm>
            <a:prstGeom prst="rect">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9"/>
            <p:cNvSpPr txBox="1"/>
            <p:nvPr/>
          </p:nvSpPr>
          <p:spPr>
            <a:xfrm>
              <a:off x="2143125" y="2076450"/>
              <a:ext cx="1485900" cy="2067000"/>
            </a:xfrm>
            <a:prstGeom prst="rect">
              <a:avLst/>
            </a:prstGeom>
            <a:noFill/>
            <a:ln>
              <a:noFill/>
            </a:ln>
          </p:spPr>
          <p:txBody>
            <a:bodyPr anchorCtr="0" anchor="t" bIns="152400" lIns="152400" spcFirstLastPara="1" rIns="152400" wrap="square" tIns="152400">
              <a:noAutofit/>
            </a:bodyPr>
            <a:lstStyle/>
            <a:p>
              <a:pPr indent="0" lvl="0" marL="0" rtl="0" algn="l">
                <a:spcBef>
                  <a:spcPts val="0"/>
                </a:spcBef>
                <a:spcAft>
                  <a:spcPts val="0"/>
                </a:spcAft>
                <a:buNone/>
              </a:pPr>
              <a:r>
                <a:rPr lang="en-US" sz="2000">
                  <a:solidFill>
                    <a:srgbClr val="F0B429"/>
                  </a:solidFill>
                  <a:latin typeface="Material Icons"/>
                  <a:ea typeface="Material Icons"/>
                  <a:cs typeface="Material Icons"/>
                  <a:sym typeface="Material Icons"/>
                </a:rPr>
                <a:t>layers </a:t>
              </a:r>
              <a:r>
                <a:rPr b="1" lang="en-US" sz="800">
                  <a:solidFill>
                    <a:srgbClr val="64748B"/>
                  </a:solidFill>
                  <a:latin typeface="Arial"/>
                  <a:ea typeface="Arial"/>
                  <a:cs typeface="Arial"/>
                  <a:sym typeface="Arial"/>
                </a:rPr>
                <a:t>STEP 02</a:t>
              </a:r>
              <a:endParaRPr/>
            </a:p>
            <a:p>
              <a:pPr indent="0" lvl="0" marL="0" rtl="0" algn="l">
                <a:spcBef>
                  <a:spcPts val="0"/>
                </a:spcBef>
                <a:spcAft>
                  <a:spcPts val="0"/>
                </a:spcAft>
                <a:buNone/>
              </a:pPr>
              <a:r>
                <a:rPr b="1" lang="en-US" sz="1300">
                  <a:solidFill>
                    <a:srgbClr val="F5F1E6"/>
                  </a:solidFill>
                  <a:latin typeface="Carlito"/>
                  <a:ea typeface="Carlito"/>
                  <a:cs typeface="Carlito"/>
                  <a:sym typeface="Carlito"/>
                </a:rPr>
                <a:t>PEFT / LoRA</a:t>
              </a:r>
              <a:endParaRPr b="1" sz="1300">
                <a:solidFill>
                  <a:srgbClr val="F5F1E6"/>
                </a:solidFill>
                <a:latin typeface="Carlito"/>
                <a:ea typeface="Carlito"/>
                <a:cs typeface="Carlito"/>
                <a:sym typeface="Carlito"/>
              </a:endParaRPr>
            </a:p>
            <a:p>
              <a:pPr indent="0" lvl="0" marL="0" rtl="0" algn="l">
                <a:spcBef>
                  <a:spcPts val="600"/>
                </a:spcBef>
                <a:spcAft>
                  <a:spcPts val="0"/>
                </a:spcAft>
                <a:buNone/>
              </a:pPr>
              <a:r>
                <a:rPr lang="en-US" sz="950">
                  <a:solidFill>
                    <a:srgbClr val="94A3B8"/>
                  </a:solidFill>
                  <a:latin typeface="Carlito"/>
                  <a:ea typeface="Carlito"/>
                  <a:cs typeface="Carlito"/>
                  <a:sym typeface="Carlito"/>
                </a:rPr>
                <a:t>Train a tiny fraction of params</a:t>
              </a:r>
              <a:endParaRPr sz="950">
                <a:solidFill>
                  <a:srgbClr val="94A3B8"/>
                </a:solidFill>
                <a:latin typeface="Carlito"/>
                <a:ea typeface="Carlito"/>
                <a:cs typeface="Carlito"/>
                <a:sym typeface="Carlito"/>
              </a:endParaRPr>
            </a:p>
          </p:txBody>
        </p:sp>
      </p:grpSp>
      <p:grpSp>
        <p:nvGrpSpPr>
          <p:cNvPr id="168" name="Google Shape;168;p9"/>
          <p:cNvGrpSpPr/>
          <p:nvPr/>
        </p:nvGrpSpPr>
        <p:grpSpPr>
          <a:xfrm>
            <a:off x="3829050" y="2047875"/>
            <a:ext cx="1485900" cy="2095575"/>
            <a:chOff x="3829050" y="2047875"/>
            <a:chExt cx="1485900" cy="2095575"/>
          </a:xfrm>
        </p:grpSpPr>
        <p:sp>
          <p:nvSpPr>
            <p:cNvPr id="169" name="Google Shape;169;p9"/>
            <p:cNvSpPr/>
            <p:nvPr/>
          </p:nvSpPr>
          <p:spPr>
            <a:xfrm>
              <a:off x="3829050" y="2047875"/>
              <a:ext cx="1485900" cy="2095500"/>
            </a:xfrm>
            <a:prstGeom prst="roundRect">
              <a:avLst>
                <a:gd fmla="val 5128"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9"/>
            <p:cNvSpPr/>
            <p:nvPr/>
          </p:nvSpPr>
          <p:spPr>
            <a:xfrm>
              <a:off x="3829050" y="2047875"/>
              <a:ext cx="1485900" cy="28500"/>
            </a:xfrm>
            <a:prstGeom prst="rect">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9"/>
            <p:cNvSpPr txBox="1"/>
            <p:nvPr/>
          </p:nvSpPr>
          <p:spPr>
            <a:xfrm>
              <a:off x="3829050" y="2076450"/>
              <a:ext cx="1485900" cy="2067000"/>
            </a:xfrm>
            <a:prstGeom prst="rect">
              <a:avLst/>
            </a:prstGeom>
            <a:noFill/>
            <a:ln>
              <a:noFill/>
            </a:ln>
          </p:spPr>
          <p:txBody>
            <a:bodyPr anchorCtr="0" anchor="t" bIns="152400" lIns="152400" spcFirstLastPara="1" rIns="152400" wrap="square" tIns="152400">
              <a:noAutofit/>
            </a:bodyPr>
            <a:lstStyle/>
            <a:p>
              <a:pPr indent="0" lvl="0" marL="0" rtl="0" algn="l">
                <a:spcBef>
                  <a:spcPts val="0"/>
                </a:spcBef>
                <a:spcAft>
                  <a:spcPts val="0"/>
                </a:spcAft>
                <a:buNone/>
              </a:pPr>
              <a:r>
                <a:rPr lang="en-US" sz="2000">
                  <a:solidFill>
                    <a:srgbClr val="F0B429"/>
                  </a:solidFill>
                  <a:latin typeface="Material Icons"/>
                  <a:ea typeface="Material Icons"/>
                  <a:cs typeface="Material Icons"/>
                  <a:sym typeface="Material Icons"/>
                </a:rPr>
                <a:t>grid_on </a:t>
              </a:r>
              <a:r>
                <a:rPr b="1" lang="en-US" sz="800">
                  <a:solidFill>
                    <a:srgbClr val="64748B"/>
                  </a:solidFill>
                  <a:latin typeface="Arial"/>
                  <a:ea typeface="Arial"/>
                  <a:cs typeface="Arial"/>
                  <a:sym typeface="Arial"/>
                </a:rPr>
                <a:t>STEP 03</a:t>
              </a:r>
              <a:endParaRPr/>
            </a:p>
            <a:p>
              <a:pPr indent="0" lvl="0" marL="0" rtl="0" algn="l">
                <a:spcBef>
                  <a:spcPts val="0"/>
                </a:spcBef>
                <a:spcAft>
                  <a:spcPts val="0"/>
                </a:spcAft>
                <a:buNone/>
              </a:pPr>
              <a:r>
                <a:rPr b="1" lang="en-US" sz="1300">
                  <a:solidFill>
                    <a:srgbClr val="F5F1E6"/>
                  </a:solidFill>
                  <a:latin typeface="Carlito"/>
                  <a:ea typeface="Carlito"/>
                  <a:cs typeface="Carlito"/>
                  <a:sym typeface="Carlito"/>
                </a:rPr>
                <a:t>Precision</a:t>
              </a:r>
              <a:endParaRPr b="1" sz="1300">
                <a:solidFill>
                  <a:srgbClr val="F5F1E6"/>
                </a:solidFill>
                <a:latin typeface="Carlito"/>
                <a:ea typeface="Carlito"/>
                <a:cs typeface="Carlito"/>
                <a:sym typeface="Carlito"/>
              </a:endParaRPr>
            </a:p>
            <a:p>
              <a:pPr indent="0" lvl="0" marL="0" rtl="0" algn="l">
                <a:spcBef>
                  <a:spcPts val="600"/>
                </a:spcBef>
                <a:spcAft>
                  <a:spcPts val="0"/>
                </a:spcAft>
                <a:buNone/>
              </a:pPr>
              <a:r>
                <a:rPr lang="en-US" sz="950">
                  <a:solidFill>
                    <a:srgbClr val="94A3B8"/>
                  </a:solidFill>
                  <a:latin typeface="Carlito"/>
                  <a:ea typeface="Carlito"/>
                  <a:cs typeface="Carlito"/>
                  <a:sym typeface="Carlito"/>
                </a:rPr>
                <a:t>Drop from 32-bit to 16-bit</a:t>
              </a:r>
              <a:endParaRPr sz="950">
                <a:solidFill>
                  <a:srgbClr val="94A3B8"/>
                </a:solidFill>
                <a:latin typeface="Carlito"/>
                <a:ea typeface="Carlito"/>
                <a:cs typeface="Carlito"/>
                <a:sym typeface="Carlito"/>
              </a:endParaRPr>
            </a:p>
          </p:txBody>
        </p:sp>
      </p:grpSp>
      <p:grpSp>
        <p:nvGrpSpPr>
          <p:cNvPr id="172" name="Google Shape;172;p9"/>
          <p:cNvGrpSpPr/>
          <p:nvPr/>
        </p:nvGrpSpPr>
        <p:grpSpPr>
          <a:xfrm>
            <a:off x="5514975" y="2047875"/>
            <a:ext cx="1485900" cy="2095575"/>
            <a:chOff x="5514975" y="2047875"/>
            <a:chExt cx="1485900" cy="2095575"/>
          </a:xfrm>
        </p:grpSpPr>
        <p:sp>
          <p:nvSpPr>
            <p:cNvPr id="173" name="Google Shape;173;p9"/>
            <p:cNvSpPr/>
            <p:nvPr/>
          </p:nvSpPr>
          <p:spPr>
            <a:xfrm>
              <a:off x="5514975" y="2047875"/>
              <a:ext cx="1485900" cy="2095500"/>
            </a:xfrm>
            <a:prstGeom prst="roundRect">
              <a:avLst>
                <a:gd fmla="val 5128"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9"/>
            <p:cNvSpPr/>
            <p:nvPr/>
          </p:nvSpPr>
          <p:spPr>
            <a:xfrm>
              <a:off x="5514975" y="2047875"/>
              <a:ext cx="1485900" cy="28500"/>
            </a:xfrm>
            <a:prstGeom prst="rect">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9"/>
            <p:cNvSpPr txBox="1"/>
            <p:nvPr/>
          </p:nvSpPr>
          <p:spPr>
            <a:xfrm>
              <a:off x="5514975" y="2076450"/>
              <a:ext cx="1485900" cy="2067000"/>
            </a:xfrm>
            <a:prstGeom prst="rect">
              <a:avLst/>
            </a:prstGeom>
            <a:noFill/>
            <a:ln>
              <a:noFill/>
            </a:ln>
          </p:spPr>
          <p:txBody>
            <a:bodyPr anchorCtr="0" anchor="t" bIns="152400" lIns="152400" spcFirstLastPara="1" rIns="152400" wrap="square" tIns="152400">
              <a:noAutofit/>
            </a:bodyPr>
            <a:lstStyle/>
            <a:p>
              <a:pPr indent="0" lvl="0" marL="0" rtl="0" algn="l">
                <a:spcBef>
                  <a:spcPts val="0"/>
                </a:spcBef>
                <a:spcAft>
                  <a:spcPts val="0"/>
                </a:spcAft>
                <a:buNone/>
              </a:pPr>
              <a:r>
                <a:rPr lang="en-US" sz="2000">
                  <a:solidFill>
                    <a:srgbClr val="F0B429"/>
                  </a:solidFill>
                  <a:latin typeface="Material Icons"/>
                  <a:ea typeface="Material Icons"/>
                  <a:cs typeface="Material Icons"/>
                  <a:sym typeface="Material Icons"/>
                </a:rPr>
                <a:t>compress </a:t>
              </a:r>
              <a:r>
                <a:rPr b="1" lang="en-US" sz="800">
                  <a:solidFill>
                    <a:srgbClr val="64748B"/>
                  </a:solidFill>
                  <a:latin typeface="Arial"/>
                  <a:ea typeface="Arial"/>
                  <a:cs typeface="Arial"/>
                  <a:sym typeface="Arial"/>
                </a:rPr>
                <a:t>STEP 04</a:t>
              </a:r>
              <a:endParaRPr/>
            </a:p>
            <a:p>
              <a:pPr indent="0" lvl="0" marL="0" rtl="0" algn="l">
                <a:spcBef>
                  <a:spcPts val="0"/>
                </a:spcBef>
                <a:spcAft>
                  <a:spcPts val="0"/>
                </a:spcAft>
                <a:buNone/>
              </a:pPr>
              <a:r>
                <a:rPr b="1" lang="en-US" sz="1300">
                  <a:solidFill>
                    <a:srgbClr val="F5F1E6"/>
                  </a:solidFill>
                  <a:latin typeface="Carlito"/>
                  <a:ea typeface="Carlito"/>
                  <a:cs typeface="Carlito"/>
                  <a:sym typeface="Carlito"/>
                </a:rPr>
                <a:t>Quantization</a:t>
              </a:r>
              <a:endParaRPr b="1" sz="1300">
                <a:solidFill>
                  <a:srgbClr val="F5F1E6"/>
                </a:solidFill>
                <a:latin typeface="Carlito"/>
                <a:ea typeface="Carlito"/>
                <a:cs typeface="Carlito"/>
                <a:sym typeface="Carlito"/>
              </a:endParaRPr>
            </a:p>
            <a:p>
              <a:pPr indent="0" lvl="0" marL="0" rtl="0" algn="l">
                <a:spcBef>
                  <a:spcPts val="600"/>
                </a:spcBef>
                <a:spcAft>
                  <a:spcPts val="0"/>
                </a:spcAft>
                <a:buNone/>
              </a:pPr>
              <a:r>
                <a:rPr lang="en-US" sz="950">
                  <a:solidFill>
                    <a:srgbClr val="94A3B8"/>
                  </a:solidFill>
                  <a:latin typeface="Carlito"/>
                  <a:ea typeface="Carlito"/>
                  <a:cs typeface="Carlito"/>
                  <a:sym typeface="Carlito"/>
                </a:rPr>
                <a:t>Compress to 8-bit or 4-bit</a:t>
              </a:r>
              <a:endParaRPr sz="950">
                <a:solidFill>
                  <a:srgbClr val="94A3B8"/>
                </a:solidFill>
                <a:latin typeface="Carlito"/>
                <a:ea typeface="Carlito"/>
                <a:cs typeface="Carlito"/>
                <a:sym typeface="Carlito"/>
              </a:endParaRPr>
            </a:p>
          </p:txBody>
        </p:sp>
      </p:grpSp>
      <p:grpSp>
        <p:nvGrpSpPr>
          <p:cNvPr id="176" name="Google Shape;176;p9"/>
          <p:cNvGrpSpPr/>
          <p:nvPr/>
        </p:nvGrpSpPr>
        <p:grpSpPr>
          <a:xfrm>
            <a:off x="7200900" y="2047875"/>
            <a:ext cx="1485900" cy="2095575"/>
            <a:chOff x="7200900" y="2047875"/>
            <a:chExt cx="1485900" cy="2095575"/>
          </a:xfrm>
        </p:grpSpPr>
        <p:sp>
          <p:nvSpPr>
            <p:cNvPr id="177" name="Google Shape;177;p9"/>
            <p:cNvSpPr/>
            <p:nvPr/>
          </p:nvSpPr>
          <p:spPr>
            <a:xfrm>
              <a:off x="7200900" y="2047875"/>
              <a:ext cx="1485900" cy="2095500"/>
            </a:xfrm>
            <a:prstGeom prst="roundRect">
              <a:avLst>
                <a:gd fmla="val 5128"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9"/>
            <p:cNvSpPr/>
            <p:nvPr/>
          </p:nvSpPr>
          <p:spPr>
            <a:xfrm>
              <a:off x="7200900" y="2047875"/>
              <a:ext cx="1485900" cy="28500"/>
            </a:xfrm>
            <a:prstGeom prst="rect">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9"/>
            <p:cNvSpPr txBox="1"/>
            <p:nvPr/>
          </p:nvSpPr>
          <p:spPr>
            <a:xfrm>
              <a:off x="7200900" y="2076450"/>
              <a:ext cx="1485900" cy="2067000"/>
            </a:xfrm>
            <a:prstGeom prst="rect">
              <a:avLst/>
            </a:prstGeom>
            <a:noFill/>
            <a:ln>
              <a:noFill/>
            </a:ln>
          </p:spPr>
          <p:txBody>
            <a:bodyPr anchorCtr="0" anchor="t" bIns="152400" lIns="152400" spcFirstLastPara="1" rIns="152400" wrap="square" tIns="152400">
              <a:noAutofit/>
            </a:bodyPr>
            <a:lstStyle/>
            <a:p>
              <a:pPr indent="0" lvl="0" marL="0" rtl="0" algn="l">
                <a:spcBef>
                  <a:spcPts val="0"/>
                </a:spcBef>
                <a:spcAft>
                  <a:spcPts val="0"/>
                </a:spcAft>
                <a:buNone/>
              </a:pPr>
              <a:r>
                <a:rPr lang="en-US" sz="2000">
                  <a:solidFill>
                    <a:srgbClr val="F0B429"/>
                  </a:solidFill>
                  <a:latin typeface="Material Icons"/>
                  <a:ea typeface="Material Icons"/>
                  <a:cs typeface="Material Icons"/>
                  <a:sym typeface="Material Icons"/>
                </a:rPr>
                <a:t>publish </a:t>
              </a:r>
              <a:r>
                <a:rPr b="1" lang="en-US" sz="800">
                  <a:solidFill>
                    <a:srgbClr val="64748B"/>
                  </a:solidFill>
                  <a:latin typeface="Arial"/>
                  <a:ea typeface="Arial"/>
                  <a:cs typeface="Arial"/>
                  <a:sym typeface="Arial"/>
                </a:rPr>
                <a:t>STEP 05</a:t>
              </a:r>
              <a:endParaRPr/>
            </a:p>
            <a:p>
              <a:pPr indent="0" lvl="0" marL="0" rtl="0" algn="l">
                <a:spcBef>
                  <a:spcPts val="0"/>
                </a:spcBef>
                <a:spcAft>
                  <a:spcPts val="0"/>
                </a:spcAft>
                <a:buNone/>
              </a:pPr>
              <a:r>
                <a:rPr b="1" lang="en-US" sz="1300">
                  <a:solidFill>
                    <a:srgbClr val="F5F1E6"/>
                  </a:solidFill>
                  <a:latin typeface="Carlito"/>
                  <a:ea typeface="Carlito"/>
                  <a:cs typeface="Carlito"/>
                  <a:sym typeface="Carlito"/>
                </a:rPr>
                <a:t>ONNX Export</a:t>
              </a:r>
              <a:endParaRPr b="1" sz="1300">
                <a:solidFill>
                  <a:srgbClr val="F5F1E6"/>
                </a:solidFill>
                <a:latin typeface="Carlito"/>
                <a:ea typeface="Carlito"/>
                <a:cs typeface="Carlito"/>
                <a:sym typeface="Carlito"/>
              </a:endParaRPr>
            </a:p>
            <a:p>
              <a:pPr indent="0" lvl="0" marL="0" rtl="0" algn="l">
                <a:spcBef>
                  <a:spcPts val="600"/>
                </a:spcBef>
                <a:spcAft>
                  <a:spcPts val="0"/>
                </a:spcAft>
                <a:buNone/>
              </a:pPr>
              <a:r>
                <a:rPr lang="en-US" sz="950">
                  <a:solidFill>
                    <a:srgbClr val="94A3B8"/>
                  </a:solidFill>
                  <a:latin typeface="Carlito"/>
                  <a:ea typeface="Carlito"/>
                  <a:cs typeface="Carlito"/>
                  <a:sym typeface="Carlito"/>
                </a:rPr>
                <a:t>Portable, optimized runtime</a:t>
              </a:r>
              <a:endParaRPr sz="950">
                <a:solidFill>
                  <a:srgbClr val="94A3B8"/>
                </a:solidFill>
                <a:latin typeface="Carlito"/>
                <a:ea typeface="Carlito"/>
                <a:cs typeface="Carlito"/>
                <a:sym typeface="Carlito"/>
              </a:endParaRPr>
            </a:p>
          </p:txBody>
        </p:sp>
      </p:grpSp>
      <p:sp>
        <p:nvSpPr>
          <p:cNvPr id="180" name="Google Shape;180;p9"/>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81" name="Google Shape;181;p9"/>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07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6" name="Shape 186"/>
        <p:cNvGrpSpPr/>
        <p:nvPr/>
      </p:nvGrpSpPr>
      <p:grpSpPr>
        <a:xfrm>
          <a:off x="0" y="0"/>
          <a:ext cx="0" cy="0"/>
          <a:chOff x="0" y="0"/>
          <a:chExt cx="0" cy="0"/>
        </a:xfrm>
      </p:grpSpPr>
      <p:grpSp>
        <p:nvGrpSpPr>
          <p:cNvPr id="187" name="Google Shape;187;p10"/>
          <p:cNvGrpSpPr/>
          <p:nvPr/>
        </p:nvGrpSpPr>
        <p:grpSpPr>
          <a:xfrm>
            <a:off x="457200" y="457200"/>
            <a:ext cx="3810000" cy="190500"/>
            <a:chOff x="457200" y="457200"/>
            <a:chExt cx="3810000" cy="190500"/>
          </a:xfrm>
        </p:grpSpPr>
        <p:sp>
          <p:nvSpPr>
            <p:cNvPr id="188" name="Google Shape;188;p10"/>
            <p:cNvSpPr/>
            <p:nvPr/>
          </p:nvSpPr>
          <p:spPr>
            <a:xfrm>
              <a:off x="457200" y="457200"/>
              <a:ext cx="38100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10"/>
            <p:cNvSpPr txBox="1"/>
            <p:nvPr/>
          </p:nvSpPr>
          <p:spPr>
            <a:xfrm>
              <a:off x="457200" y="457200"/>
              <a:ext cx="3810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F0B429"/>
                  </a:solidFill>
                  <a:latin typeface="Arial"/>
                  <a:ea typeface="Arial"/>
                  <a:cs typeface="Arial"/>
                  <a:sym typeface="Arial"/>
                </a:rPr>
                <a:t>PART 02 · COST OF SCALE</a:t>
              </a:r>
              <a:endParaRPr b="1" sz="800">
                <a:solidFill>
                  <a:srgbClr val="F0B429"/>
                </a:solidFill>
                <a:latin typeface="Arial"/>
                <a:ea typeface="Arial"/>
                <a:cs typeface="Arial"/>
                <a:sym typeface="Arial"/>
              </a:endParaRPr>
            </a:p>
          </p:txBody>
        </p:sp>
      </p:grpSp>
      <p:grpSp>
        <p:nvGrpSpPr>
          <p:cNvPr id="190" name="Google Shape;190;p10"/>
          <p:cNvGrpSpPr/>
          <p:nvPr/>
        </p:nvGrpSpPr>
        <p:grpSpPr>
          <a:xfrm>
            <a:off x="457200" y="762000"/>
            <a:ext cx="4762500" cy="857400"/>
            <a:chOff x="457200" y="762000"/>
            <a:chExt cx="4762500" cy="857400"/>
          </a:xfrm>
        </p:grpSpPr>
        <p:sp>
          <p:nvSpPr>
            <p:cNvPr id="191" name="Google Shape;191;p10"/>
            <p:cNvSpPr/>
            <p:nvPr/>
          </p:nvSpPr>
          <p:spPr>
            <a:xfrm>
              <a:off x="457200" y="762000"/>
              <a:ext cx="47625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0"/>
            <p:cNvSpPr txBox="1"/>
            <p:nvPr/>
          </p:nvSpPr>
          <p:spPr>
            <a:xfrm>
              <a:off x="457200" y="762000"/>
              <a:ext cx="47625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F5F1E6"/>
                  </a:solidFill>
                  <a:latin typeface="Carlito"/>
                  <a:ea typeface="Carlito"/>
                  <a:cs typeface="Carlito"/>
                  <a:sym typeface="Carlito"/>
                </a:rPr>
                <a:t>The Cost of Scale</a:t>
              </a:r>
              <a:endParaRPr b="1" sz="3200">
                <a:solidFill>
                  <a:srgbClr val="F5F1E6"/>
                </a:solidFill>
                <a:latin typeface="Carlito"/>
                <a:ea typeface="Carlito"/>
                <a:cs typeface="Carlito"/>
                <a:sym typeface="Carlito"/>
              </a:endParaRPr>
            </a:p>
          </p:txBody>
        </p:sp>
      </p:grpSp>
      <p:grpSp>
        <p:nvGrpSpPr>
          <p:cNvPr id="193" name="Google Shape;193;p10"/>
          <p:cNvGrpSpPr/>
          <p:nvPr/>
        </p:nvGrpSpPr>
        <p:grpSpPr>
          <a:xfrm>
            <a:off x="457200" y="1905000"/>
            <a:ext cx="4953000" cy="2095500"/>
            <a:chOff x="457200" y="1905000"/>
            <a:chExt cx="4953000" cy="2095500"/>
          </a:xfrm>
        </p:grpSpPr>
        <p:sp>
          <p:nvSpPr>
            <p:cNvPr id="194" name="Google Shape;194;p10"/>
            <p:cNvSpPr/>
            <p:nvPr/>
          </p:nvSpPr>
          <p:spPr>
            <a:xfrm>
              <a:off x="457200" y="1905000"/>
              <a:ext cx="4953000" cy="2095500"/>
            </a:xfrm>
            <a:prstGeom prst="roundRect">
              <a:avLst>
                <a:gd fmla="val 3636" name="adj"/>
              </a:avLst>
            </a:prstGeom>
            <a:solidFill>
              <a:srgbClr val="111E2F"/>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95" name="Google Shape;195;p10"/>
            <p:cNvCxnSpPr/>
            <p:nvPr/>
          </p:nvCxnSpPr>
          <p:spPr>
            <a:xfrm>
              <a:off x="457200" y="1905000"/>
              <a:ext cx="0" cy="2095500"/>
            </a:xfrm>
            <a:prstGeom prst="straightConnector1">
              <a:avLst/>
            </a:prstGeom>
            <a:solidFill>
              <a:srgbClr val="FFFFFF"/>
            </a:solidFill>
            <a:ln cap="rnd" cmpd="sng" w="38100">
              <a:solidFill>
                <a:srgbClr val="F0B429"/>
              </a:solidFill>
              <a:prstDash val="solid"/>
              <a:round/>
              <a:headEnd len="sm" w="sm" type="none"/>
              <a:tailEnd len="sm" w="sm" type="none"/>
            </a:ln>
          </p:spPr>
        </p:cxnSp>
        <p:sp>
          <p:nvSpPr>
            <p:cNvPr id="196" name="Google Shape;196;p10"/>
            <p:cNvSpPr txBox="1"/>
            <p:nvPr/>
          </p:nvSpPr>
          <p:spPr>
            <a:xfrm>
              <a:off x="723900" y="2095500"/>
              <a:ext cx="4419600" cy="17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0B429"/>
                  </a:solidFill>
                  <a:latin typeface="Arial"/>
                  <a:ea typeface="Arial"/>
                  <a:cs typeface="Arial"/>
                  <a:sym typeface="Arial"/>
                </a:rPr>
                <a:t>SESSION OVERVIEW</a:t>
              </a:r>
              <a:endParaRPr b="1" sz="900">
                <a:solidFill>
                  <a:srgbClr val="F0B429"/>
                </a:solidFill>
                <a:latin typeface="Arial"/>
                <a:ea typeface="Arial"/>
                <a:cs typeface="Arial"/>
                <a:sym typeface="Arial"/>
              </a:endParaRPr>
            </a:p>
            <a:p>
              <a:pPr indent="0" lvl="0" marL="0" rtl="0" algn="l">
                <a:spcBef>
                  <a:spcPts val="900"/>
                </a:spcBef>
                <a:spcAft>
                  <a:spcPts val="0"/>
                </a:spcAft>
                <a:buNone/>
              </a:pPr>
              <a:r>
                <a:rPr b="0" lang="en-US" sz="1400">
                  <a:solidFill>
                    <a:srgbClr val="F5F1E6"/>
                  </a:solidFill>
                  <a:latin typeface="Carlito"/>
                  <a:ea typeface="Carlito"/>
                  <a:cs typeface="Carlito"/>
                  <a:sym typeface="Carlito"/>
                </a:rPr>
                <a:t>What full fine-tuning actually costs in memory and compute, and why that cost motivated everything else in this session.</a:t>
              </a:r>
              <a:endParaRPr b="0" sz="1400">
                <a:solidFill>
                  <a:srgbClr val="F5F1E6"/>
                </a:solidFill>
                <a:latin typeface="Carlito"/>
                <a:ea typeface="Carlito"/>
                <a:cs typeface="Carlito"/>
                <a:sym typeface="Carlito"/>
              </a:endParaRPr>
            </a:p>
          </p:txBody>
        </p:sp>
      </p:grpSp>
      <p:grpSp>
        <p:nvGrpSpPr>
          <p:cNvPr id="197" name="Google Shape;197;p10"/>
          <p:cNvGrpSpPr/>
          <p:nvPr/>
        </p:nvGrpSpPr>
        <p:grpSpPr>
          <a:xfrm>
            <a:off x="5715000" y="1047750"/>
            <a:ext cx="2952900" cy="3048000"/>
            <a:chOff x="5715000" y="1047750"/>
            <a:chExt cx="2952900" cy="3048000"/>
          </a:xfrm>
        </p:grpSpPr>
        <p:sp>
          <p:nvSpPr>
            <p:cNvPr id="198" name="Google Shape;198;p10"/>
            <p:cNvSpPr/>
            <p:nvPr/>
          </p:nvSpPr>
          <p:spPr>
            <a:xfrm>
              <a:off x="5715000" y="1047750"/>
              <a:ext cx="2952900" cy="3048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10"/>
            <p:cNvSpPr txBox="1"/>
            <p:nvPr/>
          </p:nvSpPr>
          <p:spPr>
            <a:xfrm>
              <a:off x="5715000" y="1047750"/>
              <a:ext cx="2952900" cy="3048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US" sz="20000">
                  <a:solidFill>
                    <a:srgbClr val="F0B429"/>
                  </a:solidFill>
                  <a:latin typeface="Arial"/>
                  <a:ea typeface="Arial"/>
                  <a:cs typeface="Arial"/>
                  <a:sym typeface="Arial"/>
                </a:rPr>
                <a:t>02</a:t>
              </a:r>
              <a:endParaRPr b="1" sz="20000">
                <a:solidFill>
                  <a:srgbClr val="F0B429"/>
                </a:solidFill>
                <a:latin typeface="Arial"/>
                <a:ea typeface="Arial"/>
                <a:cs typeface="Arial"/>
                <a:sym typeface="Arial"/>
              </a:endParaRPr>
            </a:p>
          </p:txBody>
        </p:sp>
      </p:grpSp>
      <p:grpSp>
        <p:nvGrpSpPr>
          <p:cNvPr id="200" name="Google Shape;200;p10"/>
          <p:cNvGrpSpPr/>
          <p:nvPr/>
        </p:nvGrpSpPr>
        <p:grpSpPr>
          <a:xfrm>
            <a:off x="457200" y="4810125"/>
            <a:ext cx="4762500" cy="190500"/>
            <a:chOff x="457200" y="4810125"/>
            <a:chExt cx="4762500" cy="190500"/>
          </a:xfrm>
        </p:grpSpPr>
        <p:sp>
          <p:nvSpPr>
            <p:cNvPr id="201" name="Google Shape;201;p10"/>
            <p:cNvSpPr/>
            <p:nvPr/>
          </p:nvSpPr>
          <p:spPr>
            <a:xfrm>
              <a:off x="457200" y="4810125"/>
              <a:ext cx="47625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10"/>
            <p:cNvSpPr txBox="1"/>
            <p:nvPr/>
          </p:nvSpPr>
          <p:spPr>
            <a:xfrm>
              <a:off x="457200" y="4810125"/>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800">
                  <a:solidFill>
                    <a:srgbClr val="64748B"/>
                  </a:solidFill>
                  <a:latin typeface="Carlito"/>
                  <a:ea typeface="Carlito"/>
                  <a:cs typeface="Carlito"/>
                  <a:sym typeface="Carlito"/>
                </a:rPr>
                <a:t>DEEP LEARNING FOR RESOURCE OPTIMIZATION</a:t>
              </a:r>
              <a:endParaRPr sz="800">
                <a:solidFill>
                  <a:srgbClr val="64748B"/>
                </a:solidFill>
                <a:latin typeface="Carlito"/>
                <a:ea typeface="Carlito"/>
                <a:cs typeface="Carlito"/>
                <a:sym typeface="Carlito"/>
              </a:endParaRPr>
            </a:p>
          </p:txBody>
        </p:sp>
      </p:grpSp>
      <p:grpSp>
        <p:nvGrpSpPr>
          <p:cNvPr id="203" name="Google Shape;203;p10"/>
          <p:cNvGrpSpPr/>
          <p:nvPr/>
        </p:nvGrpSpPr>
        <p:grpSpPr>
          <a:xfrm>
            <a:off x="7734300" y="4810125"/>
            <a:ext cx="952500" cy="190500"/>
            <a:chOff x="7734300" y="4810125"/>
            <a:chExt cx="952500" cy="190500"/>
          </a:xfrm>
        </p:grpSpPr>
        <p:sp>
          <p:nvSpPr>
            <p:cNvPr id="204" name="Google Shape;204;p10"/>
            <p:cNvSpPr/>
            <p:nvPr/>
          </p:nvSpPr>
          <p:spPr>
            <a:xfrm>
              <a:off x="7734300" y="4810125"/>
              <a:ext cx="9525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0"/>
            <p:cNvSpPr txBox="1"/>
            <p:nvPr/>
          </p:nvSpPr>
          <p:spPr>
            <a:xfrm>
              <a:off x="7734300" y="4810125"/>
              <a:ext cx="9525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US" sz="800">
                  <a:solidFill>
                    <a:srgbClr val="94A3B8"/>
                  </a:solidFill>
                  <a:latin typeface="Arial"/>
                  <a:ea typeface="Arial"/>
                  <a:cs typeface="Arial"/>
                  <a:sym typeface="Arial"/>
                </a:rPr>
                <a:t>08 </a:t>
              </a:r>
              <a:r>
                <a:rPr lang="en-US" sz="800">
                  <a:solidFill>
                    <a:srgbClr val="64748B"/>
                  </a:solidFill>
                  <a:latin typeface="Arial"/>
                  <a:ea typeface="Arial"/>
                  <a:cs typeface="Arial"/>
                  <a:sym typeface="Arial"/>
                </a:rPr>
                <a:t>/ 58</a:t>
              </a:r>
              <a:endParaRPr sz="800">
                <a:solidFill>
                  <a:srgbClr val="94A3B8"/>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10" name="Shape 210"/>
        <p:cNvGrpSpPr/>
        <p:nvPr/>
      </p:nvGrpSpPr>
      <p:grpSpPr>
        <a:xfrm>
          <a:off x="0" y="0"/>
          <a:ext cx="0" cy="0"/>
          <a:chOff x="0" y="0"/>
          <a:chExt cx="0" cy="0"/>
        </a:xfrm>
      </p:grpSpPr>
      <p:sp>
        <p:nvSpPr>
          <p:cNvPr id="211" name="Google Shape;211;p11"/>
          <p:cNvSpPr/>
          <p:nvPr/>
        </p:nvSpPr>
        <p:spPr>
          <a:xfrm>
            <a:off x="457200" y="458986"/>
            <a:ext cx="20526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02 · COST OF SCALE</a:t>
            </a:r>
            <a:endParaRPr b="0" i="0" sz="800" u="none" cap="none" strike="noStrike">
              <a:solidFill>
                <a:schemeClr val="dk1"/>
              </a:solidFill>
              <a:latin typeface="Calibri"/>
              <a:ea typeface="Calibri"/>
              <a:cs typeface="Calibri"/>
              <a:sym typeface="Calibri"/>
            </a:endParaRPr>
          </a:p>
        </p:txBody>
      </p:sp>
      <p:sp>
        <p:nvSpPr>
          <p:cNvPr id="212" name="Google Shape;212;p11"/>
          <p:cNvSpPr/>
          <p:nvPr/>
        </p:nvSpPr>
        <p:spPr>
          <a:xfrm>
            <a:off x="457200" y="662583"/>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What 'Full Fine-Tuning' Actually Requires</a:t>
            </a:r>
            <a:endParaRPr b="0" i="0" sz="2250" u="none" cap="none" strike="noStrike">
              <a:solidFill>
                <a:schemeClr val="dk1"/>
              </a:solidFill>
              <a:latin typeface="Calibri"/>
              <a:ea typeface="Calibri"/>
              <a:cs typeface="Calibri"/>
              <a:sym typeface="Calibri"/>
            </a:endParaRPr>
          </a:p>
        </p:txBody>
      </p:sp>
      <p:sp>
        <p:nvSpPr>
          <p:cNvPr id="213" name="Google Shape;213;p11"/>
          <p:cNvSpPr txBox="1"/>
          <p:nvPr/>
        </p:nvSpPr>
        <p:spPr>
          <a:xfrm>
            <a:off x="457200" y="1095375"/>
            <a:ext cx="82296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064">
                <a:solidFill>
                  <a:srgbClr val="F5F1E6"/>
                </a:solidFill>
                <a:latin typeface="Carlito"/>
                <a:ea typeface="Carlito"/>
                <a:cs typeface="Carlito"/>
                <a:sym typeface="Carlito"/>
              </a:rPr>
              <a:t>Fine-tuning every parameter of a pretrained model means storing, for every weight: the weight itself, its gradient, and — for the </a:t>
            </a:r>
            <a:r>
              <a:rPr b="1" lang="en-US" sz="1064">
                <a:solidFill>
                  <a:srgbClr val="F0B429"/>
                </a:solidFill>
                <a:latin typeface="Courier New"/>
                <a:ea typeface="Courier New"/>
                <a:cs typeface="Courier New"/>
                <a:sym typeface="Courier New"/>
              </a:rPr>
              <a:t>Adam</a:t>
            </a:r>
            <a:r>
              <a:rPr lang="en-US" sz="1064">
                <a:solidFill>
                  <a:srgbClr val="F5F1E6"/>
                </a:solidFill>
                <a:latin typeface="Carlito"/>
                <a:ea typeface="Carlito"/>
                <a:cs typeface="Carlito"/>
                <a:sym typeface="Carlito"/>
              </a:rPr>
              <a:t> optimizer — two additional running-average terms per weight. Nothing here is optional; the optimizer simply does not work without all four pieces per parameter.</a:t>
            </a:r>
            <a:endParaRPr sz="1064">
              <a:solidFill>
                <a:srgbClr val="F5F1E6"/>
              </a:solidFill>
              <a:latin typeface="Carlito"/>
              <a:ea typeface="Carlito"/>
              <a:cs typeface="Carlito"/>
              <a:sym typeface="Carlito"/>
            </a:endParaRPr>
          </a:p>
          <a:p>
            <a:pPr indent="0" lvl="0" marL="0" rtl="0" algn="l">
              <a:spcBef>
                <a:spcPts val="750"/>
              </a:spcBef>
              <a:spcAft>
                <a:spcPts val="0"/>
              </a:spcAft>
              <a:buNone/>
            </a:pPr>
            <a:r>
              <a:rPr lang="en-US" sz="1064">
                <a:solidFill>
                  <a:srgbClr val="94A3B8"/>
                </a:solidFill>
                <a:latin typeface="Carlito"/>
                <a:ea typeface="Carlito"/>
                <a:cs typeface="Carlito"/>
                <a:sym typeface="Carlito"/>
              </a:rPr>
              <a:t>For a model with </a:t>
            </a:r>
            <a:r>
              <a:rPr b="1" lang="en-US" sz="1064">
                <a:solidFill>
                  <a:srgbClr val="F0B429"/>
                </a:solidFill>
                <a:latin typeface="Courier New"/>
                <a:ea typeface="Courier New"/>
                <a:cs typeface="Courier New"/>
                <a:sym typeface="Courier New"/>
              </a:rPr>
              <a:t>N</a:t>
            </a:r>
            <a:r>
              <a:rPr lang="en-US" sz="1064">
                <a:solidFill>
                  <a:srgbClr val="94A3B8"/>
                </a:solidFill>
                <a:latin typeface="Carlito"/>
                <a:ea typeface="Carlito"/>
                <a:cs typeface="Carlito"/>
                <a:sym typeface="Carlito"/>
              </a:rPr>
              <a:t> parameters trained in 32-bit precision (</a:t>
            </a:r>
            <a:r>
              <a:rPr b="1" lang="en-US" sz="1064">
                <a:solidFill>
                  <a:srgbClr val="F0B429"/>
                </a:solidFill>
                <a:latin typeface="Carlito"/>
                <a:ea typeface="Carlito"/>
                <a:cs typeface="Carlito"/>
                <a:sym typeface="Carlito"/>
              </a:rPr>
              <a:t>FP32</a:t>
            </a:r>
            <a:r>
              <a:rPr lang="en-US" sz="1064">
                <a:solidFill>
                  <a:srgbClr val="94A3B8"/>
                </a:solidFill>
                <a:latin typeface="Carlito"/>
                <a:ea typeface="Carlito"/>
                <a:cs typeface="Carlito"/>
                <a:sym typeface="Carlito"/>
              </a:rPr>
              <a:t>), full fine-tuning with </a:t>
            </a:r>
            <a:r>
              <a:rPr b="1" lang="en-US" sz="1064">
                <a:solidFill>
                  <a:srgbClr val="F0B429"/>
                </a:solidFill>
                <a:latin typeface="Courier New"/>
                <a:ea typeface="Courier New"/>
                <a:cs typeface="Courier New"/>
                <a:sym typeface="Courier New"/>
              </a:rPr>
              <a:t>Adam</a:t>
            </a:r>
            <a:r>
              <a:rPr lang="en-US" sz="1064">
                <a:solidFill>
                  <a:srgbClr val="94A3B8"/>
                </a:solidFill>
                <a:latin typeface="Carlito"/>
                <a:ea typeface="Carlito"/>
                <a:cs typeface="Carlito"/>
                <a:sym typeface="Carlito"/>
              </a:rPr>
              <a:t> requires roughly 4 bytes (weight) + 4 bytes (gradient) + 8 bytes (</a:t>
            </a:r>
            <a:r>
              <a:rPr b="1" lang="en-US" sz="1064">
                <a:solidFill>
                  <a:srgbClr val="F0B429"/>
                </a:solidFill>
                <a:latin typeface="Courier New"/>
                <a:ea typeface="Courier New"/>
                <a:cs typeface="Courier New"/>
                <a:sym typeface="Courier New"/>
              </a:rPr>
              <a:t>Adam</a:t>
            </a:r>
            <a:r>
              <a:rPr lang="en-US" sz="1064">
                <a:solidFill>
                  <a:srgbClr val="94A3B8"/>
                </a:solidFill>
                <a:latin typeface="Carlito"/>
                <a:ea typeface="Carlito"/>
                <a:cs typeface="Carlito"/>
                <a:sym typeface="Carlito"/>
              </a:rPr>
              <a:t>'s two moment terms), about 16 bytes per parameter, before even counting activation memory.</a:t>
            </a:r>
            <a:endParaRPr sz="1064">
              <a:solidFill>
                <a:srgbClr val="94A3B8"/>
              </a:solidFill>
              <a:latin typeface="Carlito"/>
              <a:ea typeface="Carlito"/>
              <a:cs typeface="Carlito"/>
              <a:sym typeface="Carlito"/>
            </a:endParaRPr>
          </a:p>
        </p:txBody>
      </p:sp>
      <p:grpSp>
        <p:nvGrpSpPr>
          <p:cNvPr id="214" name="Google Shape;214;p11"/>
          <p:cNvGrpSpPr/>
          <p:nvPr/>
        </p:nvGrpSpPr>
        <p:grpSpPr>
          <a:xfrm>
            <a:off x="457200" y="2190750"/>
            <a:ext cx="1886100" cy="2000100"/>
            <a:chOff x="457200" y="2190750"/>
            <a:chExt cx="1886100" cy="2000100"/>
          </a:xfrm>
        </p:grpSpPr>
        <p:sp>
          <p:nvSpPr>
            <p:cNvPr id="215" name="Google Shape;215;p11"/>
            <p:cNvSpPr/>
            <p:nvPr/>
          </p:nvSpPr>
          <p:spPr>
            <a:xfrm>
              <a:off x="457200" y="2190750"/>
              <a:ext cx="1886100" cy="2000100"/>
            </a:xfrm>
            <a:prstGeom prst="roundRect">
              <a:avLst>
                <a:gd fmla="val 404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11"/>
            <p:cNvSpPr txBox="1"/>
            <p:nvPr/>
          </p:nvSpPr>
          <p:spPr>
            <a:xfrm>
              <a:off x="457200" y="2190750"/>
              <a:ext cx="1886100" cy="20001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US" sz="1000">
                  <a:solidFill>
                    <a:srgbClr val="0A1628"/>
                  </a:solidFill>
                  <a:latin typeface="Carlito"/>
                  <a:ea typeface="Carlito"/>
                  <a:cs typeface="Carlito"/>
                  <a:sym typeface="Carlito"/>
                </a:rPr>
                <a:t>WEIGHT</a:t>
              </a:r>
              <a:endParaRPr b="1" sz="1000">
                <a:solidFill>
                  <a:srgbClr val="0A1628"/>
                </a:solidFill>
                <a:latin typeface="Carlito"/>
                <a:ea typeface="Carlito"/>
                <a:cs typeface="Carlito"/>
                <a:sym typeface="Carlito"/>
              </a:endParaRPr>
            </a:p>
            <a:p>
              <a:pPr indent="0" lvl="0" marL="0" rtl="0" algn="l">
                <a:spcBef>
                  <a:spcPts val="900"/>
                </a:spcBef>
                <a:spcAft>
                  <a:spcPts val="0"/>
                </a:spcAft>
                <a:buNone/>
              </a:pPr>
              <a:r>
                <a:rPr b="0" lang="en-US" sz="1150">
                  <a:solidFill>
                    <a:srgbClr val="0A1628"/>
                  </a:solidFill>
                  <a:latin typeface="Carlito"/>
                  <a:ea typeface="Carlito"/>
                  <a:cs typeface="Carlito"/>
                  <a:sym typeface="Carlito"/>
                </a:rPr>
                <a:t>The parameter itself, in FP32</a:t>
              </a:r>
              <a:endParaRPr b="0" sz="1150">
                <a:solidFill>
                  <a:srgbClr val="0A1628"/>
                </a:solidFill>
                <a:latin typeface="Carlito"/>
                <a:ea typeface="Carlito"/>
                <a:cs typeface="Carlito"/>
                <a:sym typeface="Carlito"/>
              </a:endParaRPr>
            </a:p>
            <a:p>
              <a:pPr indent="0" lvl="0" marL="0" rtl="0" algn="l">
                <a:spcBef>
                  <a:spcPts val="0"/>
                </a:spcBef>
                <a:spcAft>
                  <a:spcPts val="0"/>
                </a:spcAft>
                <a:buNone/>
              </a:pPr>
              <a:r>
                <a:rPr b="1" lang="en-US" sz="2800">
                  <a:solidFill>
                    <a:srgbClr val="0A1628"/>
                  </a:solidFill>
                  <a:latin typeface="Arial"/>
                  <a:ea typeface="Arial"/>
                  <a:cs typeface="Arial"/>
                  <a:sym typeface="Arial"/>
                </a:rPr>
                <a:t>4 B</a:t>
              </a:r>
              <a:endParaRPr b="1" sz="2800">
                <a:solidFill>
                  <a:srgbClr val="0A1628"/>
                </a:solidFill>
                <a:latin typeface="Arial"/>
                <a:ea typeface="Arial"/>
                <a:cs typeface="Arial"/>
                <a:sym typeface="Arial"/>
              </a:endParaRPr>
            </a:p>
          </p:txBody>
        </p:sp>
      </p:grpSp>
      <p:grpSp>
        <p:nvGrpSpPr>
          <p:cNvPr id="217" name="Google Shape;217;p11"/>
          <p:cNvGrpSpPr/>
          <p:nvPr/>
        </p:nvGrpSpPr>
        <p:grpSpPr>
          <a:xfrm>
            <a:off x="2571750" y="2190750"/>
            <a:ext cx="1886100" cy="2000100"/>
            <a:chOff x="2571750" y="2190750"/>
            <a:chExt cx="1886100" cy="2000100"/>
          </a:xfrm>
        </p:grpSpPr>
        <p:sp>
          <p:nvSpPr>
            <p:cNvPr id="218" name="Google Shape;218;p11"/>
            <p:cNvSpPr/>
            <p:nvPr/>
          </p:nvSpPr>
          <p:spPr>
            <a:xfrm>
              <a:off x="2571750" y="2190750"/>
              <a:ext cx="1886100" cy="2000100"/>
            </a:xfrm>
            <a:prstGeom prst="roundRect">
              <a:avLst>
                <a:gd fmla="val 4040" name="adj"/>
              </a:avLst>
            </a:prstGeom>
            <a:solidFill>
              <a:srgbClr val="F0B429">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11"/>
            <p:cNvSpPr txBox="1"/>
            <p:nvPr/>
          </p:nvSpPr>
          <p:spPr>
            <a:xfrm>
              <a:off x="2571750" y="2190750"/>
              <a:ext cx="1886100" cy="20001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US" sz="1000">
                  <a:solidFill>
                    <a:srgbClr val="0A1628"/>
                  </a:solidFill>
                  <a:latin typeface="Carlito"/>
                  <a:ea typeface="Carlito"/>
                  <a:cs typeface="Carlito"/>
                  <a:sym typeface="Carlito"/>
                </a:rPr>
                <a:t>GRADIENT</a:t>
              </a:r>
              <a:endParaRPr b="1" sz="1000">
                <a:solidFill>
                  <a:srgbClr val="0A1628"/>
                </a:solidFill>
                <a:latin typeface="Carlito"/>
                <a:ea typeface="Carlito"/>
                <a:cs typeface="Carlito"/>
                <a:sym typeface="Carlito"/>
              </a:endParaRPr>
            </a:p>
            <a:p>
              <a:pPr indent="0" lvl="0" marL="0" rtl="0" algn="l">
                <a:spcBef>
                  <a:spcPts val="900"/>
                </a:spcBef>
                <a:spcAft>
                  <a:spcPts val="0"/>
                </a:spcAft>
                <a:buNone/>
              </a:pPr>
              <a:r>
                <a:rPr b="0" lang="en-US" sz="1150">
                  <a:solidFill>
                    <a:srgbClr val="0A1628"/>
                  </a:solidFill>
                  <a:latin typeface="Carlito"/>
                  <a:ea typeface="Carlito"/>
                  <a:cs typeface="Carlito"/>
                  <a:sym typeface="Carlito"/>
                </a:rPr>
                <a:t>Computed during backprop</a:t>
              </a:r>
              <a:endParaRPr b="0" sz="1150">
                <a:solidFill>
                  <a:srgbClr val="0A1628"/>
                </a:solidFill>
                <a:latin typeface="Carlito"/>
                <a:ea typeface="Carlito"/>
                <a:cs typeface="Carlito"/>
                <a:sym typeface="Carlito"/>
              </a:endParaRPr>
            </a:p>
            <a:p>
              <a:pPr indent="0" lvl="0" marL="0" rtl="0" algn="l">
                <a:spcBef>
                  <a:spcPts val="0"/>
                </a:spcBef>
                <a:spcAft>
                  <a:spcPts val="0"/>
                </a:spcAft>
                <a:buNone/>
              </a:pPr>
              <a:r>
                <a:rPr b="1" lang="en-US" sz="2800">
                  <a:solidFill>
                    <a:srgbClr val="0A1628"/>
                  </a:solidFill>
                  <a:latin typeface="Arial"/>
                  <a:ea typeface="Arial"/>
                  <a:cs typeface="Arial"/>
                  <a:sym typeface="Arial"/>
                </a:rPr>
                <a:t>4 B</a:t>
              </a:r>
              <a:endParaRPr b="1" sz="2800">
                <a:solidFill>
                  <a:srgbClr val="0A1628"/>
                </a:solidFill>
                <a:latin typeface="Arial"/>
                <a:ea typeface="Arial"/>
                <a:cs typeface="Arial"/>
                <a:sym typeface="Arial"/>
              </a:endParaRPr>
            </a:p>
          </p:txBody>
        </p:sp>
      </p:grpSp>
      <p:grpSp>
        <p:nvGrpSpPr>
          <p:cNvPr id="220" name="Google Shape;220;p11"/>
          <p:cNvGrpSpPr/>
          <p:nvPr/>
        </p:nvGrpSpPr>
        <p:grpSpPr>
          <a:xfrm>
            <a:off x="4686300" y="2190750"/>
            <a:ext cx="1886100" cy="2000100"/>
            <a:chOff x="4686300" y="2190750"/>
            <a:chExt cx="1886100" cy="2000100"/>
          </a:xfrm>
        </p:grpSpPr>
        <p:sp>
          <p:nvSpPr>
            <p:cNvPr id="221" name="Google Shape;221;p11"/>
            <p:cNvSpPr/>
            <p:nvPr/>
          </p:nvSpPr>
          <p:spPr>
            <a:xfrm>
              <a:off x="4686300" y="2190750"/>
              <a:ext cx="1886100" cy="2000100"/>
            </a:xfrm>
            <a:prstGeom prst="roundRect">
              <a:avLst>
                <a:gd fmla="val 404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11"/>
            <p:cNvSpPr/>
            <p:nvPr/>
          </p:nvSpPr>
          <p:spPr>
            <a:xfrm>
              <a:off x="4686300" y="2190750"/>
              <a:ext cx="1886100" cy="28500"/>
            </a:xfrm>
            <a:prstGeom prst="rect">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11"/>
            <p:cNvSpPr txBox="1"/>
            <p:nvPr/>
          </p:nvSpPr>
          <p:spPr>
            <a:xfrm>
              <a:off x="4686300" y="2190750"/>
              <a:ext cx="1886100" cy="20001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ADAM MOMENT 1</a:t>
              </a:r>
              <a:endParaRPr b="1" sz="1000">
                <a:solidFill>
                  <a:srgbClr val="F0B429"/>
                </a:solidFill>
                <a:latin typeface="Carlito"/>
                <a:ea typeface="Carlito"/>
                <a:cs typeface="Carlito"/>
                <a:sym typeface="Carlito"/>
              </a:endParaRPr>
            </a:p>
            <a:p>
              <a:pPr indent="0" lvl="0" marL="0" rtl="0" algn="l">
                <a:spcBef>
                  <a:spcPts val="900"/>
                </a:spcBef>
                <a:spcAft>
                  <a:spcPts val="0"/>
                </a:spcAft>
                <a:buNone/>
              </a:pPr>
              <a:r>
                <a:rPr b="0" lang="en-US" sz="1150">
                  <a:solidFill>
                    <a:srgbClr val="94A3B8"/>
                  </a:solidFill>
                  <a:latin typeface="Carlito"/>
                  <a:ea typeface="Carlito"/>
                  <a:cs typeface="Carlito"/>
                  <a:sym typeface="Carlito"/>
                </a:rPr>
                <a:t>First running average</a:t>
              </a:r>
              <a:endParaRPr b="0" sz="1150">
                <a:solidFill>
                  <a:srgbClr val="94A3B8"/>
                </a:solidFill>
                <a:latin typeface="Carlito"/>
                <a:ea typeface="Carlito"/>
                <a:cs typeface="Carlito"/>
                <a:sym typeface="Carlito"/>
              </a:endParaRPr>
            </a:p>
            <a:p>
              <a:pPr indent="0" lvl="0" marL="0" rtl="0" algn="l">
                <a:spcBef>
                  <a:spcPts val="0"/>
                </a:spcBef>
                <a:spcAft>
                  <a:spcPts val="0"/>
                </a:spcAft>
                <a:buNone/>
              </a:pPr>
              <a:r>
                <a:rPr b="1" lang="en-US" sz="2800">
                  <a:solidFill>
                    <a:srgbClr val="F0B429"/>
                  </a:solidFill>
                  <a:latin typeface="Arial"/>
                  <a:ea typeface="Arial"/>
                  <a:cs typeface="Arial"/>
                  <a:sym typeface="Arial"/>
                </a:rPr>
                <a:t>4 B</a:t>
              </a:r>
              <a:endParaRPr b="1" sz="2800">
                <a:solidFill>
                  <a:srgbClr val="F0B429"/>
                </a:solidFill>
                <a:latin typeface="Arial"/>
                <a:ea typeface="Arial"/>
                <a:cs typeface="Arial"/>
                <a:sym typeface="Arial"/>
              </a:endParaRPr>
            </a:p>
          </p:txBody>
        </p:sp>
      </p:grpSp>
      <p:grpSp>
        <p:nvGrpSpPr>
          <p:cNvPr id="224" name="Google Shape;224;p11"/>
          <p:cNvGrpSpPr/>
          <p:nvPr/>
        </p:nvGrpSpPr>
        <p:grpSpPr>
          <a:xfrm>
            <a:off x="6800850" y="2190750"/>
            <a:ext cx="1886100" cy="2000100"/>
            <a:chOff x="6800850" y="2190750"/>
            <a:chExt cx="1886100" cy="2000100"/>
          </a:xfrm>
        </p:grpSpPr>
        <p:sp>
          <p:nvSpPr>
            <p:cNvPr id="225" name="Google Shape;225;p11"/>
            <p:cNvSpPr/>
            <p:nvPr/>
          </p:nvSpPr>
          <p:spPr>
            <a:xfrm>
              <a:off x="6800850" y="2190750"/>
              <a:ext cx="1886100" cy="2000100"/>
            </a:xfrm>
            <a:prstGeom prst="roundRect">
              <a:avLst>
                <a:gd fmla="val 404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11"/>
            <p:cNvSpPr/>
            <p:nvPr/>
          </p:nvSpPr>
          <p:spPr>
            <a:xfrm>
              <a:off x="6800850" y="2190750"/>
              <a:ext cx="1886100" cy="28500"/>
            </a:xfrm>
            <a:prstGeom prst="rect">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11"/>
            <p:cNvSpPr txBox="1"/>
            <p:nvPr/>
          </p:nvSpPr>
          <p:spPr>
            <a:xfrm>
              <a:off x="6800850" y="2190750"/>
              <a:ext cx="1886100" cy="20001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ADAM MOMENT 2</a:t>
              </a:r>
              <a:endParaRPr b="1" sz="1000">
                <a:solidFill>
                  <a:srgbClr val="F0B429"/>
                </a:solidFill>
                <a:latin typeface="Carlito"/>
                <a:ea typeface="Carlito"/>
                <a:cs typeface="Carlito"/>
                <a:sym typeface="Carlito"/>
              </a:endParaRPr>
            </a:p>
            <a:p>
              <a:pPr indent="0" lvl="0" marL="0" rtl="0" algn="l">
                <a:spcBef>
                  <a:spcPts val="900"/>
                </a:spcBef>
                <a:spcAft>
                  <a:spcPts val="0"/>
                </a:spcAft>
                <a:buNone/>
              </a:pPr>
              <a:r>
                <a:rPr b="0" lang="en-US" sz="1150">
                  <a:solidFill>
                    <a:srgbClr val="94A3B8"/>
                  </a:solidFill>
                  <a:latin typeface="Carlito"/>
                  <a:ea typeface="Carlito"/>
                  <a:cs typeface="Carlito"/>
                  <a:sym typeface="Carlito"/>
                </a:rPr>
                <a:t>Second running average</a:t>
              </a:r>
              <a:endParaRPr b="0" sz="1150">
                <a:solidFill>
                  <a:srgbClr val="94A3B8"/>
                </a:solidFill>
                <a:latin typeface="Carlito"/>
                <a:ea typeface="Carlito"/>
                <a:cs typeface="Carlito"/>
                <a:sym typeface="Carlito"/>
              </a:endParaRPr>
            </a:p>
            <a:p>
              <a:pPr indent="0" lvl="0" marL="0" rtl="0" algn="l">
                <a:spcBef>
                  <a:spcPts val="0"/>
                </a:spcBef>
                <a:spcAft>
                  <a:spcPts val="0"/>
                </a:spcAft>
                <a:buNone/>
              </a:pPr>
              <a:r>
                <a:rPr b="1" lang="en-US" sz="2800">
                  <a:solidFill>
                    <a:srgbClr val="F0B429"/>
                  </a:solidFill>
                  <a:latin typeface="Arial"/>
                  <a:ea typeface="Arial"/>
                  <a:cs typeface="Arial"/>
                  <a:sym typeface="Arial"/>
                </a:rPr>
                <a:t>4 B</a:t>
              </a:r>
              <a:endParaRPr b="1" sz="2800">
                <a:solidFill>
                  <a:srgbClr val="F0B429"/>
                </a:solidFill>
                <a:latin typeface="Arial"/>
                <a:ea typeface="Arial"/>
                <a:cs typeface="Arial"/>
                <a:sym typeface="Arial"/>
              </a:endParaRPr>
            </a:p>
          </p:txBody>
        </p:sp>
      </p:grpSp>
      <p:grpSp>
        <p:nvGrpSpPr>
          <p:cNvPr id="228" name="Google Shape;228;p11"/>
          <p:cNvGrpSpPr/>
          <p:nvPr/>
        </p:nvGrpSpPr>
        <p:grpSpPr>
          <a:xfrm>
            <a:off x="457200" y="4333875"/>
            <a:ext cx="8229600" cy="342900"/>
            <a:chOff x="457200" y="4333875"/>
            <a:chExt cx="8229600" cy="342900"/>
          </a:xfrm>
        </p:grpSpPr>
        <p:sp>
          <p:nvSpPr>
            <p:cNvPr id="229" name="Google Shape;229;p11"/>
            <p:cNvSpPr/>
            <p:nvPr/>
          </p:nvSpPr>
          <p:spPr>
            <a:xfrm>
              <a:off x="457200" y="4333875"/>
              <a:ext cx="8229600" cy="342900"/>
            </a:xfrm>
            <a:prstGeom prst="roundRect">
              <a:avLst>
                <a:gd fmla="val 5000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11"/>
            <p:cNvSpPr txBox="1"/>
            <p:nvPr/>
          </p:nvSpPr>
          <p:spPr>
            <a:xfrm>
              <a:off x="457200" y="4333875"/>
              <a:ext cx="82296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F0B429"/>
                  </a:solidFill>
                  <a:latin typeface="Courier New"/>
                  <a:ea typeface="Courier New"/>
                  <a:cs typeface="Courier New"/>
                  <a:sym typeface="Courier New"/>
                </a:rPr>
                <a:t>= 16 BYTES PER PARAMETER</a:t>
              </a:r>
              <a:r>
                <a:rPr b="1" lang="en-US" sz="950">
                  <a:solidFill>
                    <a:srgbClr val="64748B"/>
                  </a:solidFill>
                  <a:latin typeface="Courier New"/>
                  <a:ea typeface="Courier New"/>
                  <a:cs typeface="Courier New"/>
                  <a:sym typeface="Courier New"/>
                </a:rPr>
                <a:t>•</a:t>
              </a:r>
              <a:r>
                <a:rPr b="1" lang="en-US" sz="950">
                  <a:solidFill>
                    <a:srgbClr val="94A3B8"/>
                  </a:solidFill>
                  <a:latin typeface="Courier New"/>
                  <a:ea typeface="Courier New"/>
                  <a:cs typeface="Courier New"/>
                  <a:sym typeface="Courier New"/>
                </a:rPr>
                <a:t>BEFORE ACTIVATION MEMORY</a:t>
              </a:r>
              <a:endParaRPr b="1" sz="950">
                <a:solidFill>
                  <a:srgbClr val="F0B429"/>
                </a:solidFill>
                <a:latin typeface="Courier New"/>
                <a:ea typeface="Courier New"/>
                <a:cs typeface="Courier New"/>
                <a:sym typeface="Courier New"/>
              </a:endParaRPr>
            </a:p>
          </p:txBody>
        </p:sp>
      </p:grpSp>
      <p:sp>
        <p:nvSpPr>
          <p:cNvPr id="231" name="Google Shape;231;p11"/>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232" name="Google Shape;232;p11"/>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09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37" name="Shape 237"/>
        <p:cNvGrpSpPr/>
        <p:nvPr/>
      </p:nvGrpSpPr>
      <p:grpSpPr>
        <a:xfrm>
          <a:off x="0" y="0"/>
          <a:ext cx="0" cy="0"/>
          <a:chOff x="0" y="0"/>
          <a:chExt cx="0" cy="0"/>
        </a:xfrm>
      </p:grpSpPr>
      <p:sp>
        <p:nvSpPr>
          <p:cNvPr id="238" name="Google Shape;238;p12"/>
          <p:cNvSpPr/>
          <p:nvPr/>
        </p:nvSpPr>
        <p:spPr>
          <a:xfrm>
            <a:off x="457200" y="458986"/>
            <a:ext cx="20526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02 · COST OF SCALE</a:t>
            </a:r>
            <a:endParaRPr b="0" i="0" sz="800" u="none" cap="none" strike="noStrike">
              <a:solidFill>
                <a:schemeClr val="dk1"/>
              </a:solidFill>
              <a:latin typeface="Calibri"/>
              <a:ea typeface="Calibri"/>
              <a:cs typeface="Calibri"/>
              <a:sym typeface="Calibri"/>
            </a:endParaRPr>
          </a:p>
        </p:txBody>
      </p:sp>
      <p:sp>
        <p:nvSpPr>
          <p:cNvPr id="239" name="Google Shape;239;p12"/>
          <p:cNvSpPr/>
          <p:nvPr/>
        </p:nvSpPr>
        <p:spPr>
          <a:xfrm>
            <a:off x="457200" y="662583"/>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Memory Requirement Scales With Model Size</a:t>
            </a:r>
            <a:endParaRPr b="0" i="0" sz="2250" u="none" cap="none" strike="noStrike">
              <a:solidFill>
                <a:schemeClr val="dk1"/>
              </a:solidFill>
              <a:latin typeface="Calibri"/>
              <a:ea typeface="Calibri"/>
              <a:cs typeface="Calibri"/>
              <a:sym typeface="Calibri"/>
            </a:endParaRPr>
          </a:p>
        </p:txBody>
      </p:sp>
      <p:sp>
        <p:nvSpPr>
          <p:cNvPr id="240" name="Google Shape;240;p12"/>
          <p:cNvSpPr/>
          <p:nvPr/>
        </p:nvSpPr>
        <p:spPr>
          <a:xfrm>
            <a:off x="457200" y="1048341"/>
            <a:ext cx="8229600" cy="180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1000">
                <a:solidFill>
                  <a:srgbClr val="94A3B8"/>
                </a:solidFill>
                <a:latin typeface="Carlito"/>
                <a:ea typeface="Carlito"/>
                <a:cs typeface="Carlito"/>
                <a:sym typeface="Carlito"/>
              </a:rPr>
              <a:t>Full fine-tuning, </a:t>
            </a:r>
            <a:r>
              <a:rPr b="1" lang="en-US" sz="1000">
                <a:solidFill>
                  <a:srgbClr val="F0B429"/>
                </a:solidFill>
                <a:latin typeface="Carlito"/>
                <a:ea typeface="Carlito"/>
                <a:cs typeface="Carlito"/>
                <a:sym typeface="Carlito"/>
              </a:rPr>
              <a:t>FP32</a:t>
            </a:r>
            <a:r>
              <a:rPr lang="en-US" sz="1000">
                <a:solidFill>
                  <a:srgbClr val="94A3B8"/>
                </a:solidFill>
                <a:latin typeface="Carlito"/>
                <a:ea typeface="Carlito"/>
                <a:cs typeface="Carlito"/>
                <a:sym typeface="Carlito"/>
              </a:rPr>
              <a:t>, with </a:t>
            </a:r>
            <a:r>
              <a:rPr b="1" lang="en-US" sz="1000">
                <a:solidFill>
                  <a:srgbClr val="F0B429"/>
                </a:solidFill>
                <a:latin typeface="Courier New"/>
                <a:ea typeface="Courier New"/>
                <a:cs typeface="Courier New"/>
                <a:sym typeface="Courier New"/>
              </a:rPr>
              <a:t>Adam</a:t>
            </a:r>
            <a:r>
              <a:rPr lang="en-US" sz="1000">
                <a:solidFill>
                  <a:srgbClr val="94A3B8"/>
                </a:solidFill>
                <a:latin typeface="Carlito"/>
                <a:ea typeface="Carlito"/>
                <a:cs typeface="Carlito"/>
                <a:sym typeface="Carlito"/>
              </a:rPr>
              <a:t> — approximate GPU memory required.</a:t>
            </a:r>
            <a:endParaRPr sz="1000">
              <a:solidFill>
                <a:srgbClr val="94A3B8"/>
              </a:solidFill>
              <a:latin typeface="Carlito"/>
              <a:ea typeface="Carlito"/>
              <a:cs typeface="Carlito"/>
              <a:sym typeface="Carlito"/>
            </a:endParaRPr>
          </a:p>
        </p:txBody>
      </p:sp>
      <p:grpSp>
        <p:nvGrpSpPr>
          <p:cNvPr id="241" name="Google Shape;241;p12"/>
          <p:cNvGrpSpPr/>
          <p:nvPr/>
        </p:nvGrpSpPr>
        <p:grpSpPr>
          <a:xfrm>
            <a:off x="457200" y="1371600"/>
            <a:ext cx="8229600" cy="2857500"/>
            <a:chOff x="457200" y="1371600"/>
            <a:chExt cx="8229600" cy="2857500"/>
          </a:xfrm>
        </p:grpSpPr>
        <p:sp>
          <p:nvSpPr>
            <p:cNvPr id="242" name="Google Shape;242;p12"/>
            <p:cNvSpPr/>
            <p:nvPr/>
          </p:nvSpPr>
          <p:spPr>
            <a:xfrm>
              <a:off x="457200" y="1371600"/>
              <a:ext cx="2590800" cy="2857500"/>
            </a:xfrm>
            <a:prstGeom prst="roundRect">
              <a:avLst>
                <a:gd fmla="val 294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12"/>
            <p:cNvSpPr/>
            <p:nvPr/>
          </p:nvSpPr>
          <p:spPr>
            <a:xfrm>
              <a:off x="457200" y="1371600"/>
              <a:ext cx="25908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12"/>
            <p:cNvSpPr txBox="1"/>
            <p:nvPr/>
          </p:nvSpPr>
          <p:spPr>
            <a:xfrm>
              <a:off x="647700" y="1600200"/>
              <a:ext cx="2209800" cy="2400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F0B429"/>
                  </a:solidFill>
                  <a:latin typeface="Carlito"/>
                  <a:ea typeface="Carlito"/>
                  <a:cs typeface="Carlito"/>
                  <a:sym typeface="Carlito"/>
                </a:rPr>
                <a:t>~2 GB</a:t>
              </a:r>
              <a:endParaRPr b="1" sz="3200">
                <a:solidFill>
                  <a:srgbClr val="F0B429"/>
                </a:solidFill>
                <a:latin typeface="Carlito"/>
                <a:ea typeface="Carlito"/>
                <a:cs typeface="Carlito"/>
                <a:sym typeface="Carlito"/>
              </a:endParaRPr>
            </a:p>
            <a:p>
              <a:pPr indent="0" lvl="0" marL="0" rtl="0" algn="l">
                <a:spcBef>
                  <a:spcPts val="450"/>
                </a:spcBef>
                <a:spcAft>
                  <a:spcPts val="0"/>
                </a:spcAft>
                <a:buNone/>
              </a:pPr>
              <a:r>
                <a:rPr b="1" lang="en-US" sz="1000">
                  <a:solidFill>
                    <a:srgbClr val="F5F1E6"/>
                  </a:solidFill>
                  <a:latin typeface="Arial"/>
                  <a:ea typeface="Arial"/>
                  <a:cs typeface="Arial"/>
                  <a:sym typeface="Arial"/>
                </a:rPr>
                <a:t>125M-parameter model</a:t>
              </a:r>
              <a:endParaRPr b="1" sz="1000">
                <a:solidFill>
                  <a:srgbClr val="F5F1E6"/>
                </a:solidFill>
                <a:latin typeface="Arial"/>
                <a:ea typeface="Arial"/>
                <a:cs typeface="Arial"/>
                <a:sym typeface="Arial"/>
              </a:endParaRPr>
            </a:p>
            <a:p>
              <a:pPr indent="0" lvl="0" marL="0" rtl="0" algn="l">
                <a:spcBef>
                  <a:spcPts val="1500"/>
                </a:spcBef>
                <a:spcAft>
                  <a:spcPts val="0"/>
                </a:spcAft>
                <a:buNone/>
              </a:pPr>
              <a:r>
                <a:rPr lang="en-US" sz="1100">
                  <a:solidFill>
                    <a:srgbClr val="94A3B8"/>
                  </a:solidFill>
                  <a:latin typeface="Carlito"/>
                  <a:ea typeface="Carlito"/>
                  <a:cs typeface="Carlito"/>
                  <a:sym typeface="Carlito"/>
                </a:rPr>
                <a:t>Full fine-tuning, </a:t>
              </a:r>
              <a:r>
                <a:rPr b="1" lang="en-US" sz="1100">
                  <a:solidFill>
                    <a:srgbClr val="F0B429"/>
                  </a:solidFill>
                  <a:latin typeface="Carlito"/>
                  <a:ea typeface="Carlito"/>
                  <a:cs typeface="Carlito"/>
                  <a:sym typeface="Carlito"/>
                </a:rPr>
                <a:t>FP32</a:t>
              </a:r>
              <a:r>
                <a:rPr lang="en-US" sz="1100">
                  <a:solidFill>
                    <a:srgbClr val="94A3B8"/>
                  </a:solidFill>
                  <a:latin typeface="Carlito"/>
                  <a:ea typeface="Carlito"/>
                  <a:cs typeface="Carlito"/>
                  <a:sym typeface="Carlito"/>
                </a:rPr>
                <a:t>. Fits comfortably on a single consumer GPU.</a:t>
              </a:r>
              <a:endParaRPr sz="1100">
                <a:solidFill>
                  <a:srgbClr val="94A3B8"/>
                </a:solidFill>
                <a:latin typeface="Carlito"/>
                <a:ea typeface="Carlito"/>
                <a:cs typeface="Carlito"/>
                <a:sym typeface="Carlito"/>
              </a:endParaRPr>
            </a:p>
          </p:txBody>
        </p:sp>
        <p:sp>
          <p:nvSpPr>
            <p:cNvPr id="245" name="Google Shape;245;p12"/>
            <p:cNvSpPr/>
            <p:nvPr/>
          </p:nvSpPr>
          <p:spPr>
            <a:xfrm>
              <a:off x="3276600" y="1371600"/>
              <a:ext cx="2590800" cy="2857500"/>
            </a:xfrm>
            <a:prstGeom prst="roundRect">
              <a:avLst>
                <a:gd fmla="val 294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12"/>
            <p:cNvSpPr/>
            <p:nvPr/>
          </p:nvSpPr>
          <p:spPr>
            <a:xfrm>
              <a:off x="3276600" y="1371600"/>
              <a:ext cx="25908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12"/>
            <p:cNvSpPr txBox="1"/>
            <p:nvPr/>
          </p:nvSpPr>
          <p:spPr>
            <a:xfrm>
              <a:off x="3467100" y="1600200"/>
              <a:ext cx="2209800" cy="2400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F0B429"/>
                  </a:solidFill>
                  <a:latin typeface="Carlito"/>
                  <a:ea typeface="Carlito"/>
                  <a:cs typeface="Carlito"/>
                  <a:sym typeface="Carlito"/>
                </a:rPr>
                <a:t>~24 GB</a:t>
              </a:r>
              <a:endParaRPr b="1" sz="3200">
                <a:solidFill>
                  <a:srgbClr val="F0B429"/>
                </a:solidFill>
                <a:latin typeface="Carlito"/>
                <a:ea typeface="Carlito"/>
                <a:cs typeface="Carlito"/>
                <a:sym typeface="Carlito"/>
              </a:endParaRPr>
            </a:p>
            <a:p>
              <a:pPr indent="0" lvl="0" marL="0" rtl="0" algn="l">
                <a:spcBef>
                  <a:spcPts val="450"/>
                </a:spcBef>
                <a:spcAft>
                  <a:spcPts val="0"/>
                </a:spcAft>
                <a:buNone/>
              </a:pPr>
              <a:r>
                <a:rPr b="1" lang="en-US" sz="1000">
                  <a:solidFill>
                    <a:srgbClr val="F5F1E6"/>
                  </a:solidFill>
                  <a:latin typeface="Arial"/>
                  <a:ea typeface="Arial"/>
                  <a:cs typeface="Arial"/>
                  <a:sym typeface="Arial"/>
                </a:rPr>
                <a:t>1.5B-parameter model</a:t>
              </a:r>
              <a:endParaRPr b="1" sz="1000">
                <a:solidFill>
                  <a:srgbClr val="F5F1E6"/>
                </a:solidFill>
                <a:latin typeface="Arial"/>
                <a:ea typeface="Arial"/>
                <a:cs typeface="Arial"/>
                <a:sym typeface="Arial"/>
              </a:endParaRPr>
            </a:p>
            <a:p>
              <a:pPr indent="0" lvl="0" marL="0" rtl="0" algn="l">
                <a:spcBef>
                  <a:spcPts val="1500"/>
                </a:spcBef>
                <a:spcAft>
                  <a:spcPts val="0"/>
                </a:spcAft>
                <a:buNone/>
              </a:pPr>
              <a:r>
                <a:rPr lang="en-US" sz="1100">
                  <a:solidFill>
                    <a:srgbClr val="94A3B8"/>
                  </a:solidFill>
                  <a:latin typeface="Carlito"/>
                  <a:ea typeface="Carlito"/>
                  <a:cs typeface="Carlito"/>
                  <a:sym typeface="Carlito"/>
                </a:rPr>
                <a:t>Already at the edge of a single consumer GPU — borderline on an RTX 4090 or A10.</a:t>
              </a:r>
              <a:endParaRPr sz="1100">
                <a:solidFill>
                  <a:srgbClr val="94A3B8"/>
                </a:solidFill>
                <a:latin typeface="Carlito"/>
                <a:ea typeface="Carlito"/>
                <a:cs typeface="Carlito"/>
                <a:sym typeface="Carlito"/>
              </a:endParaRPr>
            </a:p>
          </p:txBody>
        </p:sp>
        <p:sp>
          <p:nvSpPr>
            <p:cNvPr id="248" name="Google Shape;248;p12"/>
            <p:cNvSpPr/>
            <p:nvPr/>
          </p:nvSpPr>
          <p:spPr>
            <a:xfrm>
              <a:off x="6096000" y="1371600"/>
              <a:ext cx="2590800" cy="2857500"/>
            </a:xfrm>
            <a:prstGeom prst="roundRect">
              <a:avLst>
                <a:gd fmla="val 294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12"/>
            <p:cNvSpPr/>
            <p:nvPr/>
          </p:nvSpPr>
          <p:spPr>
            <a:xfrm>
              <a:off x="6096000" y="1371600"/>
              <a:ext cx="25908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12"/>
            <p:cNvSpPr txBox="1"/>
            <p:nvPr/>
          </p:nvSpPr>
          <p:spPr>
            <a:xfrm>
              <a:off x="6286500" y="1600200"/>
              <a:ext cx="2209800" cy="2400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F0B429"/>
                  </a:solidFill>
                  <a:latin typeface="Carlito"/>
                  <a:ea typeface="Carlito"/>
                  <a:cs typeface="Carlito"/>
                  <a:sym typeface="Carlito"/>
                </a:rPr>
                <a:t>~1 TB+</a:t>
              </a:r>
              <a:endParaRPr b="1" sz="3200">
                <a:solidFill>
                  <a:srgbClr val="F0B429"/>
                </a:solidFill>
                <a:latin typeface="Carlito"/>
                <a:ea typeface="Carlito"/>
                <a:cs typeface="Carlito"/>
                <a:sym typeface="Carlito"/>
              </a:endParaRPr>
            </a:p>
            <a:p>
              <a:pPr indent="0" lvl="0" marL="0" rtl="0" algn="l">
                <a:spcBef>
                  <a:spcPts val="450"/>
                </a:spcBef>
                <a:spcAft>
                  <a:spcPts val="0"/>
                </a:spcAft>
                <a:buNone/>
              </a:pPr>
              <a:r>
                <a:rPr b="1" lang="en-US" sz="1000">
                  <a:solidFill>
                    <a:srgbClr val="F5F1E6"/>
                  </a:solidFill>
                  <a:latin typeface="Arial"/>
                  <a:ea typeface="Arial"/>
                  <a:cs typeface="Arial"/>
                  <a:sym typeface="Arial"/>
                </a:rPr>
                <a:t>70B-parameter model</a:t>
              </a:r>
              <a:endParaRPr b="1" sz="1000">
                <a:solidFill>
                  <a:srgbClr val="F5F1E6"/>
                </a:solidFill>
                <a:latin typeface="Arial"/>
                <a:ea typeface="Arial"/>
                <a:cs typeface="Arial"/>
                <a:sym typeface="Arial"/>
              </a:endParaRPr>
            </a:p>
            <a:p>
              <a:pPr indent="0" lvl="0" marL="0" rtl="0" algn="l">
                <a:spcBef>
                  <a:spcPts val="1500"/>
                </a:spcBef>
                <a:spcAft>
                  <a:spcPts val="0"/>
                </a:spcAft>
                <a:buNone/>
              </a:pPr>
              <a:r>
                <a:rPr lang="en-US" sz="1100">
                  <a:solidFill>
                    <a:srgbClr val="94A3B8"/>
                  </a:solidFill>
                  <a:latin typeface="Carlito"/>
                  <a:ea typeface="Carlito"/>
                  <a:cs typeface="Carlito"/>
                  <a:sym typeface="Carlito"/>
                </a:rPr>
                <a:t>Requires a multi-GPU cluster, not a single machine.</a:t>
              </a:r>
              <a:endParaRPr sz="1100">
                <a:solidFill>
                  <a:srgbClr val="94A3B8"/>
                </a:solidFill>
                <a:latin typeface="Carlito"/>
                <a:ea typeface="Carlito"/>
                <a:cs typeface="Carlito"/>
                <a:sym typeface="Carlito"/>
              </a:endParaRPr>
            </a:p>
          </p:txBody>
        </p:sp>
      </p:grpSp>
      <p:cxnSp>
        <p:nvCxnSpPr>
          <p:cNvPr id="251" name="Google Shape;251;p12"/>
          <p:cNvCxnSpPr/>
          <p:nvPr/>
        </p:nvCxnSpPr>
        <p:spPr>
          <a:xfrm>
            <a:off x="457200" y="4475559"/>
            <a:ext cx="8229600" cy="0"/>
          </a:xfrm>
          <a:prstGeom prst="straightConnector1">
            <a:avLst/>
          </a:prstGeom>
          <a:noFill/>
          <a:ln cap="flat" cmpd="sng" w="9525">
            <a:solidFill>
              <a:srgbClr val="2A3B52"/>
            </a:solidFill>
            <a:prstDash val="dash"/>
            <a:round/>
            <a:headEnd len="sm" w="sm" type="none"/>
            <a:tailEnd len="sm" w="sm" type="none"/>
          </a:ln>
        </p:spPr>
      </p:cxnSp>
      <p:sp>
        <p:nvSpPr>
          <p:cNvPr id="252" name="Google Shape;252;p12"/>
          <p:cNvSpPr/>
          <p:nvPr/>
        </p:nvSpPr>
        <p:spPr>
          <a:xfrm>
            <a:off x="457200" y="4471988"/>
            <a:ext cx="8229600" cy="358200"/>
          </a:xfrm>
          <a:prstGeom prst="rect">
            <a:avLst/>
          </a:prstGeom>
          <a:noFill/>
          <a:ln>
            <a:noFill/>
          </a:ln>
        </p:spPr>
        <p:txBody>
          <a:bodyPr anchorCtr="0" anchor="t" bIns="85725" lIns="0" spcFirstLastPara="1" rIns="0" wrap="square" tIns="85725">
            <a:noAutofit/>
          </a:bodyPr>
          <a:lstStyle/>
          <a:p>
            <a:pPr indent="0" lvl="0" marL="0" marR="0" rtl="0" algn="ctr">
              <a:lnSpc>
                <a:spcPct val="147625"/>
              </a:lnSpc>
              <a:spcBef>
                <a:spcPts val="0"/>
              </a:spcBef>
              <a:spcAft>
                <a:spcPts val="0"/>
              </a:spcAft>
              <a:buClr>
                <a:srgbClr val="94A3B8"/>
              </a:buClr>
              <a:buSzPts val="800"/>
              <a:buFont typeface="Carlito"/>
              <a:buNone/>
            </a:pPr>
            <a:r>
              <a:rPr b="0" i="1" lang="en-US" sz="800" u="none" cap="none" strike="noStrike">
                <a:solidFill>
                  <a:srgbClr val="94A3B8"/>
                </a:solidFill>
                <a:latin typeface="Carlito"/>
                <a:ea typeface="Carlito"/>
                <a:cs typeface="Carlito"/>
                <a:sym typeface="Carlito"/>
              </a:rPr>
              <a:t>Same algorithm (</a:t>
            </a:r>
            <a:r>
              <a:rPr b="0" i="1" lang="en-US" sz="800" u="none" cap="none" strike="noStrike">
                <a:solidFill>
                  <a:srgbClr val="F0B429"/>
                </a:solidFill>
                <a:latin typeface="Arial"/>
                <a:ea typeface="Arial"/>
                <a:cs typeface="Arial"/>
                <a:sym typeface="Arial"/>
              </a:rPr>
              <a:t>Adam, FP32</a:t>
            </a:r>
            <a:r>
              <a:rPr b="0" i="1" lang="en-US" sz="800" u="none" cap="none" strike="noStrike">
                <a:solidFill>
                  <a:srgbClr val="94A3B8"/>
                </a:solidFill>
                <a:latin typeface="Carlito"/>
                <a:ea typeface="Carlito"/>
                <a:cs typeface="Carlito"/>
                <a:sym typeface="Carlito"/>
              </a:rPr>
              <a:t>) — the model size, not the method, drives the memory cliff.</a:t>
            </a:r>
            <a:endParaRPr b="0" i="0" sz="800" u="none" cap="none" strike="noStrike">
              <a:solidFill>
                <a:schemeClr val="dk1"/>
              </a:solidFill>
              <a:latin typeface="Calibri"/>
              <a:ea typeface="Calibri"/>
              <a:cs typeface="Calibri"/>
              <a:sym typeface="Calibri"/>
            </a:endParaRPr>
          </a:p>
        </p:txBody>
      </p:sp>
      <p:sp>
        <p:nvSpPr>
          <p:cNvPr id="253" name="Google Shape;253;p12"/>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254" name="Google Shape;254;p12"/>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10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59" name="Shape 259"/>
        <p:cNvGrpSpPr/>
        <p:nvPr/>
      </p:nvGrpSpPr>
      <p:grpSpPr>
        <a:xfrm>
          <a:off x="0" y="0"/>
          <a:ext cx="0" cy="0"/>
          <a:chOff x="0" y="0"/>
          <a:chExt cx="0" cy="0"/>
        </a:xfrm>
      </p:grpSpPr>
      <p:sp>
        <p:nvSpPr>
          <p:cNvPr id="260" name="Google Shape;260;p13"/>
          <p:cNvSpPr/>
          <p:nvPr/>
        </p:nvSpPr>
        <p:spPr>
          <a:xfrm>
            <a:off x="457200" y="458986"/>
            <a:ext cx="20526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02 · COST OF SCALE</a:t>
            </a:r>
            <a:endParaRPr b="0" i="0" sz="800" u="none" cap="none" strike="noStrike">
              <a:solidFill>
                <a:schemeClr val="dk1"/>
              </a:solidFill>
              <a:latin typeface="Calibri"/>
              <a:ea typeface="Calibri"/>
              <a:cs typeface="Calibri"/>
              <a:sym typeface="Calibri"/>
            </a:endParaRPr>
          </a:p>
        </p:txBody>
      </p:sp>
      <p:sp>
        <p:nvSpPr>
          <p:cNvPr id="261" name="Google Shape;261;p13"/>
          <p:cNvSpPr/>
          <p:nvPr/>
        </p:nvSpPr>
        <p:spPr>
          <a:xfrm>
            <a:off x="457200" y="662583"/>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Why This Motivates Everything Else Today</a:t>
            </a:r>
            <a:endParaRPr b="0" i="0" sz="2250" u="none" cap="none" strike="noStrike">
              <a:solidFill>
                <a:schemeClr val="dk1"/>
              </a:solidFill>
              <a:latin typeface="Calibri"/>
              <a:ea typeface="Calibri"/>
              <a:cs typeface="Calibri"/>
              <a:sym typeface="Calibri"/>
            </a:endParaRPr>
          </a:p>
        </p:txBody>
      </p:sp>
      <p:grpSp>
        <p:nvGrpSpPr>
          <p:cNvPr id="262" name="Google Shape;262;p13"/>
          <p:cNvGrpSpPr/>
          <p:nvPr/>
        </p:nvGrpSpPr>
        <p:grpSpPr>
          <a:xfrm>
            <a:off x="457200" y="1285875"/>
            <a:ext cx="3962400" cy="2809800"/>
            <a:chOff x="457200" y="1285875"/>
            <a:chExt cx="3962400" cy="2809800"/>
          </a:xfrm>
        </p:grpSpPr>
        <p:sp>
          <p:nvSpPr>
            <p:cNvPr id="263" name="Google Shape;263;p13"/>
            <p:cNvSpPr/>
            <p:nvPr/>
          </p:nvSpPr>
          <p:spPr>
            <a:xfrm>
              <a:off x="457200" y="1285875"/>
              <a:ext cx="3962400" cy="2809800"/>
            </a:xfrm>
            <a:prstGeom prst="roundRect">
              <a:avLst>
                <a:gd fmla="val 271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4" name="Google Shape;264;p13"/>
            <p:cNvSpPr/>
            <p:nvPr/>
          </p:nvSpPr>
          <p:spPr>
            <a:xfrm>
              <a:off x="457200" y="1285875"/>
              <a:ext cx="38100" cy="28098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13"/>
            <p:cNvSpPr txBox="1"/>
            <p:nvPr/>
          </p:nvSpPr>
          <p:spPr>
            <a:xfrm>
              <a:off x="685800" y="1476375"/>
              <a:ext cx="3505200" cy="24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 01 · THE GAP IS REAL</a:t>
              </a:r>
              <a:endParaRPr b="1" sz="1000">
                <a:solidFill>
                  <a:srgbClr val="F0B429"/>
                </a:solidFill>
                <a:latin typeface="Carlito"/>
                <a:ea typeface="Carlito"/>
                <a:cs typeface="Carlito"/>
                <a:sym typeface="Carlito"/>
              </a:endParaRPr>
            </a:p>
            <a:p>
              <a:pPr indent="0" lvl="0" marL="0" rtl="0" algn="l">
                <a:spcBef>
                  <a:spcPts val="900"/>
                </a:spcBef>
                <a:spcAft>
                  <a:spcPts val="0"/>
                </a:spcAft>
                <a:buNone/>
              </a:pPr>
              <a:r>
                <a:rPr lang="en-US" sz="1100">
                  <a:solidFill>
                    <a:srgbClr val="F5F1E6"/>
                  </a:solidFill>
                  <a:latin typeface="Carlito"/>
                  <a:ea typeface="Carlito"/>
                  <a:cs typeface="Carlito"/>
                  <a:sym typeface="Carlito"/>
                </a:rPr>
                <a:t>Most research groups, students, and even many companies do not have multi-GPU clusters sitting idle. A 1.5B-parameter model already pushes the edge of a single consumer GPU; a 70B-parameter model is simply out of reach without institutional-scale infrastructure.</a:t>
              </a:r>
              <a:endParaRPr sz="1100">
                <a:solidFill>
                  <a:srgbClr val="F5F1E6"/>
                </a:solidFill>
                <a:latin typeface="Carlito"/>
                <a:ea typeface="Carlito"/>
                <a:cs typeface="Carlito"/>
                <a:sym typeface="Carlito"/>
              </a:endParaRPr>
            </a:p>
            <a:p>
              <a:pPr indent="0" lvl="0" marL="0" rtl="0" algn="l">
                <a:spcBef>
                  <a:spcPts val="900"/>
                </a:spcBef>
                <a:spcAft>
                  <a:spcPts val="0"/>
                </a:spcAft>
                <a:buNone/>
              </a:pPr>
              <a:r>
                <a:rPr i="1" lang="en-US" sz="1100">
                  <a:solidFill>
                    <a:srgbClr val="94A3B8"/>
                  </a:solidFill>
                  <a:latin typeface="Carlito"/>
                  <a:ea typeface="Carlito"/>
                  <a:cs typeface="Carlito"/>
                  <a:sym typeface="Carlito"/>
                </a:rPr>
                <a:t>The gap between </a:t>
              </a:r>
              <a:r>
                <a:rPr i="1" lang="en-US" sz="1100">
                  <a:solidFill>
                    <a:srgbClr val="F0B429"/>
                  </a:solidFill>
                  <a:latin typeface="Carlito"/>
                  <a:ea typeface="Carlito"/>
                  <a:cs typeface="Carlito"/>
                  <a:sym typeface="Carlito"/>
                </a:rPr>
                <a:t>"what the paper used"</a:t>
              </a:r>
              <a:r>
                <a:rPr i="1" lang="en-US" sz="1100">
                  <a:solidFill>
                    <a:srgbClr val="94A3B8"/>
                  </a:solidFill>
                  <a:latin typeface="Carlito"/>
                  <a:ea typeface="Carlito"/>
                  <a:cs typeface="Carlito"/>
                  <a:sym typeface="Carlito"/>
                </a:rPr>
                <a:t> and </a:t>
              </a:r>
              <a:r>
                <a:rPr i="1" lang="en-US" sz="1100">
                  <a:solidFill>
                    <a:srgbClr val="F0B429"/>
                  </a:solidFill>
                  <a:latin typeface="Carlito"/>
                  <a:ea typeface="Carlito"/>
                  <a:cs typeface="Carlito"/>
                  <a:sym typeface="Carlito"/>
                </a:rPr>
                <a:t>"what we have on the desk"</a:t>
              </a:r>
              <a:r>
                <a:rPr i="1" lang="en-US" sz="1100">
                  <a:solidFill>
                    <a:srgbClr val="94A3B8"/>
                  </a:solidFill>
                  <a:latin typeface="Carlito"/>
                  <a:ea typeface="Carlito"/>
                  <a:cs typeface="Carlito"/>
                  <a:sym typeface="Carlito"/>
                </a:rPr>
                <a:t> is real and persistent.</a:t>
              </a:r>
              <a:endParaRPr i="1" sz="1100">
                <a:solidFill>
                  <a:srgbClr val="94A3B8"/>
                </a:solidFill>
                <a:latin typeface="Carlito"/>
                <a:ea typeface="Carlito"/>
                <a:cs typeface="Carlito"/>
                <a:sym typeface="Carlito"/>
              </a:endParaRPr>
            </a:p>
          </p:txBody>
        </p:sp>
      </p:grpSp>
      <p:grpSp>
        <p:nvGrpSpPr>
          <p:cNvPr id="266" name="Google Shape;266;p13"/>
          <p:cNvGrpSpPr/>
          <p:nvPr/>
        </p:nvGrpSpPr>
        <p:grpSpPr>
          <a:xfrm>
            <a:off x="4724400" y="1285875"/>
            <a:ext cx="3962400" cy="2809800"/>
            <a:chOff x="4724400" y="1285875"/>
            <a:chExt cx="3962400" cy="2809800"/>
          </a:xfrm>
        </p:grpSpPr>
        <p:sp>
          <p:nvSpPr>
            <p:cNvPr id="267" name="Google Shape;267;p13"/>
            <p:cNvSpPr/>
            <p:nvPr/>
          </p:nvSpPr>
          <p:spPr>
            <a:xfrm>
              <a:off x="4724400" y="1285875"/>
              <a:ext cx="3962400" cy="2809800"/>
            </a:xfrm>
            <a:prstGeom prst="roundRect">
              <a:avLst>
                <a:gd fmla="val 271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13"/>
            <p:cNvSpPr/>
            <p:nvPr/>
          </p:nvSpPr>
          <p:spPr>
            <a:xfrm>
              <a:off x="4724400" y="1285875"/>
              <a:ext cx="38100" cy="28098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13"/>
            <p:cNvSpPr txBox="1"/>
            <p:nvPr/>
          </p:nvSpPr>
          <p:spPr>
            <a:xfrm>
              <a:off x="4953000" y="1476375"/>
              <a:ext cx="3505200" cy="24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 02 · THE BRIDGE FORWARD</a:t>
              </a:r>
              <a:endParaRPr b="1" sz="1000">
                <a:solidFill>
                  <a:srgbClr val="F0B429"/>
                </a:solidFill>
                <a:latin typeface="Carlito"/>
                <a:ea typeface="Carlito"/>
                <a:cs typeface="Carlito"/>
                <a:sym typeface="Carlito"/>
              </a:endParaRPr>
            </a:p>
            <a:p>
              <a:pPr indent="0" lvl="0" marL="0" rtl="0" algn="l">
                <a:spcBef>
                  <a:spcPts val="900"/>
                </a:spcBef>
                <a:spcAft>
                  <a:spcPts val="0"/>
                </a:spcAft>
                <a:buNone/>
              </a:pPr>
              <a:r>
                <a:rPr lang="en-US" sz="1100">
                  <a:solidFill>
                    <a:srgbClr val="F5F1E6"/>
                  </a:solidFill>
                  <a:latin typeface="Carlito"/>
                  <a:ea typeface="Carlito"/>
                  <a:cs typeface="Carlito"/>
                  <a:sym typeface="Carlito"/>
                </a:rPr>
                <a:t>This is the exact gap that Parameter-Efficient Fine-Tuning (</a:t>
              </a:r>
              <a:r>
                <a:rPr b="1" lang="en-US" sz="1100">
                  <a:solidFill>
                    <a:srgbClr val="F0B429"/>
                  </a:solidFill>
                  <a:latin typeface="Carlito"/>
                  <a:ea typeface="Carlito"/>
                  <a:cs typeface="Carlito"/>
                  <a:sym typeface="Carlito"/>
                </a:rPr>
                <a:t>PEFT</a:t>
              </a:r>
              <a:r>
                <a:rPr lang="en-US" sz="1100">
                  <a:solidFill>
                    <a:srgbClr val="F5F1E6"/>
                  </a:solidFill>
                  <a:latin typeface="Carlito"/>
                  <a:ea typeface="Carlito"/>
                  <a:cs typeface="Carlito"/>
                  <a:sym typeface="Carlito"/>
                </a:rPr>
                <a:t>) techniques — </a:t>
              </a:r>
              <a:r>
                <a:rPr b="1" lang="en-US" sz="1100">
                  <a:solidFill>
                    <a:srgbClr val="F0B429"/>
                  </a:solidFill>
                  <a:latin typeface="Carlito"/>
                  <a:ea typeface="Carlito"/>
                  <a:cs typeface="Carlito"/>
                  <a:sym typeface="Carlito"/>
                </a:rPr>
                <a:t>LoRA</a:t>
              </a:r>
              <a:r>
                <a:rPr lang="en-US" sz="1100">
                  <a:solidFill>
                    <a:srgbClr val="F5F1E6"/>
                  </a:solidFill>
                  <a:latin typeface="Carlito"/>
                  <a:ea typeface="Carlito"/>
                  <a:cs typeface="Carlito"/>
                  <a:sym typeface="Carlito"/>
                </a:rPr>
                <a:t> specifically — were built to close.</a:t>
              </a:r>
              <a:endParaRPr sz="1100">
                <a:solidFill>
                  <a:srgbClr val="F5F1E6"/>
                </a:solidFill>
                <a:latin typeface="Carlito"/>
                <a:ea typeface="Carlito"/>
                <a:cs typeface="Carlito"/>
                <a:sym typeface="Carlito"/>
              </a:endParaRPr>
            </a:p>
            <a:p>
              <a:pPr indent="0" lvl="0" marL="0" rtl="0" algn="l">
                <a:spcBef>
                  <a:spcPts val="900"/>
                </a:spcBef>
                <a:spcAft>
                  <a:spcPts val="0"/>
                </a:spcAft>
                <a:buNone/>
              </a:pPr>
              <a:r>
                <a:rPr lang="en-US" sz="1100">
                  <a:solidFill>
                    <a:srgbClr val="94A3B8"/>
                  </a:solidFill>
                  <a:latin typeface="Carlito"/>
                  <a:ea typeface="Carlito"/>
                  <a:cs typeface="Carlito"/>
                  <a:sym typeface="Carlito"/>
                </a:rPr>
                <a:t>The next section explains how these methods bypass the memory wall by updating only a tiny fraction of the weights.</a:t>
              </a:r>
              <a:endParaRPr sz="1100">
                <a:solidFill>
                  <a:srgbClr val="94A3B8"/>
                </a:solidFill>
                <a:latin typeface="Carlito"/>
                <a:ea typeface="Carlito"/>
                <a:cs typeface="Carlito"/>
                <a:sym typeface="Carlito"/>
              </a:endParaRPr>
            </a:p>
          </p:txBody>
        </p:sp>
      </p:grpSp>
      <p:sp>
        <p:nvSpPr>
          <p:cNvPr id="270" name="Google Shape;270;p13"/>
          <p:cNvSpPr/>
          <p:nvPr/>
        </p:nvSpPr>
        <p:spPr>
          <a:xfrm>
            <a:off x="1925910" y="4727377"/>
            <a:ext cx="1714500" cy="7200"/>
          </a:xfrm>
          <a:prstGeom prst="rect">
            <a:avLst/>
          </a:prstGeom>
          <a:solidFill>
            <a:srgbClr val="F0B42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71" name="Google Shape;271;p13"/>
          <p:cNvSpPr/>
          <p:nvPr/>
        </p:nvSpPr>
        <p:spPr>
          <a:xfrm>
            <a:off x="3754710" y="4661297"/>
            <a:ext cx="2222400" cy="164700"/>
          </a:xfrm>
          <a:prstGeom prst="rect">
            <a:avLst/>
          </a:prstGeom>
          <a:noFill/>
          <a:ln>
            <a:noFill/>
          </a:ln>
        </p:spPr>
        <p:txBody>
          <a:bodyPr anchorCtr="0" anchor="t" bIns="0" lIns="0" spcFirstLastPara="1" rIns="0" wrap="square" tIns="0">
            <a:noAutofit/>
          </a:bodyPr>
          <a:lstStyle/>
          <a:p>
            <a:pPr indent="0" lvl="0" marL="0" marR="0" rtl="0" algn="l">
              <a:lnSpc>
                <a:spcPct val="137125"/>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NEXT → PART 03 · PEFT &amp; LORA</a:t>
            </a:r>
            <a:endParaRPr b="0" i="0" sz="800" u="none" cap="none" strike="noStrike">
              <a:solidFill>
                <a:schemeClr val="dk1"/>
              </a:solidFill>
              <a:latin typeface="Calibri"/>
              <a:ea typeface="Calibri"/>
              <a:cs typeface="Calibri"/>
              <a:sym typeface="Calibri"/>
            </a:endParaRPr>
          </a:p>
        </p:txBody>
      </p:sp>
      <p:sp>
        <p:nvSpPr>
          <p:cNvPr id="272" name="Google Shape;272;p13"/>
          <p:cNvSpPr/>
          <p:nvPr/>
        </p:nvSpPr>
        <p:spPr>
          <a:xfrm>
            <a:off x="5503478" y="4727377"/>
            <a:ext cx="1714500" cy="7200"/>
          </a:xfrm>
          <a:prstGeom prst="rect">
            <a:avLst/>
          </a:prstGeom>
          <a:solidFill>
            <a:srgbClr val="F0B42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73" name="Google Shape;273;p13"/>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274" name="Google Shape;274;p13"/>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11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9" name="Shape 279"/>
        <p:cNvGrpSpPr/>
        <p:nvPr/>
      </p:nvGrpSpPr>
      <p:grpSpPr>
        <a:xfrm>
          <a:off x="0" y="0"/>
          <a:ext cx="0" cy="0"/>
          <a:chOff x="0" y="0"/>
          <a:chExt cx="0" cy="0"/>
        </a:xfrm>
      </p:grpSpPr>
      <p:sp>
        <p:nvSpPr>
          <p:cNvPr id="280" name="Google Shape;280;p14"/>
          <p:cNvSpPr txBox="1"/>
          <p:nvPr/>
        </p:nvSpPr>
        <p:spPr>
          <a:xfrm>
            <a:off x="5334000" y="762000"/>
            <a:ext cx="3048000" cy="3429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2100">
                <a:solidFill>
                  <a:srgbClr val="F0B429"/>
                </a:solidFill>
                <a:latin typeface="Carlito"/>
                <a:ea typeface="Carlito"/>
                <a:cs typeface="Carlito"/>
                <a:sym typeface="Carlito"/>
              </a:rPr>
              <a:t>03</a:t>
            </a:r>
            <a:endParaRPr b="1" sz="22100">
              <a:solidFill>
                <a:srgbClr val="F0B429"/>
              </a:solidFill>
              <a:latin typeface="Carlito"/>
              <a:ea typeface="Carlito"/>
              <a:cs typeface="Carlito"/>
              <a:sym typeface="Carlito"/>
            </a:endParaRPr>
          </a:p>
        </p:txBody>
      </p:sp>
      <p:grpSp>
        <p:nvGrpSpPr>
          <p:cNvPr id="281" name="Google Shape;281;p14"/>
          <p:cNvGrpSpPr/>
          <p:nvPr/>
        </p:nvGrpSpPr>
        <p:grpSpPr>
          <a:xfrm>
            <a:off x="762000" y="1285875"/>
            <a:ext cx="4457700" cy="2571900"/>
            <a:chOff x="762000" y="1285875"/>
            <a:chExt cx="4457700" cy="2571900"/>
          </a:xfrm>
        </p:grpSpPr>
        <p:sp>
          <p:nvSpPr>
            <p:cNvPr id="282" name="Google Shape;282;p14"/>
            <p:cNvSpPr/>
            <p:nvPr/>
          </p:nvSpPr>
          <p:spPr>
            <a:xfrm>
              <a:off x="762000" y="1333500"/>
              <a:ext cx="38100" cy="24765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14"/>
            <p:cNvSpPr txBox="1"/>
            <p:nvPr/>
          </p:nvSpPr>
          <p:spPr>
            <a:xfrm>
              <a:off x="1028700" y="1285875"/>
              <a:ext cx="4191000" cy="25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F0B429"/>
                  </a:solidFill>
                  <a:latin typeface="Arial"/>
                  <a:ea typeface="Arial"/>
                  <a:cs typeface="Arial"/>
                  <a:sym typeface="Arial"/>
                </a:rPr>
                <a:t>PART 03 · PEFT &amp; LORA</a:t>
              </a:r>
              <a:endParaRPr b="1" sz="1000">
                <a:solidFill>
                  <a:srgbClr val="F0B429"/>
                </a:solidFill>
                <a:latin typeface="Arial"/>
                <a:ea typeface="Arial"/>
                <a:cs typeface="Arial"/>
                <a:sym typeface="Arial"/>
              </a:endParaRPr>
            </a:p>
            <a:p>
              <a:pPr indent="0" lvl="0" marL="0" rtl="0" algn="l">
                <a:spcBef>
                  <a:spcPts val="1125"/>
                </a:spcBef>
                <a:spcAft>
                  <a:spcPts val="0"/>
                </a:spcAft>
                <a:buNone/>
              </a:pPr>
              <a:r>
                <a:rPr b="1" lang="en-US" sz="3200">
                  <a:solidFill>
                    <a:srgbClr val="F5F1E6"/>
                  </a:solidFill>
                  <a:latin typeface="Carlito"/>
                  <a:ea typeface="Carlito"/>
                  <a:cs typeface="Carlito"/>
                  <a:sym typeface="Carlito"/>
                </a:rPr>
                <a:t>Efficient Training:</a:t>
              </a:r>
              <a:br>
                <a:rPr b="1" lang="en-US" sz="3200">
                  <a:solidFill>
                    <a:srgbClr val="F5F1E6"/>
                  </a:solidFill>
                  <a:latin typeface="Carlito"/>
                  <a:ea typeface="Carlito"/>
                  <a:cs typeface="Carlito"/>
                  <a:sym typeface="Carlito"/>
                </a:rPr>
              </a:br>
              <a:r>
                <a:rPr b="1" lang="en-US" sz="3200">
                  <a:solidFill>
                    <a:srgbClr val="F0B429"/>
                  </a:solidFill>
                  <a:latin typeface="Carlito"/>
                  <a:ea typeface="Carlito"/>
                  <a:cs typeface="Carlito"/>
                  <a:sym typeface="Carlito"/>
                </a:rPr>
                <a:t>PEFT &amp; LoRA</a:t>
              </a:r>
              <a:endParaRPr b="1" sz="3200">
                <a:solidFill>
                  <a:srgbClr val="F5F1E6"/>
                </a:solidFill>
                <a:latin typeface="Carlito"/>
                <a:ea typeface="Carlito"/>
                <a:cs typeface="Carlito"/>
                <a:sym typeface="Carlito"/>
              </a:endParaRPr>
            </a:p>
            <a:p>
              <a:pPr indent="0" lvl="0" marL="0" rtl="0" algn="l">
                <a:spcBef>
                  <a:spcPts val="1500"/>
                </a:spcBef>
                <a:spcAft>
                  <a:spcPts val="0"/>
                </a:spcAft>
                <a:buNone/>
              </a:pPr>
              <a:r>
                <a:rPr b="0" lang="en-US" sz="1300">
                  <a:solidFill>
                    <a:srgbClr val="94A3B8"/>
                  </a:solidFill>
                  <a:latin typeface="Carlito"/>
                  <a:ea typeface="Carlito"/>
                  <a:cs typeface="Carlito"/>
                  <a:sym typeface="Carlito"/>
                </a:rPr>
                <a:t>How to adapt a large pretrained model to a new task while updating a tiny fraction of its parameters.</a:t>
              </a:r>
              <a:endParaRPr b="0" sz="1300">
                <a:solidFill>
                  <a:srgbClr val="94A3B8"/>
                </a:solidFill>
                <a:latin typeface="Carlito"/>
                <a:ea typeface="Carlito"/>
                <a:cs typeface="Carlito"/>
                <a:sym typeface="Carlito"/>
              </a:endParaRPr>
            </a:p>
          </p:txBody>
        </p:sp>
      </p:grpSp>
      <p:sp>
        <p:nvSpPr>
          <p:cNvPr id="284" name="Google Shape;284;p14"/>
          <p:cNvSpPr txBox="1"/>
          <p:nvPr/>
        </p:nvSpPr>
        <p:spPr>
          <a:xfrm>
            <a:off x="762000" y="4810125"/>
            <a:ext cx="3810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800">
                <a:solidFill>
                  <a:srgbClr val="64748B"/>
                </a:solidFill>
                <a:latin typeface="Carlito"/>
                <a:ea typeface="Carlito"/>
                <a:cs typeface="Carlito"/>
                <a:sym typeface="Carlito"/>
              </a:rPr>
              <a:t>DEEP LEARNING FOR RESOURCE OPTIMIZATION</a:t>
            </a:r>
            <a:endParaRPr sz="800">
              <a:solidFill>
                <a:srgbClr val="64748B"/>
              </a:solidFill>
              <a:latin typeface="Carlito"/>
              <a:ea typeface="Carlito"/>
              <a:cs typeface="Carlito"/>
              <a:sym typeface="Carlito"/>
            </a:endParaRPr>
          </a:p>
        </p:txBody>
      </p:sp>
      <p:sp>
        <p:nvSpPr>
          <p:cNvPr id="285" name="Google Shape;285;p14"/>
          <p:cNvSpPr txBox="1"/>
          <p:nvPr/>
        </p:nvSpPr>
        <p:spPr>
          <a:xfrm>
            <a:off x="7620000" y="4810125"/>
            <a:ext cx="7620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US" sz="800">
                <a:solidFill>
                  <a:srgbClr val="94A3B8"/>
                </a:solidFill>
                <a:latin typeface="Arial"/>
                <a:ea typeface="Arial"/>
                <a:cs typeface="Arial"/>
                <a:sym typeface="Arial"/>
              </a:rPr>
              <a:t>12 </a:t>
            </a:r>
            <a:r>
              <a:rPr lang="en-US" sz="800">
                <a:solidFill>
                  <a:srgbClr val="64748B"/>
                </a:solidFill>
                <a:latin typeface="Arial"/>
                <a:ea typeface="Arial"/>
                <a:cs typeface="Arial"/>
                <a:sym typeface="Arial"/>
              </a:rPr>
              <a:t>/ 58</a:t>
            </a:r>
            <a:endParaRPr sz="800">
              <a:solidFill>
                <a:srgbClr val="94A3B8"/>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90" name="Shape 290"/>
        <p:cNvGrpSpPr/>
        <p:nvPr/>
      </p:nvGrpSpPr>
      <p:grpSpPr>
        <a:xfrm>
          <a:off x="0" y="0"/>
          <a:ext cx="0" cy="0"/>
          <a:chOff x="0" y="0"/>
          <a:chExt cx="0" cy="0"/>
        </a:xfrm>
      </p:grpSpPr>
      <p:sp>
        <p:nvSpPr>
          <p:cNvPr id="291" name="Google Shape;291;p15"/>
          <p:cNvSpPr/>
          <p:nvPr/>
        </p:nvSpPr>
        <p:spPr>
          <a:xfrm>
            <a:off x="457200" y="458986"/>
            <a:ext cx="18738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03 · PEFT &amp; LORA</a:t>
            </a:r>
            <a:endParaRPr b="0" i="0" sz="800" u="none" cap="none" strike="noStrike">
              <a:solidFill>
                <a:schemeClr val="dk1"/>
              </a:solidFill>
              <a:latin typeface="Calibri"/>
              <a:ea typeface="Calibri"/>
              <a:cs typeface="Calibri"/>
              <a:sym typeface="Calibri"/>
            </a:endParaRPr>
          </a:p>
        </p:txBody>
      </p:sp>
      <p:sp>
        <p:nvSpPr>
          <p:cNvPr id="292" name="Google Shape;292;p15"/>
          <p:cNvSpPr/>
          <p:nvPr/>
        </p:nvSpPr>
        <p:spPr>
          <a:xfrm>
            <a:off x="457200" y="662583"/>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Parameter-Efficient Fine-Tuning: The Core Idea</a:t>
            </a:r>
            <a:endParaRPr b="0" i="0" sz="2250" u="none" cap="none" strike="noStrike">
              <a:solidFill>
                <a:schemeClr val="dk1"/>
              </a:solidFill>
              <a:latin typeface="Calibri"/>
              <a:ea typeface="Calibri"/>
              <a:cs typeface="Calibri"/>
              <a:sym typeface="Calibri"/>
            </a:endParaRPr>
          </a:p>
        </p:txBody>
      </p:sp>
      <p:grpSp>
        <p:nvGrpSpPr>
          <p:cNvPr id="293" name="Google Shape;293;p15"/>
          <p:cNvGrpSpPr/>
          <p:nvPr/>
        </p:nvGrpSpPr>
        <p:grpSpPr>
          <a:xfrm>
            <a:off x="457200" y="1143000"/>
            <a:ext cx="8229600" cy="1857300"/>
            <a:chOff x="457200" y="1143000"/>
            <a:chExt cx="8229600" cy="1857300"/>
          </a:xfrm>
        </p:grpSpPr>
        <p:sp>
          <p:nvSpPr>
            <p:cNvPr id="294" name="Google Shape;294;p15"/>
            <p:cNvSpPr/>
            <p:nvPr/>
          </p:nvSpPr>
          <p:spPr>
            <a:xfrm>
              <a:off x="457200" y="1143000"/>
              <a:ext cx="3962400" cy="1857300"/>
            </a:xfrm>
            <a:prstGeom prst="roundRect">
              <a:avLst>
                <a:gd fmla="val 4102"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15"/>
            <p:cNvSpPr/>
            <p:nvPr/>
          </p:nvSpPr>
          <p:spPr>
            <a:xfrm>
              <a:off x="457200" y="1143000"/>
              <a:ext cx="38100" cy="18573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15"/>
            <p:cNvSpPr txBox="1"/>
            <p:nvPr/>
          </p:nvSpPr>
          <p:spPr>
            <a:xfrm>
              <a:off x="685800" y="1333500"/>
              <a:ext cx="3505200" cy="14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 01 · FREEZE ALMOST EVERYTHING</a:t>
              </a:r>
              <a:endParaRPr b="1" sz="1000">
                <a:solidFill>
                  <a:srgbClr val="F0B429"/>
                </a:solidFill>
                <a:latin typeface="Carlito"/>
                <a:ea typeface="Carlito"/>
                <a:cs typeface="Carlito"/>
                <a:sym typeface="Carlito"/>
              </a:endParaRPr>
            </a:p>
            <a:p>
              <a:pPr indent="0" lvl="0" marL="0" rtl="0" algn="l">
                <a:spcBef>
                  <a:spcPts val="600"/>
                </a:spcBef>
                <a:spcAft>
                  <a:spcPts val="0"/>
                </a:spcAft>
                <a:buNone/>
              </a:pPr>
              <a:r>
                <a:rPr b="0" lang="en-US" sz="1100">
                  <a:solidFill>
                    <a:srgbClr val="F5F1E6"/>
                  </a:solidFill>
                  <a:latin typeface="Carlito"/>
                  <a:ea typeface="Carlito"/>
                  <a:cs typeface="Carlito"/>
                  <a:sym typeface="Carlito"/>
                </a:rPr>
                <a:t>Instead of updating all of a pretrained model's weights, </a:t>
              </a:r>
              <a:r>
                <a:rPr b="1" lang="en-US" sz="1100">
                  <a:solidFill>
                    <a:srgbClr val="F0B429"/>
                  </a:solidFill>
                  <a:latin typeface="Carlito"/>
                  <a:ea typeface="Carlito"/>
                  <a:cs typeface="Carlito"/>
                  <a:sym typeface="Carlito"/>
                </a:rPr>
                <a:t>freeze almost everything</a:t>
              </a:r>
              <a:r>
                <a:rPr b="0" lang="en-US" sz="1100">
                  <a:solidFill>
                    <a:srgbClr val="F5F1E6"/>
                  </a:solidFill>
                  <a:latin typeface="Carlito"/>
                  <a:ea typeface="Carlito"/>
                  <a:cs typeface="Carlito"/>
                  <a:sym typeface="Carlito"/>
                </a:rPr>
                <a:t> — and only train a small number of additional or selected parameters.</a:t>
              </a:r>
              <a:endParaRPr b="0" sz="1100">
                <a:solidFill>
                  <a:srgbClr val="F5F1E6"/>
                </a:solidFill>
                <a:latin typeface="Carlito"/>
                <a:ea typeface="Carlito"/>
                <a:cs typeface="Carlito"/>
                <a:sym typeface="Carlito"/>
              </a:endParaRPr>
            </a:p>
            <a:p>
              <a:pPr indent="0" lvl="0" marL="0" rtl="0" algn="l">
                <a:spcBef>
                  <a:spcPts val="600"/>
                </a:spcBef>
                <a:spcAft>
                  <a:spcPts val="0"/>
                </a:spcAft>
                <a:buNone/>
              </a:pPr>
              <a:r>
                <a:rPr b="0" i="1" lang="en-US" sz="1100">
                  <a:solidFill>
                    <a:srgbClr val="94A3B8"/>
                  </a:solidFill>
                  <a:latin typeface="Carlito"/>
                  <a:ea typeface="Carlito"/>
                  <a:cs typeface="Carlito"/>
                  <a:sym typeface="Carlito"/>
                </a:rPr>
                <a:t>The pretrained model's general knowledge is preserved intact; only a small adapter is learned.</a:t>
              </a:r>
              <a:endParaRPr b="0" i="1" sz="1100">
                <a:solidFill>
                  <a:srgbClr val="94A3B8"/>
                </a:solidFill>
                <a:latin typeface="Carlito"/>
                <a:ea typeface="Carlito"/>
                <a:cs typeface="Carlito"/>
                <a:sym typeface="Carlito"/>
              </a:endParaRPr>
            </a:p>
          </p:txBody>
        </p:sp>
        <p:sp>
          <p:nvSpPr>
            <p:cNvPr id="297" name="Google Shape;297;p15"/>
            <p:cNvSpPr/>
            <p:nvPr/>
          </p:nvSpPr>
          <p:spPr>
            <a:xfrm>
              <a:off x="4724400" y="1143000"/>
              <a:ext cx="3962400" cy="1857300"/>
            </a:xfrm>
            <a:prstGeom prst="roundRect">
              <a:avLst>
                <a:gd fmla="val 4102"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15"/>
            <p:cNvSpPr/>
            <p:nvPr/>
          </p:nvSpPr>
          <p:spPr>
            <a:xfrm>
              <a:off x="4724400" y="1143000"/>
              <a:ext cx="38100" cy="18573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15"/>
            <p:cNvSpPr txBox="1"/>
            <p:nvPr/>
          </p:nvSpPr>
          <p:spPr>
            <a:xfrm>
              <a:off x="4953000" y="1333500"/>
              <a:ext cx="3505200" cy="14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 02 · MEMORY SHRINKS PROPORTIONALLY</a:t>
              </a:r>
              <a:endParaRPr b="1" sz="1000">
                <a:solidFill>
                  <a:srgbClr val="F0B429"/>
                </a:solidFill>
                <a:latin typeface="Carlito"/>
                <a:ea typeface="Carlito"/>
                <a:cs typeface="Carlito"/>
                <a:sym typeface="Carlito"/>
              </a:endParaRPr>
            </a:p>
            <a:p>
              <a:pPr indent="0" lvl="0" marL="0" rtl="0" algn="l">
                <a:spcBef>
                  <a:spcPts val="600"/>
                </a:spcBef>
                <a:spcAft>
                  <a:spcPts val="0"/>
                </a:spcAft>
                <a:buNone/>
              </a:pPr>
              <a:r>
                <a:rPr b="0" lang="en-US" sz="1100">
                  <a:solidFill>
                    <a:srgbClr val="F5F1E6"/>
                  </a:solidFill>
                  <a:latin typeface="Carlito"/>
                  <a:ea typeface="Carlito"/>
                  <a:cs typeface="Carlito"/>
                  <a:sym typeface="Carlito"/>
                </a:rPr>
                <a:t>If only </a:t>
              </a:r>
              <a:r>
                <a:rPr b="1" lang="en-US" sz="1100">
                  <a:solidFill>
                    <a:srgbClr val="F0B429"/>
                  </a:solidFill>
                  <a:latin typeface="Carlito"/>
                  <a:ea typeface="Carlito"/>
                  <a:cs typeface="Carlito"/>
                  <a:sym typeface="Carlito"/>
                </a:rPr>
                <a:t>1–2% of parameters</a:t>
              </a:r>
              <a:r>
                <a:rPr b="0" lang="en-US" sz="1100">
                  <a:solidFill>
                    <a:srgbClr val="F5F1E6"/>
                  </a:solidFill>
                  <a:latin typeface="Carlito"/>
                  <a:ea typeface="Carlito"/>
                  <a:cs typeface="Carlito"/>
                  <a:sym typeface="Carlito"/>
                </a:rPr>
                <a:t> are being trained, gradient and optimizer-state memory shrinks by roughly the same proportion.</a:t>
              </a:r>
              <a:endParaRPr b="0" sz="1100">
                <a:solidFill>
                  <a:srgbClr val="F5F1E6"/>
                </a:solidFill>
                <a:latin typeface="Carlito"/>
                <a:ea typeface="Carlito"/>
                <a:cs typeface="Carlito"/>
                <a:sym typeface="Carlito"/>
              </a:endParaRPr>
            </a:p>
            <a:p>
              <a:pPr indent="0" lvl="0" marL="0" rtl="0" algn="l">
                <a:spcBef>
                  <a:spcPts val="600"/>
                </a:spcBef>
                <a:spcAft>
                  <a:spcPts val="0"/>
                </a:spcAft>
                <a:buNone/>
              </a:pPr>
              <a:r>
                <a:rPr b="0" i="1" lang="en-US" sz="1100">
                  <a:solidFill>
                    <a:srgbClr val="94A3B8"/>
                  </a:solidFill>
                  <a:latin typeface="Carlito"/>
                  <a:ea typeface="Carlito"/>
                  <a:cs typeface="Carlito"/>
                  <a:sym typeface="Carlito"/>
                </a:rPr>
                <a:t>A model that needed </a:t>
              </a:r>
              <a:r>
                <a:rPr b="1" i="0" lang="en-US" sz="1100">
                  <a:solidFill>
                    <a:srgbClr val="F0B429"/>
                  </a:solidFill>
                  <a:latin typeface="Carlito"/>
                  <a:ea typeface="Carlito"/>
                  <a:cs typeface="Carlito"/>
                  <a:sym typeface="Carlito"/>
                </a:rPr>
                <a:t>24 GB</a:t>
              </a:r>
              <a:r>
                <a:rPr b="0" i="1" lang="en-US" sz="1100">
                  <a:solidFill>
                    <a:srgbClr val="94A3B8"/>
                  </a:solidFill>
                  <a:latin typeface="Carlito"/>
                  <a:ea typeface="Carlito"/>
                  <a:cs typeface="Carlito"/>
                  <a:sym typeface="Carlito"/>
                </a:rPr>
                <a:t> for full fine-tuning can often be adapted on a single consumer GPU instead.</a:t>
              </a:r>
              <a:endParaRPr b="0" i="1" sz="1100">
                <a:solidFill>
                  <a:srgbClr val="94A3B8"/>
                </a:solidFill>
                <a:latin typeface="Carlito"/>
                <a:ea typeface="Carlito"/>
                <a:cs typeface="Carlito"/>
                <a:sym typeface="Carlito"/>
              </a:endParaRPr>
            </a:p>
          </p:txBody>
        </p:sp>
      </p:grpSp>
      <p:grpSp>
        <p:nvGrpSpPr>
          <p:cNvPr id="300" name="Google Shape;300;p15"/>
          <p:cNvGrpSpPr/>
          <p:nvPr/>
        </p:nvGrpSpPr>
        <p:grpSpPr>
          <a:xfrm>
            <a:off x="457200" y="3190875"/>
            <a:ext cx="8229600" cy="1238400"/>
            <a:chOff x="457200" y="3190875"/>
            <a:chExt cx="8229600" cy="1238400"/>
          </a:xfrm>
        </p:grpSpPr>
        <p:sp>
          <p:nvSpPr>
            <p:cNvPr id="301" name="Google Shape;301;p15"/>
            <p:cNvSpPr/>
            <p:nvPr/>
          </p:nvSpPr>
          <p:spPr>
            <a:xfrm>
              <a:off x="457200" y="3190875"/>
              <a:ext cx="8229600" cy="1238400"/>
            </a:xfrm>
            <a:prstGeom prst="roundRect">
              <a:avLst>
                <a:gd fmla="val 6153"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15"/>
            <p:cNvSpPr txBox="1"/>
            <p:nvPr/>
          </p:nvSpPr>
          <p:spPr>
            <a:xfrm>
              <a:off x="685800" y="3381375"/>
              <a:ext cx="1047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94A3B8"/>
                  </a:solidFill>
                  <a:latin typeface="Courier New"/>
                  <a:ea typeface="Courier New"/>
                  <a:cs typeface="Courier New"/>
                  <a:sym typeface="Courier New"/>
                </a:rPr>
                <a:t>MODEL PARAMS</a:t>
              </a:r>
              <a:endParaRPr b="1" sz="800">
                <a:solidFill>
                  <a:srgbClr val="94A3B8"/>
                </a:solidFill>
                <a:latin typeface="Courier New"/>
                <a:ea typeface="Courier New"/>
                <a:cs typeface="Courier New"/>
                <a:sym typeface="Courier New"/>
              </a:endParaRPr>
            </a:p>
          </p:txBody>
        </p:sp>
        <p:sp>
          <p:nvSpPr>
            <p:cNvPr id="303" name="Google Shape;303;p15"/>
            <p:cNvSpPr/>
            <p:nvPr/>
          </p:nvSpPr>
          <p:spPr>
            <a:xfrm>
              <a:off x="18573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4" name="Google Shape;304;p15"/>
            <p:cNvSpPr/>
            <p:nvPr/>
          </p:nvSpPr>
          <p:spPr>
            <a:xfrm>
              <a:off x="20097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15"/>
            <p:cNvSpPr/>
            <p:nvPr/>
          </p:nvSpPr>
          <p:spPr>
            <a:xfrm>
              <a:off x="21621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15"/>
            <p:cNvSpPr/>
            <p:nvPr/>
          </p:nvSpPr>
          <p:spPr>
            <a:xfrm>
              <a:off x="23145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15"/>
            <p:cNvSpPr/>
            <p:nvPr/>
          </p:nvSpPr>
          <p:spPr>
            <a:xfrm>
              <a:off x="24669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15"/>
            <p:cNvSpPr/>
            <p:nvPr/>
          </p:nvSpPr>
          <p:spPr>
            <a:xfrm>
              <a:off x="26193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15"/>
            <p:cNvSpPr/>
            <p:nvPr/>
          </p:nvSpPr>
          <p:spPr>
            <a:xfrm>
              <a:off x="27717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15"/>
            <p:cNvSpPr/>
            <p:nvPr/>
          </p:nvSpPr>
          <p:spPr>
            <a:xfrm>
              <a:off x="29241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15"/>
            <p:cNvSpPr/>
            <p:nvPr/>
          </p:nvSpPr>
          <p:spPr>
            <a:xfrm>
              <a:off x="30765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15"/>
            <p:cNvSpPr/>
            <p:nvPr/>
          </p:nvSpPr>
          <p:spPr>
            <a:xfrm>
              <a:off x="32289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15"/>
            <p:cNvSpPr/>
            <p:nvPr/>
          </p:nvSpPr>
          <p:spPr>
            <a:xfrm>
              <a:off x="33813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15"/>
            <p:cNvSpPr/>
            <p:nvPr/>
          </p:nvSpPr>
          <p:spPr>
            <a:xfrm>
              <a:off x="35337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15"/>
            <p:cNvSpPr/>
            <p:nvPr/>
          </p:nvSpPr>
          <p:spPr>
            <a:xfrm>
              <a:off x="36861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15"/>
            <p:cNvSpPr/>
            <p:nvPr/>
          </p:nvSpPr>
          <p:spPr>
            <a:xfrm>
              <a:off x="38385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15"/>
            <p:cNvSpPr/>
            <p:nvPr/>
          </p:nvSpPr>
          <p:spPr>
            <a:xfrm>
              <a:off x="39909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15"/>
            <p:cNvSpPr/>
            <p:nvPr/>
          </p:nvSpPr>
          <p:spPr>
            <a:xfrm>
              <a:off x="41433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15"/>
            <p:cNvSpPr/>
            <p:nvPr/>
          </p:nvSpPr>
          <p:spPr>
            <a:xfrm>
              <a:off x="42957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15"/>
            <p:cNvSpPr/>
            <p:nvPr/>
          </p:nvSpPr>
          <p:spPr>
            <a:xfrm>
              <a:off x="44481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15"/>
            <p:cNvSpPr/>
            <p:nvPr/>
          </p:nvSpPr>
          <p:spPr>
            <a:xfrm>
              <a:off x="46005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15"/>
            <p:cNvSpPr/>
            <p:nvPr/>
          </p:nvSpPr>
          <p:spPr>
            <a:xfrm>
              <a:off x="47529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3" name="Google Shape;323;p15"/>
            <p:cNvSpPr/>
            <p:nvPr/>
          </p:nvSpPr>
          <p:spPr>
            <a:xfrm>
              <a:off x="49053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15"/>
            <p:cNvSpPr/>
            <p:nvPr/>
          </p:nvSpPr>
          <p:spPr>
            <a:xfrm>
              <a:off x="50577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15"/>
            <p:cNvSpPr/>
            <p:nvPr/>
          </p:nvSpPr>
          <p:spPr>
            <a:xfrm>
              <a:off x="52101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15"/>
            <p:cNvSpPr/>
            <p:nvPr/>
          </p:nvSpPr>
          <p:spPr>
            <a:xfrm>
              <a:off x="53625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15"/>
            <p:cNvSpPr/>
            <p:nvPr/>
          </p:nvSpPr>
          <p:spPr>
            <a:xfrm>
              <a:off x="55149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15"/>
            <p:cNvSpPr/>
            <p:nvPr/>
          </p:nvSpPr>
          <p:spPr>
            <a:xfrm>
              <a:off x="56673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15"/>
            <p:cNvSpPr/>
            <p:nvPr/>
          </p:nvSpPr>
          <p:spPr>
            <a:xfrm>
              <a:off x="58197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15"/>
            <p:cNvSpPr/>
            <p:nvPr/>
          </p:nvSpPr>
          <p:spPr>
            <a:xfrm>
              <a:off x="59721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15"/>
            <p:cNvSpPr/>
            <p:nvPr/>
          </p:nvSpPr>
          <p:spPr>
            <a:xfrm>
              <a:off x="61245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15"/>
            <p:cNvSpPr/>
            <p:nvPr/>
          </p:nvSpPr>
          <p:spPr>
            <a:xfrm>
              <a:off x="62769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15"/>
            <p:cNvSpPr/>
            <p:nvPr/>
          </p:nvSpPr>
          <p:spPr>
            <a:xfrm>
              <a:off x="6429375" y="3362325"/>
              <a:ext cx="114300" cy="228600"/>
            </a:xfrm>
            <a:prstGeom prst="roundRect">
              <a:avLst>
                <a:gd fmla="val 16666" name="adj"/>
              </a:avLst>
            </a:prstGeom>
            <a:solidFill>
              <a:srgbClr val="1B2D47"/>
            </a:solidFill>
            <a:ln cap="flat" cmpd="sng" w="9525">
              <a:solidFill>
                <a:srgbClr val="1F2E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15"/>
            <p:cNvSpPr/>
            <p:nvPr/>
          </p:nvSpPr>
          <p:spPr>
            <a:xfrm>
              <a:off x="6581775" y="3362325"/>
              <a:ext cx="114300" cy="228600"/>
            </a:xfrm>
            <a:prstGeom prst="roundRect">
              <a:avLst>
                <a:gd fmla="val 16666" name="adj"/>
              </a:avLst>
            </a:prstGeom>
            <a:solidFill>
              <a:srgbClr val="F0B429"/>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15"/>
            <p:cNvSpPr txBox="1"/>
            <p:nvPr/>
          </p:nvSpPr>
          <p:spPr>
            <a:xfrm>
              <a:off x="6810375" y="3371850"/>
              <a:ext cx="17145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F0B429"/>
                  </a:solidFill>
                  <a:latin typeface="Arial"/>
                  <a:ea typeface="Arial"/>
                  <a:cs typeface="Arial"/>
                  <a:sym typeface="Arial"/>
                </a:rPr>
                <a:t>TRAINABLE ~1–2%</a:t>
              </a:r>
              <a:endParaRPr b="1" sz="950">
                <a:solidFill>
                  <a:srgbClr val="F0B429"/>
                </a:solidFill>
                <a:latin typeface="Arial"/>
                <a:ea typeface="Arial"/>
                <a:cs typeface="Arial"/>
                <a:sym typeface="Arial"/>
              </a:endParaRPr>
            </a:p>
          </p:txBody>
        </p:sp>
        <p:sp>
          <p:nvSpPr>
            <p:cNvPr id="336" name="Google Shape;336;p15"/>
            <p:cNvSpPr txBox="1"/>
            <p:nvPr/>
          </p:nvSpPr>
          <p:spPr>
            <a:xfrm>
              <a:off x="1857375" y="3762375"/>
              <a:ext cx="5715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US" sz="850">
                  <a:solidFill>
                    <a:srgbClr val="94A3B8"/>
                  </a:solidFill>
                  <a:latin typeface="Carlito"/>
                  <a:ea typeface="Carlito"/>
                  <a:cs typeface="Carlito"/>
                  <a:sym typeface="Carlito"/>
                </a:rPr>
                <a:t>Same model, same forward pass — only the gold portion is updated during fine-tuning.</a:t>
              </a:r>
              <a:endParaRPr b="0" i="1" sz="850">
                <a:solidFill>
                  <a:srgbClr val="94A3B8"/>
                </a:solidFill>
                <a:latin typeface="Carlito"/>
                <a:ea typeface="Carlito"/>
                <a:cs typeface="Carlito"/>
                <a:sym typeface="Carlito"/>
              </a:endParaRPr>
            </a:p>
          </p:txBody>
        </p:sp>
      </p:grpSp>
      <p:sp>
        <p:nvSpPr>
          <p:cNvPr id="337" name="Google Shape;337;p15"/>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338" name="Google Shape;338;p15"/>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13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343" name="Shape 343"/>
        <p:cNvGrpSpPr/>
        <p:nvPr/>
      </p:nvGrpSpPr>
      <p:grpSpPr>
        <a:xfrm>
          <a:off x="0" y="0"/>
          <a:ext cx="0" cy="0"/>
          <a:chOff x="0" y="0"/>
          <a:chExt cx="0" cy="0"/>
        </a:xfrm>
      </p:grpSpPr>
      <p:sp>
        <p:nvSpPr>
          <p:cNvPr id="344" name="Google Shape;344;p16"/>
          <p:cNvSpPr/>
          <p:nvPr/>
        </p:nvSpPr>
        <p:spPr>
          <a:xfrm>
            <a:off x="457200" y="458986"/>
            <a:ext cx="1873664" cy="164592"/>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03 · PEFT &amp; LORA</a:t>
            </a:r>
            <a:endParaRPr b="0" i="0" sz="800" u="none" cap="none" strike="noStrike">
              <a:solidFill>
                <a:schemeClr val="dk1"/>
              </a:solidFill>
              <a:latin typeface="Calibri"/>
              <a:ea typeface="Calibri"/>
              <a:cs typeface="Calibri"/>
              <a:sym typeface="Calibri"/>
            </a:endParaRPr>
          </a:p>
        </p:txBody>
      </p:sp>
      <p:sp>
        <p:nvSpPr>
          <p:cNvPr id="345" name="Google Shape;345;p16"/>
          <p:cNvSpPr/>
          <p:nvPr/>
        </p:nvSpPr>
        <p:spPr>
          <a:xfrm>
            <a:off x="457200" y="662583"/>
            <a:ext cx="8636000" cy="344043"/>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Three Families of PEFT Techniques</a:t>
            </a:r>
            <a:endParaRPr b="0" i="0" sz="2250" u="none" cap="none" strike="noStrike">
              <a:solidFill>
                <a:schemeClr val="dk1"/>
              </a:solidFill>
              <a:latin typeface="Calibri"/>
              <a:ea typeface="Calibri"/>
              <a:cs typeface="Calibri"/>
              <a:sym typeface="Calibri"/>
            </a:endParaRPr>
          </a:p>
        </p:txBody>
      </p:sp>
      <p:sp>
        <p:nvSpPr>
          <p:cNvPr id="346" name="Google Shape;346;p16"/>
          <p:cNvSpPr/>
          <p:nvPr/>
        </p:nvSpPr>
        <p:spPr>
          <a:xfrm>
            <a:off x="457200" y="1034058"/>
            <a:ext cx="8229600" cy="162020"/>
          </a:xfrm>
          <a:prstGeom prst="rect">
            <a:avLst/>
          </a:prstGeom>
          <a:noFill/>
          <a:ln>
            <a:noFill/>
          </a:ln>
        </p:spPr>
        <p:txBody>
          <a:bodyPr anchorCtr="0" anchor="t" bIns="0" lIns="0" spcFirstLastPara="1" rIns="0" wrap="square" tIns="0">
            <a:noAutofit/>
          </a:bodyPr>
          <a:lstStyle/>
          <a:p>
            <a:pPr indent="0" lvl="0" marL="0" marR="0" rtl="0" algn="l">
              <a:lnSpc>
                <a:spcPct val="140094"/>
              </a:lnSpc>
              <a:spcBef>
                <a:spcPts val="0"/>
              </a:spcBef>
              <a:spcAft>
                <a:spcPts val="0"/>
              </a:spcAft>
              <a:buClr>
                <a:srgbClr val="94A3B8"/>
              </a:buClr>
              <a:buSzPts val="843"/>
              <a:buFont typeface="Carlito"/>
              <a:buNone/>
            </a:pPr>
            <a:r>
              <a:rPr b="0" i="0" lang="en-US" sz="844" u="none" cap="none" strike="noStrike">
                <a:solidFill>
                  <a:srgbClr val="94A3B8"/>
                </a:solidFill>
                <a:latin typeface="Carlito"/>
                <a:ea typeface="Carlito"/>
                <a:cs typeface="Carlito"/>
                <a:sym typeface="Carlito"/>
              </a:rPr>
              <a:t>Different ways to decide which small subset of parameters gets trained.</a:t>
            </a:r>
            <a:endParaRPr b="0" i="0" sz="844" u="none" cap="none" strike="noStrike">
              <a:solidFill>
                <a:schemeClr val="dk1"/>
              </a:solidFill>
              <a:latin typeface="Calibri"/>
              <a:ea typeface="Calibri"/>
              <a:cs typeface="Calibri"/>
              <a:sym typeface="Calibri"/>
            </a:endParaRPr>
          </a:p>
        </p:txBody>
      </p:sp>
      <p:sp>
        <p:nvSpPr>
          <p:cNvPr id="347" name="Google Shape;347;p16"/>
          <p:cNvSpPr/>
          <p:nvPr/>
        </p:nvSpPr>
        <p:spPr>
          <a:xfrm>
            <a:off x="457200" y="1312664"/>
            <a:ext cx="2638388" cy="3021806"/>
          </a:xfrm>
          <a:prstGeom prst="roundRect">
            <a:avLst>
              <a:gd fmla="val 3610" name="adj"/>
            </a:avLst>
          </a:prstGeom>
          <a:solidFill>
            <a:srgbClr val="14233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48" name="Google Shape;348;p16"/>
          <p:cNvCxnSpPr/>
          <p:nvPr/>
        </p:nvCxnSpPr>
        <p:spPr>
          <a:xfrm>
            <a:off x="457200" y="1323380"/>
            <a:ext cx="2638388" cy="0"/>
          </a:xfrm>
          <a:prstGeom prst="straightConnector1">
            <a:avLst/>
          </a:prstGeom>
          <a:noFill/>
          <a:ln cap="flat" cmpd="sng" w="21425">
            <a:solidFill>
              <a:srgbClr val="F0B429"/>
            </a:solidFill>
            <a:prstDash val="solid"/>
            <a:round/>
            <a:headEnd len="sm" w="sm" type="none"/>
            <a:tailEnd len="sm" w="sm" type="none"/>
          </a:ln>
        </p:spPr>
      </p:cxnSp>
      <p:cxnSp>
        <p:nvCxnSpPr>
          <p:cNvPr id="349" name="Google Shape;349;p16"/>
          <p:cNvCxnSpPr/>
          <p:nvPr/>
        </p:nvCxnSpPr>
        <p:spPr>
          <a:xfrm>
            <a:off x="3092016" y="1312664"/>
            <a:ext cx="0" cy="3021806"/>
          </a:xfrm>
          <a:prstGeom prst="straightConnector1">
            <a:avLst/>
          </a:prstGeom>
          <a:noFill/>
          <a:ln cap="flat" cmpd="sng" w="9525">
            <a:solidFill>
              <a:srgbClr val="2A3B52"/>
            </a:solidFill>
            <a:prstDash val="solid"/>
            <a:round/>
            <a:headEnd len="sm" w="sm" type="none"/>
            <a:tailEnd len="sm" w="sm" type="none"/>
          </a:ln>
        </p:spPr>
      </p:cxnSp>
      <p:cxnSp>
        <p:nvCxnSpPr>
          <p:cNvPr id="350" name="Google Shape;350;p16"/>
          <p:cNvCxnSpPr/>
          <p:nvPr/>
        </p:nvCxnSpPr>
        <p:spPr>
          <a:xfrm>
            <a:off x="457200" y="4330898"/>
            <a:ext cx="2638388" cy="0"/>
          </a:xfrm>
          <a:prstGeom prst="straightConnector1">
            <a:avLst/>
          </a:prstGeom>
          <a:noFill/>
          <a:ln cap="flat" cmpd="sng" w="9525">
            <a:solidFill>
              <a:srgbClr val="2A3B52"/>
            </a:solidFill>
            <a:prstDash val="solid"/>
            <a:round/>
            <a:headEnd len="sm" w="sm" type="none"/>
            <a:tailEnd len="sm" w="sm" type="none"/>
          </a:ln>
        </p:spPr>
      </p:cxnSp>
      <p:cxnSp>
        <p:nvCxnSpPr>
          <p:cNvPr id="351" name="Google Shape;351;p16"/>
          <p:cNvCxnSpPr/>
          <p:nvPr/>
        </p:nvCxnSpPr>
        <p:spPr>
          <a:xfrm>
            <a:off x="460772" y="1312664"/>
            <a:ext cx="0" cy="3021806"/>
          </a:xfrm>
          <a:prstGeom prst="straightConnector1">
            <a:avLst/>
          </a:prstGeom>
          <a:noFill/>
          <a:ln cap="flat" cmpd="sng" w="9525">
            <a:solidFill>
              <a:srgbClr val="2A3B52"/>
            </a:solidFill>
            <a:prstDash val="solid"/>
            <a:round/>
            <a:headEnd len="sm" w="sm" type="none"/>
            <a:tailEnd len="sm" w="sm" type="none"/>
          </a:ln>
        </p:spPr>
      </p:cxnSp>
      <p:sp>
        <p:nvSpPr>
          <p:cNvPr id="352" name="Google Shape;352;p16"/>
          <p:cNvSpPr/>
          <p:nvPr/>
        </p:nvSpPr>
        <p:spPr>
          <a:xfrm>
            <a:off x="598646" y="1480542"/>
            <a:ext cx="640102" cy="200025"/>
          </a:xfrm>
          <a:prstGeom prst="roundRect">
            <a:avLst>
              <a:gd fmla="val 14286" name="adj"/>
            </a:avLst>
          </a:prstGeom>
          <a:solidFill>
            <a:srgbClr val="F0B429">
              <a:alpha val="12157"/>
            </a:srgbClr>
          </a:solidFill>
          <a:ln cap="flat" cmpd="sng" w="9525">
            <a:solidFill>
              <a:srgbClr val="F0B4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3" name="Google Shape;353;p16"/>
          <p:cNvSpPr/>
          <p:nvPr/>
        </p:nvSpPr>
        <p:spPr>
          <a:xfrm>
            <a:off x="586811" y="1491258"/>
            <a:ext cx="663773" cy="178594"/>
          </a:xfrm>
          <a:prstGeom prst="rect">
            <a:avLst/>
          </a:prstGeom>
          <a:noFill/>
          <a:ln>
            <a:noFill/>
          </a:ln>
        </p:spPr>
        <p:txBody>
          <a:bodyPr anchorCtr="0" anchor="ctr" bIns="0" lIns="0" spcFirstLastPara="1" rIns="0" wrap="square" tIns="0">
            <a:noAutofit/>
          </a:bodyPr>
          <a:lstStyle/>
          <a:p>
            <a:pPr indent="0" lvl="0" marL="0" marR="0" rtl="0" algn="ctr">
              <a:lnSpc>
                <a:spcPct val="105499"/>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FAMILY 01</a:t>
            </a:r>
            <a:endParaRPr b="0" i="0" sz="800" u="none" cap="none" strike="noStrike">
              <a:solidFill>
                <a:schemeClr val="dk1"/>
              </a:solidFill>
              <a:latin typeface="Calibri"/>
              <a:ea typeface="Calibri"/>
              <a:cs typeface="Calibri"/>
              <a:sym typeface="Calibri"/>
            </a:endParaRPr>
          </a:p>
        </p:txBody>
      </p:sp>
      <p:sp>
        <p:nvSpPr>
          <p:cNvPr id="354" name="Google Shape;354;p16"/>
          <p:cNvSpPr/>
          <p:nvPr/>
        </p:nvSpPr>
        <p:spPr>
          <a:xfrm>
            <a:off x="621506" y="1769864"/>
            <a:ext cx="2309775" cy="173593"/>
          </a:xfrm>
          <a:prstGeom prst="rect">
            <a:avLst/>
          </a:prstGeom>
          <a:noFill/>
          <a:ln>
            <a:noFill/>
          </a:ln>
        </p:spPr>
        <p:txBody>
          <a:bodyPr anchorCtr="0" anchor="t" bIns="0" lIns="0" spcFirstLastPara="1" rIns="0" wrap="square" tIns="0">
            <a:noAutofit/>
          </a:bodyPr>
          <a:lstStyle/>
          <a:p>
            <a:pPr indent="0" lvl="0" marL="0" marR="0" rtl="0" algn="l">
              <a:lnSpc>
                <a:spcPct val="124975"/>
              </a:lnSpc>
              <a:spcBef>
                <a:spcPts val="0"/>
              </a:spcBef>
              <a:spcAft>
                <a:spcPts val="0"/>
              </a:spcAft>
              <a:buClr>
                <a:srgbClr val="F5F1E6"/>
              </a:buClr>
              <a:buSzPts val="1013"/>
              <a:buFont typeface="Carlito"/>
              <a:buNone/>
            </a:pPr>
            <a:r>
              <a:rPr b="1" i="0" lang="en-US" sz="1013" u="none" cap="none" strike="noStrike">
                <a:solidFill>
                  <a:srgbClr val="F5F1E6"/>
                </a:solidFill>
                <a:latin typeface="Carlito"/>
                <a:ea typeface="Carlito"/>
                <a:cs typeface="Carlito"/>
                <a:sym typeface="Carlito"/>
              </a:rPr>
              <a:t>Additive Methods</a:t>
            </a:r>
            <a:endParaRPr b="0" i="0" sz="1013" u="none" cap="none" strike="noStrike">
              <a:solidFill>
                <a:schemeClr val="dk1"/>
              </a:solidFill>
              <a:latin typeface="Calibri"/>
              <a:ea typeface="Calibri"/>
              <a:cs typeface="Calibri"/>
              <a:sym typeface="Calibri"/>
            </a:endParaRPr>
          </a:p>
        </p:txBody>
      </p:sp>
      <p:sp>
        <p:nvSpPr>
          <p:cNvPr id="355" name="Google Shape;355;p16"/>
          <p:cNvSpPr/>
          <p:nvPr/>
        </p:nvSpPr>
        <p:spPr>
          <a:xfrm>
            <a:off x="621506" y="2016323"/>
            <a:ext cx="2309775" cy="1923593"/>
          </a:xfrm>
          <a:prstGeom prst="rect">
            <a:avLst/>
          </a:prstGeom>
          <a:noFill/>
          <a:ln>
            <a:noFill/>
          </a:ln>
        </p:spPr>
        <p:txBody>
          <a:bodyPr anchorCtr="0" anchor="t" bIns="0" lIns="0" spcFirstLastPara="1" rIns="0" wrap="square" tIns="0">
            <a:noAutofit/>
          </a:bodyPr>
          <a:lstStyle/>
          <a:p>
            <a:pPr indent="0" lvl="0" marL="0" marR="0" rtl="0" algn="l">
              <a:lnSpc>
                <a:spcPct val="151875"/>
              </a:lnSpc>
              <a:spcBef>
                <a:spcPts val="0"/>
              </a:spcBef>
              <a:spcAft>
                <a:spcPts val="0"/>
              </a:spcAft>
              <a:buClr>
                <a:srgbClr val="F5F1E6"/>
              </a:buClr>
              <a:buSzPts val="800"/>
              <a:buFont typeface="Carlito"/>
              <a:buNone/>
            </a:pPr>
            <a:r>
              <a:rPr b="0" i="0" lang="en-US" sz="800" u="none" cap="none" strike="noStrike">
                <a:solidFill>
                  <a:srgbClr val="F5F1E6"/>
                </a:solidFill>
                <a:latin typeface="Carlito"/>
                <a:ea typeface="Carlito"/>
                <a:cs typeface="Carlito"/>
                <a:sym typeface="Carlito"/>
              </a:rPr>
              <a:t>Insert small new trainable layers or modules (called adapters) into the frozen network. Only these new pieces are trained — the original pretrained weights stay frozen at their pretrained values.</a:t>
            </a:r>
            <a:endParaRPr b="0" i="0" sz="800" u="none" cap="none" strike="noStrike">
              <a:solidFill>
                <a:schemeClr val="dk1"/>
              </a:solidFill>
              <a:latin typeface="Calibri"/>
              <a:ea typeface="Calibri"/>
              <a:cs typeface="Calibri"/>
              <a:sym typeface="Calibri"/>
            </a:endParaRPr>
          </a:p>
        </p:txBody>
      </p:sp>
      <p:cxnSp>
        <p:nvCxnSpPr>
          <p:cNvPr id="356" name="Google Shape;356;p16"/>
          <p:cNvCxnSpPr/>
          <p:nvPr/>
        </p:nvCxnSpPr>
        <p:spPr>
          <a:xfrm>
            <a:off x="621506" y="3970920"/>
            <a:ext cx="2309775" cy="0"/>
          </a:xfrm>
          <a:prstGeom prst="straightConnector1">
            <a:avLst/>
          </a:prstGeom>
          <a:noFill/>
          <a:ln cap="flat" cmpd="sng" w="9525">
            <a:solidFill>
              <a:srgbClr val="2A3B52"/>
            </a:solidFill>
            <a:prstDash val="dash"/>
            <a:round/>
            <a:headEnd len="sm" w="sm" type="none"/>
            <a:tailEnd len="sm" w="sm" type="none"/>
          </a:ln>
        </p:spPr>
      </p:cxnSp>
      <p:sp>
        <p:nvSpPr>
          <p:cNvPr id="357" name="Google Shape;357;p16"/>
          <p:cNvSpPr/>
          <p:nvPr/>
        </p:nvSpPr>
        <p:spPr>
          <a:xfrm>
            <a:off x="621506" y="3967349"/>
            <a:ext cx="2309775" cy="217103"/>
          </a:xfrm>
          <a:prstGeom prst="rect">
            <a:avLst/>
          </a:prstGeom>
          <a:noFill/>
          <a:ln>
            <a:noFill/>
          </a:ln>
        </p:spPr>
        <p:txBody>
          <a:bodyPr anchorCtr="0" anchor="t" bIns="0" lIns="0" spcFirstLastPara="1" rIns="0" wrap="square" tIns="85725">
            <a:noAutofit/>
          </a:bodyPr>
          <a:lstStyle/>
          <a:p>
            <a:pPr indent="0" lvl="0" marL="0" marR="0" rtl="0" algn="l">
              <a:lnSpc>
                <a:spcPct val="122375"/>
              </a:lnSpc>
              <a:spcBef>
                <a:spcPts val="0"/>
              </a:spcBef>
              <a:spcAft>
                <a:spcPts val="0"/>
              </a:spcAft>
              <a:buClr>
                <a:srgbClr val="F0B429"/>
              </a:buClr>
              <a:buSzPts val="800"/>
              <a:buFont typeface="Courier New"/>
              <a:buNone/>
            </a:pPr>
            <a:r>
              <a:rPr b="0" i="0" lang="en-US" sz="800" u="none" cap="none" strike="noStrike">
                <a:solidFill>
                  <a:srgbClr val="F0B429"/>
                </a:solidFill>
                <a:latin typeface="Courier New"/>
                <a:ea typeface="Courier New"/>
                <a:cs typeface="Courier New"/>
                <a:sym typeface="Courier New"/>
              </a:rPr>
              <a:t>EXAMPLE</a:t>
            </a:r>
            <a:r>
              <a:rPr b="0" i="0" lang="en-US" sz="800" u="none" cap="none" strike="noStrike">
                <a:solidFill>
                  <a:srgbClr val="94A3B8"/>
                </a:solidFill>
                <a:latin typeface="Carlito"/>
                <a:ea typeface="Carlito"/>
                <a:cs typeface="Carlito"/>
                <a:sym typeface="Carlito"/>
              </a:rPr>
              <a:t>Adapter layers, prefix tuning</a:t>
            </a:r>
            <a:endParaRPr b="0" i="0" sz="800" u="none" cap="none" strike="noStrike">
              <a:solidFill>
                <a:schemeClr val="dk1"/>
              </a:solidFill>
              <a:latin typeface="Calibri"/>
              <a:ea typeface="Calibri"/>
              <a:cs typeface="Calibri"/>
              <a:sym typeface="Calibri"/>
            </a:endParaRPr>
          </a:p>
        </p:txBody>
      </p:sp>
      <p:sp>
        <p:nvSpPr>
          <p:cNvPr id="358" name="Google Shape;358;p16"/>
          <p:cNvSpPr/>
          <p:nvPr/>
        </p:nvSpPr>
        <p:spPr>
          <a:xfrm>
            <a:off x="3252750" y="1312664"/>
            <a:ext cx="2638388" cy="3021806"/>
          </a:xfrm>
          <a:prstGeom prst="roundRect">
            <a:avLst>
              <a:gd fmla="val 3610" name="adj"/>
            </a:avLst>
          </a:prstGeom>
          <a:solidFill>
            <a:srgbClr val="14233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59" name="Google Shape;359;p16"/>
          <p:cNvCxnSpPr/>
          <p:nvPr/>
        </p:nvCxnSpPr>
        <p:spPr>
          <a:xfrm>
            <a:off x="3252750" y="1323380"/>
            <a:ext cx="2638388" cy="0"/>
          </a:xfrm>
          <a:prstGeom prst="straightConnector1">
            <a:avLst/>
          </a:prstGeom>
          <a:noFill/>
          <a:ln cap="flat" cmpd="sng" w="21425">
            <a:solidFill>
              <a:srgbClr val="F0B429"/>
            </a:solidFill>
            <a:prstDash val="solid"/>
            <a:round/>
            <a:headEnd len="sm" w="sm" type="none"/>
            <a:tailEnd len="sm" w="sm" type="none"/>
          </a:ln>
        </p:spPr>
      </p:cxnSp>
      <p:cxnSp>
        <p:nvCxnSpPr>
          <p:cNvPr id="360" name="Google Shape;360;p16"/>
          <p:cNvCxnSpPr/>
          <p:nvPr/>
        </p:nvCxnSpPr>
        <p:spPr>
          <a:xfrm>
            <a:off x="5887566" y="1312664"/>
            <a:ext cx="0" cy="3021806"/>
          </a:xfrm>
          <a:prstGeom prst="straightConnector1">
            <a:avLst/>
          </a:prstGeom>
          <a:noFill/>
          <a:ln cap="flat" cmpd="sng" w="9525">
            <a:solidFill>
              <a:srgbClr val="2A3B52"/>
            </a:solidFill>
            <a:prstDash val="solid"/>
            <a:round/>
            <a:headEnd len="sm" w="sm" type="none"/>
            <a:tailEnd len="sm" w="sm" type="none"/>
          </a:ln>
        </p:spPr>
      </p:cxnSp>
      <p:cxnSp>
        <p:nvCxnSpPr>
          <p:cNvPr id="361" name="Google Shape;361;p16"/>
          <p:cNvCxnSpPr/>
          <p:nvPr/>
        </p:nvCxnSpPr>
        <p:spPr>
          <a:xfrm>
            <a:off x="3252750" y="4330898"/>
            <a:ext cx="2638388" cy="0"/>
          </a:xfrm>
          <a:prstGeom prst="straightConnector1">
            <a:avLst/>
          </a:prstGeom>
          <a:noFill/>
          <a:ln cap="flat" cmpd="sng" w="9525">
            <a:solidFill>
              <a:srgbClr val="2A3B52"/>
            </a:solidFill>
            <a:prstDash val="solid"/>
            <a:round/>
            <a:headEnd len="sm" w="sm" type="none"/>
            <a:tailEnd len="sm" w="sm" type="none"/>
          </a:ln>
        </p:spPr>
      </p:cxnSp>
      <p:cxnSp>
        <p:nvCxnSpPr>
          <p:cNvPr id="362" name="Google Shape;362;p16"/>
          <p:cNvCxnSpPr/>
          <p:nvPr/>
        </p:nvCxnSpPr>
        <p:spPr>
          <a:xfrm>
            <a:off x="3256322" y="1312664"/>
            <a:ext cx="0" cy="3021806"/>
          </a:xfrm>
          <a:prstGeom prst="straightConnector1">
            <a:avLst/>
          </a:prstGeom>
          <a:noFill/>
          <a:ln cap="flat" cmpd="sng" w="9525">
            <a:solidFill>
              <a:srgbClr val="2A3B52"/>
            </a:solidFill>
            <a:prstDash val="solid"/>
            <a:round/>
            <a:headEnd len="sm" w="sm" type="none"/>
            <a:tailEnd len="sm" w="sm" type="none"/>
          </a:ln>
        </p:spPr>
      </p:cxnSp>
      <p:sp>
        <p:nvSpPr>
          <p:cNvPr id="363" name="Google Shape;363;p16"/>
          <p:cNvSpPr/>
          <p:nvPr/>
        </p:nvSpPr>
        <p:spPr>
          <a:xfrm>
            <a:off x="3394197" y="1480542"/>
            <a:ext cx="640102" cy="200025"/>
          </a:xfrm>
          <a:prstGeom prst="roundRect">
            <a:avLst>
              <a:gd fmla="val 14286" name="adj"/>
            </a:avLst>
          </a:prstGeom>
          <a:solidFill>
            <a:srgbClr val="F0B429">
              <a:alpha val="12157"/>
            </a:srgbClr>
          </a:solidFill>
          <a:ln cap="flat" cmpd="sng" w="9525">
            <a:solidFill>
              <a:srgbClr val="F0B4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4" name="Google Shape;364;p16"/>
          <p:cNvSpPr/>
          <p:nvPr/>
        </p:nvSpPr>
        <p:spPr>
          <a:xfrm>
            <a:off x="3382361" y="1491258"/>
            <a:ext cx="663773" cy="178594"/>
          </a:xfrm>
          <a:prstGeom prst="rect">
            <a:avLst/>
          </a:prstGeom>
          <a:noFill/>
          <a:ln>
            <a:noFill/>
          </a:ln>
        </p:spPr>
        <p:txBody>
          <a:bodyPr anchorCtr="0" anchor="ctr" bIns="0" lIns="0" spcFirstLastPara="1" rIns="0" wrap="square" tIns="0">
            <a:noAutofit/>
          </a:bodyPr>
          <a:lstStyle/>
          <a:p>
            <a:pPr indent="0" lvl="0" marL="0" marR="0" rtl="0" algn="ctr">
              <a:lnSpc>
                <a:spcPct val="105499"/>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FAMILY 02</a:t>
            </a:r>
            <a:endParaRPr b="0" i="0" sz="800" u="none" cap="none" strike="noStrike">
              <a:solidFill>
                <a:schemeClr val="dk1"/>
              </a:solidFill>
              <a:latin typeface="Calibri"/>
              <a:ea typeface="Calibri"/>
              <a:cs typeface="Calibri"/>
              <a:sym typeface="Calibri"/>
            </a:endParaRPr>
          </a:p>
        </p:txBody>
      </p:sp>
      <p:sp>
        <p:nvSpPr>
          <p:cNvPr id="365" name="Google Shape;365;p16"/>
          <p:cNvSpPr/>
          <p:nvPr/>
        </p:nvSpPr>
        <p:spPr>
          <a:xfrm>
            <a:off x="3417057" y="1769864"/>
            <a:ext cx="2309775" cy="173593"/>
          </a:xfrm>
          <a:prstGeom prst="rect">
            <a:avLst/>
          </a:prstGeom>
          <a:noFill/>
          <a:ln>
            <a:noFill/>
          </a:ln>
        </p:spPr>
        <p:txBody>
          <a:bodyPr anchorCtr="0" anchor="t" bIns="0" lIns="0" spcFirstLastPara="1" rIns="0" wrap="square" tIns="0">
            <a:noAutofit/>
          </a:bodyPr>
          <a:lstStyle/>
          <a:p>
            <a:pPr indent="0" lvl="0" marL="0" marR="0" rtl="0" algn="l">
              <a:lnSpc>
                <a:spcPct val="124975"/>
              </a:lnSpc>
              <a:spcBef>
                <a:spcPts val="0"/>
              </a:spcBef>
              <a:spcAft>
                <a:spcPts val="0"/>
              </a:spcAft>
              <a:buClr>
                <a:srgbClr val="F5F1E6"/>
              </a:buClr>
              <a:buSzPts val="1013"/>
              <a:buFont typeface="Carlito"/>
              <a:buNone/>
            </a:pPr>
            <a:r>
              <a:rPr b="1" i="0" lang="en-US" sz="1013" u="none" cap="none" strike="noStrike">
                <a:solidFill>
                  <a:srgbClr val="F5F1E6"/>
                </a:solidFill>
                <a:latin typeface="Carlito"/>
                <a:ea typeface="Carlito"/>
                <a:cs typeface="Carlito"/>
                <a:sym typeface="Carlito"/>
              </a:rPr>
              <a:t>Selective Methods</a:t>
            </a:r>
            <a:endParaRPr b="0" i="0" sz="1013" u="none" cap="none" strike="noStrike">
              <a:solidFill>
                <a:schemeClr val="dk1"/>
              </a:solidFill>
              <a:latin typeface="Calibri"/>
              <a:ea typeface="Calibri"/>
              <a:cs typeface="Calibri"/>
              <a:sym typeface="Calibri"/>
            </a:endParaRPr>
          </a:p>
        </p:txBody>
      </p:sp>
      <p:sp>
        <p:nvSpPr>
          <p:cNvPr id="366" name="Google Shape;366;p16"/>
          <p:cNvSpPr/>
          <p:nvPr/>
        </p:nvSpPr>
        <p:spPr>
          <a:xfrm>
            <a:off x="3417057" y="2016323"/>
            <a:ext cx="2309775" cy="1923593"/>
          </a:xfrm>
          <a:prstGeom prst="rect">
            <a:avLst/>
          </a:prstGeom>
          <a:noFill/>
          <a:ln>
            <a:noFill/>
          </a:ln>
        </p:spPr>
        <p:txBody>
          <a:bodyPr anchorCtr="0" anchor="t" bIns="0" lIns="0" spcFirstLastPara="1" rIns="0" wrap="square" tIns="0">
            <a:noAutofit/>
          </a:bodyPr>
          <a:lstStyle/>
          <a:p>
            <a:pPr indent="0" lvl="0" marL="0" marR="0" rtl="0" algn="l">
              <a:lnSpc>
                <a:spcPct val="151875"/>
              </a:lnSpc>
              <a:spcBef>
                <a:spcPts val="0"/>
              </a:spcBef>
              <a:spcAft>
                <a:spcPts val="0"/>
              </a:spcAft>
              <a:buClr>
                <a:srgbClr val="F5F1E6"/>
              </a:buClr>
              <a:buSzPts val="800"/>
              <a:buFont typeface="Carlito"/>
              <a:buNone/>
            </a:pPr>
            <a:r>
              <a:rPr b="0" i="0" lang="en-US" sz="800" u="none" cap="none" strike="noStrike">
                <a:solidFill>
                  <a:srgbClr val="F5F1E6"/>
                </a:solidFill>
                <a:latin typeface="Carlito"/>
                <a:ea typeface="Carlito"/>
                <a:cs typeface="Carlito"/>
                <a:sym typeface="Carlito"/>
              </a:rPr>
              <a:t>Freeze most of the network but unfreeze a specific, small subset of existing parameters — for example, only bias terms, or only the final layer of each transformer block.</a:t>
            </a:r>
            <a:endParaRPr b="0" i="0" sz="800" u="none" cap="none" strike="noStrike">
              <a:solidFill>
                <a:schemeClr val="dk1"/>
              </a:solidFill>
              <a:latin typeface="Calibri"/>
              <a:ea typeface="Calibri"/>
              <a:cs typeface="Calibri"/>
              <a:sym typeface="Calibri"/>
            </a:endParaRPr>
          </a:p>
        </p:txBody>
      </p:sp>
      <p:cxnSp>
        <p:nvCxnSpPr>
          <p:cNvPr id="367" name="Google Shape;367;p16"/>
          <p:cNvCxnSpPr/>
          <p:nvPr/>
        </p:nvCxnSpPr>
        <p:spPr>
          <a:xfrm>
            <a:off x="3417057" y="3970920"/>
            <a:ext cx="2309775" cy="0"/>
          </a:xfrm>
          <a:prstGeom prst="straightConnector1">
            <a:avLst/>
          </a:prstGeom>
          <a:noFill/>
          <a:ln cap="flat" cmpd="sng" w="9525">
            <a:solidFill>
              <a:srgbClr val="2A3B52"/>
            </a:solidFill>
            <a:prstDash val="dash"/>
            <a:round/>
            <a:headEnd len="sm" w="sm" type="none"/>
            <a:tailEnd len="sm" w="sm" type="none"/>
          </a:ln>
        </p:spPr>
      </p:cxnSp>
      <p:sp>
        <p:nvSpPr>
          <p:cNvPr id="368" name="Google Shape;368;p16"/>
          <p:cNvSpPr/>
          <p:nvPr/>
        </p:nvSpPr>
        <p:spPr>
          <a:xfrm>
            <a:off x="3417057" y="3967349"/>
            <a:ext cx="2309775" cy="217103"/>
          </a:xfrm>
          <a:prstGeom prst="rect">
            <a:avLst/>
          </a:prstGeom>
          <a:noFill/>
          <a:ln>
            <a:noFill/>
          </a:ln>
        </p:spPr>
        <p:txBody>
          <a:bodyPr anchorCtr="0" anchor="t" bIns="0" lIns="0" spcFirstLastPara="1" rIns="0" wrap="square" tIns="85725">
            <a:noAutofit/>
          </a:bodyPr>
          <a:lstStyle/>
          <a:p>
            <a:pPr indent="0" lvl="0" marL="0" marR="0" rtl="0" algn="l">
              <a:lnSpc>
                <a:spcPct val="122375"/>
              </a:lnSpc>
              <a:spcBef>
                <a:spcPts val="0"/>
              </a:spcBef>
              <a:spcAft>
                <a:spcPts val="0"/>
              </a:spcAft>
              <a:buClr>
                <a:srgbClr val="F0B429"/>
              </a:buClr>
              <a:buSzPts val="800"/>
              <a:buFont typeface="Courier New"/>
              <a:buNone/>
            </a:pPr>
            <a:r>
              <a:rPr b="0" i="0" lang="en-US" sz="800" u="none" cap="none" strike="noStrike">
                <a:solidFill>
                  <a:srgbClr val="F0B429"/>
                </a:solidFill>
                <a:latin typeface="Courier New"/>
                <a:ea typeface="Courier New"/>
                <a:cs typeface="Courier New"/>
                <a:sym typeface="Courier New"/>
              </a:rPr>
              <a:t>EXAMPLE</a:t>
            </a:r>
            <a:r>
              <a:rPr b="0" i="0" lang="en-US" sz="800" u="none" cap="none" strike="noStrike">
                <a:solidFill>
                  <a:srgbClr val="94A3B8"/>
                </a:solidFill>
                <a:latin typeface="Carlito"/>
                <a:ea typeface="Carlito"/>
                <a:cs typeface="Carlito"/>
                <a:sym typeface="Carlito"/>
              </a:rPr>
              <a:t>Bias-only fine-tuning</a:t>
            </a:r>
            <a:endParaRPr b="0" i="0" sz="800" u="none" cap="none" strike="noStrike">
              <a:solidFill>
                <a:schemeClr val="dk1"/>
              </a:solidFill>
              <a:latin typeface="Calibri"/>
              <a:ea typeface="Calibri"/>
              <a:cs typeface="Calibri"/>
              <a:sym typeface="Calibri"/>
            </a:endParaRPr>
          </a:p>
        </p:txBody>
      </p:sp>
      <p:sp>
        <p:nvSpPr>
          <p:cNvPr id="369" name="Google Shape;369;p16"/>
          <p:cNvSpPr/>
          <p:nvPr/>
        </p:nvSpPr>
        <p:spPr>
          <a:xfrm>
            <a:off x="6048301" y="1312664"/>
            <a:ext cx="2638499" cy="3021806"/>
          </a:xfrm>
          <a:prstGeom prst="roundRect">
            <a:avLst>
              <a:gd fmla="val 3610" name="adj"/>
            </a:avLst>
          </a:prstGeom>
          <a:solidFill>
            <a:srgbClr val="14233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70" name="Google Shape;370;p16"/>
          <p:cNvCxnSpPr/>
          <p:nvPr/>
        </p:nvCxnSpPr>
        <p:spPr>
          <a:xfrm>
            <a:off x="6048301" y="1323380"/>
            <a:ext cx="2638499" cy="0"/>
          </a:xfrm>
          <a:prstGeom prst="straightConnector1">
            <a:avLst/>
          </a:prstGeom>
          <a:noFill/>
          <a:ln cap="flat" cmpd="sng" w="21425">
            <a:solidFill>
              <a:srgbClr val="F0B429"/>
            </a:solidFill>
            <a:prstDash val="solid"/>
            <a:round/>
            <a:headEnd len="sm" w="sm" type="none"/>
            <a:tailEnd len="sm" w="sm" type="none"/>
          </a:ln>
        </p:spPr>
      </p:cxnSp>
      <p:cxnSp>
        <p:nvCxnSpPr>
          <p:cNvPr id="371" name="Google Shape;371;p16"/>
          <p:cNvCxnSpPr/>
          <p:nvPr/>
        </p:nvCxnSpPr>
        <p:spPr>
          <a:xfrm>
            <a:off x="8683228" y="1312664"/>
            <a:ext cx="0" cy="3021806"/>
          </a:xfrm>
          <a:prstGeom prst="straightConnector1">
            <a:avLst/>
          </a:prstGeom>
          <a:noFill/>
          <a:ln cap="flat" cmpd="sng" w="9525">
            <a:solidFill>
              <a:srgbClr val="2A3B52"/>
            </a:solidFill>
            <a:prstDash val="solid"/>
            <a:round/>
            <a:headEnd len="sm" w="sm" type="none"/>
            <a:tailEnd len="sm" w="sm" type="none"/>
          </a:ln>
        </p:spPr>
      </p:cxnSp>
      <p:cxnSp>
        <p:nvCxnSpPr>
          <p:cNvPr id="372" name="Google Shape;372;p16"/>
          <p:cNvCxnSpPr/>
          <p:nvPr/>
        </p:nvCxnSpPr>
        <p:spPr>
          <a:xfrm>
            <a:off x="6048301" y="4330898"/>
            <a:ext cx="2638499" cy="0"/>
          </a:xfrm>
          <a:prstGeom prst="straightConnector1">
            <a:avLst/>
          </a:prstGeom>
          <a:noFill/>
          <a:ln cap="flat" cmpd="sng" w="9525">
            <a:solidFill>
              <a:srgbClr val="2A3B52"/>
            </a:solidFill>
            <a:prstDash val="solid"/>
            <a:round/>
            <a:headEnd len="sm" w="sm" type="none"/>
            <a:tailEnd len="sm" w="sm" type="none"/>
          </a:ln>
        </p:spPr>
      </p:cxnSp>
      <p:cxnSp>
        <p:nvCxnSpPr>
          <p:cNvPr id="373" name="Google Shape;373;p16"/>
          <p:cNvCxnSpPr/>
          <p:nvPr/>
        </p:nvCxnSpPr>
        <p:spPr>
          <a:xfrm>
            <a:off x="6051872" y="1312664"/>
            <a:ext cx="0" cy="3021806"/>
          </a:xfrm>
          <a:prstGeom prst="straightConnector1">
            <a:avLst/>
          </a:prstGeom>
          <a:noFill/>
          <a:ln cap="flat" cmpd="sng" w="9525">
            <a:solidFill>
              <a:srgbClr val="2A3B52"/>
            </a:solidFill>
            <a:prstDash val="solid"/>
            <a:round/>
            <a:headEnd len="sm" w="sm" type="none"/>
            <a:tailEnd len="sm" w="sm" type="none"/>
          </a:ln>
        </p:spPr>
      </p:cxnSp>
      <p:sp>
        <p:nvSpPr>
          <p:cNvPr id="374" name="Google Shape;374;p16"/>
          <p:cNvSpPr/>
          <p:nvPr/>
        </p:nvSpPr>
        <p:spPr>
          <a:xfrm>
            <a:off x="6189747" y="1480542"/>
            <a:ext cx="640102" cy="200025"/>
          </a:xfrm>
          <a:prstGeom prst="roundRect">
            <a:avLst>
              <a:gd fmla="val 14286" name="adj"/>
            </a:avLst>
          </a:prstGeom>
          <a:solidFill>
            <a:srgbClr val="F0B429">
              <a:alpha val="12157"/>
            </a:srgbClr>
          </a:solidFill>
          <a:ln cap="flat" cmpd="sng" w="9525">
            <a:solidFill>
              <a:srgbClr val="F0B4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5" name="Google Shape;375;p16"/>
          <p:cNvSpPr/>
          <p:nvPr/>
        </p:nvSpPr>
        <p:spPr>
          <a:xfrm>
            <a:off x="6177911" y="1491258"/>
            <a:ext cx="663773" cy="178594"/>
          </a:xfrm>
          <a:prstGeom prst="rect">
            <a:avLst/>
          </a:prstGeom>
          <a:noFill/>
          <a:ln>
            <a:noFill/>
          </a:ln>
        </p:spPr>
        <p:txBody>
          <a:bodyPr anchorCtr="0" anchor="ctr" bIns="0" lIns="0" spcFirstLastPara="1" rIns="0" wrap="square" tIns="0">
            <a:noAutofit/>
          </a:bodyPr>
          <a:lstStyle/>
          <a:p>
            <a:pPr indent="0" lvl="0" marL="0" marR="0" rtl="0" algn="ctr">
              <a:lnSpc>
                <a:spcPct val="105499"/>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FAMILY 03</a:t>
            </a:r>
            <a:endParaRPr b="0" i="0" sz="800" u="none" cap="none" strike="noStrike">
              <a:solidFill>
                <a:schemeClr val="dk1"/>
              </a:solidFill>
              <a:latin typeface="Calibri"/>
              <a:ea typeface="Calibri"/>
              <a:cs typeface="Calibri"/>
              <a:sym typeface="Calibri"/>
            </a:endParaRPr>
          </a:p>
        </p:txBody>
      </p:sp>
      <p:sp>
        <p:nvSpPr>
          <p:cNvPr id="376" name="Google Shape;376;p16"/>
          <p:cNvSpPr/>
          <p:nvPr/>
        </p:nvSpPr>
        <p:spPr>
          <a:xfrm>
            <a:off x="6212607" y="1769864"/>
            <a:ext cx="2419615" cy="173593"/>
          </a:xfrm>
          <a:prstGeom prst="rect">
            <a:avLst/>
          </a:prstGeom>
          <a:noFill/>
          <a:ln>
            <a:noFill/>
          </a:ln>
        </p:spPr>
        <p:txBody>
          <a:bodyPr anchorCtr="0" anchor="t" bIns="0" lIns="0" spcFirstLastPara="1" rIns="0" wrap="square" tIns="0">
            <a:noAutofit/>
          </a:bodyPr>
          <a:lstStyle/>
          <a:p>
            <a:pPr indent="0" lvl="0" marL="0" marR="0" rtl="0" algn="l">
              <a:lnSpc>
                <a:spcPct val="124975"/>
              </a:lnSpc>
              <a:spcBef>
                <a:spcPts val="0"/>
              </a:spcBef>
              <a:spcAft>
                <a:spcPts val="0"/>
              </a:spcAft>
              <a:buClr>
                <a:srgbClr val="F5F1E6"/>
              </a:buClr>
              <a:buSzPts val="1013"/>
              <a:buFont typeface="Carlito"/>
              <a:buNone/>
            </a:pPr>
            <a:r>
              <a:rPr b="1" i="0" lang="en-US" sz="1013" u="none" cap="none" strike="noStrike">
                <a:solidFill>
                  <a:srgbClr val="F5F1E6"/>
                </a:solidFill>
                <a:latin typeface="Carlito"/>
                <a:ea typeface="Carlito"/>
                <a:cs typeface="Carlito"/>
                <a:sym typeface="Carlito"/>
              </a:rPr>
              <a:t>Reparameterization Methods</a:t>
            </a:r>
            <a:endParaRPr b="0" i="0" sz="1013" u="none" cap="none" strike="noStrike">
              <a:solidFill>
                <a:schemeClr val="dk1"/>
              </a:solidFill>
              <a:latin typeface="Calibri"/>
              <a:ea typeface="Calibri"/>
              <a:cs typeface="Calibri"/>
              <a:sym typeface="Calibri"/>
            </a:endParaRPr>
          </a:p>
        </p:txBody>
      </p:sp>
      <p:sp>
        <p:nvSpPr>
          <p:cNvPr id="377" name="Google Shape;377;p16"/>
          <p:cNvSpPr/>
          <p:nvPr/>
        </p:nvSpPr>
        <p:spPr>
          <a:xfrm>
            <a:off x="6813128" y="2339132"/>
            <a:ext cx="505197" cy="135731"/>
          </a:xfrm>
          <a:prstGeom prst="roundRect">
            <a:avLst>
              <a:gd fmla="val 21053" name="adj"/>
            </a:avLst>
          </a:prstGeom>
          <a:solidFill>
            <a:srgbClr val="F0B429">
              <a:alpha val="784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8" name="Google Shape;378;p16"/>
          <p:cNvSpPr/>
          <p:nvPr/>
        </p:nvSpPr>
        <p:spPr>
          <a:xfrm>
            <a:off x="7054230" y="2500536"/>
            <a:ext cx="331515" cy="135731"/>
          </a:xfrm>
          <a:prstGeom prst="roundRect">
            <a:avLst>
              <a:gd fmla="val 21053" name="adj"/>
            </a:avLst>
          </a:prstGeom>
          <a:solidFill>
            <a:srgbClr val="F0B429">
              <a:alpha val="784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9" name="Google Shape;379;p16"/>
          <p:cNvSpPr/>
          <p:nvPr/>
        </p:nvSpPr>
        <p:spPr>
          <a:xfrm>
            <a:off x="6212607" y="2016323"/>
            <a:ext cx="2309887" cy="1916449"/>
          </a:xfrm>
          <a:prstGeom prst="rect">
            <a:avLst/>
          </a:prstGeom>
          <a:noFill/>
          <a:ln>
            <a:noFill/>
          </a:ln>
        </p:spPr>
        <p:txBody>
          <a:bodyPr anchorCtr="0" anchor="t" bIns="0" lIns="0" spcFirstLastPara="1" rIns="0" wrap="square" tIns="0">
            <a:noAutofit/>
          </a:bodyPr>
          <a:lstStyle/>
          <a:p>
            <a:pPr indent="0" lvl="0" marL="0" marR="0" rtl="0" algn="l">
              <a:lnSpc>
                <a:spcPct val="151875"/>
              </a:lnSpc>
              <a:spcBef>
                <a:spcPts val="0"/>
              </a:spcBef>
              <a:spcAft>
                <a:spcPts val="0"/>
              </a:spcAft>
              <a:buClr>
                <a:srgbClr val="F5F1E6"/>
              </a:buClr>
              <a:buSzPts val="800"/>
              <a:buFont typeface="Carlito"/>
              <a:buNone/>
            </a:pPr>
            <a:r>
              <a:rPr b="0" i="0" lang="en-US" sz="800" u="none" cap="none" strike="noStrike">
                <a:solidFill>
                  <a:srgbClr val="F5F1E6"/>
                </a:solidFill>
                <a:latin typeface="Carlito"/>
                <a:ea typeface="Carlito"/>
                <a:cs typeface="Carlito"/>
                <a:sym typeface="Carlito"/>
              </a:rPr>
              <a:t>Represent the weight update itself with far fewer parameters than the full weight matrix. Instead of learning a full </a:t>
            </a:r>
            <a:r>
              <a:rPr b="0" i="0" lang="en-US" sz="800" u="none" cap="none" strike="noStrike">
                <a:solidFill>
                  <a:srgbClr val="F0B429"/>
                </a:solidFill>
                <a:highlight>
                  <a:srgbClr val="F0B429"/>
                </a:highlight>
                <a:latin typeface="Courier New"/>
                <a:ea typeface="Courier New"/>
                <a:cs typeface="Courier New"/>
                <a:sym typeface="Courier New"/>
              </a:rPr>
              <a:t>delta-W</a:t>
            </a:r>
            <a:r>
              <a:rPr b="0" i="0" lang="en-US" sz="800" u="none" cap="none" strike="noStrike">
                <a:solidFill>
                  <a:srgbClr val="F5F1E6"/>
                </a:solidFill>
                <a:latin typeface="Carlito"/>
                <a:ea typeface="Carlito"/>
                <a:cs typeface="Carlito"/>
                <a:sym typeface="Carlito"/>
              </a:rPr>
              <a:t>, learn a low-rank approximation of it. </a:t>
            </a:r>
            <a:r>
              <a:rPr b="0" i="0" lang="en-US" sz="800" u="none" cap="none" strike="noStrike">
                <a:solidFill>
                  <a:srgbClr val="F0B429"/>
                </a:solidFill>
                <a:highlight>
                  <a:srgbClr val="F0B429"/>
                </a:highlight>
                <a:latin typeface="Courier New"/>
                <a:ea typeface="Courier New"/>
                <a:cs typeface="Courier New"/>
                <a:sym typeface="Courier New"/>
              </a:rPr>
              <a:t>LoRA</a:t>
            </a:r>
            <a:r>
              <a:rPr b="0" i="0" lang="en-US" sz="800" u="none" cap="none" strike="noStrike">
                <a:solidFill>
                  <a:srgbClr val="F5F1E6"/>
                </a:solidFill>
                <a:latin typeface="Carlito"/>
                <a:ea typeface="Carlito"/>
                <a:cs typeface="Carlito"/>
                <a:sym typeface="Carlito"/>
              </a:rPr>
              <a:t> belongs to this family.</a:t>
            </a:r>
            <a:endParaRPr b="0" i="0" sz="800" u="none" cap="none" strike="noStrike">
              <a:solidFill>
                <a:schemeClr val="dk1"/>
              </a:solidFill>
              <a:latin typeface="Calibri"/>
              <a:ea typeface="Calibri"/>
              <a:cs typeface="Calibri"/>
              <a:sym typeface="Calibri"/>
            </a:endParaRPr>
          </a:p>
        </p:txBody>
      </p:sp>
      <p:cxnSp>
        <p:nvCxnSpPr>
          <p:cNvPr id="380" name="Google Shape;380;p16"/>
          <p:cNvCxnSpPr/>
          <p:nvPr/>
        </p:nvCxnSpPr>
        <p:spPr>
          <a:xfrm>
            <a:off x="6212607" y="3963777"/>
            <a:ext cx="2309887" cy="0"/>
          </a:xfrm>
          <a:prstGeom prst="straightConnector1">
            <a:avLst/>
          </a:prstGeom>
          <a:noFill/>
          <a:ln cap="flat" cmpd="sng" w="9525">
            <a:solidFill>
              <a:srgbClr val="2A3B52"/>
            </a:solidFill>
            <a:prstDash val="dash"/>
            <a:round/>
            <a:headEnd len="sm" w="sm" type="none"/>
            <a:tailEnd len="sm" w="sm" type="none"/>
          </a:ln>
        </p:spPr>
      </p:cxnSp>
      <p:sp>
        <p:nvSpPr>
          <p:cNvPr id="381" name="Google Shape;381;p16"/>
          <p:cNvSpPr/>
          <p:nvPr/>
        </p:nvSpPr>
        <p:spPr>
          <a:xfrm>
            <a:off x="6212607" y="3960205"/>
            <a:ext cx="2309887" cy="224247"/>
          </a:xfrm>
          <a:prstGeom prst="rect">
            <a:avLst/>
          </a:prstGeom>
          <a:noFill/>
          <a:ln>
            <a:noFill/>
          </a:ln>
        </p:spPr>
        <p:txBody>
          <a:bodyPr anchorCtr="0" anchor="t" bIns="0" lIns="0" spcFirstLastPara="1" rIns="0" wrap="square" tIns="85725">
            <a:noAutofit/>
          </a:bodyPr>
          <a:lstStyle/>
          <a:p>
            <a:pPr indent="0" lvl="0" marL="0" marR="0" rtl="0" algn="l">
              <a:lnSpc>
                <a:spcPct val="122375"/>
              </a:lnSpc>
              <a:spcBef>
                <a:spcPts val="0"/>
              </a:spcBef>
              <a:spcAft>
                <a:spcPts val="0"/>
              </a:spcAft>
              <a:buClr>
                <a:srgbClr val="F0B429"/>
              </a:buClr>
              <a:buSzPts val="800"/>
              <a:buFont typeface="Courier New"/>
              <a:buNone/>
            </a:pPr>
            <a:r>
              <a:rPr b="0" i="0" lang="en-US" sz="800" u="none" cap="none" strike="noStrike">
                <a:solidFill>
                  <a:srgbClr val="F0B429"/>
                </a:solidFill>
                <a:latin typeface="Courier New"/>
                <a:ea typeface="Courier New"/>
                <a:cs typeface="Courier New"/>
                <a:sym typeface="Courier New"/>
              </a:rPr>
              <a:t>EXAMPLELoRA</a:t>
            </a:r>
            <a:r>
              <a:rPr b="0" i="0" lang="en-US" sz="800" u="none" cap="none" strike="noStrike">
                <a:solidFill>
                  <a:srgbClr val="94A3B8"/>
                </a:solidFill>
                <a:latin typeface="Carlito"/>
                <a:ea typeface="Carlito"/>
                <a:cs typeface="Carlito"/>
                <a:sym typeface="Carlito"/>
              </a:rPr>
              <a:t> (covered next)</a:t>
            </a:r>
            <a:endParaRPr b="0" i="0" sz="800" u="none" cap="none" strike="noStrike">
              <a:solidFill>
                <a:schemeClr val="dk1"/>
              </a:solidFill>
              <a:latin typeface="Calibri"/>
              <a:ea typeface="Calibri"/>
              <a:cs typeface="Calibri"/>
              <a:sym typeface="Calibri"/>
            </a:endParaRPr>
          </a:p>
        </p:txBody>
      </p:sp>
      <p:pic>
        <p:nvPicPr>
          <p:cNvPr descr="preencoded.png" id="382" name="Google Shape;382;p16"/>
          <p:cNvPicPr preferRelativeResize="0"/>
          <p:nvPr/>
        </p:nvPicPr>
        <p:blipFill rotWithShape="1">
          <a:blip r:embed="rId3">
            <a:alphaModFix/>
          </a:blip>
          <a:srcRect b="0" l="0" r="0" t="0"/>
          <a:stretch/>
        </p:blipFill>
        <p:spPr>
          <a:xfrm>
            <a:off x="457200" y="4463058"/>
            <a:ext cx="8229600" cy="337542"/>
          </a:xfrm>
          <a:prstGeom prst="rect">
            <a:avLst/>
          </a:prstGeom>
          <a:noFill/>
          <a:ln>
            <a:noFill/>
          </a:ln>
        </p:spPr>
      </p:pic>
      <p:cxnSp>
        <p:nvCxnSpPr>
          <p:cNvPr id="383" name="Google Shape;383;p16"/>
          <p:cNvCxnSpPr/>
          <p:nvPr/>
        </p:nvCxnSpPr>
        <p:spPr>
          <a:xfrm>
            <a:off x="457200" y="4466630"/>
            <a:ext cx="8229600" cy="0"/>
          </a:xfrm>
          <a:prstGeom prst="straightConnector1">
            <a:avLst/>
          </a:prstGeom>
          <a:noFill/>
          <a:ln cap="flat" cmpd="sng" w="9525">
            <a:solidFill>
              <a:srgbClr val="F0B429"/>
            </a:solidFill>
            <a:prstDash val="solid"/>
            <a:round/>
            <a:headEnd len="sm" w="sm" type="none"/>
            <a:tailEnd len="sm" w="sm" type="none"/>
          </a:ln>
        </p:spPr>
      </p:cxnSp>
      <p:cxnSp>
        <p:nvCxnSpPr>
          <p:cNvPr id="384" name="Google Shape;384;p16"/>
          <p:cNvCxnSpPr/>
          <p:nvPr/>
        </p:nvCxnSpPr>
        <p:spPr>
          <a:xfrm>
            <a:off x="8683228" y="4463058"/>
            <a:ext cx="0" cy="337542"/>
          </a:xfrm>
          <a:prstGeom prst="straightConnector1">
            <a:avLst/>
          </a:prstGeom>
          <a:noFill/>
          <a:ln cap="flat" cmpd="sng" w="9525">
            <a:solidFill>
              <a:srgbClr val="F0B429"/>
            </a:solidFill>
            <a:prstDash val="solid"/>
            <a:round/>
            <a:headEnd len="sm" w="sm" type="none"/>
            <a:tailEnd len="sm" w="sm" type="none"/>
          </a:ln>
        </p:spPr>
      </p:cxnSp>
      <p:cxnSp>
        <p:nvCxnSpPr>
          <p:cNvPr id="385" name="Google Shape;385;p16"/>
          <p:cNvCxnSpPr/>
          <p:nvPr/>
        </p:nvCxnSpPr>
        <p:spPr>
          <a:xfrm>
            <a:off x="457200" y="4797028"/>
            <a:ext cx="8229600" cy="0"/>
          </a:xfrm>
          <a:prstGeom prst="straightConnector1">
            <a:avLst/>
          </a:prstGeom>
          <a:noFill/>
          <a:ln cap="flat" cmpd="sng" w="9525">
            <a:solidFill>
              <a:srgbClr val="F0B429"/>
            </a:solidFill>
            <a:prstDash val="solid"/>
            <a:round/>
            <a:headEnd len="sm" w="sm" type="none"/>
            <a:tailEnd len="sm" w="sm" type="none"/>
          </a:ln>
        </p:spPr>
      </p:cxnSp>
      <p:cxnSp>
        <p:nvCxnSpPr>
          <p:cNvPr id="386" name="Google Shape;386;p16"/>
          <p:cNvCxnSpPr/>
          <p:nvPr/>
        </p:nvCxnSpPr>
        <p:spPr>
          <a:xfrm>
            <a:off x="471488" y="4463058"/>
            <a:ext cx="0" cy="337542"/>
          </a:xfrm>
          <a:prstGeom prst="straightConnector1">
            <a:avLst/>
          </a:prstGeom>
          <a:noFill/>
          <a:ln cap="flat" cmpd="sng" w="28575">
            <a:solidFill>
              <a:srgbClr val="F0B429"/>
            </a:solidFill>
            <a:prstDash val="solid"/>
            <a:round/>
            <a:headEnd len="sm" w="sm" type="none"/>
            <a:tailEnd len="sm" w="sm" type="none"/>
          </a:ln>
        </p:spPr>
      </p:cxnSp>
      <p:sp>
        <p:nvSpPr>
          <p:cNvPr id="387" name="Google Shape;387;p16"/>
          <p:cNvSpPr/>
          <p:nvPr/>
        </p:nvSpPr>
        <p:spPr>
          <a:xfrm>
            <a:off x="457200" y="4463058"/>
            <a:ext cx="8229600" cy="367260"/>
          </a:xfrm>
          <a:prstGeom prst="rect">
            <a:avLst/>
          </a:prstGeom>
          <a:noFill/>
          <a:ln>
            <a:noFill/>
          </a:ln>
        </p:spPr>
        <p:txBody>
          <a:bodyPr anchorCtr="0" anchor="t" bIns="85725" lIns="157150" spcFirstLastPara="1" rIns="157150" wrap="square" tIns="85725">
            <a:noAutofit/>
          </a:bodyPr>
          <a:lstStyle/>
          <a:p>
            <a:pPr indent="0" lvl="0" marL="0" marR="0" rtl="0" algn="l">
              <a:lnSpc>
                <a:spcPct val="142375"/>
              </a:lnSpc>
              <a:spcBef>
                <a:spcPts val="0"/>
              </a:spcBef>
              <a:spcAft>
                <a:spcPts val="0"/>
              </a:spcAft>
              <a:buClr>
                <a:srgbClr val="F5F1E6"/>
              </a:buClr>
              <a:buSzPts val="800"/>
              <a:buFont typeface="Carlito"/>
              <a:buNone/>
            </a:pPr>
            <a:r>
              <a:rPr b="0" i="0" lang="en-US" sz="800" u="none" cap="none" strike="noStrike">
                <a:solidFill>
                  <a:srgbClr val="F5F1E6"/>
                </a:solidFill>
                <a:latin typeface="Carlito"/>
                <a:ea typeface="Carlito"/>
                <a:cs typeface="Carlito"/>
                <a:sym typeface="Carlito"/>
              </a:rPr>
              <a:t>Today's deep dive </a:t>
            </a:r>
            <a:r>
              <a:rPr b="0" i="0" lang="en-US" sz="800" u="none" cap="none" strike="noStrike">
                <a:solidFill>
                  <a:srgbClr val="F0B429"/>
                </a:solidFill>
                <a:latin typeface="Courier New"/>
                <a:ea typeface="Courier New"/>
                <a:cs typeface="Courier New"/>
                <a:sym typeface="Courier New"/>
              </a:rPr>
              <a:t>→</a:t>
            </a:r>
            <a:r>
              <a:rPr b="0" i="0" lang="en-US" sz="800" u="none" cap="none" strike="noStrike">
                <a:solidFill>
                  <a:srgbClr val="F5F1E6"/>
                </a:solidFill>
                <a:latin typeface="Carlito"/>
                <a:ea typeface="Carlito"/>
                <a:cs typeface="Carlito"/>
                <a:sym typeface="Carlito"/>
              </a:rPr>
              <a:t> Reparameterization (</a:t>
            </a:r>
            <a:r>
              <a:rPr b="0" i="0" lang="en-US" sz="800" u="none" cap="none" strike="noStrike">
                <a:solidFill>
                  <a:srgbClr val="F0B429"/>
                </a:solidFill>
                <a:latin typeface="Courier New"/>
                <a:ea typeface="Courier New"/>
                <a:cs typeface="Courier New"/>
                <a:sym typeface="Courier New"/>
              </a:rPr>
              <a:t>LoRA</a:t>
            </a:r>
            <a:r>
              <a:rPr b="0" i="0" lang="en-US" sz="800" u="none" cap="none" strike="noStrike">
                <a:solidFill>
                  <a:srgbClr val="F5F1E6"/>
                </a:solidFill>
                <a:latin typeface="Carlito"/>
                <a:ea typeface="Carlito"/>
                <a:cs typeface="Carlito"/>
                <a:sym typeface="Carlito"/>
              </a:rPr>
              <a:t>), the dominant open-source approach.</a:t>
            </a:r>
            <a:endParaRPr b="0" i="0" sz="800" u="none" cap="none" strike="noStrike">
              <a:solidFill>
                <a:schemeClr val="dk1"/>
              </a:solidFill>
              <a:latin typeface="Calibri"/>
              <a:ea typeface="Calibri"/>
              <a:cs typeface="Calibri"/>
              <a:sym typeface="Calibri"/>
            </a:endParaRPr>
          </a:p>
        </p:txBody>
      </p:sp>
      <p:sp>
        <p:nvSpPr>
          <p:cNvPr id="388" name="Google Shape;388;p16"/>
          <p:cNvSpPr/>
          <p:nvPr/>
        </p:nvSpPr>
        <p:spPr>
          <a:xfrm>
            <a:off x="457200" y="4857750"/>
            <a:ext cx="7867166"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389" name="Google Shape;389;p16"/>
          <p:cNvSpPr/>
          <p:nvPr/>
        </p:nvSpPr>
        <p:spPr>
          <a:xfrm>
            <a:off x="8338654" y="4857750"/>
            <a:ext cx="496979"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14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394" name="Shape 394"/>
        <p:cNvGrpSpPr/>
        <p:nvPr/>
      </p:nvGrpSpPr>
      <p:grpSpPr>
        <a:xfrm>
          <a:off x="0" y="0"/>
          <a:ext cx="0" cy="0"/>
          <a:chOff x="0" y="0"/>
          <a:chExt cx="0" cy="0"/>
        </a:xfrm>
      </p:grpSpPr>
      <p:sp>
        <p:nvSpPr>
          <p:cNvPr id="395" name="Google Shape;395;p17"/>
          <p:cNvSpPr txBox="1"/>
          <p:nvPr/>
        </p:nvSpPr>
        <p:spPr>
          <a:xfrm>
            <a:off x="457200" y="400050"/>
            <a:ext cx="82296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PART 03 · PEFT &amp; LORA</a:t>
            </a:r>
            <a:endParaRPr b="1" sz="800">
              <a:solidFill>
                <a:srgbClr val="F0B429"/>
              </a:solidFill>
              <a:latin typeface="Carlito"/>
              <a:ea typeface="Carlito"/>
              <a:cs typeface="Carlito"/>
              <a:sym typeface="Carlito"/>
            </a:endParaRPr>
          </a:p>
          <a:p>
            <a:pPr indent="0" lvl="0" marL="0" rtl="0" algn="l">
              <a:spcBef>
                <a:spcPts val="0"/>
              </a:spcBef>
              <a:spcAft>
                <a:spcPts val="0"/>
              </a:spcAft>
              <a:buNone/>
            </a:pPr>
            <a:r>
              <a:rPr b="1" lang="en-US" sz="2200">
                <a:solidFill>
                  <a:srgbClr val="F5F1E6"/>
                </a:solidFill>
                <a:latin typeface="Carlito"/>
                <a:ea typeface="Carlito"/>
                <a:cs typeface="Carlito"/>
                <a:sym typeface="Carlito"/>
              </a:rPr>
              <a:t>LoRA: </a:t>
            </a:r>
            <a:r>
              <a:rPr b="1" lang="en-US" sz="2200">
                <a:solidFill>
                  <a:srgbClr val="F0B429"/>
                </a:solidFill>
                <a:latin typeface="Courier New"/>
                <a:ea typeface="Courier New"/>
                <a:cs typeface="Courier New"/>
                <a:sym typeface="Courier New"/>
              </a:rPr>
              <a:t>Low-Rank Adaptation</a:t>
            </a:r>
            <a:endParaRPr b="1" sz="2200">
              <a:solidFill>
                <a:srgbClr val="F5F1E6"/>
              </a:solidFill>
              <a:latin typeface="Carlito"/>
              <a:ea typeface="Carlito"/>
              <a:cs typeface="Carlito"/>
              <a:sym typeface="Carlito"/>
            </a:endParaRPr>
          </a:p>
        </p:txBody>
      </p:sp>
      <p:grpSp>
        <p:nvGrpSpPr>
          <p:cNvPr id="396" name="Google Shape;396;p17"/>
          <p:cNvGrpSpPr/>
          <p:nvPr/>
        </p:nvGrpSpPr>
        <p:grpSpPr>
          <a:xfrm>
            <a:off x="457200" y="1162050"/>
            <a:ext cx="8229600" cy="1095300"/>
            <a:chOff x="457200" y="1162050"/>
            <a:chExt cx="8229600" cy="1095300"/>
          </a:xfrm>
        </p:grpSpPr>
        <p:sp>
          <p:nvSpPr>
            <p:cNvPr id="397" name="Google Shape;397;p17"/>
            <p:cNvSpPr/>
            <p:nvPr/>
          </p:nvSpPr>
          <p:spPr>
            <a:xfrm>
              <a:off x="457200" y="1162050"/>
              <a:ext cx="3962400" cy="1095300"/>
            </a:xfrm>
            <a:prstGeom prst="roundRect">
              <a:avLst>
                <a:gd fmla="val 5217"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17"/>
            <p:cNvSpPr/>
            <p:nvPr/>
          </p:nvSpPr>
          <p:spPr>
            <a:xfrm>
              <a:off x="457200" y="1162050"/>
              <a:ext cx="38100" cy="10953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17"/>
            <p:cNvSpPr txBox="1"/>
            <p:nvPr/>
          </p:nvSpPr>
          <p:spPr>
            <a:xfrm>
              <a:off x="609600" y="1257300"/>
              <a:ext cx="36576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F0B429"/>
                  </a:solidFill>
                  <a:latin typeface="Carlito"/>
                  <a:ea typeface="Carlito"/>
                  <a:cs typeface="Carlito"/>
                  <a:sym typeface="Carlito"/>
                </a:rPr>
                <a:t>¶ 01 · THE INSIGHT</a:t>
              </a:r>
              <a:endParaRPr b="1" sz="850">
                <a:solidFill>
                  <a:srgbClr val="F0B429"/>
                </a:solidFill>
                <a:latin typeface="Carlito"/>
                <a:ea typeface="Carlito"/>
                <a:cs typeface="Carlito"/>
                <a:sym typeface="Carlito"/>
              </a:endParaRPr>
            </a:p>
            <a:p>
              <a:pPr indent="0" lvl="0" marL="0" rtl="0" algn="l">
                <a:spcBef>
                  <a:spcPts val="300"/>
                </a:spcBef>
                <a:spcAft>
                  <a:spcPts val="0"/>
                </a:spcAft>
                <a:buNone/>
              </a:pPr>
              <a:r>
                <a:rPr lang="en-US" sz="950">
                  <a:solidFill>
                    <a:srgbClr val="F5F1E6"/>
                  </a:solidFill>
                  <a:latin typeface="Carlito"/>
                  <a:ea typeface="Carlito"/>
                  <a:cs typeface="Carlito"/>
                  <a:sym typeface="Carlito"/>
                </a:rPr>
                <a:t>The change needed to adapt a large weight matrix to a new task tends to have a low </a:t>
              </a:r>
              <a:r>
                <a:rPr b="1" lang="en-US" sz="950">
                  <a:solidFill>
                    <a:srgbClr val="F0B429"/>
                  </a:solidFill>
                  <a:latin typeface="Carlito"/>
                  <a:ea typeface="Carlito"/>
                  <a:cs typeface="Carlito"/>
                  <a:sym typeface="Carlito"/>
                </a:rPr>
                <a:t>"intrinsic rank"</a:t>
              </a:r>
              <a:r>
                <a:rPr lang="en-US" sz="950">
                  <a:solidFill>
                    <a:srgbClr val="F5F1E6"/>
                  </a:solidFill>
                  <a:latin typeface="Carlito"/>
                  <a:ea typeface="Carlito"/>
                  <a:cs typeface="Carlito"/>
                  <a:sym typeface="Carlito"/>
                </a:rPr>
                <a:t> — well-approximated by the product of two much smaller matrices. The full </a:t>
              </a:r>
              <a:r>
                <a:rPr lang="en-US" sz="950">
                  <a:solidFill>
                    <a:srgbClr val="F0B429"/>
                  </a:solidFill>
                  <a:latin typeface="Courier New"/>
                  <a:ea typeface="Courier New"/>
                  <a:cs typeface="Courier New"/>
                  <a:sym typeface="Courier New"/>
                </a:rPr>
                <a:t>ΔW</a:t>
              </a:r>
              <a:r>
                <a:rPr lang="en-US" sz="950">
                  <a:solidFill>
                    <a:srgbClr val="F5F1E6"/>
                  </a:solidFill>
                  <a:latin typeface="Carlito"/>
                  <a:ea typeface="Carlito"/>
                  <a:cs typeface="Carlito"/>
                  <a:sym typeface="Carlito"/>
                </a:rPr>
                <a:t> does not need to be learned.</a:t>
              </a:r>
              <a:endParaRPr sz="950">
                <a:solidFill>
                  <a:srgbClr val="F5F1E6"/>
                </a:solidFill>
                <a:latin typeface="Carlito"/>
                <a:ea typeface="Carlito"/>
                <a:cs typeface="Carlito"/>
                <a:sym typeface="Carlito"/>
              </a:endParaRPr>
            </a:p>
          </p:txBody>
        </p:sp>
        <p:sp>
          <p:nvSpPr>
            <p:cNvPr id="400" name="Google Shape;400;p17"/>
            <p:cNvSpPr/>
            <p:nvPr/>
          </p:nvSpPr>
          <p:spPr>
            <a:xfrm>
              <a:off x="4724400" y="1162050"/>
              <a:ext cx="3962400" cy="1095300"/>
            </a:xfrm>
            <a:prstGeom prst="roundRect">
              <a:avLst>
                <a:gd fmla="val 5217"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17"/>
            <p:cNvSpPr/>
            <p:nvPr/>
          </p:nvSpPr>
          <p:spPr>
            <a:xfrm>
              <a:off x="4724400" y="1162050"/>
              <a:ext cx="38100" cy="10953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17"/>
            <p:cNvSpPr txBox="1"/>
            <p:nvPr/>
          </p:nvSpPr>
          <p:spPr>
            <a:xfrm>
              <a:off x="4876800" y="1257300"/>
              <a:ext cx="36576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F0B429"/>
                  </a:solidFill>
                  <a:latin typeface="Carlito"/>
                  <a:ea typeface="Carlito"/>
                  <a:cs typeface="Carlito"/>
                  <a:sym typeface="Carlito"/>
                </a:rPr>
                <a:t>¶ 02 · THE MECHANISM</a:t>
              </a:r>
              <a:endParaRPr b="1" sz="850">
                <a:solidFill>
                  <a:srgbClr val="F0B429"/>
                </a:solidFill>
                <a:latin typeface="Carlito"/>
                <a:ea typeface="Carlito"/>
                <a:cs typeface="Carlito"/>
                <a:sym typeface="Carlito"/>
              </a:endParaRPr>
            </a:p>
            <a:p>
              <a:pPr indent="0" lvl="0" marL="0" rtl="0" algn="l">
                <a:spcBef>
                  <a:spcPts val="300"/>
                </a:spcBef>
                <a:spcAft>
                  <a:spcPts val="0"/>
                </a:spcAft>
                <a:buNone/>
              </a:pPr>
              <a:r>
                <a:rPr lang="en-US" sz="950">
                  <a:solidFill>
                    <a:srgbClr val="F5F1E6"/>
                  </a:solidFill>
                  <a:latin typeface="Carlito"/>
                  <a:ea typeface="Carlito"/>
                  <a:cs typeface="Carlito"/>
                  <a:sym typeface="Carlito"/>
                </a:rPr>
                <a:t>For a frozen weight matrix </a:t>
              </a:r>
              <a:r>
                <a:rPr lang="en-US" sz="950">
                  <a:solidFill>
                    <a:srgbClr val="F0B429"/>
                  </a:solidFill>
                  <a:latin typeface="Courier New"/>
                  <a:ea typeface="Courier New"/>
                  <a:cs typeface="Courier New"/>
                  <a:sym typeface="Courier New"/>
                </a:rPr>
                <a:t>W</a:t>
              </a:r>
              <a:r>
                <a:rPr lang="en-US" sz="950">
                  <a:solidFill>
                    <a:srgbClr val="F5F1E6"/>
                  </a:solidFill>
                  <a:latin typeface="Carlito"/>
                  <a:ea typeface="Carlito"/>
                  <a:cs typeface="Carlito"/>
                  <a:sym typeface="Carlito"/>
                </a:rPr>
                <a:t>, LoRA adds a trainable update </a:t>
              </a:r>
              <a:r>
                <a:rPr lang="en-US" sz="950">
                  <a:solidFill>
                    <a:srgbClr val="F0B429"/>
                  </a:solidFill>
                  <a:latin typeface="Courier New"/>
                  <a:ea typeface="Courier New"/>
                  <a:cs typeface="Courier New"/>
                  <a:sym typeface="Courier New"/>
                </a:rPr>
                <a:t>ΔW = B × A</a:t>
              </a:r>
              <a:r>
                <a:rPr lang="en-US" sz="950">
                  <a:solidFill>
                    <a:srgbClr val="F5F1E6"/>
                  </a:solidFill>
                  <a:latin typeface="Carlito"/>
                  <a:ea typeface="Carlito"/>
                  <a:cs typeface="Carlito"/>
                  <a:sym typeface="Carlito"/>
                </a:rPr>
                <a:t>, where </a:t>
              </a:r>
              <a:r>
                <a:rPr lang="en-US" sz="950">
                  <a:solidFill>
                    <a:srgbClr val="F0B429"/>
                  </a:solidFill>
                  <a:latin typeface="Courier New"/>
                  <a:ea typeface="Courier New"/>
                  <a:cs typeface="Courier New"/>
                  <a:sym typeface="Courier New"/>
                </a:rPr>
                <a:t>A</a:t>
              </a:r>
              <a:r>
                <a:rPr lang="en-US" sz="950">
                  <a:solidFill>
                    <a:srgbClr val="F5F1E6"/>
                  </a:solidFill>
                  <a:latin typeface="Carlito"/>
                  <a:ea typeface="Carlito"/>
                  <a:cs typeface="Carlito"/>
                  <a:sym typeface="Carlito"/>
                </a:rPr>
                <a:t> and </a:t>
              </a:r>
              <a:r>
                <a:rPr lang="en-US" sz="950">
                  <a:solidFill>
                    <a:srgbClr val="F0B429"/>
                  </a:solidFill>
                  <a:latin typeface="Courier New"/>
                  <a:ea typeface="Courier New"/>
                  <a:cs typeface="Courier New"/>
                  <a:sym typeface="Courier New"/>
                </a:rPr>
                <a:t>B</a:t>
              </a:r>
              <a:r>
                <a:rPr lang="en-US" sz="950">
                  <a:solidFill>
                    <a:srgbClr val="F5F1E6"/>
                  </a:solidFill>
                  <a:latin typeface="Carlito"/>
                  <a:ea typeface="Carlito"/>
                  <a:cs typeface="Carlito"/>
                  <a:sym typeface="Carlito"/>
                </a:rPr>
                <a:t> are small, low-rank matrices. Only </a:t>
              </a:r>
              <a:r>
                <a:rPr lang="en-US" sz="950">
                  <a:solidFill>
                    <a:srgbClr val="F0B429"/>
                  </a:solidFill>
                  <a:latin typeface="Courier New"/>
                  <a:ea typeface="Courier New"/>
                  <a:cs typeface="Courier New"/>
                  <a:sym typeface="Courier New"/>
                </a:rPr>
                <a:t>A</a:t>
              </a:r>
              <a:r>
                <a:rPr lang="en-US" sz="950">
                  <a:solidFill>
                    <a:srgbClr val="F5F1E6"/>
                  </a:solidFill>
                  <a:latin typeface="Carlito"/>
                  <a:ea typeface="Carlito"/>
                  <a:cs typeface="Carlito"/>
                  <a:sym typeface="Carlito"/>
                </a:rPr>
                <a:t> and </a:t>
              </a:r>
              <a:r>
                <a:rPr lang="en-US" sz="950">
                  <a:solidFill>
                    <a:srgbClr val="F0B429"/>
                  </a:solidFill>
                  <a:latin typeface="Courier New"/>
                  <a:ea typeface="Courier New"/>
                  <a:cs typeface="Courier New"/>
                  <a:sym typeface="Courier New"/>
                </a:rPr>
                <a:t>B</a:t>
              </a:r>
              <a:r>
                <a:rPr lang="en-US" sz="950">
                  <a:solidFill>
                    <a:srgbClr val="F5F1E6"/>
                  </a:solidFill>
                  <a:latin typeface="Carlito"/>
                  <a:ea typeface="Carlito"/>
                  <a:cs typeface="Carlito"/>
                  <a:sym typeface="Carlito"/>
                </a:rPr>
                <a:t> are trained; </a:t>
              </a:r>
              <a:r>
                <a:rPr lang="en-US" sz="950">
                  <a:solidFill>
                    <a:srgbClr val="F0B429"/>
                  </a:solidFill>
                  <a:latin typeface="Courier New"/>
                  <a:ea typeface="Courier New"/>
                  <a:cs typeface="Courier New"/>
                  <a:sym typeface="Courier New"/>
                </a:rPr>
                <a:t>W</a:t>
              </a:r>
              <a:r>
                <a:rPr lang="en-US" sz="950">
                  <a:solidFill>
                    <a:srgbClr val="F5F1E6"/>
                  </a:solidFill>
                  <a:latin typeface="Carlito"/>
                  <a:ea typeface="Carlito"/>
                  <a:cs typeface="Carlito"/>
                  <a:sym typeface="Carlito"/>
                </a:rPr>
                <a:t> remains untouched.</a:t>
              </a:r>
              <a:endParaRPr sz="950">
                <a:solidFill>
                  <a:srgbClr val="F5F1E6"/>
                </a:solidFill>
                <a:latin typeface="Carlito"/>
                <a:ea typeface="Carlito"/>
                <a:cs typeface="Carlito"/>
                <a:sym typeface="Carlito"/>
              </a:endParaRPr>
            </a:p>
          </p:txBody>
        </p:sp>
      </p:grpSp>
      <p:grpSp>
        <p:nvGrpSpPr>
          <p:cNvPr id="403" name="Google Shape;403;p17"/>
          <p:cNvGrpSpPr/>
          <p:nvPr/>
        </p:nvGrpSpPr>
        <p:grpSpPr>
          <a:xfrm>
            <a:off x="457200" y="2428875"/>
            <a:ext cx="8229600" cy="2190900"/>
            <a:chOff x="457200" y="2428875"/>
            <a:chExt cx="8229600" cy="2190900"/>
          </a:xfrm>
        </p:grpSpPr>
        <p:sp>
          <p:nvSpPr>
            <p:cNvPr id="404" name="Google Shape;404;p17"/>
            <p:cNvSpPr/>
            <p:nvPr/>
          </p:nvSpPr>
          <p:spPr>
            <a:xfrm>
              <a:off x="457200" y="2428875"/>
              <a:ext cx="8229600" cy="2190900"/>
            </a:xfrm>
            <a:prstGeom prst="roundRect">
              <a:avLst>
                <a:gd fmla="val 3478"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17"/>
            <p:cNvSpPr/>
            <p:nvPr/>
          </p:nvSpPr>
          <p:spPr>
            <a:xfrm>
              <a:off x="457200" y="2428875"/>
              <a:ext cx="38100" cy="21909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6" name="Google Shape;406;p17"/>
            <p:cNvSpPr txBox="1"/>
            <p:nvPr/>
          </p:nvSpPr>
          <p:spPr>
            <a:xfrm>
              <a:off x="685800" y="2571750"/>
              <a:ext cx="77724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F0B429"/>
                  </a:solidFill>
                  <a:latin typeface="Courier New"/>
                  <a:ea typeface="Courier New"/>
                  <a:cs typeface="Courier New"/>
                  <a:sym typeface="Courier New"/>
                </a:rPr>
                <a:t>CORE EQUATION · LOW-RANK FACTORIZATION OF THE WEIGHT UPDATE</a:t>
              </a:r>
              <a:endParaRPr b="1" sz="800">
                <a:solidFill>
                  <a:srgbClr val="F0B429"/>
                </a:solidFill>
                <a:latin typeface="Courier New"/>
                <a:ea typeface="Courier New"/>
                <a:cs typeface="Courier New"/>
                <a:sym typeface="Courier New"/>
              </a:endParaRPr>
            </a:p>
          </p:txBody>
        </p:sp>
        <p:grpSp>
          <p:nvGrpSpPr>
            <p:cNvPr id="407" name="Google Shape;407;p17"/>
            <p:cNvGrpSpPr/>
            <p:nvPr/>
          </p:nvGrpSpPr>
          <p:grpSpPr>
            <a:xfrm>
              <a:off x="685800" y="2857500"/>
              <a:ext cx="1238400" cy="923925"/>
              <a:chOff x="685800" y="2857500"/>
              <a:chExt cx="1238400" cy="923925"/>
            </a:xfrm>
          </p:grpSpPr>
          <p:sp>
            <p:nvSpPr>
              <p:cNvPr id="408" name="Google Shape;408;p17"/>
              <p:cNvSpPr txBox="1"/>
              <p:nvPr/>
            </p:nvSpPr>
            <p:spPr>
              <a:xfrm>
                <a:off x="685800" y="2857500"/>
                <a:ext cx="1238400" cy="2382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lang="en-US" sz="800">
                    <a:solidFill>
                      <a:srgbClr val="94A3B8"/>
                    </a:solidFill>
                    <a:latin typeface="Carlito"/>
                    <a:ea typeface="Carlito"/>
                    <a:cs typeface="Carlito"/>
                    <a:sym typeface="Carlito"/>
                  </a:rPr>
                  <a:t>Frozen Pretrained</a:t>
                </a:r>
                <a:endParaRPr sz="800">
                  <a:solidFill>
                    <a:srgbClr val="94A3B8"/>
                  </a:solidFill>
                  <a:latin typeface="Carlito"/>
                  <a:ea typeface="Carlito"/>
                  <a:cs typeface="Carlito"/>
                  <a:sym typeface="Carlito"/>
                </a:endParaRPr>
              </a:p>
            </p:txBody>
          </p:sp>
          <p:sp>
            <p:nvSpPr>
              <p:cNvPr id="409" name="Google Shape;409;p17"/>
              <p:cNvSpPr/>
              <p:nvPr/>
            </p:nvSpPr>
            <p:spPr>
              <a:xfrm>
                <a:off x="685800" y="3143250"/>
                <a:ext cx="1238400" cy="400200"/>
              </a:xfrm>
              <a:prstGeom prst="roundRect">
                <a:avLst>
                  <a:gd fmla="val 14285"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17"/>
              <p:cNvSpPr txBox="1"/>
              <p:nvPr/>
            </p:nvSpPr>
            <p:spPr>
              <a:xfrm>
                <a:off x="685800" y="3143250"/>
                <a:ext cx="12384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94A3B8"/>
                    </a:solidFill>
                    <a:latin typeface="Courier New"/>
                    <a:ea typeface="Courier New"/>
                    <a:cs typeface="Courier New"/>
                    <a:sym typeface="Courier New"/>
                  </a:rPr>
                  <a:t>W_froz</a:t>
                </a:r>
                <a:endParaRPr b="1" sz="1400">
                  <a:solidFill>
                    <a:srgbClr val="94A3B8"/>
                  </a:solidFill>
                  <a:latin typeface="Courier New"/>
                  <a:ea typeface="Courier New"/>
                  <a:cs typeface="Courier New"/>
                  <a:sym typeface="Courier New"/>
                </a:endParaRPr>
              </a:p>
            </p:txBody>
          </p:sp>
          <p:sp>
            <p:nvSpPr>
              <p:cNvPr id="411" name="Google Shape;411;p17"/>
              <p:cNvSpPr txBox="1"/>
              <p:nvPr/>
            </p:nvSpPr>
            <p:spPr>
              <a:xfrm>
                <a:off x="685800" y="3590925"/>
                <a:ext cx="12384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US" sz="950">
                    <a:solidFill>
                      <a:srgbClr val="F0B429"/>
                    </a:solidFill>
                    <a:latin typeface="Courier New"/>
                    <a:ea typeface="Courier New"/>
                    <a:cs typeface="Courier New"/>
                    <a:sym typeface="Courier New"/>
                  </a:rPr>
                  <a:t>(d × k)</a:t>
                </a:r>
                <a:endParaRPr sz="950">
                  <a:solidFill>
                    <a:srgbClr val="F0B429"/>
                  </a:solidFill>
                  <a:latin typeface="Courier New"/>
                  <a:ea typeface="Courier New"/>
                  <a:cs typeface="Courier New"/>
                  <a:sym typeface="Courier New"/>
                </a:endParaRPr>
              </a:p>
            </p:txBody>
          </p:sp>
        </p:grpSp>
        <p:sp>
          <p:nvSpPr>
            <p:cNvPr id="412" name="Google Shape;412;p17"/>
            <p:cNvSpPr txBox="1"/>
            <p:nvPr/>
          </p:nvSpPr>
          <p:spPr>
            <a:xfrm>
              <a:off x="2019300" y="3143250"/>
              <a:ext cx="238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F0B429"/>
                  </a:solidFill>
                  <a:latin typeface="Courier New"/>
                  <a:ea typeface="Courier New"/>
                  <a:cs typeface="Courier New"/>
                  <a:sym typeface="Courier New"/>
                </a:rPr>
                <a:t>+</a:t>
              </a:r>
              <a:endParaRPr sz="1800">
                <a:solidFill>
                  <a:srgbClr val="F0B429"/>
                </a:solidFill>
                <a:latin typeface="Courier New"/>
                <a:ea typeface="Courier New"/>
                <a:cs typeface="Courier New"/>
                <a:sym typeface="Courier New"/>
              </a:endParaRPr>
            </a:p>
          </p:txBody>
        </p:sp>
        <p:grpSp>
          <p:nvGrpSpPr>
            <p:cNvPr id="413" name="Google Shape;413;p17"/>
            <p:cNvGrpSpPr/>
            <p:nvPr/>
          </p:nvGrpSpPr>
          <p:grpSpPr>
            <a:xfrm>
              <a:off x="2352675" y="2857500"/>
              <a:ext cx="1428900" cy="923925"/>
              <a:chOff x="2352675" y="2857500"/>
              <a:chExt cx="1428900" cy="923925"/>
            </a:xfrm>
          </p:grpSpPr>
          <p:sp>
            <p:nvSpPr>
              <p:cNvPr id="414" name="Google Shape;414;p17"/>
              <p:cNvSpPr txBox="1"/>
              <p:nvPr/>
            </p:nvSpPr>
            <p:spPr>
              <a:xfrm>
                <a:off x="2352675" y="2857500"/>
                <a:ext cx="1428900" cy="2382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lang="en-US" sz="800">
                    <a:solidFill>
                      <a:srgbClr val="94A3B8"/>
                    </a:solidFill>
                    <a:latin typeface="Carlito"/>
                    <a:ea typeface="Carlito"/>
                    <a:cs typeface="Carlito"/>
                    <a:sym typeface="Carlito"/>
                  </a:rPr>
                  <a:t>Trainable Update</a:t>
                </a:r>
                <a:endParaRPr sz="800">
                  <a:solidFill>
                    <a:srgbClr val="94A3B8"/>
                  </a:solidFill>
                  <a:latin typeface="Carlito"/>
                  <a:ea typeface="Carlito"/>
                  <a:cs typeface="Carlito"/>
                  <a:sym typeface="Carlito"/>
                </a:endParaRPr>
              </a:p>
            </p:txBody>
          </p:sp>
          <p:sp>
            <p:nvSpPr>
              <p:cNvPr id="415" name="Google Shape;415;p17"/>
              <p:cNvSpPr/>
              <p:nvPr/>
            </p:nvSpPr>
            <p:spPr>
              <a:xfrm>
                <a:off x="2352675" y="3143250"/>
                <a:ext cx="1428900" cy="400200"/>
              </a:xfrm>
              <a:prstGeom prst="roundRect">
                <a:avLst>
                  <a:gd fmla="val 14285" name="adj"/>
                </a:avLst>
              </a:prstGeom>
              <a:solidFill>
                <a:srgbClr val="F0B429">
                  <a:alpha val="12000"/>
                </a:srgbClr>
              </a:solidFill>
              <a:ln cap="flat" cmpd="sng" w="14300">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17"/>
              <p:cNvSpPr txBox="1"/>
              <p:nvPr/>
            </p:nvSpPr>
            <p:spPr>
              <a:xfrm>
                <a:off x="2352675" y="3143250"/>
                <a:ext cx="14289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0B429"/>
                    </a:solidFill>
                    <a:latin typeface="Courier New"/>
                    <a:ea typeface="Courier New"/>
                    <a:cs typeface="Courier New"/>
                    <a:sym typeface="Courier New"/>
                  </a:rPr>
                  <a:t>ΔW_train</a:t>
                </a:r>
                <a:endParaRPr b="1" sz="1400">
                  <a:solidFill>
                    <a:srgbClr val="F0B429"/>
                  </a:solidFill>
                  <a:latin typeface="Courier New"/>
                  <a:ea typeface="Courier New"/>
                  <a:cs typeface="Courier New"/>
                  <a:sym typeface="Courier New"/>
                </a:endParaRPr>
              </a:p>
            </p:txBody>
          </p:sp>
          <p:sp>
            <p:nvSpPr>
              <p:cNvPr id="417" name="Google Shape;417;p17"/>
              <p:cNvSpPr txBox="1"/>
              <p:nvPr/>
            </p:nvSpPr>
            <p:spPr>
              <a:xfrm>
                <a:off x="2352675" y="3590925"/>
                <a:ext cx="14289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US" sz="950">
                    <a:solidFill>
                      <a:srgbClr val="F0B429"/>
                    </a:solidFill>
                    <a:latin typeface="Courier New"/>
                    <a:ea typeface="Courier New"/>
                    <a:cs typeface="Courier New"/>
                    <a:sym typeface="Courier New"/>
                  </a:rPr>
                  <a:t>delta-W</a:t>
                </a:r>
                <a:endParaRPr sz="950">
                  <a:solidFill>
                    <a:srgbClr val="F0B429"/>
                  </a:solidFill>
                  <a:latin typeface="Courier New"/>
                  <a:ea typeface="Courier New"/>
                  <a:cs typeface="Courier New"/>
                  <a:sym typeface="Courier New"/>
                </a:endParaRPr>
              </a:p>
            </p:txBody>
          </p:sp>
        </p:grpSp>
        <p:sp>
          <p:nvSpPr>
            <p:cNvPr id="418" name="Google Shape;418;p17"/>
            <p:cNvSpPr txBox="1"/>
            <p:nvPr/>
          </p:nvSpPr>
          <p:spPr>
            <a:xfrm>
              <a:off x="3876675" y="3143250"/>
              <a:ext cx="238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F0B429"/>
                  </a:solidFill>
                  <a:latin typeface="Courier New"/>
                  <a:ea typeface="Courier New"/>
                  <a:cs typeface="Courier New"/>
                  <a:sym typeface="Courier New"/>
                </a:rPr>
                <a:t>=</a:t>
              </a:r>
              <a:endParaRPr sz="1800">
                <a:solidFill>
                  <a:srgbClr val="F0B429"/>
                </a:solidFill>
                <a:latin typeface="Courier New"/>
                <a:ea typeface="Courier New"/>
                <a:cs typeface="Courier New"/>
                <a:sym typeface="Courier New"/>
              </a:endParaRPr>
            </a:p>
          </p:txBody>
        </p:sp>
        <p:grpSp>
          <p:nvGrpSpPr>
            <p:cNvPr id="419" name="Google Shape;419;p17"/>
            <p:cNvGrpSpPr/>
            <p:nvPr/>
          </p:nvGrpSpPr>
          <p:grpSpPr>
            <a:xfrm>
              <a:off x="4210050" y="2857500"/>
              <a:ext cx="1238400" cy="923925"/>
              <a:chOff x="4210050" y="2857500"/>
              <a:chExt cx="1238400" cy="923925"/>
            </a:xfrm>
          </p:grpSpPr>
          <p:sp>
            <p:nvSpPr>
              <p:cNvPr id="420" name="Google Shape;420;p17"/>
              <p:cNvSpPr txBox="1"/>
              <p:nvPr/>
            </p:nvSpPr>
            <p:spPr>
              <a:xfrm>
                <a:off x="4210050" y="2857500"/>
                <a:ext cx="1238400" cy="2382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lang="en-US" sz="800">
                    <a:solidFill>
                      <a:srgbClr val="94A3B8"/>
                    </a:solidFill>
                    <a:latin typeface="Carlito"/>
                    <a:ea typeface="Carlito"/>
                    <a:cs typeface="Carlito"/>
                    <a:sym typeface="Carlito"/>
                  </a:rPr>
                  <a:t>Frozen Pretrained</a:t>
                </a:r>
                <a:endParaRPr sz="800">
                  <a:solidFill>
                    <a:srgbClr val="94A3B8"/>
                  </a:solidFill>
                  <a:latin typeface="Carlito"/>
                  <a:ea typeface="Carlito"/>
                  <a:cs typeface="Carlito"/>
                  <a:sym typeface="Carlito"/>
                </a:endParaRPr>
              </a:p>
            </p:txBody>
          </p:sp>
          <p:sp>
            <p:nvSpPr>
              <p:cNvPr id="421" name="Google Shape;421;p17"/>
              <p:cNvSpPr/>
              <p:nvPr/>
            </p:nvSpPr>
            <p:spPr>
              <a:xfrm>
                <a:off x="4210050" y="3143250"/>
                <a:ext cx="1238400" cy="400200"/>
              </a:xfrm>
              <a:prstGeom prst="roundRect">
                <a:avLst>
                  <a:gd fmla="val 14285"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2" name="Google Shape;422;p17"/>
              <p:cNvSpPr txBox="1"/>
              <p:nvPr/>
            </p:nvSpPr>
            <p:spPr>
              <a:xfrm>
                <a:off x="4210050" y="3143250"/>
                <a:ext cx="12384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94A3B8"/>
                    </a:solidFill>
                    <a:latin typeface="Courier New"/>
                    <a:ea typeface="Courier New"/>
                    <a:cs typeface="Courier New"/>
                    <a:sym typeface="Courier New"/>
                  </a:rPr>
                  <a:t>W_froz</a:t>
                </a:r>
                <a:endParaRPr b="1" sz="1400">
                  <a:solidFill>
                    <a:srgbClr val="94A3B8"/>
                  </a:solidFill>
                  <a:latin typeface="Courier New"/>
                  <a:ea typeface="Courier New"/>
                  <a:cs typeface="Courier New"/>
                  <a:sym typeface="Courier New"/>
                </a:endParaRPr>
              </a:p>
            </p:txBody>
          </p:sp>
          <p:sp>
            <p:nvSpPr>
              <p:cNvPr id="423" name="Google Shape;423;p17"/>
              <p:cNvSpPr txBox="1"/>
              <p:nvPr/>
            </p:nvSpPr>
            <p:spPr>
              <a:xfrm>
                <a:off x="4210050" y="3590925"/>
                <a:ext cx="12384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US" sz="950">
                    <a:solidFill>
                      <a:srgbClr val="F0B429"/>
                    </a:solidFill>
                    <a:latin typeface="Courier New"/>
                    <a:ea typeface="Courier New"/>
                    <a:cs typeface="Courier New"/>
                    <a:sym typeface="Courier New"/>
                  </a:rPr>
                  <a:t>(d × k)</a:t>
                </a:r>
                <a:endParaRPr sz="950">
                  <a:solidFill>
                    <a:srgbClr val="F0B429"/>
                  </a:solidFill>
                  <a:latin typeface="Courier New"/>
                  <a:ea typeface="Courier New"/>
                  <a:cs typeface="Courier New"/>
                  <a:sym typeface="Courier New"/>
                </a:endParaRPr>
              </a:p>
            </p:txBody>
          </p:sp>
        </p:grpSp>
        <p:sp>
          <p:nvSpPr>
            <p:cNvPr id="424" name="Google Shape;424;p17"/>
            <p:cNvSpPr txBox="1"/>
            <p:nvPr/>
          </p:nvSpPr>
          <p:spPr>
            <a:xfrm>
              <a:off x="5543550" y="3143250"/>
              <a:ext cx="238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F0B429"/>
                  </a:solidFill>
                  <a:latin typeface="Courier New"/>
                  <a:ea typeface="Courier New"/>
                  <a:cs typeface="Courier New"/>
                  <a:sym typeface="Courier New"/>
                </a:rPr>
                <a:t>+</a:t>
              </a:r>
              <a:endParaRPr sz="1800">
                <a:solidFill>
                  <a:srgbClr val="F0B429"/>
                </a:solidFill>
                <a:latin typeface="Courier New"/>
                <a:ea typeface="Courier New"/>
                <a:cs typeface="Courier New"/>
                <a:sym typeface="Courier New"/>
              </a:endParaRPr>
            </a:p>
          </p:txBody>
        </p:sp>
        <p:grpSp>
          <p:nvGrpSpPr>
            <p:cNvPr id="425" name="Google Shape;425;p17"/>
            <p:cNvGrpSpPr/>
            <p:nvPr/>
          </p:nvGrpSpPr>
          <p:grpSpPr>
            <a:xfrm>
              <a:off x="5876925" y="2857500"/>
              <a:ext cx="2095500" cy="971625"/>
              <a:chOff x="5876925" y="2857500"/>
              <a:chExt cx="2095500" cy="971625"/>
            </a:xfrm>
          </p:grpSpPr>
          <p:sp>
            <p:nvSpPr>
              <p:cNvPr id="426" name="Google Shape;426;p17"/>
              <p:cNvSpPr txBox="1"/>
              <p:nvPr/>
            </p:nvSpPr>
            <p:spPr>
              <a:xfrm>
                <a:off x="5876925" y="2857500"/>
                <a:ext cx="2095500" cy="2382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lang="en-US" sz="800">
                    <a:solidFill>
                      <a:srgbClr val="94A3B8"/>
                    </a:solidFill>
                    <a:latin typeface="Carlito"/>
                    <a:ea typeface="Carlito"/>
                    <a:cs typeface="Carlito"/>
                    <a:sym typeface="Carlito"/>
                  </a:rPr>
                  <a:t>Trainable Low-Rank Update</a:t>
                </a:r>
                <a:endParaRPr sz="800">
                  <a:solidFill>
                    <a:srgbClr val="94A3B8"/>
                  </a:solidFill>
                  <a:latin typeface="Carlito"/>
                  <a:ea typeface="Carlito"/>
                  <a:cs typeface="Carlito"/>
                  <a:sym typeface="Carlito"/>
                </a:endParaRPr>
              </a:p>
            </p:txBody>
          </p:sp>
          <p:sp>
            <p:nvSpPr>
              <p:cNvPr id="427" name="Google Shape;427;p17"/>
              <p:cNvSpPr/>
              <p:nvPr/>
            </p:nvSpPr>
            <p:spPr>
              <a:xfrm>
                <a:off x="5876925" y="3143250"/>
                <a:ext cx="2095500" cy="400200"/>
              </a:xfrm>
              <a:prstGeom prst="roundRect">
                <a:avLst>
                  <a:gd fmla="val 14285" name="adj"/>
                </a:avLst>
              </a:prstGeom>
              <a:solidFill>
                <a:srgbClr val="F0B429">
                  <a:alpha val="12000"/>
                </a:srgbClr>
              </a:solidFill>
              <a:ln cap="flat" cmpd="sng" w="14300">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17"/>
              <p:cNvSpPr txBox="1"/>
              <p:nvPr/>
            </p:nvSpPr>
            <p:spPr>
              <a:xfrm>
                <a:off x="5876925" y="3143250"/>
                <a:ext cx="20955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0B429"/>
                    </a:solidFill>
                    <a:latin typeface="Courier New"/>
                    <a:ea typeface="Courier New"/>
                    <a:cs typeface="Courier New"/>
                    <a:sym typeface="Courier New"/>
                  </a:rPr>
                  <a:t>B × A</a:t>
                </a:r>
                <a:endParaRPr b="1" sz="1400">
                  <a:solidFill>
                    <a:srgbClr val="F0B429"/>
                  </a:solidFill>
                  <a:latin typeface="Courier New"/>
                  <a:ea typeface="Courier New"/>
                  <a:cs typeface="Courier New"/>
                  <a:sym typeface="Courier New"/>
                </a:endParaRPr>
              </a:p>
            </p:txBody>
          </p:sp>
          <p:sp>
            <p:nvSpPr>
              <p:cNvPr id="429" name="Google Shape;429;p17"/>
              <p:cNvSpPr txBox="1"/>
              <p:nvPr/>
            </p:nvSpPr>
            <p:spPr>
              <a:xfrm>
                <a:off x="5876925" y="3590925"/>
                <a:ext cx="2095500" cy="238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US" sz="680">
                    <a:solidFill>
                      <a:srgbClr val="F0B429"/>
                    </a:solidFill>
                    <a:latin typeface="Courier New"/>
                    <a:ea typeface="Courier New"/>
                    <a:cs typeface="Courier New"/>
                    <a:sym typeface="Courier New"/>
                  </a:rPr>
                  <a:t>B: (d × r) · A: (r × k)</a:t>
                </a:r>
                <a:endParaRPr sz="680">
                  <a:solidFill>
                    <a:srgbClr val="F0B429"/>
                  </a:solidFill>
                  <a:latin typeface="Courier New"/>
                  <a:ea typeface="Courier New"/>
                  <a:cs typeface="Courier New"/>
                  <a:sym typeface="Courier New"/>
                </a:endParaRPr>
              </a:p>
              <a:p>
                <a:pPr indent="0" lvl="0" marL="0" rtl="0" algn="ctr">
                  <a:spcBef>
                    <a:spcPts val="150"/>
                  </a:spcBef>
                  <a:spcAft>
                    <a:spcPts val="0"/>
                  </a:spcAft>
                  <a:buNone/>
                </a:pPr>
                <a:r>
                  <a:rPr i="1" lang="en-US" sz="680">
                    <a:solidFill>
                      <a:srgbClr val="94A3B8"/>
                    </a:solidFill>
                    <a:latin typeface="Carlito"/>
                    <a:ea typeface="Carlito"/>
                    <a:cs typeface="Carlito"/>
                    <a:sym typeface="Carlito"/>
                  </a:rPr>
                  <a:t>where r is small</a:t>
                </a:r>
                <a:endParaRPr i="1" sz="680">
                  <a:solidFill>
                    <a:srgbClr val="94A3B8"/>
                  </a:solidFill>
                  <a:latin typeface="Carlito"/>
                  <a:ea typeface="Carlito"/>
                  <a:cs typeface="Carlito"/>
                  <a:sym typeface="Carlito"/>
                </a:endParaRPr>
              </a:p>
            </p:txBody>
          </p:sp>
        </p:grpSp>
        <p:pic>
          <p:nvPicPr>
            <p:cNvPr id="430" name="Google Shape;430;p17"/>
            <p:cNvPicPr preferRelativeResize="0"/>
            <p:nvPr/>
          </p:nvPicPr>
          <p:blipFill rotWithShape="1">
            <a:blip r:embed="rId3">
              <a:alphaModFix/>
            </a:blip>
            <a:srcRect b="0" l="0" r="0" t="0"/>
            <a:stretch/>
          </p:blipFill>
          <p:spPr>
            <a:xfrm>
              <a:off x="685800" y="3976688"/>
              <a:ext cx="7734300" cy="9600"/>
            </a:xfrm>
            <a:prstGeom prst="rect">
              <a:avLst/>
            </a:prstGeom>
            <a:noFill/>
            <a:ln>
              <a:noFill/>
            </a:ln>
          </p:spPr>
        </p:pic>
        <p:sp>
          <p:nvSpPr>
            <p:cNvPr id="431" name="Google Shape;431;p17"/>
            <p:cNvSpPr txBox="1"/>
            <p:nvPr/>
          </p:nvSpPr>
          <p:spPr>
            <a:xfrm>
              <a:off x="685800" y="4124325"/>
              <a:ext cx="7772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0">
                  <a:solidFill>
                    <a:srgbClr val="94A3B8"/>
                  </a:solidFill>
                  <a:latin typeface="Courier New"/>
                  <a:ea typeface="Courier New"/>
                  <a:cs typeface="Courier New"/>
                  <a:sym typeface="Courier New"/>
                </a:rPr>
                <a:t>Forward pass: </a:t>
              </a:r>
              <a:r>
                <a:rPr b="1" lang="en-US" sz="1100">
                  <a:solidFill>
                    <a:srgbClr val="F0B429"/>
                  </a:solidFill>
                  <a:latin typeface="Courier New"/>
                  <a:ea typeface="Courier New"/>
                  <a:cs typeface="Courier New"/>
                  <a:sym typeface="Courier New"/>
                </a:rPr>
                <a:t>y = W·x + B·A·x</a:t>
              </a:r>
              <a:endParaRPr sz="1100">
                <a:solidFill>
                  <a:srgbClr val="94A3B8"/>
                </a:solidFill>
                <a:latin typeface="Courier New"/>
                <a:ea typeface="Courier New"/>
                <a:cs typeface="Courier New"/>
                <a:sym typeface="Courier New"/>
              </a:endParaRPr>
            </a:p>
          </p:txBody>
        </p:sp>
      </p:grpSp>
      <p:sp>
        <p:nvSpPr>
          <p:cNvPr id="432" name="Google Shape;432;p17"/>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433" name="Google Shape;433;p17"/>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15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438" name="Shape 438"/>
        <p:cNvGrpSpPr/>
        <p:nvPr/>
      </p:nvGrpSpPr>
      <p:grpSpPr>
        <a:xfrm>
          <a:off x="0" y="0"/>
          <a:ext cx="0" cy="0"/>
          <a:chOff x="0" y="0"/>
          <a:chExt cx="0" cy="0"/>
        </a:xfrm>
      </p:grpSpPr>
      <p:sp>
        <p:nvSpPr>
          <p:cNvPr id="439" name="Google Shape;439;p18"/>
          <p:cNvSpPr/>
          <p:nvPr/>
        </p:nvSpPr>
        <p:spPr>
          <a:xfrm>
            <a:off x="457200" y="458986"/>
            <a:ext cx="18738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03 · PEFT &amp; LORA</a:t>
            </a:r>
            <a:endParaRPr b="0" i="0" sz="800" u="none" cap="none" strike="noStrike">
              <a:solidFill>
                <a:schemeClr val="dk1"/>
              </a:solidFill>
              <a:latin typeface="Calibri"/>
              <a:ea typeface="Calibri"/>
              <a:cs typeface="Calibri"/>
              <a:sym typeface="Calibri"/>
            </a:endParaRPr>
          </a:p>
        </p:txBody>
      </p:sp>
      <p:sp>
        <p:nvSpPr>
          <p:cNvPr id="440" name="Google Shape;440;p18"/>
          <p:cNvSpPr/>
          <p:nvPr/>
        </p:nvSpPr>
        <p:spPr>
          <a:xfrm>
            <a:off x="457200" y="662583"/>
            <a:ext cx="8636100" cy="312600"/>
          </a:xfrm>
          <a:prstGeom prst="rect">
            <a:avLst/>
          </a:prstGeom>
          <a:noFill/>
          <a:ln>
            <a:noFill/>
          </a:ln>
        </p:spPr>
        <p:txBody>
          <a:bodyPr anchorCtr="0" anchor="t" bIns="0" lIns="0" spcFirstLastPara="1" rIns="0" wrap="square" tIns="0">
            <a:noAutofit/>
          </a:bodyPr>
          <a:lstStyle/>
          <a:p>
            <a:pPr indent="0" lvl="0" marL="0" marR="0" rtl="0" algn="l">
              <a:lnSpc>
                <a:spcPct val="115010"/>
              </a:lnSpc>
              <a:spcBef>
                <a:spcPts val="0"/>
              </a:spcBef>
              <a:spcAft>
                <a:spcPts val="0"/>
              </a:spcAft>
              <a:buClr>
                <a:srgbClr val="F0B429"/>
              </a:buClr>
              <a:buSzPts val="1687"/>
              <a:buFont typeface="Courier New"/>
              <a:buNone/>
            </a:pPr>
            <a:r>
              <a:rPr b="1" i="0" lang="en-US" sz="1688" u="none" cap="none" strike="noStrike">
                <a:solidFill>
                  <a:srgbClr val="F0B429"/>
                </a:solidFill>
                <a:latin typeface="Courier New"/>
                <a:ea typeface="Courier New"/>
                <a:cs typeface="Courier New"/>
                <a:sym typeface="Courier New"/>
              </a:rPr>
              <a:t>LoRA</a:t>
            </a:r>
            <a:r>
              <a:rPr b="1" i="0" lang="en-US" sz="1913" u="none" cap="none" strike="noStrike">
                <a:solidFill>
                  <a:srgbClr val="F5F1E6"/>
                </a:solidFill>
                <a:latin typeface="Carlito"/>
                <a:ea typeface="Carlito"/>
                <a:cs typeface="Carlito"/>
                <a:sym typeface="Carlito"/>
              </a:rPr>
              <a:t>'s Rank Parameter (</a:t>
            </a:r>
            <a:r>
              <a:rPr b="1" i="0" lang="en-US" sz="1688" u="none" cap="none" strike="noStrike">
                <a:solidFill>
                  <a:srgbClr val="F0B429"/>
                </a:solidFill>
                <a:latin typeface="Courier New"/>
                <a:ea typeface="Courier New"/>
                <a:cs typeface="Courier New"/>
                <a:sym typeface="Courier New"/>
              </a:rPr>
              <a:t>r</a:t>
            </a:r>
            <a:r>
              <a:rPr b="1" i="0" lang="en-US" sz="1913" u="none" cap="none" strike="noStrike">
                <a:solidFill>
                  <a:srgbClr val="F5F1E6"/>
                </a:solidFill>
                <a:latin typeface="Carlito"/>
                <a:ea typeface="Carlito"/>
                <a:cs typeface="Carlito"/>
                <a:sym typeface="Carlito"/>
              </a:rPr>
              <a:t>) — Where the Savings Come From</a:t>
            </a:r>
            <a:endParaRPr b="0" i="0" sz="1913" u="none" cap="none" strike="noStrike">
              <a:solidFill>
                <a:schemeClr val="dk1"/>
              </a:solidFill>
              <a:latin typeface="Calibri"/>
              <a:ea typeface="Calibri"/>
              <a:cs typeface="Calibri"/>
              <a:sym typeface="Calibri"/>
            </a:endParaRPr>
          </a:p>
        </p:txBody>
      </p:sp>
      <p:sp>
        <p:nvSpPr>
          <p:cNvPr id="441" name="Google Shape;441;p18"/>
          <p:cNvSpPr txBox="1"/>
          <p:nvPr/>
        </p:nvSpPr>
        <p:spPr>
          <a:xfrm>
            <a:off x="457200" y="1028700"/>
            <a:ext cx="82296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F5F1E6"/>
                </a:solidFill>
                <a:latin typeface="Carlito"/>
                <a:ea typeface="Carlito"/>
                <a:cs typeface="Carlito"/>
                <a:sym typeface="Carlito"/>
              </a:rPr>
              <a:t>For a weight matrix of size </a:t>
            </a:r>
            <a:r>
              <a:rPr b="0" lang="en-US" sz="1000">
                <a:solidFill>
                  <a:srgbClr val="F0B429"/>
                </a:solidFill>
                <a:latin typeface="Courier New"/>
                <a:ea typeface="Courier New"/>
                <a:cs typeface="Courier New"/>
                <a:sym typeface="Courier New"/>
              </a:rPr>
              <a:t>d × k</a:t>
            </a:r>
            <a:r>
              <a:rPr b="0" lang="en-US" sz="1000">
                <a:solidFill>
                  <a:srgbClr val="F5F1E6"/>
                </a:solidFill>
                <a:latin typeface="Carlito"/>
                <a:ea typeface="Carlito"/>
                <a:cs typeface="Carlito"/>
                <a:sym typeface="Carlito"/>
              </a:rPr>
              <a:t>, a full update has </a:t>
            </a:r>
            <a:r>
              <a:rPr b="0" lang="en-US" sz="1000">
                <a:solidFill>
                  <a:srgbClr val="F0B429"/>
                </a:solidFill>
                <a:latin typeface="Courier New"/>
                <a:ea typeface="Courier New"/>
                <a:cs typeface="Courier New"/>
                <a:sym typeface="Courier New"/>
              </a:rPr>
              <a:t>d × k</a:t>
            </a:r>
            <a:r>
              <a:rPr b="0" lang="en-US" sz="1000">
                <a:solidFill>
                  <a:srgbClr val="F5F1E6"/>
                </a:solidFill>
                <a:latin typeface="Carlito"/>
                <a:ea typeface="Carlito"/>
                <a:cs typeface="Carlito"/>
                <a:sym typeface="Carlito"/>
              </a:rPr>
              <a:t> trainable parameters. </a:t>
            </a:r>
            <a:r>
              <a:rPr b="0" lang="en-US" sz="1000">
                <a:solidFill>
                  <a:srgbClr val="F0B429"/>
                </a:solidFill>
                <a:latin typeface="Courier New"/>
                <a:ea typeface="Courier New"/>
                <a:cs typeface="Courier New"/>
                <a:sym typeface="Courier New"/>
              </a:rPr>
              <a:t>LoRA</a:t>
            </a:r>
            <a:r>
              <a:rPr b="0" lang="en-US" sz="1000">
                <a:solidFill>
                  <a:srgbClr val="F5F1E6"/>
                </a:solidFill>
                <a:latin typeface="Carlito"/>
                <a:ea typeface="Carlito"/>
                <a:cs typeface="Carlito"/>
                <a:sym typeface="Carlito"/>
              </a:rPr>
              <a:t> instead uses two matrices, </a:t>
            </a:r>
            <a:r>
              <a:rPr b="0" lang="en-US" sz="1000">
                <a:solidFill>
                  <a:srgbClr val="F0B429"/>
                </a:solidFill>
                <a:latin typeface="Courier New"/>
                <a:ea typeface="Courier New"/>
                <a:cs typeface="Courier New"/>
                <a:sym typeface="Courier New"/>
              </a:rPr>
              <a:t>A (r × k)</a:t>
            </a:r>
            <a:r>
              <a:rPr b="0" lang="en-US" sz="1000">
                <a:solidFill>
                  <a:srgbClr val="F5F1E6"/>
                </a:solidFill>
                <a:latin typeface="Carlito"/>
                <a:ea typeface="Carlito"/>
                <a:cs typeface="Carlito"/>
                <a:sym typeface="Carlito"/>
              </a:rPr>
              <a:t> and </a:t>
            </a:r>
            <a:r>
              <a:rPr b="0" lang="en-US" sz="1000">
                <a:solidFill>
                  <a:srgbClr val="F0B429"/>
                </a:solidFill>
                <a:latin typeface="Courier New"/>
                <a:ea typeface="Courier New"/>
                <a:cs typeface="Courier New"/>
                <a:sym typeface="Courier New"/>
              </a:rPr>
              <a:t>B (d × r)</a:t>
            </a:r>
            <a:r>
              <a:rPr b="0" lang="en-US" sz="1000">
                <a:solidFill>
                  <a:srgbClr val="F5F1E6"/>
                </a:solidFill>
                <a:latin typeface="Carlito"/>
                <a:ea typeface="Carlito"/>
                <a:cs typeface="Carlito"/>
                <a:sym typeface="Carlito"/>
              </a:rPr>
              <a:t>, where </a:t>
            </a:r>
            <a:r>
              <a:rPr b="0" lang="en-US" sz="1000">
                <a:solidFill>
                  <a:srgbClr val="F0B429"/>
                </a:solidFill>
                <a:latin typeface="Courier New"/>
                <a:ea typeface="Courier New"/>
                <a:cs typeface="Courier New"/>
                <a:sym typeface="Courier New"/>
              </a:rPr>
              <a:t>r</a:t>
            </a:r>
            <a:r>
              <a:rPr b="0" lang="en-US" sz="1000">
                <a:solidFill>
                  <a:srgbClr val="F5F1E6"/>
                </a:solidFill>
                <a:latin typeface="Carlito"/>
                <a:ea typeface="Carlito"/>
                <a:cs typeface="Carlito"/>
                <a:sym typeface="Carlito"/>
              </a:rPr>
              <a:t> — the rank — is a small number chosen by the practitioner (commonly </a:t>
            </a:r>
            <a:r>
              <a:rPr b="0" lang="en-US" sz="1000">
                <a:solidFill>
                  <a:srgbClr val="F0B429"/>
                </a:solidFill>
                <a:latin typeface="Courier New"/>
                <a:ea typeface="Courier New"/>
                <a:cs typeface="Courier New"/>
                <a:sym typeface="Courier New"/>
              </a:rPr>
              <a:t>4</a:t>
            </a:r>
            <a:r>
              <a:rPr b="0" lang="en-US" sz="1000">
                <a:solidFill>
                  <a:srgbClr val="F5F1E6"/>
                </a:solidFill>
                <a:latin typeface="Carlito"/>
                <a:ea typeface="Carlito"/>
                <a:cs typeface="Carlito"/>
                <a:sym typeface="Carlito"/>
              </a:rPr>
              <a:t>, </a:t>
            </a:r>
            <a:r>
              <a:rPr b="0" lang="en-US" sz="1000">
                <a:solidFill>
                  <a:srgbClr val="F0B429"/>
                </a:solidFill>
                <a:latin typeface="Courier New"/>
                <a:ea typeface="Courier New"/>
                <a:cs typeface="Courier New"/>
                <a:sym typeface="Courier New"/>
              </a:rPr>
              <a:t>8</a:t>
            </a:r>
            <a:r>
              <a:rPr b="0" lang="en-US" sz="1000">
                <a:solidFill>
                  <a:srgbClr val="F5F1E6"/>
                </a:solidFill>
                <a:latin typeface="Carlito"/>
                <a:ea typeface="Carlito"/>
                <a:cs typeface="Carlito"/>
                <a:sym typeface="Carlito"/>
              </a:rPr>
              <a:t>, or </a:t>
            </a:r>
            <a:r>
              <a:rPr b="0" lang="en-US" sz="1000">
                <a:solidFill>
                  <a:srgbClr val="F0B429"/>
                </a:solidFill>
                <a:latin typeface="Courier New"/>
                <a:ea typeface="Courier New"/>
                <a:cs typeface="Courier New"/>
                <a:sym typeface="Courier New"/>
              </a:rPr>
              <a:t>16</a:t>
            </a:r>
            <a:r>
              <a:rPr b="0" lang="en-US" sz="1000">
                <a:solidFill>
                  <a:srgbClr val="F5F1E6"/>
                </a:solidFill>
                <a:latin typeface="Carlito"/>
                <a:ea typeface="Carlito"/>
                <a:cs typeface="Carlito"/>
                <a:sym typeface="Carlito"/>
              </a:rPr>
              <a:t>).</a:t>
            </a:r>
            <a:endParaRPr b="0" sz="1000">
              <a:solidFill>
                <a:srgbClr val="F5F1E6"/>
              </a:solidFill>
              <a:latin typeface="Carlito"/>
              <a:ea typeface="Carlito"/>
              <a:cs typeface="Carlito"/>
              <a:sym typeface="Carlito"/>
            </a:endParaRPr>
          </a:p>
        </p:txBody>
      </p:sp>
      <p:grpSp>
        <p:nvGrpSpPr>
          <p:cNvPr id="442" name="Google Shape;442;p18"/>
          <p:cNvGrpSpPr/>
          <p:nvPr/>
        </p:nvGrpSpPr>
        <p:grpSpPr>
          <a:xfrm>
            <a:off x="457200" y="1524000"/>
            <a:ext cx="3962400" cy="1905000"/>
            <a:chOff x="457200" y="1524000"/>
            <a:chExt cx="3962400" cy="1905000"/>
          </a:xfrm>
        </p:grpSpPr>
        <p:sp>
          <p:nvSpPr>
            <p:cNvPr id="443" name="Google Shape;443;p18"/>
            <p:cNvSpPr/>
            <p:nvPr/>
          </p:nvSpPr>
          <p:spPr>
            <a:xfrm>
              <a:off x="457200" y="1524000"/>
              <a:ext cx="3962400" cy="1905000"/>
            </a:xfrm>
            <a:prstGeom prst="roundRect">
              <a:avLst>
                <a:gd fmla="val 4000" name="adj"/>
              </a:avLst>
            </a:prstGeom>
            <a:solidFill>
              <a:srgbClr val="1423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18"/>
            <p:cNvSpPr/>
            <p:nvPr/>
          </p:nvSpPr>
          <p:spPr>
            <a:xfrm>
              <a:off x="457200" y="1524000"/>
              <a:ext cx="38100" cy="1905000"/>
            </a:xfrm>
            <a:prstGeom prst="roundRect">
              <a:avLst>
                <a:gd fmla="val 50000" name="adj"/>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5" name="Google Shape;445;p18"/>
            <p:cNvSpPr txBox="1"/>
            <p:nvPr/>
          </p:nvSpPr>
          <p:spPr>
            <a:xfrm>
              <a:off x="609600" y="1638300"/>
              <a:ext cx="3657600" cy="16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APPROACH 01 · FULL UPDATE</a:t>
              </a:r>
              <a:endParaRPr b="1" sz="800">
                <a:solidFill>
                  <a:srgbClr val="94A3B8"/>
                </a:solidFill>
                <a:latin typeface="Carlito"/>
                <a:ea typeface="Carlito"/>
                <a:cs typeface="Carlito"/>
                <a:sym typeface="Carlito"/>
              </a:endParaRPr>
            </a:p>
            <a:p>
              <a:pPr indent="0" lvl="0" marL="0" rtl="0" algn="l">
                <a:spcBef>
                  <a:spcPts val="900"/>
                </a:spcBef>
                <a:spcAft>
                  <a:spcPts val="0"/>
                </a:spcAft>
                <a:buNone/>
              </a:pPr>
              <a:r>
                <a:rPr lang="en-US" sz="1000">
                  <a:solidFill>
                    <a:srgbClr val="F5F1E6"/>
                  </a:solidFill>
                  <a:latin typeface="Carlito"/>
                  <a:ea typeface="Carlito"/>
                  <a:cs typeface="Carlito"/>
                  <a:sym typeface="Carlito"/>
                </a:rPr>
                <a:t>We directly update all parameters in the original weight matrix.</a:t>
              </a:r>
              <a:endParaRPr sz="1000">
                <a:solidFill>
                  <a:srgbClr val="F5F1E6"/>
                </a:solidFill>
                <a:latin typeface="Carlito"/>
                <a:ea typeface="Carlito"/>
                <a:cs typeface="Carlito"/>
                <a:sym typeface="Carlito"/>
              </a:endParaRPr>
            </a:p>
            <a:p>
              <a:pPr indent="0" lvl="0" marL="0" rtl="0" algn="l">
                <a:spcBef>
                  <a:spcPts val="1200"/>
                </a:spcBef>
                <a:spcAft>
                  <a:spcPts val="0"/>
                </a:spcAft>
                <a:buNone/>
              </a:pPr>
              <a:r>
                <a:rPr lang="en-US" sz="800">
                  <a:solidFill>
                    <a:srgbClr val="94A3B8"/>
                  </a:solidFill>
                  <a:latin typeface="Courier New"/>
                  <a:ea typeface="Courier New"/>
                  <a:cs typeface="Courier New"/>
                  <a:sym typeface="Courier New"/>
                </a:rPr>
                <a:t>FORMULA</a:t>
              </a:r>
              <a:endParaRPr sz="800">
                <a:solidFill>
                  <a:srgbClr val="94A3B8"/>
                </a:solidFill>
                <a:latin typeface="Courier New"/>
                <a:ea typeface="Courier New"/>
                <a:cs typeface="Courier New"/>
                <a:sym typeface="Courier New"/>
              </a:endParaRPr>
            </a:p>
            <a:p>
              <a:pPr indent="0" lvl="0" marL="0" rtl="0" algn="l">
                <a:spcBef>
                  <a:spcPts val="300"/>
                </a:spcBef>
                <a:spcAft>
                  <a:spcPts val="0"/>
                </a:spcAft>
                <a:buNone/>
              </a:pPr>
              <a:r>
                <a:rPr lang="en-US" sz="1200">
                  <a:solidFill>
                    <a:srgbClr val="F5F1E6"/>
                  </a:solidFill>
                  <a:latin typeface="Courier New"/>
                  <a:ea typeface="Courier New"/>
                  <a:cs typeface="Courier New"/>
                  <a:sym typeface="Courier New"/>
                </a:rPr>
                <a:t>768 × 768</a:t>
              </a:r>
              <a:endParaRPr sz="1200">
                <a:solidFill>
                  <a:srgbClr val="F5F1E6"/>
                </a:solidFill>
                <a:latin typeface="Courier New"/>
                <a:ea typeface="Courier New"/>
                <a:cs typeface="Courier New"/>
                <a:sym typeface="Courier New"/>
              </a:endParaRPr>
            </a:p>
            <a:p>
              <a:pPr indent="0" lvl="0" marL="0" rtl="0" algn="l">
                <a:spcBef>
                  <a:spcPts val="1200"/>
                </a:spcBef>
                <a:spcAft>
                  <a:spcPts val="0"/>
                </a:spcAft>
                <a:buNone/>
              </a:pPr>
              <a:r>
                <a:rPr lang="en-US" sz="800">
                  <a:solidFill>
                    <a:srgbClr val="94A3B8"/>
                  </a:solidFill>
                  <a:latin typeface="Courier New"/>
                  <a:ea typeface="Courier New"/>
                  <a:cs typeface="Courier New"/>
                  <a:sym typeface="Courier New"/>
                </a:rPr>
                <a:t>TOTAL TRAINABLE PARAMETERS</a:t>
              </a:r>
              <a:endParaRPr sz="800">
                <a:solidFill>
                  <a:srgbClr val="94A3B8"/>
                </a:solidFill>
                <a:latin typeface="Courier New"/>
                <a:ea typeface="Courier New"/>
                <a:cs typeface="Courier New"/>
                <a:sym typeface="Courier New"/>
              </a:endParaRPr>
            </a:p>
            <a:p>
              <a:pPr indent="0" lvl="0" marL="0" rtl="0" algn="l">
                <a:spcBef>
                  <a:spcPts val="300"/>
                </a:spcBef>
                <a:spcAft>
                  <a:spcPts val="0"/>
                </a:spcAft>
                <a:buNone/>
              </a:pPr>
              <a:r>
                <a:rPr b="1" lang="en-US" sz="1600">
                  <a:solidFill>
                    <a:srgbClr val="F0B429"/>
                  </a:solidFill>
                  <a:latin typeface="Courier New"/>
                  <a:ea typeface="Courier New"/>
                  <a:cs typeface="Courier New"/>
                  <a:sym typeface="Courier New"/>
                </a:rPr>
                <a:t>589,824</a:t>
              </a:r>
              <a:endParaRPr b="1" sz="1600">
                <a:solidFill>
                  <a:srgbClr val="F0B429"/>
                </a:solidFill>
                <a:latin typeface="Courier New"/>
                <a:ea typeface="Courier New"/>
                <a:cs typeface="Courier New"/>
                <a:sym typeface="Courier New"/>
              </a:endParaRPr>
            </a:p>
          </p:txBody>
        </p:sp>
      </p:grpSp>
      <p:grpSp>
        <p:nvGrpSpPr>
          <p:cNvPr id="446" name="Google Shape;446;p18"/>
          <p:cNvGrpSpPr/>
          <p:nvPr/>
        </p:nvGrpSpPr>
        <p:grpSpPr>
          <a:xfrm>
            <a:off x="4572000" y="1524000"/>
            <a:ext cx="4114800" cy="1905000"/>
            <a:chOff x="4572000" y="1524000"/>
            <a:chExt cx="4114800" cy="1905000"/>
          </a:xfrm>
        </p:grpSpPr>
        <p:sp>
          <p:nvSpPr>
            <p:cNvPr id="447" name="Google Shape;447;p18"/>
            <p:cNvSpPr/>
            <p:nvPr/>
          </p:nvSpPr>
          <p:spPr>
            <a:xfrm>
              <a:off x="4572000" y="1524000"/>
              <a:ext cx="4114800" cy="1905000"/>
            </a:xfrm>
            <a:prstGeom prst="roundRect">
              <a:avLst>
                <a:gd fmla="val 4000" name="adj"/>
              </a:avLst>
            </a:prstGeom>
            <a:solidFill>
              <a:srgbClr val="1423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8" name="Google Shape;448;p18"/>
            <p:cNvSpPr/>
            <p:nvPr/>
          </p:nvSpPr>
          <p:spPr>
            <a:xfrm>
              <a:off x="4572000" y="1524000"/>
              <a:ext cx="38100" cy="19050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9" name="Google Shape;449;p18"/>
            <p:cNvSpPr txBox="1"/>
            <p:nvPr/>
          </p:nvSpPr>
          <p:spPr>
            <a:xfrm>
              <a:off x="4724400" y="1638300"/>
              <a:ext cx="3810000" cy="16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APPROACH 02 · LORA (RANK R = 8)</a:t>
              </a:r>
              <a:endParaRPr b="1" sz="800">
                <a:solidFill>
                  <a:srgbClr val="F0B429"/>
                </a:solidFill>
                <a:latin typeface="Carlito"/>
                <a:ea typeface="Carlito"/>
                <a:cs typeface="Carlito"/>
                <a:sym typeface="Carlito"/>
              </a:endParaRPr>
            </a:p>
            <a:p>
              <a:pPr indent="0" lvl="0" marL="0" rtl="0" algn="l">
                <a:spcBef>
                  <a:spcPts val="900"/>
                </a:spcBef>
                <a:spcAft>
                  <a:spcPts val="0"/>
                </a:spcAft>
                <a:buNone/>
              </a:pPr>
              <a:r>
                <a:rPr lang="en-US" sz="1000">
                  <a:solidFill>
                    <a:srgbClr val="F5F1E6"/>
                  </a:solidFill>
                  <a:latin typeface="Carlito"/>
                  <a:ea typeface="Carlito"/>
                  <a:cs typeface="Carlito"/>
                  <a:sym typeface="Carlito"/>
                </a:rPr>
                <a:t>We decompose the update into two small, low-rank matrices.</a:t>
              </a:r>
              <a:endParaRPr sz="1000">
                <a:solidFill>
                  <a:srgbClr val="F5F1E6"/>
                </a:solidFill>
                <a:latin typeface="Carlito"/>
                <a:ea typeface="Carlito"/>
                <a:cs typeface="Carlito"/>
                <a:sym typeface="Carlito"/>
              </a:endParaRPr>
            </a:p>
            <a:p>
              <a:pPr indent="0" lvl="0" marL="0" rtl="0" algn="l">
                <a:spcBef>
                  <a:spcPts val="1200"/>
                </a:spcBef>
                <a:spcAft>
                  <a:spcPts val="0"/>
                </a:spcAft>
                <a:buNone/>
              </a:pPr>
              <a:r>
                <a:rPr lang="en-US" sz="950">
                  <a:solidFill>
                    <a:srgbClr val="94A3B8"/>
                  </a:solidFill>
                  <a:latin typeface="Courier New"/>
                  <a:ea typeface="Courier New"/>
                  <a:cs typeface="Courier New"/>
                  <a:sym typeface="Courier New"/>
                </a:rPr>
                <a:t>Matrix A (8 × 768) </a:t>
              </a:r>
              <a:r>
                <a:rPr lang="en-US" sz="950">
                  <a:solidFill>
                    <a:srgbClr val="F5F1E6"/>
                  </a:solidFill>
                  <a:latin typeface="Courier New"/>
                  <a:ea typeface="Courier New"/>
                  <a:cs typeface="Courier New"/>
                  <a:sym typeface="Courier New"/>
                </a:rPr>
                <a:t>= 6,144 params</a:t>
              </a:r>
              <a:endParaRPr sz="950">
                <a:solidFill>
                  <a:srgbClr val="94A3B8"/>
                </a:solidFill>
                <a:latin typeface="Courier New"/>
                <a:ea typeface="Courier New"/>
                <a:cs typeface="Courier New"/>
                <a:sym typeface="Courier New"/>
              </a:endParaRPr>
            </a:p>
            <a:p>
              <a:pPr indent="0" lvl="0" marL="0" rtl="0" algn="l">
                <a:spcBef>
                  <a:spcPts val="0"/>
                </a:spcBef>
                <a:spcAft>
                  <a:spcPts val="0"/>
                </a:spcAft>
                <a:buNone/>
              </a:pPr>
              <a:r>
                <a:rPr lang="en-US" sz="950">
                  <a:solidFill>
                    <a:srgbClr val="94A3B8"/>
                  </a:solidFill>
                  <a:latin typeface="Courier New"/>
                  <a:ea typeface="Courier New"/>
                  <a:cs typeface="Courier New"/>
                  <a:sym typeface="Courier New"/>
                </a:rPr>
                <a:t>Matrix B (768 × 8) </a:t>
              </a:r>
              <a:r>
                <a:rPr lang="en-US" sz="950">
                  <a:solidFill>
                    <a:srgbClr val="F5F1E6"/>
                  </a:solidFill>
                  <a:latin typeface="Courier New"/>
                  <a:ea typeface="Courier New"/>
                  <a:cs typeface="Courier New"/>
                  <a:sym typeface="Courier New"/>
                </a:rPr>
                <a:t>= 6,144 params</a:t>
              </a:r>
              <a:endParaRPr sz="950">
                <a:solidFill>
                  <a:srgbClr val="94A3B8"/>
                </a:solidFill>
                <a:latin typeface="Courier New"/>
                <a:ea typeface="Courier New"/>
                <a:cs typeface="Courier New"/>
                <a:sym typeface="Courier New"/>
              </a:endParaRPr>
            </a:p>
            <a:p>
              <a:pPr indent="0" lvl="0" marL="0" rtl="0" algn="l">
                <a:spcBef>
                  <a:spcPts val="900"/>
                </a:spcBef>
                <a:spcAft>
                  <a:spcPts val="0"/>
                </a:spcAft>
                <a:buNone/>
              </a:pPr>
              <a:r>
                <a:rPr lang="en-US" sz="800">
                  <a:solidFill>
                    <a:srgbClr val="94A3B8"/>
                  </a:solidFill>
                  <a:latin typeface="Courier New"/>
                  <a:ea typeface="Courier New"/>
                  <a:cs typeface="Courier New"/>
                  <a:sym typeface="Courier New"/>
                </a:rPr>
                <a:t>TOTAL TRAINABLE PARAMETERS</a:t>
              </a:r>
              <a:endParaRPr sz="800">
                <a:solidFill>
                  <a:srgbClr val="94A3B8"/>
                </a:solidFill>
                <a:latin typeface="Courier New"/>
                <a:ea typeface="Courier New"/>
                <a:cs typeface="Courier New"/>
                <a:sym typeface="Courier New"/>
              </a:endParaRPr>
            </a:p>
            <a:p>
              <a:pPr indent="0" lvl="0" marL="0" rtl="0" algn="l">
                <a:spcBef>
                  <a:spcPts val="300"/>
                </a:spcBef>
                <a:spcAft>
                  <a:spcPts val="0"/>
                </a:spcAft>
                <a:buNone/>
              </a:pPr>
              <a:r>
                <a:rPr b="1" lang="en-US" sz="1600">
                  <a:solidFill>
                    <a:srgbClr val="F0B429"/>
                  </a:solidFill>
                  <a:latin typeface="Courier New"/>
                  <a:ea typeface="Courier New"/>
                  <a:cs typeface="Courier New"/>
                  <a:sym typeface="Courier New"/>
                </a:rPr>
                <a:t>12,288 </a:t>
              </a:r>
              <a:r>
                <a:rPr b="0" lang="en-US" sz="1100">
                  <a:solidFill>
                    <a:srgbClr val="94A3B8"/>
                  </a:solidFill>
                  <a:latin typeface="Courier New"/>
                  <a:ea typeface="Courier New"/>
                  <a:cs typeface="Courier New"/>
                  <a:sym typeface="Courier New"/>
                </a:rPr>
                <a:t>(6,144 + 6,144)</a:t>
              </a:r>
              <a:endParaRPr b="1" sz="1600">
                <a:solidFill>
                  <a:srgbClr val="F0B429"/>
                </a:solidFill>
                <a:latin typeface="Courier New"/>
                <a:ea typeface="Courier New"/>
                <a:cs typeface="Courier New"/>
                <a:sym typeface="Courier New"/>
              </a:endParaRPr>
            </a:p>
          </p:txBody>
        </p:sp>
      </p:grpSp>
      <p:grpSp>
        <p:nvGrpSpPr>
          <p:cNvPr id="450" name="Google Shape;450;p18"/>
          <p:cNvGrpSpPr/>
          <p:nvPr/>
        </p:nvGrpSpPr>
        <p:grpSpPr>
          <a:xfrm>
            <a:off x="457200" y="3571875"/>
            <a:ext cx="8229600" cy="400200"/>
            <a:chOff x="457200" y="3571875"/>
            <a:chExt cx="8229600" cy="400200"/>
          </a:xfrm>
        </p:grpSpPr>
        <p:sp>
          <p:nvSpPr>
            <p:cNvPr id="451" name="Google Shape;451;p18"/>
            <p:cNvSpPr/>
            <p:nvPr/>
          </p:nvSpPr>
          <p:spPr>
            <a:xfrm>
              <a:off x="457200" y="3571875"/>
              <a:ext cx="8229600" cy="400200"/>
            </a:xfrm>
            <a:prstGeom prst="roundRect">
              <a:avLst>
                <a:gd fmla="val 14285"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2" name="Google Shape;452;p18"/>
            <p:cNvSpPr txBox="1"/>
            <p:nvPr/>
          </p:nvSpPr>
          <p:spPr>
            <a:xfrm>
              <a:off x="457200" y="3571875"/>
              <a:ext cx="82296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0">
                  <a:solidFill>
                    <a:srgbClr val="F5F1E6"/>
                  </a:solidFill>
                  <a:latin typeface="Carlito"/>
                  <a:ea typeface="Carlito"/>
                  <a:cs typeface="Carlito"/>
                  <a:sym typeface="Carlito"/>
                </a:rPr>
                <a:t>Savings Ratio: </a:t>
              </a:r>
              <a:r>
                <a:rPr b="1" lang="en-US" sz="1100">
                  <a:solidFill>
                    <a:srgbClr val="F0B429"/>
                  </a:solidFill>
                  <a:latin typeface="Courier New"/>
                  <a:ea typeface="Courier New"/>
                  <a:cs typeface="Courier New"/>
                  <a:sym typeface="Courier New"/>
                </a:rPr>
                <a:t>12,288 / 589,824 ≈ 2.08%</a:t>
              </a:r>
              <a:r>
                <a:rPr lang="en-US" sz="1100">
                  <a:solidFill>
                    <a:srgbClr val="F5F1E6"/>
                  </a:solidFill>
                  <a:latin typeface="Carlito"/>
                  <a:ea typeface="Carlito"/>
                  <a:cs typeface="Carlito"/>
                  <a:sym typeface="Carlito"/>
                </a:rPr>
                <a:t> of full update size </a:t>
              </a:r>
              <a:r>
                <a:rPr lang="en-US" sz="1100">
                  <a:solidFill>
                    <a:srgbClr val="94A3B8"/>
                  </a:solidFill>
                  <a:latin typeface="Carlito"/>
                  <a:ea typeface="Carlito"/>
                  <a:cs typeface="Carlito"/>
                  <a:sym typeface="Carlito"/>
                </a:rPr>
                <a:t>(a ~98% reduction for this matrix)</a:t>
              </a:r>
              <a:endParaRPr sz="1100">
                <a:solidFill>
                  <a:srgbClr val="F5F1E6"/>
                </a:solidFill>
                <a:latin typeface="Carlito"/>
                <a:ea typeface="Carlito"/>
                <a:cs typeface="Carlito"/>
                <a:sym typeface="Carlito"/>
              </a:endParaRPr>
            </a:p>
          </p:txBody>
        </p:sp>
      </p:grpSp>
      <p:grpSp>
        <p:nvGrpSpPr>
          <p:cNvPr id="453" name="Google Shape;453;p18"/>
          <p:cNvGrpSpPr/>
          <p:nvPr/>
        </p:nvGrpSpPr>
        <p:grpSpPr>
          <a:xfrm>
            <a:off x="457200" y="4114800"/>
            <a:ext cx="8229600" cy="476400"/>
            <a:chOff x="457200" y="4114800"/>
            <a:chExt cx="8229600" cy="476400"/>
          </a:xfrm>
        </p:grpSpPr>
        <p:sp>
          <p:nvSpPr>
            <p:cNvPr id="454" name="Google Shape;454;p18"/>
            <p:cNvSpPr/>
            <p:nvPr/>
          </p:nvSpPr>
          <p:spPr>
            <a:xfrm>
              <a:off x="457200" y="4114800"/>
              <a:ext cx="8229600" cy="476400"/>
            </a:xfrm>
            <a:prstGeom prst="roundRect">
              <a:avLst>
                <a:gd fmla="val 12000" name="adj"/>
              </a:avLst>
            </a:prstGeom>
            <a:solidFill>
              <a:srgbClr val="F0B429">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5" name="Google Shape;455;p18"/>
            <p:cNvSpPr txBox="1"/>
            <p:nvPr/>
          </p:nvSpPr>
          <p:spPr>
            <a:xfrm>
              <a:off x="609600" y="4114800"/>
              <a:ext cx="79248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F5F1E6"/>
                  </a:solidFill>
                  <a:latin typeface="Carlito"/>
                  <a:ea typeface="Carlito"/>
                  <a:cs typeface="Carlito"/>
                  <a:sym typeface="Carlito"/>
                </a:rPr>
                <a:t>Across an entire model, this routinely </a:t>
              </a:r>
              <a:r>
                <a:rPr b="1" lang="en-US" sz="1000">
                  <a:solidFill>
                    <a:srgbClr val="F0B429"/>
                  </a:solidFill>
                  <a:latin typeface="Carlito"/>
                  <a:ea typeface="Carlito"/>
                  <a:cs typeface="Carlito"/>
                  <a:sym typeface="Carlito"/>
                </a:rPr>
                <a:t>reduces trainable parameters by 100 to 1000 times</a:t>
              </a:r>
              <a:r>
                <a:rPr lang="en-US" sz="1000">
                  <a:solidFill>
                    <a:srgbClr val="F5F1E6"/>
                  </a:solidFill>
                  <a:latin typeface="Carlito"/>
                  <a:ea typeface="Carlito"/>
                  <a:cs typeface="Carlito"/>
                  <a:sym typeface="Carlito"/>
                </a:rPr>
                <a:t> — turning an out-of-reach fine-tuning job into one that fits comfortably on a single consumer GPU.</a:t>
              </a:r>
              <a:endParaRPr sz="1000">
                <a:solidFill>
                  <a:srgbClr val="F5F1E6"/>
                </a:solidFill>
                <a:latin typeface="Carlito"/>
                <a:ea typeface="Carlito"/>
                <a:cs typeface="Carlito"/>
                <a:sym typeface="Carlito"/>
              </a:endParaRPr>
            </a:p>
          </p:txBody>
        </p:sp>
      </p:grpSp>
      <p:sp>
        <p:nvSpPr>
          <p:cNvPr id="456" name="Google Shape;456;p18"/>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457" name="Google Shape;457;p18"/>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16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462" name="Shape 462"/>
        <p:cNvGrpSpPr/>
        <p:nvPr/>
      </p:nvGrpSpPr>
      <p:grpSpPr>
        <a:xfrm>
          <a:off x="0" y="0"/>
          <a:ext cx="0" cy="0"/>
          <a:chOff x="0" y="0"/>
          <a:chExt cx="0" cy="0"/>
        </a:xfrm>
      </p:grpSpPr>
      <p:sp>
        <p:nvSpPr>
          <p:cNvPr id="463" name="Google Shape;463;p19"/>
          <p:cNvSpPr/>
          <p:nvPr/>
        </p:nvSpPr>
        <p:spPr>
          <a:xfrm>
            <a:off x="457200" y="400050"/>
            <a:ext cx="3810000" cy="164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PART 03 · PEFT &amp; LORA · ANTICIPATED Q&amp;A</a:t>
            </a:r>
            <a:endParaRPr b="1" sz="800">
              <a:solidFill>
                <a:srgbClr val="F0B429"/>
              </a:solidFill>
              <a:latin typeface="Carlito"/>
              <a:ea typeface="Carlito"/>
              <a:cs typeface="Carlito"/>
              <a:sym typeface="Carlito"/>
            </a:endParaRPr>
          </a:p>
        </p:txBody>
      </p:sp>
      <p:sp>
        <p:nvSpPr>
          <p:cNvPr id="464" name="Google Shape;464;p19"/>
          <p:cNvSpPr/>
          <p:nvPr/>
        </p:nvSpPr>
        <p:spPr>
          <a:xfrm>
            <a:off x="457200" y="619125"/>
            <a:ext cx="8229600" cy="333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2035">
                <a:solidFill>
                  <a:srgbClr val="F5F1E6"/>
                </a:solidFill>
                <a:latin typeface="Carlito"/>
                <a:ea typeface="Carlito"/>
                <a:cs typeface="Carlito"/>
                <a:sym typeface="Carlito"/>
              </a:rPr>
              <a:t>Likely Faculty Question</a:t>
            </a:r>
            <a:endParaRPr b="1" sz="2035">
              <a:solidFill>
                <a:srgbClr val="F5F1E6"/>
              </a:solidFill>
              <a:latin typeface="Carlito"/>
              <a:ea typeface="Carlito"/>
              <a:cs typeface="Carlito"/>
              <a:sym typeface="Carlito"/>
            </a:endParaRPr>
          </a:p>
        </p:txBody>
      </p:sp>
      <p:grpSp>
        <p:nvGrpSpPr>
          <p:cNvPr id="465" name="Google Shape;465;p19"/>
          <p:cNvGrpSpPr/>
          <p:nvPr/>
        </p:nvGrpSpPr>
        <p:grpSpPr>
          <a:xfrm>
            <a:off x="457200" y="1143000"/>
            <a:ext cx="3714900" cy="3048000"/>
            <a:chOff x="457200" y="1143000"/>
            <a:chExt cx="3714900" cy="3048000"/>
          </a:xfrm>
        </p:grpSpPr>
        <p:sp>
          <p:nvSpPr>
            <p:cNvPr id="466" name="Google Shape;466;p19"/>
            <p:cNvSpPr/>
            <p:nvPr/>
          </p:nvSpPr>
          <p:spPr>
            <a:xfrm>
              <a:off x="457200" y="1143000"/>
              <a:ext cx="3714900" cy="3048000"/>
            </a:xfrm>
            <a:prstGeom prst="roundRect">
              <a:avLst>
                <a:gd fmla="val 250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7" name="Google Shape;467;p19"/>
            <p:cNvSpPr/>
            <p:nvPr/>
          </p:nvSpPr>
          <p:spPr>
            <a:xfrm>
              <a:off x="457200" y="1143000"/>
              <a:ext cx="38100" cy="30480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8" name="Google Shape;468;p19"/>
            <p:cNvSpPr txBox="1"/>
            <p:nvPr/>
          </p:nvSpPr>
          <p:spPr>
            <a:xfrm>
              <a:off x="685800" y="1371600"/>
              <a:ext cx="3257700" cy="2590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00">
                  <a:solidFill>
                    <a:srgbClr val="F0B429"/>
                  </a:solidFill>
                  <a:latin typeface="Carlito"/>
                  <a:ea typeface="Carlito"/>
                  <a:cs typeface="Carlito"/>
                  <a:sym typeface="Carlito"/>
                </a:rPr>
                <a:t>? Faculty Question</a:t>
              </a:r>
              <a:endParaRPr b="1" sz="900">
                <a:solidFill>
                  <a:srgbClr val="F0B429"/>
                </a:solidFill>
                <a:latin typeface="Carlito"/>
                <a:ea typeface="Carlito"/>
                <a:cs typeface="Carlito"/>
                <a:sym typeface="Carlito"/>
              </a:endParaRPr>
            </a:p>
            <a:p>
              <a:pPr indent="0" lvl="0" marL="0" rtl="0" algn="l">
                <a:spcBef>
                  <a:spcPts val="1800"/>
                </a:spcBef>
                <a:spcAft>
                  <a:spcPts val="0"/>
                </a:spcAft>
                <a:buNone/>
              </a:pPr>
              <a:r>
                <a:rPr b="0" lang="en-US" sz="1600">
                  <a:solidFill>
                    <a:srgbClr val="F5F1E6"/>
                  </a:solidFill>
                  <a:latin typeface="Carlito"/>
                  <a:ea typeface="Carlito"/>
                  <a:cs typeface="Carlito"/>
                  <a:sym typeface="Carlito"/>
                </a:rPr>
                <a:t>If </a:t>
              </a:r>
              <a:r>
                <a:rPr b="1" lang="en-US" sz="1600">
                  <a:solidFill>
                    <a:srgbClr val="F0B429"/>
                  </a:solidFill>
                  <a:latin typeface="Courier New"/>
                  <a:ea typeface="Courier New"/>
                  <a:cs typeface="Courier New"/>
                  <a:sym typeface="Courier New"/>
                </a:rPr>
                <a:t>LoRA</a:t>
              </a:r>
              <a:r>
                <a:rPr b="0" lang="en-US" sz="1600">
                  <a:solidFill>
                    <a:srgbClr val="F5F1E6"/>
                  </a:solidFill>
                  <a:latin typeface="Carlito"/>
                  <a:ea typeface="Carlito"/>
                  <a:cs typeface="Carlito"/>
                  <a:sym typeface="Carlito"/>
                </a:rPr>
                <a:t> only trains a tiny fraction of parameters, does it sacrifice model quality compared to full fine-tuning?</a:t>
              </a:r>
              <a:endParaRPr b="0" sz="1600">
                <a:solidFill>
                  <a:srgbClr val="F5F1E6"/>
                </a:solidFill>
                <a:latin typeface="Carlito"/>
                <a:ea typeface="Carlito"/>
                <a:cs typeface="Carlito"/>
                <a:sym typeface="Carlito"/>
              </a:endParaRPr>
            </a:p>
          </p:txBody>
        </p:sp>
      </p:grpSp>
      <p:grpSp>
        <p:nvGrpSpPr>
          <p:cNvPr id="469" name="Google Shape;469;p19"/>
          <p:cNvGrpSpPr/>
          <p:nvPr/>
        </p:nvGrpSpPr>
        <p:grpSpPr>
          <a:xfrm>
            <a:off x="4400550" y="1143000"/>
            <a:ext cx="4286400" cy="3048000"/>
            <a:chOff x="4400550" y="1143000"/>
            <a:chExt cx="4286400" cy="3048000"/>
          </a:xfrm>
        </p:grpSpPr>
        <p:sp>
          <p:nvSpPr>
            <p:cNvPr id="470" name="Google Shape;470;p19"/>
            <p:cNvSpPr/>
            <p:nvPr/>
          </p:nvSpPr>
          <p:spPr>
            <a:xfrm>
              <a:off x="4400550" y="1143000"/>
              <a:ext cx="4286400" cy="3048000"/>
            </a:xfrm>
            <a:prstGeom prst="roundRect">
              <a:avLst>
                <a:gd fmla="val 250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19"/>
            <p:cNvSpPr/>
            <p:nvPr/>
          </p:nvSpPr>
          <p:spPr>
            <a:xfrm>
              <a:off x="4400550" y="1143000"/>
              <a:ext cx="38100" cy="3048000"/>
            </a:xfrm>
            <a:prstGeom prst="roundRect">
              <a:avLst>
                <a:gd fmla="val 50000" name="adj"/>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2" name="Google Shape;472;p19"/>
            <p:cNvSpPr txBox="1"/>
            <p:nvPr/>
          </p:nvSpPr>
          <p:spPr>
            <a:xfrm>
              <a:off x="4629150" y="1371600"/>
              <a:ext cx="3829200" cy="2590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00">
                  <a:solidFill>
                    <a:srgbClr val="F0B429"/>
                  </a:solidFill>
                  <a:latin typeface="Carlito"/>
                  <a:ea typeface="Carlito"/>
                  <a:cs typeface="Carlito"/>
                  <a:sym typeface="Carlito"/>
                </a:rPr>
                <a:t>◆ The Answer</a:t>
              </a:r>
              <a:endParaRPr b="1" sz="900">
                <a:solidFill>
                  <a:srgbClr val="F0B429"/>
                </a:solidFill>
                <a:latin typeface="Carlito"/>
                <a:ea typeface="Carlito"/>
                <a:cs typeface="Carlito"/>
                <a:sym typeface="Carlito"/>
              </a:endParaRPr>
            </a:p>
            <a:p>
              <a:pPr indent="0" lvl="0" marL="0" rtl="0" algn="l">
                <a:spcBef>
                  <a:spcPts val="1500"/>
                </a:spcBef>
                <a:spcAft>
                  <a:spcPts val="0"/>
                </a:spcAft>
                <a:buNone/>
              </a:pPr>
              <a:r>
                <a:rPr b="0" lang="en-US" sz="1050">
                  <a:solidFill>
                    <a:srgbClr val="F5F1E6"/>
                  </a:solidFill>
                  <a:latin typeface="Carlito"/>
                  <a:ea typeface="Carlito"/>
                  <a:cs typeface="Carlito"/>
                  <a:sym typeface="Carlito"/>
                </a:rPr>
                <a:t>In practice, </a:t>
              </a:r>
              <a:r>
                <a:rPr b="1" lang="en-US" sz="1050">
                  <a:solidFill>
                    <a:srgbClr val="F0B429"/>
                  </a:solidFill>
                  <a:latin typeface="Courier New"/>
                  <a:ea typeface="Courier New"/>
                  <a:cs typeface="Courier New"/>
                  <a:sym typeface="Courier New"/>
                </a:rPr>
                <a:t>LoRA</a:t>
              </a:r>
              <a:r>
                <a:rPr b="0" lang="en-US" sz="1050">
                  <a:solidFill>
                    <a:srgbClr val="F5F1E6"/>
                  </a:solidFill>
                  <a:latin typeface="Carlito"/>
                  <a:ea typeface="Carlito"/>
                  <a:cs typeface="Carlito"/>
                  <a:sym typeface="Carlito"/>
                </a:rPr>
                <a:t> frequently </a:t>
              </a:r>
              <a:r>
                <a:rPr b="1" lang="en-US" sz="1050">
                  <a:solidFill>
                    <a:srgbClr val="F0B429"/>
                  </a:solidFill>
                  <a:latin typeface="Carlito"/>
                  <a:ea typeface="Carlito"/>
                  <a:cs typeface="Carlito"/>
                  <a:sym typeface="Carlito"/>
                </a:rPr>
                <a:t>matches full fine-tuning quality</a:t>
              </a:r>
              <a:r>
                <a:rPr b="0" lang="en-US" sz="1050">
                  <a:solidFill>
                    <a:srgbClr val="F5F1E6"/>
                  </a:solidFill>
                  <a:latin typeface="Carlito"/>
                  <a:ea typeface="Carlito"/>
                  <a:cs typeface="Carlito"/>
                  <a:sym typeface="Carlito"/>
                </a:rPr>
                <a:t> on many downstream tasks, and sometimes exceeds it.</a:t>
              </a:r>
              <a:endParaRPr b="0" sz="1050">
                <a:solidFill>
                  <a:srgbClr val="F5F1E6"/>
                </a:solidFill>
                <a:latin typeface="Carlito"/>
                <a:ea typeface="Carlito"/>
                <a:cs typeface="Carlito"/>
                <a:sym typeface="Carlito"/>
              </a:endParaRPr>
            </a:p>
            <a:p>
              <a:pPr indent="0" lvl="0" marL="0" rtl="0" algn="l">
                <a:spcBef>
                  <a:spcPts val="900"/>
                </a:spcBef>
                <a:spcAft>
                  <a:spcPts val="0"/>
                </a:spcAft>
                <a:buNone/>
              </a:pPr>
              <a:r>
                <a:rPr b="0" lang="en-US" sz="950">
                  <a:solidFill>
                    <a:srgbClr val="94A3B8"/>
                  </a:solidFill>
                  <a:latin typeface="Carlito"/>
                  <a:ea typeface="Carlito"/>
                  <a:cs typeface="Carlito"/>
                  <a:sym typeface="Carlito"/>
                </a:rPr>
                <a:t>Updating fewer parameters acts as a form of regularization, reducing the risk of catastrophic forgetting of the base model's general knowledge.</a:t>
              </a:r>
              <a:endParaRPr b="0" sz="950">
                <a:solidFill>
                  <a:srgbClr val="94A3B8"/>
                </a:solidFill>
                <a:latin typeface="Carlito"/>
                <a:ea typeface="Carlito"/>
                <a:cs typeface="Carlito"/>
                <a:sym typeface="Carlito"/>
              </a:endParaRPr>
            </a:p>
            <a:p>
              <a:pPr indent="0" lvl="0" marL="0" rtl="0" algn="l">
                <a:spcBef>
                  <a:spcPts val="1200"/>
                </a:spcBef>
                <a:spcAft>
                  <a:spcPts val="0"/>
                </a:spcAft>
                <a:buNone/>
              </a:pPr>
              <a:r>
                <a:rPr b="0" lang="en-US" sz="1050">
                  <a:solidFill>
                    <a:srgbClr val="F5F1E6"/>
                  </a:solidFill>
                  <a:latin typeface="Carlito"/>
                  <a:ea typeface="Carlito"/>
                  <a:cs typeface="Carlito"/>
                  <a:sym typeface="Carlito"/>
                </a:rPr>
                <a:t>The rank </a:t>
              </a:r>
              <a:r>
                <a:rPr b="1" lang="en-US" sz="1050">
                  <a:solidFill>
                    <a:srgbClr val="F0B429"/>
                  </a:solidFill>
                  <a:latin typeface="Courier New"/>
                  <a:ea typeface="Courier New"/>
                  <a:cs typeface="Courier New"/>
                  <a:sym typeface="Courier New"/>
                </a:rPr>
                <a:t>r</a:t>
              </a:r>
              <a:r>
                <a:rPr b="0" lang="en-US" sz="1050">
                  <a:solidFill>
                    <a:srgbClr val="F5F1E6"/>
                  </a:solidFill>
                  <a:latin typeface="Carlito"/>
                  <a:ea typeface="Carlito"/>
                  <a:cs typeface="Carlito"/>
                  <a:sym typeface="Carlito"/>
                </a:rPr>
                <a:t> is the main quality/efficiency knob. While too low a rank can underfit, a modest rank of </a:t>
              </a:r>
              <a:r>
                <a:rPr b="1" lang="en-US" sz="1050">
                  <a:solidFill>
                    <a:srgbClr val="F0B429"/>
                  </a:solidFill>
                  <a:latin typeface="Carlito"/>
                  <a:ea typeface="Carlito"/>
                  <a:cs typeface="Carlito"/>
                  <a:sym typeface="Carlito"/>
                </a:rPr>
                <a:t>8 to 16</a:t>
              </a:r>
              <a:r>
                <a:rPr b="0" lang="en-US" sz="1050">
                  <a:solidFill>
                    <a:srgbClr val="F5F1E6"/>
                  </a:solidFill>
                  <a:latin typeface="Carlito"/>
                  <a:ea typeface="Carlito"/>
                  <a:cs typeface="Carlito"/>
                  <a:sym typeface="Carlito"/>
                </a:rPr>
                <a:t> captures the needed adaptation with a small fraction of compute cost.</a:t>
              </a:r>
              <a:endParaRPr b="0" sz="1050">
                <a:solidFill>
                  <a:srgbClr val="F5F1E6"/>
                </a:solidFill>
                <a:latin typeface="Carlito"/>
                <a:ea typeface="Carlito"/>
                <a:cs typeface="Carlito"/>
                <a:sym typeface="Carlito"/>
              </a:endParaRPr>
            </a:p>
          </p:txBody>
        </p:sp>
      </p:grpSp>
      <p:grpSp>
        <p:nvGrpSpPr>
          <p:cNvPr id="473" name="Google Shape;473;p19"/>
          <p:cNvGrpSpPr/>
          <p:nvPr/>
        </p:nvGrpSpPr>
        <p:grpSpPr>
          <a:xfrm>
            <a:off x="452438" y="4329113"/>
            <a:ext cx="8239200" cy="409500"/>
            <a:chOff x="452438" y="4329113"/>
            <a:chExt cx="8239200" cy="409500"/>
          </a:xfrm>
        </p:grpSpPr>
        <p:pic>
          <p:nvPicPr>
            <p:cNvPr id="474" name="Google Shape;474;p19"/>
            <p:cNvPicPr preferRelativeResize="0"/>
            <p:nvPr/>
          </p:nvPicPr>
          <p:blipFill rotWithShape="1">
            <a:blip r:embed="rId3">
              <a:alphaModFix/>
            </a:blip>
            <a:srcRect b="0" l="0" r="0" t="0"/>
            <a:stretch/>
          </p:blipFill>
          <p:spPr>
            <a:xfrm>
              <a:off x="452438" y="4329113"/>
              <a:ext cx="8239200" cy="409500"/>
            </a:xfrm>
            <a:prstGeom prst="rect">
              <a:avLst/>
            </a:prstGeom>
            <a:noFill/>
            <a:ln>
              <a:noFill/>
            </a:ln>
          </p:spPr>
        </p:pic>
        <p:sp>
          <p:nvSpPr>
            <p:cNvPr id="475" name="Google Shape;475;p19"/>
            <p:cNvSpPr txBox="1"/>
            <p:nvPr/>
          </p:nvSpPr>
          <p:spPr>
            <a:xfrm>
              <a:off x="609600" y="4333875"/>
              <a:ext cx="79248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0B429"/>
                  </a:solidFill>
                  <a:latin typeface="Courier New"/>
                  <a:ea typeface="Courier New"/>
                  <a:cs typeface="Courier New"/>
                  <a:sym typeface="Courier New"/>
                </a:rPr>
                <a:t>⌘ LIVE DEMO CONNECTION:</a:t>
              </a:r>
              <a:r>
                <a:rPr lang="en-US" sz="900">
                  <a:solidFill>
                    <a:srgbClr val="F5F1E6"/>
                  </a:solidFill>
                  <a:latin typeface="Carlito"/>
                  <a:ea typeface="Carlito"/>
                  <a:cs typeface="Carlito"/>
                  <a:sym typeface="Carlito"/>
                </a:rPr>
                <a:t> This reinforces why a target rank of </a:t>
              </a:r>
              <a:r>
                <a:rPr b="1" lang="en-US" sz="900">
                  <a:solidFill>
                    <a:srgbClr val="F0B429"/>
                  </a:solidFill>
                  <a:latin typeface="Courier New"/>
                  <a:ea typeface="Courier New"/>
                  <a:cs typeface="Courier New"/>
                  <a:sym typeface="Courier New"/>
                </a:rPr>
                <a:t>r = 8</a:t>
              </a:r>
              <a:r>
                <a:rPr lang="en-US" sz="900">
                  <a:solidFill>
                    <a:srgbClr val="F5F1E6"/>
                  </a:solidFill>
                  <a:latin typeface="Carlito"/>
                  <a:ea typeface="Carlito"/>
                  <a:cs typeface="Carlito"/>
                  <a:sym typeface="Carlito"/>
                </a:rPr>
                <a:t> was chosen for today's live training demo in Part Eight.</a:t>
              </a:r>
              <a:endParaRPr sz="900">
                <a:solidFill>
                  <a:srgbClr val="F5F1E6"/>
                </a:solidFill>
                <a:latin typeface="Carlito"/>
                <a:ea typeface="Carlito"/>
                <a:cs typeface="Carlito"/>
                <a:sym typeface="Carlito"/>
              </a:endParaRPr>
            </a:p>
          </p:txBody>
        </p:sp>
      </p:grpSp>
      <p:sp>
        <p:nvSpPr>
          <p:cNvPr id="476" name="Google Shape;476;p19"/>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477" name="Google Shape;477;p19"/>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17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482" name="Shape 482"/>
        <p:cNvGrpSpPr/>
        <p:nvPr/>
      </p:nvGrpSpPr>
      <p:grpSpPr>
        <a:xfrm>
          <a:off x="0" y="0"/>
          <a:ext cx="0" cy="0"/>
          <a:chOff x="0" y="0"/>
          <a:chExt cx="0" cy="0"/>
        </a:xfrm>
      </p:grpSpPr>
      <p:sp>
        <p:nvSpPr>
          <p:cNvPr id="483" name="Google Shape;483;p20"/>
          <p:cNvSpPr/>
          <p:nvPr/>
        </p:nvSpPr>
        <p:spPr>
          <a:xfrm>
            <a:off x="457200" y="458986"/>
            <a:ext cx="18738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03 · PEFT &amp; LORA</a:t>
            </a:r>
            <a:endParaRPr b="0" i="0" sz="800" u="none" cap="none" strike="noStrike">
              <a:solidFill>
                <a:schemeClr val="dk1"/>
              </a:solidFill>
              <a:latin typeface="Calibri"/>
              <a:ea typeface="Calibri"/>
              <a:cs typeface="Calibri"/>
              <a:sym typeface="Calibri"/>
            </a:endParaRPr>
          </a:p>
        </p:txBody>
      </p:sp>
      <p:sp>
        <p:nvSpPr>
          <p:cNvPr id="484" name="Google Shape;484;p20"/>
          <p:cNvSpPr/>
          <p:nvPr/>
        </p:nvSpPr>
        <p:spPr>
          <a:xfrm>
            <a:off x="457200" y="662583"/>
            <a:ext cx="8636100" cy="365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2200">
                <a:solidFill>
                  <a:srgbClr val="F0B429"/>
                </a:solidFill>
                <a:latin typeface="Courier New"/>
                <a:ea typeface="Courier New"/>
                <a:cs typeface="Courier New"/>
                <a:sym typeface="Courier New"/>
              </a:rPr>
              <a:t>QLoRA</a:t>
            </a:r>
            <a:r>
              <a:rPr b="1" lang="en-US" sz="2200">
                <a:solidFill>
                  <a:srgbClr val="F0B429"/>
                </a:solidFill>
                <a:latin typeface="Carlito"/>
                <a:ea typeface="Carlito"/>
                <a:cs typeface="Carlito"/>
                <a:sym typeface="Carlito"/>
              </a:rPr>
              <a:t>: Combining </a:t>
            </a:r>
            <a:r>
              <a:rPr b="1" lang="en-US" sz="2200">
                <a:solidFill>
                  <a:srgbClr val="F0B429"/>
                </a:solidFill>
                <a:latin typeface="Courier New"/>
                <a:ea typeface="Courier New"/>
                <a:cs typeface="Courier New"/>
                <a:sym typeface="Courier New"/>
              </a:rPr>
              <a:t>LoRA</a:t>
            </a:r>
            <a:r>
              <a:rPr b="1" lang="en-US" sz="2200">
                <a:solidFill>
                  <a:srgbClr val="F0B429"/>
                </a:solidFill>
                <a:latin typeface="Carlito"/>
                <a:ea typeface="Carlito"/>
                <a:cs typeface="Carlito"/>
                <a:sym typeface="Carlito"/>
              </a:rPr>
              <a:t> With Quantization</a:t>
            </a:r>
            <a:endParaRPr b="1" sz="2200">
              <a:solidFill>
                <a:srgbClr val="F0B429"/>
              </a:solidFill>
              <a:latin typeface="Carlito"/>
              <a:ea typeface="Carlito"/>
              <a:cs typeface="Carlito"/>
              <a:sym typeface="Carlito"/>
            </a:endParaRPr>
          </a:p>
        </p:txBody>
      </p:sp>
      <p:grpSp>
        <p:nvGrpSpPr>
          <p:cNvPr id="485" name="Google Shape;485;p20"/>
          <p:cNvGrpSpPr/>
          <p:nvPr/>
        </p:nvGrpSpPr>
        <p:grpSpPr>
          <a:xfrm>
            <a:off x="457200" y="1238250"/>
            <a:ext cx="3905400" cy="2876550"/>
            <a:chOff x="457200" y="1238250"/>
            <a:chExt cx="3905400" cy="2876550"/>
          </a:xfrm>
        </p:grpSpPr>
        <p:sp>
          <p:nvSpPr>
            <p:cNvPr id="486" name="Google Shape;486;p20"/>
            <p:cNvSpPr txBox="1"/>
            <p:nvPr/>
          </p:nvSpPr>
          <p:spPr>
            <a:xfrm>
              <a:off x="457200" y="1238250"/>
              <a:ext cx="39054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F0B429"/>
                  </a:solidFill>
                  <a:latin typeface="Courier New"/>
                  <a:ea typeface="Courier New"/>
                  <a:cs typeface="Courier New"/>
                  <a:sym typeface="Courier New"/>
                </a:rPr>
                <a:t>QLoRA</a:t>
              </a:r>
              <a:r>
                <a:rPr lang="en-US" sz="1150">
                  <a:solidFill>
                    <a:srgbClr val="F5F1E6"/>
                  </a:solidFill>
                  <a:latin typeface="Carlito"/>
                  <a:ea typeface="Carlito"/>
                  <a:cs typeface="Carlito"/>
                  <a:sym typeface="Carlito"/>
                </a:rPr>
                <a:t> loads the frozen base model in a heavily compressed </a:t>
              </a:r>
              <a:r>
                <a:rPr b="1" lang="en-US" sz="1150">
                  <a:solidFill>
                    <a:srgbClr val="F0B429"/>
                  </a:solidFill>
                  <a:latin typeface="Carlito"/>
                  <a:ea typeface="Carlito"/>
                  <a:cs typeface="Carlito"/>
                  <a:sym typeface="Carlito"/>
                </a:rPr>
                <a:t>4-bit format</a:t>
              </a:r>
              <a:r>
                <a:rPr lang="en-US" sz="1150">
                  <a:solidFill>
                    <a:srgbClr val="F5F1E6"/>
                  </a:solidFill>
                  <a:latin typeface="Carlito"/>
                  <a:ea typeface="Carlito"/>
                  <a:cs typeface="Carlito"/>
                  <a:sym typeface="Carlito"/>
                </a:rPr>
                <a:t>, while the small trainable </a:t>
              </a:r>
              <a:r>
                <a:rPr b="1" lang="en-US" sz="1150">
                  <a:solidFill>
                    <a:srgbClr val="F0B429"/>
                  </a:solidFill>
                  <a:latin typeface="Courier New"/>
                  <a:ea typeface="Courier New"/>
                  <a:cs typeface="Courier New"/>
                  <a:sym typeface="Courier New"/>
                </a:rPr>
                <a:t>LoRA</a:t>
              </a:r>
              <a:r>
                <a:rPr lang="en-US" sz="1150">
                  <a:solidFill>
                    <a:srgbClr val="F5F1E6"/>
                  </a:solidFill>
                  <a:latin typeface="Carlito"/>
                  <a:ea typeface="Carlito"/>
                  <a:cs typeface="Carlito"/>
                  <a:sym typeface="Carlito"/>
                </a:rPr>
                <a:t> matrices are still updated in higher precision.</a:t>
              </a:r>
              <a:endParaRPr sz="1150">
                <a:solidFill>
                  <a:srgbClr val="F5F1E6"/>
                </a:solidFill>
                <a:latin typeface="Carlito"/>
                <a:ea typeface="Carlito"/>
                <a:cs typeface="Carlito"/>
                <a:sym typeface="Carlito"/>
              </a:endParaRPr>
            </a:p>
            <a:p>
              <a:pPr indent="0" lvl="0" marL="0" rtl="0" algn="l">
                <a:spcBef>
                  <a:spcPts val="1200"/>
                </a:spcBef>
                <a:spcAft>
                  <a:spcPts val="0"/>
                </a:spcAft>
                <a:buNone/>
              </a:pPr>
              <a:r>
                <a:rPr lang="en-US" sz="1050">
                  <a:solidFill>
                    <a:srgbClr val="94A3B8"/>
                  </a:solidFill>
                  <a:latin typeface="Carlito"/>
                  <a:ea typeface="Carlito"/>
                  <a:cs typeface="Carlito"/>
                  <a:sym typeface="Carlito"/>
                </a:rPr>
                <a:t>This combination allows fine-tuning of genuinely large models (billions of parameters) on a single consumer-grade GPU — a direct preview of the quantization concepts covered next.</a:t>
              </a:r>
              <a:endParaRPr sz="1050">
                <a:solidFill>
                  <a:srgbClr val="94A3B8"/>
                </a:solidFill>
                <a:latin typeface="Carlito"/>
                <a:ea typeface="Carlito"/>
                <a:cs typeface="Carlito"/>
                <a:sym typeface="Carlito"/>
              </a:endParaRPr>
            </a:p>
          </p:txBody>
        </p:sp>
        <p:sp>
          <p:nvSpPr>
            <p:cNvPr id="487" name="Google Shape;487;p20"/>
            <p:cNvSpPr/>
            <p:nvPr/>
          </p:nvSpPr>
          <p:spPr>
            <a:xfrm>
              <a:off x="457200" y="3200400"/>
              <a:ext cx="3905400" cy="914400"/>
            </a:xfrm>
            <a:prstGeom prst="roundRect">
              <a:avLst>
                <a:gd fmla="val 625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8" name="Google Shape;488;p20"/>
            <p:cNvSpPr/>
            <p:nvPr/>
          </p:nvSpPr>
          <p:spPr>
            <a:xfrm>
              <a:off x="457200" y="3200400"/>
              <a:ext cx="38100" cy="9144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9" name="Google Shape;489;p20"/>
            <p:cNvSpPr txBox="1"/>
            <p:nvPr/>
          </p:nvSpPr>
          <p:spPr>
            <a:xfrm>
              <a:off x="609600" y="3200400"/>
              <a:ext cx="3600600" cy="914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F0B429"/>
                  </a:solidFill>
                  <a:latin typeface="Courier New"/>
                  <a:ea typeface="Courier New"/>
                  <a:cs typeface="Courier New"/>
                  <a:sym typeface="Courier New"/>
                </a:rPr>
                <a:t>CROSS-SECTION BRIDGE</a:t>
              </a:r>
              <a:endParaRPr b="1" sz="850">
                <a:solidFill>
                  <a:srgbClr val="F0B429"/>
                </a:solidFill>
                <a:latin typeface="Courier New"/>
                <a:ea typeface="Courier New"/>
                <a:cs typeface="Courier New"/>
                <a:sym typeface="Courier New"/>
              </a:endParaRPr>
            </a:p>
            <a:p>
              <a:pPr indent="0" lvl="0" marL="0" rtl="0" algn="l">
                <a:spcBef>
                  <a:spcPts val="450"/>
                </a:spcBef>
                <a:spcAft>
                  <a:spcPts val="0"/>
                </a:spcAft>
                <a:buNone/>
              </a:pPr>
              <a:r>
                <a:rPr b="0" lang="en-US" sz="1100">
                  <a:solidFill>
                    <a:srgbClr val="F5F1E6"/>
                  </a:solidFill>
                  <a:latin typeface="Carlito"/>
                  <a:ea typeface="Carlito"/>
                  <a:cs typeface="Carlito"/>
                  <a:sym typeface="Carlito"/>
                </a:rPr>
                <a:t>Bridges Part 03 (</a:t>
              </a:r>
              <a:r>
                <a:rPr b="1" lang="en-US" sz="1100">
                  <a:solidFill>
                    <a:srgbClr val="F0B429"/>
                  </a:solidFill>
                  <a:latin typeface="Courier New"/>
                  <a:ea typeface="Courier New"/>
                  <a:cs typeface="Courier New"/>
                  <a:sym typeface="Courier New"/>
                </a:rPr>
                <a:t>LoRA</a:t>
              </a:r>
              <a:r>
                <a:rPr b="0" lang="en-US" sz="1100">
                  <a:solidFill>
                    <a:srgbClr val="F5F1E6"/>
                  </a:solidFill>
                  <a:latin typeface="Carlito"/>
                  <a:ea typeface="Carlito"/>
                  <a:cs typeface="Carlito"/>
                  <a:sym typeface="Carlito"/>
                </a:rPr>
                <a:t>) and Part 05 (Quantization).</a:t>
              </a:r>
              <a:endParaRPr b="0" sz="1100">
                <a:solidFill>
                  <a:srgbClr val="F5F1E6"/>
                </a:solidFill>
                <a:latin typeface="Carlito"/>
                <a:ea typeface="Carlito"/>
                <a:cs typeface="Carlito"/>
                <a:sym typeface="Carlito"/>
              </a:endParaRPr>
            </a:p>
          </p:txBody>
        </p:sp>
      </p:grpSp>
      <p:grpSp>
        <p:nvGrpSpPr>
          <p:cNvPr id="490" name="Google Shape;490;p20"/>
          <p:cNvGrpSpPr/>
          <p:nvPr/>
        </p:nvGrpSpPr>
        <p:grpSpPr>
          <a:xfrm>
            <a:off x="4629150" y="1238250"/>
            <a:ext cx="4057800" cy="2876700"/>
            <a:chOff x="4629150" y="1238250"/>
            <a:chExt cx="4057800" cy="2876700"/>
          </a:xfrm>
        </p:grpSpPr>
        <p:sp>
          <p:nvSpPr>
            <p:cNvPr id="491" name="Google Shape;491;p20"/>
            <p:cNvSpPr/>
            <p:nvPr/>
          </p:nvSpPr>
          <p:spPr>
            <a:xfrm>
              <a:off x="4629150" y="1238250"/>
              <a:ext cx="4057800" cy="2876700"/>
            </a:xfrm>
            <a:prstGeom prst="roundRect">
              <a:avLst>
                <a:gd fmla="val 2649"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92" name="Google Shape;492;p20"/>
            <p:cNvGrpSpPr/>
            <p:nvPr/>
          </p:nvGrpSpPr>
          <p:grpSpPr>
            <a:xfrm>
              <a:off x="4781550" y="1390650"/>
              <a:ext cx="3753000" cy="800100"/>
              <a:chOff x="4781550" y="1390650"/>
              <a:chExt cx="3753000" cy="800100"/>
            </a:xfrm>
          </p:grpSpPr>
          <p:sp>
            <p:nvSpPr>
              <p:cNvPr id="493" name="Google Shape;493;p20"/>
              <p:cNvSpPr/>
              <p:nvPr/>
            </p:nvSpPr>
            <p:spPr>
              <a:xfrm>
                <a:off x="4781550" y="1390650"/>
                <a:ext cx="3753000" cy="800100"/>
              </a:xfrm>
              <a:prstGeom prst="roundRect">
                <a:avLst>
                  <a:gd fmla="val 7142" name="adj"/>
                </a:avLst>
              </a:prstGeom>
              <a:solidFill>
                <a:srgbClr val="1B2D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4" name="Google Shape;494;p20"/>
              <p:cNvSpPr/>
              <p:nvPr/>
            </p:nvSpPr>
            <p:spPr>
              <a:xfrm>
                <a:off x="4781550" y="1390650"/>
                <a:ext cx="38100" cy="800100"/>
              </a:xfrm>
              <a:prstGeom prst="roundRect">
                <a:avLst>
                  <a:gd fmla="val 50000" name="adj"/>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5" name="Google Shape;495;p20"/>
              <p:cNvSpPr txBox="1"/>
              <p:nvPr/>
            </p:nvSpPr>
            <p:spPr>
              <a:xfrm>
                <a:off x="4933950" y="1390650"/>
                <a:ext cx="3448200" cy="8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94A3B8"/>
                    </a:solidFill>
                    <a:latin typeface="Arial"/>
                    <a:ea typeface="Arial"/>
                    <a:cs typeface="Arial"/>
                    <a:sym typeface="Arial"/>
                  </a:rPr>
                  <a:t>LAYER 01 · BASE</a:t>
                </a:r>
                <a:endParaRPr b="1" sz="800">
                  <a:solidFill>
                    <a:srgbClr val="94A3B8"/>
                  </a:solidFill>
                  <a:latin typeface="Arial"/>
                  <a:ea typeface="Arial"/>
                  <a:cs typeface="Arial"/>
                  <a:sym typeface="Arial"/>
                </a:endParaRPr>
              </a:p>
              <a:p>
                <a:pPr indent="0" lvl="0" marL="0" rtl="0" algn="l">
                  <a:spcBef>
                    <a:spcPts val="300"/>
                  </a:spcBef>
                  <a:spcAft>
                    <a:spcPts val="0"/>
                  </a:spcAft>
                  <a:buNone/>
                </a:pPr>
                <a:r>
                  <a:rPr b="1" lang="en-US" sz="1100">
                    <a:solidFill>
                      <a:srgbClr val="F5F1E6"/>
                    </a:solidFill>
                    <a:latin typeface="Carlito"/>
                    <a:ea typeface="Carlito"/>
                    <a:cs typeface="Carlito"/>
                    <a:sym typeface="Carlito"/>
                  </a:rPr>
                  <a:t>FROZEN BASE MODEL · 4-bit storage</a:t>
                </a:r>
                <a:endParaRPr b="1" sz="1100">
                  <a:solidFill>
                    <a:srgbClr val="F5F1E6"/>
                  </a:solidFill>
                  <a:latin typeface="Carlito"/>
                  <a:ea typeface="Carlito"/>
                  <a:cs typeface="Carlito"/>
                  <a:sym typeface="Carlito"/>
                </a:endParaRPr>
              </a:p>
              <a:p>
                <a:pPr indent="0" lvl="0" marL="0" rtl="0" algn="l">
                  <a:spcBef>
                    <a:spcPts val="300"/>
                  </a:spcBef>
                  <a:spcAft>
                    <a:spcPts val="0"/>
                  </a:spcAft>
                  <a:buNone/>
                </a:pPr>
                <a:r>
                  <a:rPr lang="en-US" sz="950">
                    <a:solidFill>
                      <a:srgbClr val="94A3B8"/>
                    </a:solidFill>
                    <a:latin typeface="Carlito"/>
                    <a:ea typeface="Carlito"/>
                    <a:cs typeface="Carlito"/>
                    <a:sym typeface="Carlito"/>
                  </a:rPr>
                  <a:t>Heavily compressed — minimal memory footprint</a:t>
                </a:r>
                <a:endParaRPr sz="950">
                  <a:solidFill>
                    <a:srgbClr val="94A3B8"/>
                  </a:solidFill>
                  <a:latin typeface="Carlito"/>
                  <a:ea typeface="Carlito"/>
                  <a:cs typeface="Carlito"/>
                  <a:sym typeface="Carlito"/>
                </a:endParaRPr>
              </a:p>
            </p:txBody>
          </p:sp>
        </p:grpSp>
        <p:grpSp>
          <p:nvGrpSpPr>
            <p:cNvPr id="496" name="Google Shape;496;p20"/>
            <p:cNvGrpSpPr/>
            <p:nvPr/>
          </p:nvGrpSpPr>
          <p:grpSpPr>
            <a:xfrm>
              <a:off x="4776788" y="2281238"/>
              <a:ext cx="3762300" cy="333300"/>
              <a:chOff x="4776788" y="2281238"/>
              <a:chExt cx="3762300" cy="333300"/>
            </a:xfrm>
          </p:grpSpPr>
          <p:pic>
            <p:nvPicPr>
              <p:cNvPr id="497" name="Google Shape;497;p20"/>
              <p:cNvPicPr preferRelativeResize="0"/>
              <p:nvPr/>
            </p:nvPicPr>
            <p:blipFill rotWithShape="1">
              <a:blip r:embed="rId3">
                <a:alphaModFix/>
              </a:blip>
              <a:srcRect b="0" l="0" r="0" t="0"/>
              <a:stretch/>
            </p:blipFill>
            <p:spPr>
              <a:xfrm>
                <a:off x="4776788" y="2281238"/>
                <a:ext cx="3762300" cy="333300"/>
              </a:xfrm>
              <a:prstGeom prst="rect">
                <a:avLst/>
              </a:prstGeom>
              <a:noFill/>
              <a:ln>
                <a:noFill/>
              </a:ln>
            </p:spPr>
          </p:pic>
          <p:sp>
            <p:nvSpPr>
              <p:cNvPr id="498" name="Google Shape;498;p20"/>
              <p:cNvSpPr txBox="1"/>
              <p:nvPr/>
            </p:nvSpPr>
            <p:spPr>
              <a:xfrm>
                <a:off x="4876800" y="2286000"/>
                <a:ext cx="35622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50">
                    <a:solidFill>
                      <a:srgbClr val="F0B429"/>
                    </a:solidFill>
                    <a:latin typeface="Carlito"/>
                    <a:ea typeface="Carlito"/>
                    <a:cs typeface="Carlito"/>
                    <a:sym typeface="Carlito"/>
                  </a:rPr>
                  <a:t>↓ Forward + backward pass combines both — gradients flow only into gold block. ↓</a:t>
                </a:r>
                <a:endParaRPr sz="850">
                  <a:solidFill>
                    <a:srgbClr val="F0B429"/>
                  </a:solidFill>
                  <a:latin typeface="Carlito"/>
                  <a:ea typeface="Carlito"/>
                  <a:cs typeface="Carlito"/>
                  <a:sym typeface="Carlito"/>
                </a:endParaRPr>
              </a:p>
            </p:txBody>
          </p:sp>
        </p:grpSp>
        <p:grpSp>
          <p:nvGrpSpPr>
            <p:cNvPr id="499" name="Google Shape;499;p20"/>
            <p:cNvGrpSpPr/>
            <p:nvPr/>
          </p:nvGrpSpPr>
          <p:grpSpPr>
            <a:xfrm>
              <a:off x="4781550" y="2705100"/>
              <a:ext cx="3753000" cy="800100"/>
              <a:chOff x="4781550" y="2705100"/>
              <a:chExt cx="3753000" cy="800100"/>
            </a:xfrm>
          </p:grpSpPr>
          <p:sp>
            <p:nvSpPr>
              <p:cNvPr id="500" name="Google Shape;500;p20"/>
              <p:cNvSpPr/>
              <p:nvPr/>
            </p:nvSpPr>
            <p:spPr>
              <a:xfrm>
                <a:off x="4781550" y="2705100"/>
                <a:ext cx="3753000" cy="800100"/>
              </a:xfrm>
              <a:prstGeom prst="roundRect">
                <a:avLst>
                  <a:gd fmla="val 7142" name="adj"/>
                </a:avLst>
              </a:prstGeom>
              <a:solidFill>
                <a:srgbClr val="1B2D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1" name="Google Shape;501;p20"/>
              <p:cNvSpPr/>
              <p:nvPr/>
            </p:nvSpPr>
            <p:spPr>
              <a:xfrm>
                <a:off x="4781550" y="2705100"/>
                <a:ext cx="38100" cy="800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2" name="Google Shape;502;p20"/>
              <p:cNvSpPr txBox="1"/>
              <p:nvPr/>
            </p:nvSpPr>
            <p:spPr>
              <a:xfrm>
                <a:off x="4933950" y="2705100"/>
                <a:ext cx="3448200" cy="8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F0B429"/>
                    </a:solidFill>
                    <a:latin typeface="Arial"/>
                    <a:ea typeface="Arial"/>
                    <a:cs typeface="Arial"/>
                    <a:sym typeface="Arial"/>
                  </a:rPr>
                  <a:t>LAYER 02 · ADAPTER</a:t>
                </a:r>
                <a:endParaRPr b="1" sz="800">
                  <a:solidFill>
                    <a:srgbClr val="F0B429"/>
                  </a:solidFill>
                  <a:latin typeface="Arial"/>
                  <a:ea typeface="Arial"/>
                  <a:cs typeface="Arial"/>
                  <a:sym typeface="Arial"/>
                </a:endParaRPr>
              </a:p>
              <a:p>
                <a:pPr indent="0" lvl="0" marL="0" rtl="0" algn="l">
                  <a:spcBef>
                    <a:spcPts val="300"/>
                  </a:spcBef>
                  <a:spcAft>
                    <a:spcPts val="0"/>
                  </a:spcAft>
                  <a:buNone/>
                </a:pPr>
                <a:r>
                  <a:rPr b="1" lang="en-US" sz="1100">
                    <a:solidFill>
                      <a:srgbClr val="F5F1E6"/>
                    </a:solidFill>
                    <a:latin typeface="Carlito"/>
                    <a:ea typeface="Carlito"/>
                    <a:cs typeface="Carlito"/>
                    <a:sym typeface="Carlito"/>
                  </a:rPr>
                  <a:t>TRAINABLE LoRA MATRICES (A, B) · higher precision</a:t>
                </a:r>
                <a:endParaRPr b="1" sz="1100">
                  <a:solidFill>
                    <a:srgbClr val="F5F1E6"/>
                  </a:solidFill>
                  <a:latin typeface="Carlito"/>
                  <a:ea typeface="Carlito"/>
                  <a:cs typeface="Carlito"/>
                  <a:sym typeface="Carlito"/>
                </a:endParaRPr>
              </a:p>
              <a:p>
                <a:pPr indent="0" lvl="0" marL="0" rtl="0" algn="l">
                  <a:spcBef>
                    <a:spcPts val="300"/>
                  </a:spcBef>
                  <a:spcAft>
                    <a:spcPts val="0"/>
                  </a:spcAft>
                  <a:buNone/>
                </a:pPr>
                <a:r>
                  <a:rPr lang="en-US" sz="950">
                    <a:solidFill>
                      <a:srgbClr val="94A3B8"/>
                    </a:solidFill>
                    <a:latin typeface="Carlito"/>
                    <a:ea typeface="Carlito"/>
                    <a:cs typeface="Carlito"/>
                    <a:sym typeface="Carlito"/>
                  </a:rPr>
                  <a:t>Small enough to fit in higher precision without breaking budget</a:t>
                </a:r>
                <a:endParaRPr sz="950">
                  <a:solidFill>
                    <a:srgbClr val="94A3B8"/>
                  </a:solidFill>
                  <a:latin typeface="Carlito"/>
                  <a:ea typeface="Carlito"/>
                  <a:cs typeface="Carlito"/>
                  <a:sym typeface="Carlito"/>
                </a:endParaRPr>
              </a:p>
            </p:txBody>
          </p:sp>
        </p:grpSp>
      </p:grpSp>
      <p:sp>
        <p:nvSpPr>
          <p:cNvPr id="503" name="Google Shape;503;p20"/>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504" name="Google Shape;504;p20"/>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18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509" name="Shape 509"/>
        <p:cNvGrpSpPr/>
        <p:nvPr/>
      </p:nvGrpSpPr>
      <p:grpSpPr>
        <a:xfrm>
          <a:off x="0" y="0"/>
          <a:ext cx="0" cy="0"/>
          <a:chOff x="0" y="0"/>
          <a:chExt cx="0" cy="0"/>
        </a:xfrm>
      </p:grpSpPr>
      <p:sp>
        <p:nvSpPr>
          <p:cNvPr id="510" name="Google Shape;510;p21"/>
          <p:cNvSpPr/>
          <p:nvPr/>
        </p:nvSpPr>
        <p:spPr>
          <a:xfrm>
            <a:off x="457200" y="458986"/>
            <a:ext cx="22902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03 · SECTION SUMMARY</a:t>
            </a:r>
            <a:endParaRPr b="0" i="0" sz="800" u="none" cap="none" strike="noStrike">
              <a:solidFill>
                <a:schemeClr val="dk1"/>
              </a:solidFill>
              <a:latin typeface="Calibri"/>
              <a:ea typeface="Calibri"/>
              <a:cs typeface="Calibri"/>
              <a:sym typeface="Calibri"/>
            </a:endParaRPr>
          </a:p>
        </p:txBody>
      </p:sp>
      <p:sp>
        <p:nvSpPr>
          <p:cNvPr id="511" name="Google Shape;511;p21"/>
          <p:cNvSpPr/>
          <p:nvPr/>
        </p:nvSpPr>
        <p:spPr>
          <a:xfrm>
            <a:off x="457200" y="662583"/>
            <a:ext cx="8636100" cy="3657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Section Summary: </a:t>
            </a:r>
            <a:r>
              <a:rPr b="1" i="0" lang="en-US" sz="2025" u="none" cap="none" strike="noStrike">
                <a:solidFill>
                  <a:srgbClr val="F0B429"/>
                </a:solidFill>
                <a:latin typeface="Courier New"/>
                <a:ea typeface="Courier New"/>
                <a:cs typeface="Courier New"/>
                <a:sym typeface="Courier New"/>
              </a:rPr>
              <a:t>PEFT</a:t>
            </a:r>
            <a:r>
              <a:rPr b="1" i="0" lang="en-US" sz="2250" u="none" cap="none" strike="noStrike">
                <a:solidFill>
                  <a:srgbClr val="F5F1E6"/>
                </a:solidFill>
                <a:latin typeface="Carlito"/>
                <a:ea typeface="Carlito"/>
                <a:cs typeface="Carlito"/>
                <a:sym typeface="Carlito"/>
              </a:rPr>
              <a:t> &amp; </a:t>
            </a:r>
            <a:r>
              <a:rPr b="1" i="0" lang="en-US" sz="2025" u="none" cap="none" strike="noStrike">
                <a:solidFill>
                  <a:srgbClr val="F0B429"/>
                </a:solidFill>
                <a:latin typeface="Courier New"/>
                <a:ea typeface="Courier New"/>
                <a:cs typeface="Courier New"/>
                <a:sym typeface="Courier New"/>
              </a:rPr>
              <a:t>LoRA</a:t>
            </a:r>
            <a:endParaRPr b="0" i="0" sz="2250" u="none" cap="none" strike="noStrike">
              <a:solidFill>
                <a:schemeClr val="dk1"/>
              </a:solidFill>
              <a:latin typeface="Calibri"/>
              <a:ea typeface="Calibri"/>
              <a:cs typeface="Calibri"/>
              <a:sym typeface="Calibri"/>
            </a:endParaRPr>
          </a:p>
        </p:txBody>
      </p:sp>
      <p:grpSp>
        <p:nvGrpSpPr>
          <p:cNvPr id="512" name="Google Shape;512;p21"/>
          <p:cNvGrpSpPr/>
          <p:nvPr/>
        </p:nvGrpSpPr>
        <p:grpSpPr>
          <a:xfrm>
            <a:off x="457200" y="1238250"/>
            <a:ext cx="2514600" cy="2476500"/>
            <a:chOff x="457200" y="1238250"/>
            <a:chExt cx="2514600" cy="2476500"/>
          </a:xfrm>
        </p:grpSpPr>
        <p:sp>
          <p:nvSpPr>
            <p:cNvPr id="513" name="Google Shape;513;p21"/>
            <p:cNvSpPr/>
            <p:nvPr/>
          </p:nvSpPr>
          <p:spPr>
            <a:xfrm>
              <a:off x="457200" y="1238250"/>
              <a:ext cx="2514600" cy="2476500"/>
            </a:xfrm>
            <a:prstGeom prst="roundRect">
              <a:avLst>
                <a:gd fmla="val 3076"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4" name="Google Shape;514;p21"/>
            <p:cNvSpPr/>
            <p:nvPr/>
          </p:nvSpPr>
          <p:spPr>
            <a:xfrm>
              <a:off x="457200" y="1238250"/>
              <a:ext cx="38100" cy="24765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5" name="Google Shape;515;p21"/>
            <p:cNvSpPr txBox="1"/>
            <p:nvPr/>
          </p:nvSpPr>
          <p:spPr>
            <a:xfrm>
              <a:off x="647700" y="1428750"/>
              <a:ext cx="21336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01 · Core Concept</a:t>
              </a:r>
              <a:endParaRPr b="1" sz="800">
                <a:solidFill>
                  <a:srgbClr val="F0B429"/>
                </a:solidFill>
                <a:latin typeface="Carlito"/>
                <a:ea typeface="Carlito"/>
                <a:cs typeface="Carlito"/>
                <a:sym typeface="Carlito"/>
              </a:endParaRPr>
            </a:p>
            <a:p>
              <a:pPr indent="0" lvl="0" marL="0" rtl="0" algn="l">
                <a:spcBef>
                  <a:spcPts val="600"/>
                </a:spcBef>
                <a:spcAft>
                  <a:spcPts val="0"/>
                </a:spcAft>
                <a:buNone/>
              </a:pPr>
              <a:r>
                <a:rPr b="1" lang="en-US" sz="1500">
                  <a:solidFill>
                    <a:srgbClr val="F5F1E6"/>
                  </a:solidFill>
                  <a:latin typeface="Carlito"/>
                  <a:ea typeface="Carlito"/>
                  <a:cs typeface="Carlito"/>
                  <a:sym typeface="Carlito"/>
                </a:rPr>
                <a:t>PEFT Paradigm</a:t>
              </a:r>
              <a:endParaRPr b="1" sz="1500">
                <a:solidFill>
                  <a:srgbClr val="F5F1E6"/>
                </a:solidFill>
                <a:latin typeface="Carlito"/>
                <a:ea typeface="Carlito"/>
                <a:cs typeface="Carlito"/>
                <a:sym typeface="Carlito"/>
              </a:endParaRPr>
            </a:p>
            <a:p>
              <a:pPr indent="0" lvl="0" marL="0" rtl="0" algn="l">
                <a:spcBef>
                  <a:spcPts val="900"/>
                </a:spcBef>
                <a:spcAft>
                  <a:spcPts val="0"/>
                </a:spcAft>
                <a:buNone/>
              </a:pPr>
              <a:r>
                <a:rPr b="0" lang="en-US" sz="1050">
                  <a:solidFill>
                    <a:srgbClr val="94A3B8"/>
                  </a:solidFill>
                  <a:latin typeface="Carlito"/>
                  <a:ea typeface="Carlito"/>
                  <a:cs typeface="Carlito"/>
                  <a:sym typeface="Carlito"/>
                </a:rPr>
                <a:t>Reframes fine-tuning from </a:t>
              </a:r>
              <a:r>
                <a:rPr b="0" lang="en-US" sz="1050">
                  <a:solidFill>
                    <a:srgbClr val="F5F1E6"/>
                  </a:solidFill>
                  <a:latin typeface="Carlito"/>
                  <a:ea typeface="Carlito"/>
                  <a:cs typeface="Carlito"/>
                  <a:sym typeface="Carlito"/>
                </a:rPr>
                <a:t>"retrain everything"</a:t>
              </a:r>
              <a:r>
                <a:rPr b="0" lang="en-US" sz="1050">
                  <a:solidFill>
                    <a:srgbClr val="94A3B8"/>
                  </a:solidFill>
                  <a:latin typeface="Carlito"/>
                  <a:ea typeface="Carlito"/>
                  <a:cs typeface="Carlito"/>
                  <a:sym typeface="Carlito"/>
                </a:rPr>
                <a:t> to training a small, targeted addition on top of a frozen, already-capable base model.</a:t>
              </a:r>
              <a:endParaRPr b="0" sz="1050">
                <a:solidFill>
                  <a:srgbClr val="94A3B8"/>
                </a:solidFill>
                <a:latin typeface="Carlito"/>
                <a:ea typeface="Carlito"/>
                <a:cs typeface="Carlito"/>
                <a:sym typeface="Carlito"/>
              </a:endParaRPr>
            </a:p>
          </p:txBody>
        </p:sp>
      </p:grpSp>
      <p:grpSp>
        <p:nvGrpSpPr>
          <p:cNvPr id="516" name="Google Shape;516;p21"/>
          <p:cNvGrpSpPr/>
          <p:nvPr/>
        </p:nvGrpSpPr>
        <p:grpSpPr>
          <a:xfrm>
            <a:off x="3314700" y="1238250"/>
            <a:ext cx="2514600" cy="2476500"/>
            <a:chOff x="3314700" y="1238250"/>
            <a:chExt cx="2514600" cy="2476500"/>
          </a:xfrm>
        </p:grpSpPr>
        <p:sp>
          <p:nvSpPr>
            <p:cNvPr id="517" name="Google Shape;517;p21"/>
            <p:cNvSpPr/>
            <p:nvPr/>
          </p:nvSpPr>
          <p:spPr>
            <a:xfrm>
              <a:off x="3314700" y="1238250"/>
              <a:ext cx="2514600" cy="2476500"/>
            </a:xfrm>
            <a:prstGeom prst="roundRect">
              <a:avLst>
                <a:gd fmla="val 3076"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8" name="Google Shape;518;p21"/>
            <p:cNvSpPr/>
            <p:nvPr/>
          </p:nvSpPr>
          <p:spPr>
            <a:xfrm>
              <a:off x="3314700" y="1238250"/>
              <a:ext cx="38100" cy="2476500"/>
            </a:xfrm>
            <a:prstGeom prst="roundRect">
              <a:avLst>
                <a:gd fmla="val 50000" name="adj"/>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9" name="Google Shape;519;p21"/>
            <p:cNvSpPr txBox="1"/>
            <p:nvPr/>
          </p:nvSpPr>
          <p:spPr>
            <a:xfrm>
              <a:off x="3505200" y="1428750"/>
              <a:ext cx="21336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02 · Dominant Method</a:t>
              </a:r>
              <a:endParaRPr b="1" sz="800">
                <a:solidFill>
                  <a:srgbClr val="94A3B8"/>
                </a:solidFill>
                <a:latin typeface="Carlito"/>
                <a:ea typeface="Carlito"/>
                <a:cs typeface="Carlito"/>
                <a:sym typeface="Carlito"/>
              </a:endParaRPr>
            </a:p>
            <a:p>
              <a:pPr indent="0" lvl="0" marL="0" rtl="0" algn="l">
                <a:spcBef>
                  <a:spcPts val="600"/>
                </a:spcBef>
                <a:spcAft>
                  <a:spcPts val="0"/>
                </a:spcAft>
                <a:buNone/>
              </a:pPr>
              <a:r>
                <a:rPr b="1" lang="en-US" sz="1500">
                  <a:solidFill>
                    <a:srgbClr val="F5F1E6"/>
                  </a:solidFill>
                  <a:latin typeface="Carlito"/>
                  <a:ea typeface="Carlito"/>
                  <a:cs typeface="Carlito"/>
                  <a:sym typeface="Carlito"/>
                </a:rPr>
                <a:t>LoRA Adaptation</a:t>
              </a:r>
              <a:endParaRPr b="1" sz="1500">
                <a:solidFill>
                  <a:srgbClr val="F5F1E6"/>
                </a:solidFill>
                <a:latin typeface="Carlito"/>
                <a:ea typeface="Carlito"/>
                <a:cs typeface="Carlito"/>
                <a:sym typeface="Carlito"/>
              </a:endParaRPr>
            </a:p>
            <a:p>
              <a:pPr indent="0" lvl="0" marL="0" rtl="0" algn="l">
                <a:spcBef>
                  <a:spcPts val="900"/>
                </a:spcBef>
                <a:spcAft>
                  <a:spcPts val="0"/>
                </a:spcAft>
                <a:buNone/>
              </a:pPr>
              <a:r>
                <a:rPr b="0" lang="en-US" sz="1050">
                  <a:solidFill>
                    <a:srgbClr val="94A3B8"/>
                  </a:solidFill>
                  <a:latin typeface="Carlito"/>
                  <a:ea typeface="Carlito"/>
                  <a:cs typeface="Carlito"/>
                  <a:sym typeface="Carlito"/>
                </a:rPr>
                <a:t>The leading reparameterization technique. Introduces a rank parameter </a:t>
              </a:r>
              <a:r>
                <a:rPr b="1" lang="en-US" sz="1050">
                  <a:solidFill>
                    <a:srgbClr val="F0B429"/>
                  </a:solidFill>
                  <a:latin typeface="Courier New"/>
                  <a:ea typeface="Courier New"/>
                  <a:cs typeface="Courier New"/>
                  <a:sym typeface="Courier New"/>
                </a:rPr>
                <a:t>r</a:t>
              </a:r>
              <a:r>
                <a:rPr b="0" lang="en-US" sz="1050">
                  <a:solidFill>
                    <a:srgbClr val="94A3B8"/>
                  </a:solidFill>
                  <a:latin typeface="Carlito"/>
                  <a:ea typeface="Carlito"/>
                  <a:cs typeface="Carlito"/>
                  <a:sym typeface="Carlito"/>
                </a:rPr>
                <a:t> that directly controls the trade-off of trainable parameters.</a:t>
              </a:r>
              <a:endParaRPr b="0" sz="1050">
                <a:solidFill>
                  <a:srgbClr val="94A3B8"/>
                </a:solidFill>
                <a:latin typeface="Carlito"/>
                <a:ea typeface="Carlito"/>
                <a:cs typeface="Carlito"/>
                <a:sym typeface="Carlito"/>
              </a:endParaRPr>
            </a:p>
          </p:txBody>
        </p:sp>
      </p:grpSp>
      <p:grpSp>
        <p:nvGrpSpPr>
          <p:cNvPr id="520" name="Google Shape;520;p21"/>
          <p:cNvGrpSpPr/>
          <p:nvPr/>
        </p:nvGrpSpPr>
        <p:grpSpPr>
          <a:xfrm>
            <a:off x="6172200" y="1238250"/>
            <a:ext cx="2514600" cy="2476500"/>
            <a:chOff x="6172200" y="1238250"/>
            <a:chExt cx="2514600" cy="2476500"/>
          </a:xfrm>
        </p:grpSpPr>
        <p:sp>
          <p:nvSpPr>
            <p:cNvPr id="521" name="Google Shape;521;p21"/>
            <p:cNvSpPr/>
            <p:nvPr/>
          </p:nvSpPr>
          <p:spPr>
            <a:xfrm>
              <a:off x="6172200" y="1238250"/>
              <a:ext cx="2514600" cy="2476500"/>
            </a:xfrm>
            <a:prstGeom prst="roundRect">
              <a:avLst>
                <a:gd fmla="val 3076"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2" name="Google Shape;522;p21"/>
            <p:cNvSpPr/>
            <p:nvPr/>
          </p:nvSpPr>
          <p:spPr>
            <a:xfrm>
              <a:off x="6172200" y="1238250"/>
              <a:ext cx="38100" cy="24765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3" name="Google Shape;523;p21"/>
            <p:cNvSpPr txBox="1"/>
            <p:nvPr/>
          </p:nvSpPr>
          <p:spPr>
            <a:xfrm>
              <a:off x="6362700" y="1428750"/>
              <a:ext cx="21336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03 · Efficiency</a:t>
              </a:r>
              <a:endParaRPr b="1" sz="800">
                <a:solidFill>
                  <a:srgbClr val="F0B429"/>
                </a:solidFill>
                <a:latin typeface="Carlito"/>
                <a:ea typeface="Carlito"/>
                <a:cs typeface="Carlito"/>
                <a:sym typeface="Carlito"/>
              </a:endParaRPr>
            </a:p>
            <a:p>
              <a:pPr indent="0" lvl="0" marL="0" rtl="0" algn="l">
                <a:spcBef>
                  <a:spcPts val="600"/>
                </a:spcBef>
                <a:spcAft>
                  <a:spcPts val="0"/>
                </a:spcAft>
                <a:buNone/>
              </a:pPr>
              <a:r>
                <a:rPr b="1" lang="en-US" sz="1500">
                  <a:solidFill>
                    <a:srgbClr val="F5F1E6"/>
                  </a:solidFill>
                  <a:latin typeface="Carlito"/>
                  <a:ea typeface="Carlito"/>
                  <a:cs typeface="Carlito"/>
                  <a:sym typeface="Carlito"/>
                </a:rPr>
                <a:t>Resource Savings</a:t>
              </a:r>
              <a:endParaRPr b="1" sz="1500">
                <a:solidFill>
                  <a:srgbClr val="F5F1E6"/>
                </a:solidFill>
                <a:latin typeface="Carlito"/>
                <a:ea typeface="Carlito"/>
                <a:cs typeface="Carlito"/>
                <a:sym typeface="Carlito"/>
              </a:endParaRPr>
            </a:p>
            <a:p>
              <a:pPr indent="0" lvl="0" marL="0" rtl="0" algn="l">
                <a:spcBef>
                  <a:spcPts val="900"/>
                </a:spcBef>
                <a:spcAft>
                  <a:spcPts val="0"/>
                </a:spcAft>
                <a:buNone/>
              </a:pPr>
              <a:r>
                <a:rPr b="0" lang="en-US" sz="1050">
                  <a:solidFill>
                    <a:srgbClr val="94A3B8"/>
                  </a:solidFill>
                  <a:latin typeface="Carlito"/>
                  <a:ea typeface="Carlito"/>
                  <a:cs typeface="Carlito"/>
                  <a:sym typeface="Carlito"/>
                </a:rPr>
                <a:t>A modest rank of </a:t>
              </a:r>
              <a:r>
                <a:rPr b="1" lang="en-US" sz="1050">
                  <a:solidFill>
                    <a:srgbClr val="F0B429"/>
                  </a:solidFill>
                  <a:latin typeface="Carlito"/>
                  <a:ea typeface="Carlito"/>
                  <a:cs typeface="Carlito"/>
                  <a:sym typeface="Carlito"/>
                </a:rPr>
                <a:t>8–16</a:t>
              </a:r>
              <a:r>
                <a:rPr b="0" lang="en-US" sz="1050">
                  <a:solidFill>
                    <a:srgbClr val="94A3B8"/>
                  </a:solidFill>
                  <a:latin typeface="Carlito"/>
                  <a:ea typeface="Carlito"/>
                  <a:cs typeface="Carlito"/>
                  <a:sym typeface="Carlito"/>
                </a:rPr>
                <a:t> routinely captures most adaptation, at just </a:t>
              </a:r>
              <a:r>
                <a:rPr b="1" lang="en-US" sz="1050">
                  <a:solidFill>
                    <a:srgbClr val="F0B429"/>
                  </a:solidFill>
                  <a:latin typeface="Carlito"/>
                  <a:ea typeface="Carlito"/>
                  <a:cs typeface="Carlito"/>
                  <a:sym typeface="Carlito"/>
                </a:rPr>
                <a:t>1–2%</a:t>
              </a:r>
              <a:r>
                <a:rPr b="0" lang="en-US" sz="1050">
                  <a:solidFill>
                    <a:srgbClr val="94A3B8"/>
                  </a:solidFill>
                  <a:latin typeface="Carlito"/>
                  <a:ea typeface="Carlito"/>
                  <a:cs typeface="Carlito"/>
                  <a:sym typeface="Carlito"/>
                </a:rPr>
                <a:t> of full fine-tuning's memory cost.</a:t>
              </a:r>
              <a:endParaRPr b="0" sz="1050">
                <a:solidFill>
                  <a:srgbClr val="94A3B8"/>
                </a:solidFill>
                <a:latin typeface="Carlito"/>
                <a:ea typeface="Carlito"/>
                <a:cs typeface="Carlito"/>
                <a:sym typeface="Carlito"/>
              </a:endParaRPr>
            </a:p>
          </p:txBody>
        </p:sp>
      </p:grpSp>
      <p:grpSp>
        <p:nvGrpSpPr>
          <p:cNvPr id="524" name="Google Shape;524;p21"/>
          <p:cNvGrpSpPr/>
          <p:nvPr/>
        </p:nvGrpSpPr>
        <p:grpSpPr>
          <a:xfrm>
            <a:off x="457200" y="3952875"/>
            <a:ext cx="8229600" cy="571500"/>
            <a:chOff x="457200" y="3952875"/>
            <a:chExt cx="8229600" cy="571500"/>
          </a:xfrm>
        </p:grpSpPr>
        <p:sp>
          <p:nvSpPr>
            <p:cNvPr id="525" name="Google Shape;525;p21"/>
            <p:cNvSpPr/>
            <p:nvPr/>
          </p:nvSpPr>
          <p:spPr>
            <a:xfrm>
              <a:off x="457200" y="3952875"/>
              <a:ext cx="8229600" cy="571500"/>
            </a:xfrm>
            <a:prstGeom prst="roundRect">
              <a:avLst>
                <a:gd fmla="val 13333"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6" name="Google Shape;526;p21"/>
            <p:cNvSpPr/>
            <p:nvPr/>
          </p:nvSpPr>
          <p:spPr>
            <a:xfrm>
              <a:off x="457200" y="3952875"/>
              <a:ext cx="38100" cy="5715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7" name="Google Shape;527;p21"/>
            <p:cNvSpPr/>
            <p:nvPr/>
          </p:nvSpPr>
          <p:spPr>
            <a:xfrm>
              <a:off x="647700" y="4124325"/>
              <a:ext cx="857400" cy="228600"/>
            </a:xfrm>
            <a:prstGeom prst="roundRect">
              <a:avLst>
                <a:gd fmla="val 16666" name="adj"/>
              </a:avLst>
            </a:prstGeom>
            <a:solidFill>
              <a:srgbClr val="0A1628">
                <a:alpha val="50000"/>
              </a:srgbClr>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8" name="Google Shape;528;p21"/>
            <p:cNvSpPr txBox="1"/>
            <p:nvPr/>
          </p:nvSpPr>
          <p:spPr>
            <a:xfrm>
              <a:off x="647700" y="4124325"/>
              <a:ext cx="8574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F0B429"/>
                  </a:solidFill>
                  <a:latin typeface="Courier New"/>
                  <a:ea typeface="Courier New"/>
                  <a:cs typeface="Courier New"/>
                  <a:sym typeface="Courier New"/>
                </a:rPr>
                <a:t>→ TRANSITION</a:t>
              </a:r>
              <a:endParaRPr b="1" sz="750">
                <a:solidFill>
                  <a:srgbClr val="F0B429"/>
                </a:solidFill>
                <a:latin typeface="Courier New"/>
                <a:ea typeface="Courier New"/>
                <a:cs typeface="Courier New"/>
                <a:sym typeface="Courier New"/>
              </a:endParaRPr>
            </a:p>
          </p:txBody>
        </p:sp>
        <p:sp>
          <p:nvSpPr>
            <p:cNvPr id="529" name="Google Shape;529;p21"/>
            <p:cNvSpPr txBox="1"/>
            <p:nvPr/>
          </p:nvSpPr>
          <p:spPr>
            <a:xfrm>
              <a:off x="1657350" y="3952875"/>
              <a:ext cx="68391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US" sz="950">
                  <a:solidFill>
                    <a:srgbClr val="F5F1E6"/>
                  </a:solidFill>
                  <a:latin typeface="Carlito"/>
                  <a:ea typeface="Carlito"/>
                  <a:cs typeface="Carlito"/>
                  <a:sym typeface="Carlito"/>
                </a:rPr>
                <a:t>We now turn to the second half of the resource-optimization story: once a model is trained, how do we shrink and speed it up for deployment?</a:t>
              </a:r>
              <a:endParaRPr b="0" i="1" sz="950">
                <a:solidFill>
                  <a:srgbClr val="F5F1E6"/>
                </a:solidFill>
                <a:latin typeface="Carlito"/>
                <a:ea typeface="Carlito"/>
                <a:cs typeface="Carlito"/>
                <a:sym typeface="Carlito"/>
              </a:endParaRPr>
            </a:p>
          </p:txBody>
        </p:sp>
      </p:grpSp>
      <p:sp>
        <p:nvSpPr>
          <p:cNvPr id="530" name="Google Shape;530;p21"/>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531" name="Google Shape;531;p21"/>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19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6" name="Shape 536"/>
        <p:cNvGrpSpPr/>
        <p:nvPr/>
      </p:nvGrpSpPr>
      <p:grpSpPr>
        <a:xfrm>
          <a:off x="0" y="0"/>
          <a:ext cx="0" cy="0"/>
          <a:chOff x="0" y="0"/>
          <a:chExt cx="0" cy="0"/>
        </a:xfrm>
      </p:grpSpPr>
      <p:sp>
        <p:nvSpPr>
          <p:cNvPr id="537" name="Google Shape;537;p22"/>
          <p:cNvSpPr txBox="1"/>
          <p:nvPr/>
        </p:nvSpPr>
        <p:spPr>
          <a:xfrm>
            <a:off x="5524500" y="-78460"/>
            <a:ext cx="3333900" cy="2857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US" sz="18600">
                <a:solidFill>
                  <a:srgbClr val="F0B429"/>
                </a:solidFill>
                <a:latin typeface="Arial"/>
                <a:ea typeface="Arial"/>
                <a:cs typeface="Arial"/>
                <a:sym typeface="Arial"/>
              </a:rPr>
              <a:t>04</a:t>
            </a:r>
            <a:endParaRPr b="1" sz="18600">
              <a:solidFill>
                <a:srgbClr val="F0B429"/>
              </a:solidFill>
              <a:latin typeface="Arial"/>
              <a:ea typeface="Arial"/>
              <a:cs typeface="Arial"/>
              <a:sym typeface="Arial"/>
            </a:endParaRPr>
          </a:p>
        </p:txBody>
      </p:sp>
      <p:grpSp>
        <p:nvGrpSpPr>
          <p:cNvPr id="538" name="Google Shape;538;p22"/>
          <p:cNvGrpSpPr/>
          <p:nvPr/>
        </p:nvGrpSpPr>
        <p:grpSpPr>
          <a:xfrm>
            <a:off x="457200" y="457200"/>
            <a:ext cx="8229600" cy="1409700"/>
            <a:chOff x="457200" y="457200"/>
            <a:chExt cx="8229600" cy="1409700"/>
          </a:xfrm>
        </p:grpSpPr>
        <p:sp>
          <p:nvSpPr>
            <p:cNvPr id="539" name="Google Shape;539;p22"/>
            <p:cNvSpPr txBox="1"/>
            <p:nvPr/>
          </p:nvSpPr>
          <p:spPr>
            <a:xfrm>
              <a:off x="457200" y="457200"/>
              <a:ext cx="82296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800">
                  <a:solidFill>
                    <a:srgbClr val="F0B429"/>
                  </a:solidFill>
                  <a:latin typeface="Arial"/>
                  <a:ea typeface="Arial"/>
                  <a:cs typeface="Arial"/>
                  <a:sym typeface="Arial"/>
                </a:rPr>
                <a:t>PART 04 · PRECISION FORMATS</a:t>
              </a:r>
              <a:endParaRPr sz="800">
                <a:solidFill>
                  <a:srgbClr val="F0B429"/>
                </a:solidFill>
                <a:latin typeface="Arial"/>
                <a:ea typeface="Arial"/>
                <a:cs typeface="Arial"/>
                <a:sym typeface="Arial"/>
              </a:endParaRPr>
            </a:p>
          </p:txBody>
        </p:sp>
        <p:sp>
          <p:nvSpPr>
            <p:cNvPr id="540" name="Google Shape;540;p22"/>
            <p:cNvSpPr txBox="1"/>
            <p:nvPr/>
          </p:nvSpPr>
          <p:spPr>
            <a:xfrm>
              <a:off x="457200" y="723900"/>
              <a:ext cx="8229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F5F1E6"/>
                  </a:solidFill>
                  <a:latin typeface="Carlito"/>
                  <a:ea typeface="Carlito"/>
                  <a:cs typeface="Carlito"/>
                  <a:sym typeface="Carlito"/>
                </a:rPr>
                <a:t>Precision Formats</a:t>
              </a:r>
              <a:endParaRPr b="1" sz="2800">
                <a:solidFill>
                  <a:srgbClr val="F5F1E6"/>
                </a:solidFill>
                <a:latin typeface="Carlito"/>
                <a:ea typeface="Carlito"/>
                <a:cs typeface="Carlito"/>
                <a:sym typeface="Carlito"/>
              </a:endParaRPr>
            </a:p>
          </p:txBody>
        </p:sp>
        <p:sp>
          <p:nvSpPr>
            <p:cNvPr id="541" name="Google Shape;541;p22"/>
            <p:cNvSpPr txBox="1"/>
            <p:nvPr/>
          </p:nvSpPr>
          <p:spPr>
            <a:xfrm>
              <a:off x="457200" y="1295400"/>
              <a:ext cx="61914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200">
                  <a:solidFill>
                    <a:srgbClr val="94A3B8"/>
                  </a:solidFill>
                  <a:latin typeface="Carlito"/>
                  <a:ea typeface="Carlito"/>
                  <a:cs typeface="Carlito"/>
                  <a:sym typeface="Carlito"/>
                </a:rPr>
                <a:t>FP32, FP16, BF16, and INT8: what these numeric formats are, and what changes when a model moves between them.</a:t>
              </a:r>
              <a:endParaRPr sz="1200">
                <a:solidFill>
                  <a:srgbClr val="94A3B8"/>
                </a:solidFill>
                <a:latin typeface="Carlito"/>
                <a:ea typeface="Carlito"/>
                <a:cs typeface="Carlito"/>
                <a:sym typeface="Carlito"/>
              </a:endParaRPr>
            </a:p>
          </p:txBody>
        </p:sp>
      </p:grpSp>
      <p:grpSp>
        <p:nvGrpSpPr>
          <p:cNvPr id="542" name="Google Shape;542;p22"/>
          <p:cNvGrpSpPr/>
          <p:nvPr/>
        </p:nvGrpSpPr>
        <p:grpSpPr>
          <a:xfrm>
            <a:off x="457200" y="2286000"/>
            <a:ext cx="8229675" cy="1428900"/>
            <a:chOff x="457200" y="2286000"/>
            <a:chExt cx="8229675" cy="1428900"/>
          </a:xfrm>
        </p:grpSpPr>
        <p:grpSp>
          <p:nvGrpSpPr>
            <p:cNvPr id="543" name="Google Shape;543;p22"/>
            <p:cNvGrpSpPr/>
            <p:nvPr/>
          </p:nvGrpSpPr>
          <p:grpSpPr>
            <a:xfrm>
              <a:off x="457200" y="2286000"/>
              <a:ext cx="1914600" cy="1428900"/>
              <a:chOff x="457200" y="2286000"/>
              <a:chExt cx="1914600" cy="1428900"/>
            </a:xfrm>
          </p:grpSpPr>
          <p:sp>
            <p:nvSpPr>
              <p:cNvPr id="544" name="Google Shape;544;p22"/>
              <p:cNvSpPr/>
              <p:nvPr/>
            </p:nvSpPr>
            <p:spPr>
              <a:xfrm>
                <a:off x="457200" y="2286000"/>
                <a:ext cx="1914600" cy="1428900"/>
              </a:xfrm>
              <a:prstGeom prst="roundRect">
                <a:avLst>
                  <a:gd fmla="val 5333"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5" name="Google Shape;545;p22"/>
              <p:cNvSpPr/>
              <p:nvPr/>
            </p:nvSpPr>
            <p:spPr>
              <a:xfrm>
                <a:off x="457200" y="2286000"/>
                <a:ext cx="38100" cy="1428900"/>
              </a:xfrm>
              <a:prstGeom prst="roundRect">
                <a:avLst>
                  <a:gd fmla="val 50000" name="adj"/>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6" name="Google Shape;546;p22"/>
              <p:cNvSpPr txBox="1"/>
              <p:nvPr/>
            </p:nvSpPr>
            <p:spPr>
              <a:xfrm>
                <a:off x="647700" y="2476500"/>
                <a:ext cx="15336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F0B429"/>
                    </a:solidFill>
                    <a:latin typeface="Carlito"/>
                    <a:ea typeface="Carlito"/>
                    <a:cs typeface="Carlito"/>
                    <a:sym typeface="Carlito"/>
                  </a:rPr>
                  <a:t>FP32</a:t>
                </a:r>
                <a:endParaRPr b="1" sz="1600">
                  <a:solidFill>
                    <a:srgbClr val="F0B429"/>
                  </a:solidFill>
                  <a:latin typeface="Carlito"/>
                  <a:ea typeface="Carlito"/>
                  <a:cs typeface="Carlito"/>
                  <a:sym typeface="Carlito"/>
                </a:endParaRPr>
              </a:p>
              <a:p>
                <a:pPr indent="0" lvl="0" marL="0" rtl="0" algn="l">
                  <a:spcBef>
                    <a:spcPts val="600"/>
                  </a:spcBef>
                  <a:spcAft>
                    <a:spcPts val="0"/>
                  </a:spcAft>
                  <a:buNone/>
                </a:pPr>
                <a:r>
                  <a:rPr lang="en-US" sz="1050">
                    <a:solidFill>
                      <a:srgbClr val="F5F1E6"/>
                    </a:solidFill>
                    <a:latin typeface="Carlito"/>
                    <a:ea typeface="Carlito"/>
                    <a:cs typeface="Carlito"/>
                    <a:sym typeface="Carlito"/>
                  </a:rPr>
                  <a:t>Single Precision</a:t>
                </a:r>
                <a:endParaRPr sz="1050">
                  <a:solidFill>
                    <a:srgbClr val="F5F1E6"/>
                  </a:solidFill>
                  <a:latin typeface="Carlito"/>
                  <a:ea typeface="Carlito"/>
                  <a:cs typeface="Carlito"/>
                  <a:sym typeface="Carlito"/>
                </a:endParaRPr>
              </a:p>
              <a:p>
                <a:pPr indent="0" lvl="0" marL="0" rtl="0" algn="l">
                  <a:spcBef>
                    <a:spcPts val="300"/>
                  </a:spcBef>
                  <a:spcAft>
                    <a:spcPts val="0"/>
                  </a:spcAft>
                  <a:buNone/>
                </a:pPr>
                <a:r>
                  <a:rPr lang="en-US" sz="950">
                    <a:solidFill>
                      <a:srgbClr val="94A3B8"/>
                    </a:solidFill>
                    <a:latin typeface="Carlito"/>
                    <a:ea typeface="Carlito"/>
                    <a:cs typeface="Carlito"/>
                    <a:sym typeface="Carlito"/>
                  </a:rPr>
                  <a:t>32-bit Floating Point</a:t>
                </a:r>
                <a:endParaRPr sz="950">
                  <a:solidFill>
                    <a:srgbClr val="94A3B8"/>
                  </a:solidFill>
                  <a:latin typeface="Carlito"/>
                  <a:ea typeface="Carlito"/>
                  <a:cs typeface="Carlito"/>
                  <a:sym typeface="Carlito"/>
                </a:endParaRPr>
              </a:p>
            </p:txBody>
          </p:sp>
        </p:grpSp>
        <p:grpSp>
          <p:nvGrpSpPr>
            <p:cNvPr id="547" name="Google Shape;547;p22"/>
            <p:cNvGrpSpPr/>
            <p:nvPr/>
          </p:nvGrpSpPr>
          <p:grpSpPr>
            <a:xfrm>
              <a:off x="2562225" y="2286000"/>
              <a:ext cx="1914600" cy="1428900"/>
              <a:chOff x="2562225" y="2286000"/>
              <a:chExt cx="1914600" cy="1428900"/>
            </a:xfrm>
          </p:grpSpPr>
          <p:sp>
            <p:nvSpPr>
              <p:cNvPr id="548" name="Google Shape;548;p22"/>
              <p:cNvSpPr/>
              <p:nvPr/>
            </p:nvSpPr>
            <p:spPr>
              <a:xfrm>
                <a:off x="2562225" y="2286000"/>
                <a:ext cx="1914600" cy="1428900"/>
              </a:xfrm>
              <a:prstGeom prst="roundRect">
                <a:avLst>
                  <a:gd fmla="val 5333"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9" name="Google Shape;549;p22"/>
              <p:cNvSpPr/>
              <p:nvPr/>
            </p:nvSpPr>
            <p:spPr>
              <a:xfrm>
                <a:off x="2562225" y="2286000"/>
                <a:ext cx="38100" cy="14289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0" name="Google Shape;550;p22"/>
              <p:cNvSpPr txBox="1"/>
              <p:nvPr/>
            </p:nvSpPr>
            <p:spPr>
              <a:xfrm>
                <a:off x="2752725" y="2476500"/>
                <a:ext cx="15336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F0B429"/>
                    </a:solidFill>
                    <a:latin typeface="Carlito"/>
                    <a:ea typeface="Carlito"/>
                    <a:cs typeface="Carlito"/>
                    <a:sym typeface="Carlito"/>
                  </a:rPr>
                  <a:t>FP16</a:t>
                </a:r>
                <a:endParaRPr b="1" sz="1600">
                  <a:solidFill>
                    <a:srgbClr val="F0B429"/>
                  </a:solidFill>
                  <a:latin typeface="Carlito"/>
                  <a:ea typeface="Carlito"/>
                  <a:cs typeface="Carlito"/>
                  <a:sym typeface="Carlito"/>
                </a:endParaRPr>
              </a:p>
              <a:p>
                <a:pPr indent="0" lvl="0" marL="0" rtl="0" algn="l">
                  <a:spcBef>
                    <a:spcPts val="600"/>
                  </a:spcBef>
                  <a:spcAft>
                    <a:spcPts val="0"/>
                  </a:spcAft>
                  <a:buNone/>
                </a:pPr>
                <a:r>
                  <a:rPr lang="en-US" sz="1050">
                    <a:solidFill>
                      <a:srgbClr val="F5F1E6"/>
                    </a:solidFill>
                    <a:latin typeface="Carlito"/>
                    <a:ea typeface="Carlito"/>
                    <a:cs typeface="Carlito"/>
                    <a:sym typeface="Carlito"/>
                  </a:rPr>
                  <a:t>Half Precision</a:t>
                </a:r>
                <a:endParaRPr sz="1050">
                  <a:solidFill>
                    <a:srgbClr val="F5F1E6"/>
                  </a:solidFill>
                  <a:latin typeface="Carlito"/>
                  <a:ea typeface="Carlito"/>
                  <a:cs typeface="Carlito"/>
                  <a:sym typeface="Carlito"/>
                </a:endParaRPr>
              </a:p>
              <a:p>
                <a:pPr indent="0" lvl="0" marL="0" rtl="0" algn="l">
                  <a:spcBef>
                    <a:spcPts val="300"/>
                  </a:spcBef>
                  <a:spcAft>
                    <a:spcPts val="0"/>
                  </a:spcAft>
                  <a:buNone/>
                </a:pPr>
                <a:r>
                  <a:rPr lang="en-US" sz="950">
                    <a:solidFill>
                      <a:srgbClr val="94A3B8"/>
                    </a:solidFill>
                    <a:latin typeface="Carlito"/>
                    <a:ea typeface="Carlito"/>
                    <a:cs typeface="Carlito"/>
                    <a:sym typeface="Carlito"/>
                  </a:rPr>
                  <a:t>16-bit Floating Point</a:t>
                </a:r>
                <a:endParaRPr sz="950">
                  <a:solidFill>
                    <a:srgbClr val="94A3B8"/>
                  </a:solidFill>
                  <a:latin typeface="Carlito"/>
                  <a:ea typeface="Carlito"/>
                  <a:cs typeface="Carlito"/>
                  <a:sym typeface="Carlito"/>
                </a:endParaRPr>
              </a:p>
            </p:txBody>
          </p:sp>
        </p:grpSp>
        <p:grpSp>
          <p:nvGrpSpPr>
            <p:cNvPr id="551" name="Google Shape;551;p22"/>
            <p:cNvGrpSpPr/>
            <p:nvPr/>
          </p:nvGrpSpPr>
          <p:grpSpPr>
            <a:xfrm>
              <a:off x="4667250" y="2286000"/>
              <a:ext cx="1914600" cy="1428900"/>
              <a:chOff x="4667250" y="2286000"/>
              <a:chExt cx="1914600" cy="1428900"/>
            </a:xfrm>
          </p:grpSpPr>
          <p:sp>
            <p:nvSpPr>
              <p:cNvPr id="552" name="Google Shape;552;p22"/>
              <p:cNvSpPr/>
              <p:nvPr/>
            </p:nvSpPr>
            <p:spPr>
              <a:xfrm>
                <a:off x="4667250" y="2286000"/>
                <a:ext cx="1914600" cy="1428900"/>
              </a:xfrm>
              <a:prstGeom prst="roundRect">
                <a:avLst>
                  <a:gd fmla="val 5333"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3" name="Google Shape;553;p22"/>
              <p:cNvSpPr/>
              <p:nvPr/>
            </p:nvSpPr>
            <p:spPr>
              <a:xfrm>
                <a:off x="4667250" y="2286000"/>
                <a:ext cx="38100" cy="14289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4" name="Google Shape;554;p22"/>
              <p:cNvSpPr txBox="1"/>
              <p:nvPr/>
            </p:nvSpPr>
            <p:spPr>
              <a:xfrm>
                <a:off x="4857750" y="2476500"/>
                <a:ext cx="15336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F0B429"/>
                    </a:solidFill>
                    <a:latin typeface="Carlito"/>
                    <a:ea typeface="Carlito"/>
                    <a:cs typeface="Carlito"/>
                    <a:sym typeface="Carlito"/>
                  </a:rPr>
                  <a:t>BF16</a:t>
                </a:r>
                <a:endParaRPr b="1" sz="1600">
                  <a:solidFill>
                    <a:srgbClr val="F0B429"/>
                  </a:solidFill>
                  <a:latin typeface="Carlito"/>
                  <a:ea typeface="Carlito"/>
                  <a:cs typeface="Carlito"/>
                  <a:sym typeface="Carlito"/>
                </a:endParaRPr>
              </a:p>
              <a:p>
                <a:pPr indent="0" lvl="0" marL="0" rtl="0" algn="l">
                  <a:spcBef>
                    <a:spcPts val="600"/>
                  </a:spcBef>
                  <a:spcAft>
                    <a:spcPts val="0"/>
                  </a:spcAft>
                  <a:buNone/>
                </a:pPr>
                <a:r>
                  <a:rPr lang="en-US" sz="1050">
                    <a:solidFill>
                      <a:srgbClr val="F5F1E6"/>
                    </a:solidFill>
                    <a:latin typeface="Carlito"/>
                    <a:ea typeface="Carlito"/>
                    <a:cs typeface="Carlito"/>
                    <a:sym typeface="Carlito"/>
                  </a:rPr>
                  <a:t>Brain Float</a:t>
                </a:r>
                <a:endParaRPr sz="1050">
                  <a:solidFill>
                    <a:srgbClr val="F5F1E6"/>
                  </a:solidFill>
                  <a:latin typeface="Carlito"/>
                  <a:ea typeface="Carlito"/>
                  <a:cs typeface="Carlito"/>
                  <a:sym typeface="Carlito"/>
                </a:endParaRPr>
              </a:p>
              <a:p>
                <a:pPr indent="0" lvl="0" marL="0" rtl="0" algn="l">
                  <a:spcBef>
                    <a:spcPts val="300"/>
                  </a:spcBef>
                  <a:spcAft>
                    <a:spcPts val="0"/>
                  </a:spcAft>
                  <a:buNone/>
                </a:pPr>
                <a:r>
                  <a:rPr lang="en-US" sz="950">
                    <a:solidFill>
                      <a:srgbClr val="94A3B8"/>
                    </a:solidFill>
                    <a:latin typeface="Carlito"/>
                    <a:ea typeface="Carlito"/>
                    <a:cs typeface="Carlito"/>
                    <a:sym typeface="Carlito"/>
                  </a:rPr>
                  <a:t>16-bit Alternate Range</a:t>
                </a:r>
                <a:endParaRPr sz="950">
                  <a:solidFill>
                    <a:srgbClr val="94A3B8"/>
                  </a:solidFill>
                  <a:latin typeface="Carlito"/>
                  <a:ea typeface="Carlito"/>
                  <a:cs typeface="Carlito"/>
                  <a:sym typeface="Carlito"/>
                </a:endParaRPr>
              </a:p>
            </p:txBody>
          </p:sp>
        </p:grpSp>
        <p:grpSp>
          <p:nvGrpSpPr>
            <p:cNvPr id="555" name="Google Shape;555;p22"/>
            <p:cNvGrpSpPr/>
            <p:nvPr/>
          </p:nvGrpSpPr>
          <p:grpSpPr>
            <a:xfrm>
              <a:off x="6772275" y="2286000"/>
              <a:ext cx="1914600" cy="1428900"/>
              <a:chOff x="6772275" y="2286000"/>
              <a:chExt cx="1914600" cy="1428900"/>
            </a:xfrm>
          </p:grpSpPr>
          <p:sp>
            <p:nvSpPr>
              <p:cNvPr id="556" name="Google Shape;556;p22"/>
              <p:cNvSpPr/>
              <p:nvPr/>
            </p:nvSpPr>
            <p:spPr>
              <a:xfrm>
                <a:off x="6772275" y="2286000"/>
                <a:ext cx="1914600" cy="1428900"/>
              </a:xfrm>
              <a:prstGeom prst="roundRect">
                <a:avLst>
                  <a:gd fmla="val 5333"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7" name="Google Shape;557;p22"/>
              <p:cNvSpPr/>
              <p:nvPr/>
            </p:nvSpPr>
            <p:spPr>
              <a:xfrm>
                <a:off x="6772275" y="2286000"/>
                <a:ext cx="38100" cy="14289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8" name="Google Shape;558;p22"/>
              <p:cNvSpPr txBox="1"/>
              <p:nvPr/>
            </p:nvSpPr>
            <p:spPr>
              <a:xfrm>
                <a:off x="6962775" y="2476500"/>
                <a:ext cx="15336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F0B429"/>
                    </a:solidFill>
                    <a:latin typeface="Carlito"/>
                    <a:ea typeface="Carlito"/>
                    <a:cs typeface="Carlito"/>
                    <a:sym typeface="Carlito"/>
                  </a:rPr>
                  <a:t>INT8</a:t>
                </a:r>
                <a:endParaRPr b="1" sz="1600">
                  <a:solidFill>
                    <a:srgbClr val="F0B429"/>
                  </a:solidFill>
                  <a:latin typeface="Carlito"/>
                  <a:ea typeface="Carlito"/>
                  <a:cs typeface="Carlito"/>
                  <a:sym typeface="Carlito"/>
                </a:endParaRPr>
              </a:p>
              <a:p>
                <a:pPr indent="0" lvl="0" marL="0" rtl="0" algn="l">
                  <a:spcBef>
                    <a:spcPts val="600"/>
                  </a:spcBef>
                  <a:spcAft>
                    <a:spcPts val="0"/>
                  </a:spcAft>
                  <a:buNone/>
                </a:pPr>
                <a:r>
                  <a:rPr lang="en-US" sz="1050">
                    <a:solidFill>
                      <a:srgbClr val="F5F1E6"/>
                    </a:solidFill>
                    <a:latin typeface="Carlito"/>
                    <a:ea typeface="Carlito"/>
                    <a:cs typeface="Carlito"/>
                    <a:sym typeface="Carlito"/>
                  </a:rPr>
                  <a:t>Integer Format</a:t>
                </a:r>
                <a:endParaRPr sz="1050">
                  <a:solidFill>
                    <a:srgbClr val="F5F1E6"/>
                  </a:solidFill>
                  <a:latin typeface="Carlito"/>
                  <a:ea typeface="Carlito"/>
                  <a:cs typeface="Carlito"/>
                  <a:sym typeface="Carlito"/>
                </a:endParaRPr>
              </a:p>
              <a:p>
                <a:pPr indent="0" lvl="0" marL="0" rtl="0" algn="l">
                  <a:spcBef>
                    <a:spcPts val="300"/>
                  </a:spcBef>
                  <a:spcAft>
                    <a:spcPts val="0"/>
                  </a:spcAft>
                  <a:buNone/>
                </a:pPr>
                <a:r>
                  <a:rPr lang="en-US" sz="950">
                    <a:solidFill>
                      <a:srgbClr val="94A3B8"/>
                    </a:solidFill>
                    <a:latin typeface="Carlito"/>
                    <a:ea typeface="Carlito"/>
                    <a:cs typeface="Carlito"/>
                    <a:sym typeface="Carlito"/>
                  </a:rPr>
                  <a:t>8-bit Fixed Precision</a:t>
                </a:r>
                <a:endParaRPr sz="950">
                  <a:solidFill>
                    <a:srgbClr val="94A3B8"/>
                  </a:solidFill>
                  <a:latin typeface="Carlito"/>
                  <a:ea typeface="Carlito"/>
                  <a:cs typeface="Carlito"/>
                  <a:sym typeface="Carlito"/>
                </a:endParaRPr>
              </a:p>
            </p:txBody>
          </p:sp>
        </p:grpSp>
      </p:grpSp>
      <p:grpSp>
        <p:nvGrpSpPr>
          <p:cNvPr id="559" name="Google Shape;559;p22"/>
          <p:cNvGrpSpPr/>
          <p:nvPr/>
        </p:nvGrpSpPr>
        <p:grpSpPr>
          <a:xfrm>
            <a:off x="457200" y="4857750"/>
            <a:ext cx="8378552" cy="164700"/>
            <a:chOff x="457200" y="4857750"/>
            <a:chExt cx="8378552" cy="164700"/>
          </a:xfrm>
        </p:grpSpPr>
        <p:sp>
          <p:nvSpPr>
            <p:cNvPr id="560" name="Google Shape;560;p22"/>
            <p:cNvSpPr txBox="1"/>
            <p:nvPr/>
          </p:nvSpPr>
          <p:spPr>
            <a:xfrm>
              <a:off x="457200" y="4857750"/>
              <a:ext cx="7867200" cy="1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800">
                  <a:solidFill>
                    <a:srgbClr val="64748B"/>
                  </a:solidFill>
                  <a:latin typeface="Carlito"/>
                  <a:ea typeface="Carlito"/>
                  <a:cs typeface="Carlito"/>
                  <a:sym typeface="Carlito"/>
                </a:rPr>
                <a:t>DEEP LEARNING FOR RESOURCE OPTIMIZATION</a:t>
              </a:r>
              <a:endParaRPr sz="800">
                <a:solidFill>
                  <a:srgbClr val="64748B"/>
                </a:solidFill>
                <a:latin typeface="Carlito"/>
                <a:ea typeface="Carlito"/>
                <a:cs typeface="Carlito"/>
                <a:sym typeface="Carlito"/>
              </a:endParaRPr>
            </a:p>
          </p:txBody>
        </p:sp>
        <p:sp>
          <p:nvSpPr>
            <p:cNvPr id="561" name="Google Shape;561;p22"/>
            <p:cNvSpPr txBox="1"/>
            <p:nvPr/>
          </p:nvSpPr>
          <p:spPr>
            <a:xfrm>
              <a:off x="8338652" y="4857750"/>
              <a:ext cx="497100" cy="1647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US" sz="800">
                  <a:solidFill>
                    <a:srgbClr val="94A3B8"/>
                  </a:solidFill>
                  <a:latin typeface="Arial"/>
                  <a:ea typeface="Arial"/>
                  <a:cs typeface="Arial"/>
                  <a:sym typeface="Arial"/>
                </a:rPr>
                <a:t>20 </a:t>
              </a:r>
              <a:r>
                <a:rPr lang="en-US" sz="800">
                  <a:solidFill>
                    <a:srgbClr val="64748B"/>
                  </a:solidFill>
                  <a:latin typeface="Arial"/>
                  <a:ea typeface="Arial"/>
                  <a:cs typeface="Arial"/>
                  <a:sym typeface="Arial"/>
                </a:rPr>
                <a:t>/ 58</a:t>
              </a:r>
              <a:endParaRPr sz="800">
                <a:solidFill>
                  <a:srgbClr val="94A3B8"/>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566" name="Shape 566"/>
        <p:cNvGrpSpPr/>
        <p:nvPr/>
      </p:nvGrpSpPr>
      <p:grpSpPr>
        <a:xfrm>
          <a:off x="0" y="0"/>
          <a:ext cx="0" cy="0"/>
          <a:chOff x="0" y="0"/>
          <a:chExt cx="0" cy="0"/>
        </a:xfrm>
      </p:grpSpPr>
      <p:sp>
        <p:nvSpPr>
          <p:cNvPr id="567" name="Google Shape;567;p23"/>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04 · PRECISION FORMATS</a:t>
            </a:r>
            <a:endParaRPr b="0" i="0" sz="800" u="none" cap="none" strike="noStrike">
              <a:solidFill>
                <a:schemeClr val="dk1"/>
              </a:solidFill>
              <a:latin typeface="Calibri"/>
              <a:ea typeface="Calibri"/>
              <a:cs typeface="Calibri"/>
              <a:sym typeface="Calibri"/>
            </a:endParaRPr>
          </a:p>
        </p:txBody>
      </p:sp>
      <p:sp>
        <p:nvSpPr>
          <p:cNvPr id="568" name="Google Shape;568;p23"/>
          <p:cNvSpPr/>
          <p:nvPr/>
        </p:nvSpPr>
        <p:spPr>
          <a:xfrm>
            <a:off x="457200" y="603647"/>
            <a:ext cx="77010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Why Numeric Precision Is a Resource Lever</a:t>
            </a:r>
            <a:endParaRPr b="0" i="0" sz="2250" u="none" cap="none" strike="noStrike">
              <a:solidFill>
                <a:schemeClr val="dk1"/>
              </a:solidFill>
              <a:latin typeface="Calibri"/>
              <a:ea typeface="Calibri"/>
              <a:cs typeface="Calibri"/>
              <a:sym typeface="Calibri"/>
            </a:endParaRPr>
          </a:p>
        </p:txBody>
      </p:sp>
      <p:sp>
        <p:nvSpPr>
          <p:cNvPr id="569" name="Google Shape;569;p23"/>
          <p:cNvSpPr/>
          <p:nvPr/>
        </p:nvSpPr>
        <p:spPr>
          <a:xfrm>
            <a:off x="457200" y="1132284"/>
            <a:ext cx="8229600" cy="7200"/>
          </a:xfrm>
          <a:prstGeom prst="rect">
            <a:avLst/>
          </a:prstGeom>
          <a:solidFill>
            <a:srgbClr val="2A3B5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nvGrpSpPr>
          <p:cNvPr id="570" name="Google Shape;570;p23"/>
          <p:cNvGrpSpPr/>
          <p:nvPr/>
        </p:nvGrpSpPr>
        <p:grpSpPr>
          <a:xfrm>
            <a:off x="457200" y="1238250"/>
            <a:ext cx="3943200" cy="1714500"/>
            <a:chOff x="457200" y="1238250"/>
            <a:chExt cx="3943200" cy="1714500"/>
          </a:xfrm>
        </p:grpSpPr>
        <p:sp>
          <p:nvSpPr>
            <p:cNvPr id="571" name="Google Shape;571;p23"/>
            <p:cNvSpPr/>
            <p:nvPr/>
          </p:nvSpPr>
          <p:spPr>
            <a:xfrm>
              <a:off x="457200" y="1238250"/>
              <a:ext cx="3943200" cy="1714500"/>
            </a:xfrm>
            <a:prstGeom prst="roundRect">
              <a:avLst>
                <a:gd fmla="val 444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2" name="Google Shape;572;p23"/>
            <p:cNvSpPr/>
            <p:nvPr/>
          </p:nvSpPr>
          <p:spPr>
            <a:xfrm>
              <a:off x="457200" y="1238250"/>
              <a:ext cx="38100" cy="17145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3" name="Google Shape;573;p23"/>
            <p:cNvSpPr txBox="1"/>
            <p:nvPr/>
          </p:nvSpPr>
          <p:spPr>
            <a:xfrm>
              <a:off x="647700" y="1381125"/>
              <a:ext cx="35622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01 · THE BASIC UNIT</a:t>
              </a:r>
              <a:endParaRPr b="1" sz="800">
                <a:solidFill>
                  <a:srgbClr val="F0B429"/>
                </a:solidFill>
                <a:latin typeface="Carlito"/>
                <a:ea typeface="Carlito"/>
                <a:cs typeface="Carlito"/>
                <a:sym typeface="Carlito"/>
              </a:endParaRPr>
            </a:p>
            <a:p>
              <a:pPr indent="0" lvl="0" marL="0" rtl="0" algn="l">
                <a:spcBef>
                  <a:spcPts val="600"/>
                </a:spcBef>
                <a:spcAft>
                  <a:spcPts val="0"/>
                </a:spcAft>
                <a:buNone/>
              </a:pPr>
              <a:r>
                <a:rPr b="1" lang="en-US" sz="1050">
                  <a:solidFill>
                    <a:srgbClr val="FFFFFF"/>
                  </a:solidFill>
                  <a:latin typeface="Carlito"/>
                  <a:ea typeface="Carlito"/>
                  <a:cs typeface="Carlito"/>
                  <a:sym typeface="Carlito"/>
                </a:rPr>
                <a:t>Every weight, activation, and gradient</a:t>
              </a:r>
              <a:r>
                <a:rPr lang="en-US" sz="1050">
                  <a:solidFill>
                    <a:srgbClr val="F5F1E6"/>
                  </a:solidFill>
                  <a:latin typeface="Carlito"/>
                  <a:ea typeface="Carlito"/>
                  <a:cs typeface="Carlito"/>
                  <a:sym typeface="Carlito"/>
                </a:rPr>
                <a:t> in a neural network is stored as a number. The format chosen directly determines how many bytes each number takes, how much memory the model needs, and how fast hardware can process it.</a:t>
              </a:r>
              <a:endParaRPr sz="1050">
                <a:solidFill>
                  <a:srgbClr val="F5F1E6"/>
                </a:solidFill>
                <a:latin typeface="Carlito"/>
                <a:ea typeface="Carlito"/>
                <a:cs typeface="Carlito"/>
                <a:sym typeface="Carlito"/>
              </a:endParaRPr>
            </a:p>
          </p:txBody>
        </p:sp>
      </p:grpSp>
      <p:grpSp>
        <p:nvGrpSpPr>
          <p:cNvPr id="574" name="Google Shape;574;p23"/>
          <p:cNvGrpSpPr/>
          <p:nvPr/>
        </p:nvGrpSpPr>
        <p:grpSpPr>
          <a:xfrm>
            <a:off x="4743450" y="1238250"/>
            <a:ext cx="3943200" cy="1714500"/>
            <a:chOff x="4743450" y="1238250"/>
            <a:chExt cx="3943200" cy="1714500"/>
          </a:xfrm>
        </p:grpSpPr>
        <p:sp>
          <p:nvSpPr>
            <p:cNvPr id="575" name="Google Shape;575;p23"/>
            <p:cNvSpPr/>
            <p:nvPr/>
          </p:nvSpPr>
          <p:spPr>
            <a:xfrm>
              <a:off x="4743450" y="1238250"/>
              <a:ext cx="3943200" cy="1714500"/>
            </a:xfrm>
            <a:prstGeom prst="roundRect">
              <a:avLst>
                <a:gd fmla="val 444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6" name="Google Shape;576;p23"/>
            <p:cNvSpPr/>
            <p:nvPr/>
          </p:nvSpPr>
          <p:spPr>
            <a:xfrm>
              <a:off x="4743450" y="1238250"/>
              <a:ext cx="38100" cy="1714500"/>
            </a:xfrm>
            <a:prstGeom prst="roundRect">
              <a:avLst>
                <a:gd fmla="val 50000" name="adj"/>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7" name="Google Shape;577;p23"/>
            <p:cNvSpPr txBox="1"/>
            <p:nvPr/>
          </p:nvSpPr>
          <p:spPr>
            <a:xfrm>
              <a:off x="4933950" y="1381125"/>
              <a:ext cx="35622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02 · THE 32-BIT DEFAULT</a:t>
              </a:r>
              <a:endParaRPr b="1" sz="800">
                <a:solidFill>
                  <a:srgbClr val="94A3B8"/>
                </a:solidFill>
                <a:latin typeface="Carlito"/>
                <a:ea typeface="Carlito"/>
                <a:cs typeface="Carlito"/>
                <a:sym typeface="Carlito"/>
              </a:endParaRPr>
            </a:p>
            <a:p>
              <a:pPr indent="0" lvl="0" marL="0" rtl="0" algn="l">
                <a:spcBef>
                  <a:spcPts val="600"/>
                </a:spcBef>
                <a:spcAft>
                  <a:spcPts val="0"/>
                </a:spcAft>
                <a:buNone/>
              </a:pPr>
              <a:r>
                <a:rPr lang="en-US" sz="1050">
                  <a:solidFill>
                    <a:srgbClr val="F5F1E6"/>
                  </a:solidFill>
                  <a:latin typeface="Carlito"/>
                  <a:ea typeface="Carlito"/>
                  <a:cs typeface="Carlito"/>
                  <a:sym typeface="Carlito"/>
                </a:rPr>
                <a:t>Standard training historically used 32-bit floating point (</a:t>
              </a:r>
              <a:r>
                <a:rPr b="1" lang="en-US" sz="1050">
                  <a:solidFill>
                    <a:srgbClr val="F0B429"/>
                  </a:solidFill>
                  <a:latin typeface="Carlito"/>
                  <a:ea typeface="Carlito"/>
                  <a:cs typeface="Carlito"/>
                  <a:sym typeface="Carlito"/>
                </a:rPr>
                <a:t>FP32</a:t>
              </a:r>
              <a:r>
                <a:rPr lang="en-US" sz="1050">
                  <a:solidFill>
                    <a:srgbClr val="F5F1E6"/>
                  </a:solidFill>
                  <a:latin typeface="Carlito"/>
                  <a:ea typeface="Carlito"/>
                  <a:cs typeface="Carlito"/>
                  <a:sym typeface="Carlito"/>
                </a:rPr>
                <a:t>). Modern efficiency techniques ask: </a:t>
              </a:r>
              <a:r>
                <a:rPr lang="en-US" sz="1050">
                  <a:solidFill>
                    <a:srgbClr val="F0B429"/>
                  </a:solidFill>
                  <a:latin typeface="Carlito"/>
                  <a:ea typeface="Carlito"/>
                  <a:cs typeface="Carlito"/>
                  <a:sym typeface="Carlito"/>
                </a:rPr>
                <a:t>do we need all 32 bits, everywhere, all the time?</a:t>
              </a:r>
              <a:r>
                <a:rPr lang="en-US" sz="1050">
                  <a:solidFill>
                    <a:srgbClr val="F5F1E6"/>
                  </a:solidFill>
                  <a:latin typeface="Carlito"/>
                  <a:ea typeface="Carlito"/>
                  <a:cs typeface="Carlito"/>
                  <a:sym typeface="Carlito"/>
                </a:rPr>
                <a:t> Once you accept that the answer is no, optimization opens up.</a:t>
              </a:r>
              <a:endParaRPr sz="1050">
                <a:solidFill>
                  <a:srgbClr val="F5F1E6"/>
                </a:solidFill>
                <a:latin typeface="Carlito"/>
                <a:ea typeface="Carlito"/>
                <a:cs typeface="Carlito"/>
                <a:sym typeface="Carlito"/>
              </a:endParaRPr>
            </a:p>
          </p:txBody>
        </p:sp>
      </p:grpSp>
      <p:grpSp>
        <p:nvGrpSpPr>
          <p:cNvPr id="578" name="Google Shape;578;p23"/>
          <p:cNvGrpSpPr/>
          <p:nvPr/>
        </p:nvGrpSpPr>
        <p:grpSpPr>
          <a:xfrm>
            <a:off x="457200" y="3143250"/>
            <a:ext cx="8229600" cy="1333500"/>
            <a:chOff x="457200" y="3143250"/>
            <a:chExt cx="8229600" cy="1333500"/>
          </a:xfrm>
        </p:grpSpPr>
        <p:sp>
          <p:nvSpPr>
            <p:cNvPr id="579" name="Google Shape;579;p23"/>
            <p:cNvSpPr/>
            <p:nvPr/>
          </p:nvSpPr>
          <p:spPr>
            <a:xfrm>
              <a:off x="457200" y="3143250"/>
              <a:ext cx="8229600" cy="1333500"/>
            </a:xfrm>
            <a:prstGeom prst="roundRect">
              <a:avLst>
                <a:gd fmla="val 571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0" name="Google Shape;580;p23"/>
            <p:cNvSpPr/>
            <p:nvPr/>
          </p:nvSpPr>
          <p:spPr>
            <a:xfrm>
              <a:off x="457200" y="3143250"/>
              <a:ext cx="38100" cy="13335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81" name="Google Shape;581;p23"/>
            <p:cNvGrpSpPr/>
            <p:nvPr/>
          </p:nvGrpSpPr>
          <p:grpSpPr>
            <a:xfrm>
              <a:off x="742950" y="3381375"/>
              <a:ext cx="952500" cy="476400"/>
              <a:chOff x="742950" y="3381375"/>
              <a:chExt cx="952500" cy="476400"/>
            </a:xfrm>
          </p:grpSpPr>
          <p:sp>
            <p:nvSpPr>
              <p:cNvPr id="582" name="Google Shape;582;p23"/>
              <p:cNvSpPr/>
              <p:nvPr/>
            </p:nvSpPr>
            <p:spPr>
              <a:xfrm>
                <a:off x="742950" y="3381375"/>
                <a:ext cx="952500" cy="476400"/>
              </a:xfrm>
              <a:prstGeom prst="roundRect">
                <a:avLst>
                  <a:gd fmla="val 12000" name="adj"/>
                </a:avLst>
              </a:prstGeom>
              <a:solidFill>
                <a:srgbClr val="0A1628"/>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3" name="Google Shape;583;p23"/>
              <p:cNvSpPr txBox="1"/>
              <p:nvPr/>
            </p:nvSpPr>
            <p:spPr>
              <a:xfrm>
                <a:off x="742950" y="3381375"/>
                <a:ext cx="9525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64748B"/>
                    </a:solidFill>
                    <a:latin typeface="Carlito"/>
                    <a:ea typeface="Carlito"/>
                    <a:cs typeface="Carlito"/>
                    <a:sym typeface="Carlito"/>
                  </a:rPr>
                  <a:t>DEFAULT </a:t>
                </a:r>
                <a:r>
                  <a:rPr b="1" lang="en-US" sz="1200">
                    <a:solidFill>
                      <a:srgbClr val="F5F1E6"/>
                    </a:solidFill>
                    <a:latin typeface="Carlito"/>
                    <a:ea typeface="Carlito"/>
                    <a:cs typeface="Carlito"/>
                    <a:sym typeface="Carlito"/>
                  </a:rPr>
                  <a:t>FP32</a:t>
                </a:r>
                <a:endParaRPr>
                  <a:latin typeface="Carlito"/>
                  <a:ea typeface="Carlito"/>
                  <a:cs typeface="Carlito"/>
                  <a:sym typeface="Carlito"/>
                </a:endParaRPr>
              </a:p>
            </p:txBody>
          </p:sp>
        </p:grpSp>
        <p:pic>
          <p:nvPicPr>
            <p:cNvPr id="584" name="Google Shape;584;p23"/>
            <p:cNvPicPr preferRelativeResize="0"/>
            <p:nvPr/>
          </p:nvPicPr>
          <p:blipFill rotWithShape="1">
            <a:blip r:embed="rId3">
              <a:alphaModFix/>
            </a:blip>
            <a:srcRect b="0" l="0" r="0" t="0"/>
            <a:stretch/>
          </p:blipFill>
          <p:spPr>
            <a:xfrm>
              <a:off x="1847850" y="3609975"/>
              <a:ext cx="190500" cy="19200"/>
            </a:xfrm>
            <a:prstGeom prst="rect">
              <a:avLst/>
            </a:prstGeom>
            <a:noFill/>
            <a:ln>
              <a:noFill/>
            </a:ln>
          </p:spPr>
        </p:pic>
        <p:pic>
          <p:nvPicPr>
            <p:cNvPr id="585" name="Google Shape;585;p23"/>
            <p:cNvPicPr preferRelativeResize="0"/>
            <p:nvPr/>
          </p:nvPicPr>
          <p:blipFill rotWithShape="1">
            <a:blip r:embed="rId4">
              <a:alphaModFix/>
            </a:blip>
            <a:srcRect b="0" l="0" r="0" t="0"/>
            <a:stretch/>
          </p:blipFill>
          <p:spPr>
            <a:xfrm>
              <a:off x="1990725" y="3562350"/>
              <a:ext cx="66600" cy="114300"/>
            </a:xfrm>
            <a:prstGeom prst="rect">
              <a:avLst/>
            </a:prstGeom>
            <a:noFill/>
            <a:ln>
              <a:noFill/>
            </a:ln>
          </p:spPr>
        </p:pic>
        <p:grpSp>
          <p:nvGrpSpPr>
            <p:cNvPr id="586" name="Google Shape;586;p23"/>
            <p:cNvGrpSpPr/>
            <p:nvPr/>
          </p:nvGrpSpPr>
          <p:grpSpPr>
            <a:xfrm>
              <a:off x="2190750" y="3381375"/>
              <a:ext cx="1524000" cy="476400"/>
              <a:chOff x="2190750" y="3381375"/>
              <a:chExt cx="1524000" cy="476400"/>
            </a:xfrm>
          </p:grpSpPr>
          <p:sp>
            <p:nvSpPr>
              <p:cNvPr id="587" name="Google Shape;587;p23"/>
              <p:cNvSpPr/>
              <p:nvPr/>
            </p:nvSpPr>
            <p:spPr>
              <a:xfrm>
                <a:off x="2190750" y="3381375"/>
                <a:ext cx="1524000" cy="476400"/>
              </a:xfrm>
              <a:prstGeom prst="roundRect">
                <a:avLst>
                  <a:gd fmla="val 12000" name="adj"/>
                </a:avLst>
              </a:prstGeom>
              <a:solidFill>
                <a:srgbClr val="0A1628"/>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8" name="Google Shape;588;p23"/>
              <p:cNvSpPr txBox="1"/>
              <p:nvPr/>
            </p:nvSpPr>
            <p:spPr>
              <a:xfrm>
                <a:off x="2190750" y="3381375"/>
                <a:ext cx="1524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0B429"/>
                    </a:solidFill>
                    <a:latin typeface="Carlito"/>
                    <a:ea typeface="Carlito"/>
                    <a:cs typeface="Carlito"/>
                    <a:sym typeface="Carlito"/>
                  </a:rPr>
                  <a:t>HALF PRECISION </a:t>
                </a:r>
                <a:r>
                  <a:rPr b="1" lang="en-US" sz="1200">
                    <a:solidFill>
                      <a:srgbClr val="F5F1E6"/>
                    </a:solidFill>
                    <a:latin typeface="Carlito"/>
                    <a:ea typeface="Carlito"/>
                    <a:cs typeface="Carlito"/>
                    <a:sym typeface="Carlito"/>
                  </a:rPr>
                  <a:t>FP16 · BF16</a:t>
                </a:r>
                <a:endParaRPr>
                  <a:latin typeface="Carlito"/>
                  <a:ea typeface="Carlito"/>
                  <a:cs typeface="Carlito"/>
                  <a:sym typeface="Carlito"/>
                </a:endParaRPr>
              </a:p>
            </p:txBody>
          </p:sp>
        </p:grpSp>
        <p:pic>
          <p:nvPicPr>
            <p:cNvPr id="589" name="Google Shape;589;p23"/>
            <p:cNvPicPr preferRelativeResize="0"/>
            <p:nvPr/>
          </p:nvPicPr>
          <p:blipFill rotWithShape="1">
            <a:blip r:embed="rId3">
              <a:alphaModFix/>
            </a:blip>
            <a:srcRect b="0" l="0" r="0" t="0"/>
            <a:stretch/>
          </p:blipFill>
          <p:spPr>
            <a:xfrm>
              <a:off x="3867150" y="3609975"/>
              <a:ext cx="190500" cy="19200"/>
            </a:xfrm>
            <a:prstGeom prst="rect">
              <a:avLst/>
            </a:prstGeom>
            <a:noFill/>
            <a:ln>
              <a:noFill/>
            </a:ln>
          </p:spPr>
        </p:pic>
        <p:pic>
          <p:nvPicPr>
            <p:cNvPr id="590" name="Google Shape;590;p23"/>
            <p:cNvPicPr preferRelativeResize="0"/>
            <p:nvPr/>
          </p:nvPicPr>
          <p:blipFill rotWithShape="1">
            <a:blip r:embed="rId5">
              <a:alphaModFix/>
            </a:blip>
            <a:srcRect b="0" l="0" r="0" t="0"/>
            <a:stretch/>
          </p:blipFill>
          <p:spPr>
            <a:xfrm>
              <a:off x="4010025" y="3562350"/>
              <a:ext cx="66600" cy="114300"/>
            </a:xfrm>
            <a:prstGeom prst="rect">
              <a:avLst/>
            </a:prstGeom>
            <a:noFill/>
            <a:ln>
              <a:noFill/>
            </a:ln>
          </p:spPr>
        </p:pic>
        <p:grpSp>
          <p:nvGrpSpPr>
            <p:cNvPr id="591" name="Google Shape;591;p23"/>
            <p:cNvGrpSpPr/>
            <p:nvPr/>
          </p:nvGrpSpPr>
          <p:grpSpPr>
            <a:xfrm>
              <a:off x="4210050" y="3381375"/>
              <a:ext cx="1047900" cy="476400"/>
              <a:chOff x="4210050" y="3381375"/>
              <a:chExt cx="1047900" cy="476400"/>
            </a:xfrm>
          </p:grpSpPr>
          <p:sp>
            <p:nvSpPr>
              <p:cNvPr id="592" name="Google Shape;592;p23"/>
              <p:cNvSpPr/>
              <p:nvPr/>
            </p:nvSpPr>
            <p:spPr>
              <a:xfrm>
                <a:off x="4210050" y="3381375"/>
                <a:ext cx="1047900" cy="476400"/>
              </a:xfrm>
              <a:prstGeom prst="roundRect">
                <a:avLst>
                  <a:gd fmla="val 12000" name="adj"/>
                </a:avLst>
              </a:prstGeom>
              <a:solidFill>
                <a:srgbClr val="0A1628"/>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3" name="Google Shape;593;p23"/>
              <p:cNvSpPr txBox="1"/>
              <p:nvPr/>
            </p:nvSpPr>
            <p:spPr>
              <a:xfrm>
                <a:off x="4210050" y="3381375"/>
                <a:ext cx="10479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64748B"/>
                    </a:solidFill>
                    <a:latin typeface="Carlito"/>
                    <a:ea typeface="Carlito"/>
                    <a:cs typeface="Carlito"/>
                    <a:sym typeface="Carlito"/>
                  </a:rPr>
                  <a:t>QUANTIZED </a:t>
                </a:r>
                <a:r>
                  <a:rPr b="1" lang="en-US" sz="1200">
                    <a:solidFill>
                      <a:srgbClr val="F5F1E6"/>
                    </a:solidFill>
                    <a:latin typeface="Carlito"/>
                    <a:ea typeface="Carlito"/>
                    <a:cs typeface="Carlito"/>
                    <a:sym typeface="Carlito"/>
                  </a:rPr>
                  <a:t>INT8</a:t>
                </a:r>
                <a:endParaRPr>
                  <a:latin typeface="Carlito"/>
                  <a:ea typeface="Carlito"/>
                  <a:cs typeface="Carlito"/>
                  <a:sym typeface="Carlito"/>
                </a:endParaRPr>
              </a:p>
            </p:txBody>
          </p:sp>
        </p:grpSp>
        <p:sp>
          <p:nvSpPr>
            <p:cNvPr id="594" name="Google Shape;594;p23"/>
            <p:cNvSpPr txBox="1"/>
            <p:nvPr/>
          </p:nvSpPr>
          <p:spPr>
            <a:xfrm>
              <a:off x="5543550" y="3286125"/>
              <a:ext cx="29529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US" sz="1050">
                  <a:solidFill>
                    <a:srgbClr val="94A3B8"/>
                  </a:solidFill>
                  <a:latin typeface="Carlito"/>
                  <a:ea typeface="Carlito"/>
                  <a:cs typeface="Carlito"/>
                  <a:sym typeface="Carlito"/>
                </a:rPr>
                <a:t>“The optimization stack opens up once you accept </a:t>
              </a:r>
              <a:r>
                <a:rPr b="1" i="0" lang="en-US" sz="1050">
                  <a:solidFill>
                    <a:srgbClr val="F5F1E6"/>
                  </a:solidFill>
                  <a:latin typeface="Carlito"/>
                  <a:ea typeface="Carlito"/>
                  <a:cs typeface="Carlito"/>
                  <a:sym typeface="Carlito"/>
                </a:rPr>
                <a:t>fewer bits than 32</a:t>
              </a:r>
              <a:r>
                <a:rPr i="1" lang="en-US" sz="1050">
                  <a:solidFill>
                    <a:srgbClr val="94A3B8"/>
                  </a:solidFill>
                  <a:latin typeface="Carlito"/>
                  <a:ea typeface="Carlito"/>
                  <a:cs typeface="Carlito"/>
                  <a:sym typeface="Carlito"/>
                </a:rPr>
                <a:t>.”</a:t>
              </a:r>
              <a:endParaRPr i="1" sz="1050">
                <a:solidFill>
                  <a:srgbClr val="94A3B8"/>
                </a:solidFill>
                <a:latin typeface="Carlito"/>
                <a:ea typeface="Carlito"/>
                <a:cs typeface="Carlito"/>
                <a:sym typeface="Carlito"/>
              </a:endParaRPr>
            </a:p>
          </p:txBody>
        </p:sp>
      </p:grpSp>
      <p:sp>
        <p:nvSpPr>
          <p:cNvPr id="595" name="Google Shape;595;p23"/>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596" name="Google Shape;596;p23"/>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21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601" name="Shape 601"/>
        <p:cNvGrpSpPr/>
        <p:nvPr/>
      </p:nvGrpSpPr>
      <p:grpSpPr>
        <a:xfrm>
          <a:off x="0" y="0"/>
          <a:ext cx="0" cy="0"/>
          <a:chOff x="0" y="0"/>
          <a:chExt cx="0" cy="0"/>
        </a:xfrm>
      </p:grpSpPr>
      <p:sp>
        <p:nvSpPr>
          <p:cNvPr id="602" name="Google Shape;602;p24"/>
          <p:cNvSpPr/>
          <p:nvPr/>
        </p:nvSpPr>
        <p:spPr>
          <a:xfrm>
            <a:off x="457200" y="400050"/>
            <a:ext cx="8636000" cy="164592"/>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04 · PRECISION FORMATS</a:t>
            </a:r>
            <a:endParaRPr b="0" i="0" sz="800" u="none" cap="none" strike="noStrike">
              <a:solidFill>
                <a:schemeClr val="dk1"/>
              </a:solidFill>
              <a:latin typeface="Calibri"/>
              <a:ea typeface="Calibri"/>
              <a:cs typeface="Calibri"/>
              <a:sym typeface="Calibri"/>
            </a:endParaRPr>
          </a:p>
        </p:txBody>
      </p:sp>
      <p:sp>
        <p:nvSpPr>
          <p:cNvPr id="603" name="Google Shape;603;p24"/>
          <p:cNvSpPr/>
          <p:nvPr/>
        </p:nvSpPr>
        <p:spPr>
          <a:xfrm>
            <a:off x="457200" y="603647"/>
            <a:ext cx="8636000" cy="354902"/>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Comparing the Common Formats</a:t>
            </a:r>
            <a:endParaRPr b="0" i="0" sz="2250" u="none" cap="none" strike="noStrike">
              <a:solidFill>
                <a:schemeClr val="dk1"/>
              </a:solidFill>
              <a:latin typeface="Calibri"/>
              <a:ea typeface="Calibri"/>
              <a:cs typeface="Calibri"/>
              <a:sym typeface="Calibri"/>
            </a:endParaRPr>
          </a:p>
        </p:txBody>
      </p:sp>
      <p:sp>
        <p:nvSpPr>
          <p:cNvPr id="604" name="Google Shape;604;p24"/>
          <p:cNvSpPr/>
          <p:nvPr/>
        </p:nvSpPr>
        <p:spPr>
          <a:xfrm>
            <a:off x="457200" y="1003697"/>
            <a:ext cx="8229600" cy="21602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4A3B8"/>
              </a:buClr>
              <a:buSzPts val="1125"/>
              <a:buFont typeface="Carlito"/>
              <a:buNone/>
            </a:pPr>
            <a:r>
              <a:rPr b="0" i="0" lang="en-US" sz="1125" u="none" cap="none" strike="noStrike">
                <a:solidFill>
                  <a:srgbClr val="94A3B8"/>
                </a:solidFill>
                <a:latin typeface="Carlito"/>
                <a:ea typeface="Carlito"/>
                <a:cs typeface="Carlito"/>
                <a:sym typeface="Carlito"/>
              </a:rPr>
              <a:t>Four numeric formats you’ll encounter across modern deep learning workflows.</a:t>
            </a:r>
            <a:endParaRPr b="0" i="0" sz="1125" u="none" cap="none" strike="noStrike">
              <a:solidFill>
                <a:schemeClr val="dk1"/>
              </a:solidFill>
              <a:latin typeface="Calibri"/>
              <a:ea typeface="Calibri"/>
              <a:cs typeface="Calibri"/>
              <a:sym typeface="Calibri"/>
            </a:endParaRPr>
          </a:p>
        </p:txBody>
      </p:sp>
      <p:graphicFrame>
        <p:nvGraphicFramePr>
          <p:cNvPr id="605" name="Google Shape;605;p24"/>
          <p:cNvGraphicFramePr/>
          <p:nvPr/>
        </p:nvGraphicFramePr>
        <p:xfrm>
          <a:off x="457200" y="1403747"/>
          <a:ext cx="3000000" cy="3000000"/>
        </p:xfrm>
        <a:graphic>
          <a:graphicData uri="http://schemas.openxmlformats.org/drawingml/2006/table">
            <a:tbl>
              <a:tblPr>
                <a:noFill/>
                <a:tableStyleId>{032C9997-6F46-4A23-839E-9CD501ED875D}</a:tableStyleId>
              </a:tblPr>
              <a:tblGrid>
                <a:gridCol w="2139675"/>
                <a:gridCol w="987500"/>
                <a:gridCol w="5102425"/>
              </a:tblGrid>
              <a:tr h="101600">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Format</a:t>
                      </a:r>
                      <a:endParaRPr sz="800" u="none" cap="none" strike="noStrike">
                        <a:latin typeface="Carlito"/>
                        <a:ea typeface="Carlito"/>
                        <a:cs typeface="Carlito"/>
                        <a:sym typeface="Carlito"/>
                      </a:endParaRPr>
                    </a:p>
                  </a:txBody>
                  <a:tcPr marT="128600" marB="100025" marR="128600" marL="1000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Bits</a:t>
                      </a:r>
                      <a:endParaRPr sz="800" u="none" cap="none" strike="noStrike">
                        <a:latin typeface="Carlito"/>
                        <a:ea typeface="Carlito"/>
                        <a:cs typeface="Carlito"/>
                        <a:sym typeface="Carlito"/>
                      </a:endParaRPr>
                    </a:p>
                  </a:txBody>
                  <a:tcPr marT="128600" marB="100025" marR="128600" marL="1000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Typical Use</a:t>
                      </a:r>
                      <a:endParaRPr sz="800" u="none" cap="none" strike="noStrike">
                        <a:latin typeface="Carlito"/>
                        <a:ea typeface="Carlito"/>
                        <a:cs typeface="Carlito"/>
                        <a:sym typeface="Carlito"/>
                      </a:endParaRPr>
                    </a:p>
                  </a:txBody>
                  <a:tcPr marT="128600" marB="100025" marR="128600" marL="1000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57225">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FP32 (single precision)</a:t>
                      </a:r>
                      <a:endParaRPr sz="844" u="none" cap="none" strike="noStrike">
                        <a:latin typeface="Carlito"/>
                        <a:ea typeface="Carlito"/>
                        <a:cs typeface="Carlito"/>
                        <a:sym typeface="Carlito"/>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F0B429"/>
                        </a:buClr>
                        <a:buSzPts val="1238"/>
                        <a:buFont typeface="Courier New"/>
                        <a:buNone/>
                      </a:pPr>
                      <a:r>
                        <a:rPr lang="en-US" sz="1238" u="none" cap="none" strike="noStrike">
                          <a:solidFill>
                            <a:srgbClr val="F0B429"/>
                          </a:solidFill>
                          <a:latin typeface="Courier New"/>
                          <a:ea typeface="Courier New"/>
                          <a:cs typeface="Courier New"/>
                          <a:sym typeface="Courier New"/>
                        </a:rPr>
                        <a:t>32</a:t>
                      </a:r>
                      <a:endParaRPr sz="1238" u="none" cap="none" strike="noStrike">
                        <a:latin typeface="Courier New"/>
                        <a:ea typeface="Courier New"/>
                        <a:cs typeface="Courier New"/>
                        <a:sym typeface="Courier New"/>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Historical training default; highest precision, largest memory footprint.</a:t>
                      </a:r>
                      <a:endParaRPr sz="844" u="none" cap="none" strike="noStrike">
                        <a:latin typeface="Carlito"/>
                        <a:ea typeface="Carlito"/>
                        <a:cs typeface="Carlito"/>
                        <a:sym typeface="Carlito"/>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57225">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FP16 (half precision)</a:t>
                      </a:r>
                      <a:endParaRPr sz="844" u="none" cap="none" strike="noStrike">
                        <a:latin typeface="Carlito"/>
                        <a:ea typeface="Carlito"/>
                        <a:cs typeface="Carlito"/>
                        <a:sym typeface="Carlito"/>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F0B429"/>
                        </a:buClr>
                        <a:buSzPts val="1238"/>
                        <a:buFont typeface="Courier New"/>
                        <a:buNone/>
                      </a:pPr>
                      <a:r>
                        <a:rPr lang="en-US" sz="1238" u="none" cap="none" strike="noStrike">
                          <a:solidFill>
                            <a:srgbClr val="F0B429"/>
                          </a:solidFill>
                          <a:latin typeface="Courier New"/>
                          <a:ea typeface="Courier New"/>
                          <a:cs typeface="Courier New"/>
                          <a:sym typeface="Courier New"/>
                        </a:rPr>
                        <a:t>16</a:t>
                      </a:r>
                      <a:endParaRPr sz="1238" u="none" cap="none" strike="noStrike">
                        <a:latin typeface="Courier New"/>
                        <a:ea typeface="Courier New"/>
                        <a:cs typeface="Courier New"/>
                        <a:sym typeface="Courier New"/>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Halves memory vs. FP32; narrower numeric range, can underflow/overflow.</a:t>
                      </a:r>
                      <a:endParaRPr sz="844" u="none" cap="none" strike="noStrike">
                        <a:latin typeface="Carlito"/>
                        <a:ea typeface="Carlito"/>
                        <a:cs typeface="Carlito"/>
                        <a:sym typeface="Carlito"/>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57225">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BF16 (bfloat16)</a:t>
                      </a:r>
                      <a:endParaRPr sz="844" u="none" cap="none" strike="noStrike">
                        <a:latin typeface="Carlito"/>
                        <a:ea typeface="Carlito"/>
                        <a:cs typeface="Carlito"/>
                        <a:sym typeface="Carlito"/>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F0B429"/>
                        </a:buClr>
                        <a:buSzPts val="1238"/>
                        <a:buFont typeface="Courier New"/>
                        <a:buNone/>
                      </a:pPr>
                      <a:r>
                        <a:rPr lang="en-US" sz="1238" u="none" cap="none" strike="noStrike">
                          <a:solidFill>
                            <a:srgbClr val="F0B429"/>
                          </a:solidFill>
                          <a:latin typeface="Courier New"/>
                          <a:ea typeface="Courier New"/>
                          <a:cs typeface="Courier New"/>
                          <a:sym typeface="Courier New"/>
                        </a:rPr>
                        <a:t>16</a:t>
                      </a:r>
                      <a:endParaRPr sz="1238" u="none" cap="none" strike="noStrike">
                        <a:latin typeface="Courier New"/>
                        <a:ea typeface="Courier New"/>
                        <a:cs typeface="Courier New"/>
                        <a:sym typeface="Courier New"/>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Same memory savings as FP16, but keeps FP32’s wide exponent range, more stable for training.</a:t>
                      </a:r>
                      <a:endParaRPr sz="844" u="none" cap="none" strike="noStrike">
                        <a:latin typeface="Carlito"/>
                        <a:ea typeface="Carlito"/>
                        <a:cs typeface="Carlito"/>
                        <a:sym typeface="Carlito"/>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57225">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INT8 (8-bit integer)</a:t>
                      </a:r>
                      <a:endParaRPr sz="844" u="none" cap="none" strike="noStrike">
                        <a:latin typeface="Carlito"/>
                        <a:ea typeface="Carlito"/>
                        <a:cs typeface="Carlito"/>
                        <a:sym typeface="Carlito"/>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F0B429"/>
                        </a:buClr>
                        <a:buSzPts val="1238"/>
                        <a:buFont typeface="Courier New"/>
                        <a:buNone/>
                      </a:pPr>
                      <a:r>
                        <a:rPr lang="en-US" sz="1238" u="none" cap="none" strike="noStrike">
                          <a:solidFill>
                            <a:srgbClr val="F0B429"/>
                          </a:solidFill>
                          <a:latin typeface="Courier New"/>
                          <a:ea typeface="Courier New"/>
                          <a:cs typeface="Courier New"/>
                          <a:sym typeface="Courier New"/>
                        </a:rPr>
                        <a:t>8</a:t>
                      </a:r>
                      <a:endParaRPr sz="1238" u="none" cap="none" strike="noStrike">
                        <a:latin typeface="Courier New"/>
                        <a:ea typeface="Courier New"/>
                        <a:cs typeface="Courier New"/>
                        <a:sym typeface="Courier New"/>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Quarter the memory of FP32; used mainly for inference after quantization, not raw training.</a:t>
                      </a:r>
                      <a:endParaRPr sz="844" u="none" cap="none" strike="noStrike">
                        <a:latin typeface="Carlito"/>
                        <a:ea typeface="Carlito"/>
                        <a:cs typeface="Carlito"/>
                        <a:sym typeface="Carlito"/>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
        <p:nvSpPr>
          <p:cNvPr id="606" name="Google Shape;606;p24"/>
          <p:cNvSpPr/>
          <p:nvPr/>
        </p:nvSpPr>
        <p:spPr>
          <a:xfrm>
            <a:off x="457200" y="3780830"/>
            <a:ext cx="114300" cy="11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B429"/>
              </a:buClr>
              <a:buSzPts val="1125"/>
              <a:buFont typeface="Quattrocento Sans"/>
              <a:buNone/>
            </a:pPr>
            <a:r>
              <a:rPr b="0" i="0" lang="en-US" sz="1125" u="none" cap="none" strike="noStrike">
                <a:solidFill>
                  <a:srgbClr val="F0B429"/>
                </a:solidFill>
                <a:latin typeface="Quattrocento Sans"/>
                <a:ea typeface="Quattrocento Sans"/>
                <a:cs typeface="Quattrocento Sans"/>
                <a:sym typeface="Quattrocento Sans"/>
              </a:rPr>
              <a:t>◆</a:t>
            </a:r>
            <a:endParaRPr b="0" i="0" sz="1125" u="none" cap="none" strike="noStrike">
              <a:solidFill>
                <a:schemeClr val="dk1"/>
              </a:solidFill>
              <a:latin typeface="Calibri"/>
              <a:ea typeface="Calibri"/>
              <a:cs typeface="Calibri"/>
              <a:sym typeface="Calibri"/>
            </a:endParaRPr>
          </a:p>
        </p:txBody>
      </p:sp>
      <p:sp>
        <p:nvSpPr>
          <p:cNvPr id="607" name="Google Shape;607;p24"/>
          <p:cNvSpPr/>
          <p:nvPr/>
        </p:nvSpPr>
        <p:spPr>
          <a:xfrm>
            <a:off x="3106303" y="3771900"/>
            <a:ext cx="323031" cy="135731"/>
          </a:xfrm>
          <a:prstGeom prst="roundRect">
            <a:avLst>
              <a:gd fmla="val 21053" name="adj"/>
            </a:avLst>
          </a:prstGeom>
          <a:solidFill>
            <a:srgbClr val="F0B429">
              <a:alpha val="784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08" name="Google Shape;608;p24"/>
          <p:cNvSpPr/>
          <p:nvPr/>
        </p:nvSpPr>
        <p:spPr>
          <a:xfrm>
            <a:off x="4774481" y="3771900"/>
            <a:ext cx="323031" cy="135731"/>
          </a:xfrm>
          <a:prstGeom prst="roundRect">
            <a:avLst>
              <a:gd fmla="val 21053" name="adj"/>
            </a:avLst>
          </a:prstGeom>
          <a:solidFill>
            <a:srgbClr val="F0B429">
              <a:alpha val="784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09" name="Google Shape;609;p24"/>
          <p:cNvSpPr/>
          <p:nvPr/>
        </p:nvSpPr>
        <p:spPr>
          <a:xfrm>
            <a:off x="642938" y="3764756"/>
            <a:ext cx="8043863" cy="173033"/>
          </a:xfrm>
          <a:prstGeom prst="rect">
            <a:avLst/>
          </a:prstGeom>
          <a:noFill/>
          <a:ln>
            <a:noFill/>
          </a:ln>
        </p:spPr>
        <p:txBody>
          <a:bodyPr anchorCtr="0" anchor="t" bIns="0" lIns="0" spcFirstLastPara="1" rIns="0" wrap="square" tIns="0">
            <a:noAutofit/>
          </a:bodyPr>
          <a:lstStyle/>
          <a:p>
            <a:pPr indent="0" lvl="0" marL="0" marR="0" rtl="0" algn="l">
              <a:lnSpc>
                <a:spcPct val="137125"/>
              </a:lnSpc>
              <a:spcBef>
                <a:spcPts val="0"/>
              </a:spcBef>
              <a:spcAft>
                <a:spcPts val="0"/>
              </a:spcAft>
              <a:buClr>
                <a:srgbClr val="94A3B8"/>
              </a:buClr>
              <a:buSzPts val="800"/>
              <a:buFont typeface="Carlito"/>
              <a:buNone/>
            </a:pPr>
            <a:r>
              <a:rPr b="0" i="1" lang="en-US" sz="800" u="none" cap="none" strike="noStrike">
                <a:solidFill>
                  <a:srgbClr val="94A3B8"/>
                </a:solidFill>
                <a:latin typeface="Carlito"/>
                <a:ea typeface="Carlito"/>
                <a:cs typeface="Carlito"/>
                <a:sym typeface="Carlito"/>
              </a:rPr>
              <a:t>Memory savings compound across billions of parameters —</a:t>
            </a:r>
            <a:r>
              <a:rPr b="0" i="1" lang="en-US" sz="800" u="none" cap="none" strike="noStrike">
                <a:solidFill>
                  <a:srgbClr val="FF0000"/>
                </a:solidFill>
                <a:latin typeface="Carlito"/>
                <a:ea typeface="Carlito"/>
                <a:cs typeface="Carlito"/>
                <a:sym typeface="Carlito"/>
              </a:rPr>
              <a:t> </a:t>
            </a:r>
            <a:r>
              <a:rPr b="1" i="1" lang="en-US" sz="900" u="none" cap="none" strike="noStrike">
                <a:solidFill>
                  <a:srgbClr val="FF0000"/>
                </a:solidFill>
                <a:highlight>
                  <a:srgbClr val="F0B429"/>
                </a:highlight>
              </a:rPr>
              <a:t>FP16</a:t>
            </a:r>
            <a:r>
              <a:rPr b="0" i="1" lang="en-US" sz="800" u="none" cap="none" strike="noStrike">
                <a:solidFill>
                  <a:srgbClr val="FF0000"/>
                </a:solidFill>
                <a:latin typeface="Arial"/>
                <a:ea typeface="Arial"/>
                <a:cs typeface="Arial"/>
                <a:sym typeface="Arial"/>
              </a:rPr>
              <a:t> </a:t>
            </a:r>
            <a:r>
              <a:rPr b="0" i="1" lang="en-US" sz="800" u="none" cap="none" strike="noStrike">
                <a:solidFill>
                  <a:srgbClr val="94A3B8"/>
                </a:solidFill>
                <a:latin typeface="Arial"/>
                <a:ea typeface="Arial"/>
                <a:cs typeface="Arial"/>
                <a:sym typeface="Arial"/>
              </a:rPr>
              <a:t>cuts a 24 GB model to ~12 GB;</a:t>
            </a:r>
            <a:r>
              <a:rPr b="1" i="1" lang="en-US" sz="900" u="none" cap="none" strike="noStrike">
                <a:solidFill>
                  <a:srgbClr val="FF0000"/>
                </a:solidFill>
              </a:rPr>
              <a:t> </a:t>
            </a:r>
            <a:r>
              <a:rPr b="1" i="1" lang="en-US" sz="900" u="none" cap="none" strike="noStrike">
                <a:solidFill>
                  <a:srgbClr val="FF0000"/>
                </a:solidFill>
                <a:highlight>
                  <a:srgbClr val="F0B429"/>
                </a:highlight>
              </a:rPr>
              <a:t>INT8</a:t>
            </a:r>
            <a:r>
              <a:rPr b="0" i="1" lang="en-US" sz="800" u="none" cap="none" strike="noStrike">
                <a:solidFill>
                  <a:srgbClr val="94A3B8"/>
                </a:solidFill>
                <a:latin typeface="Arial"/>
                <a:ea typeface="Arial"/>
                <a:cs typeface="Arial"/>
                <a:sym typeface="Arial"/>
              </a:rPr>
              <a:t> cuts it to ~6 GB.</a:t>
            </a:r>
            <a:endParaRPr b="0" i="0" sz="800" u="none" cap="none" strike="noStrike">
              <a:solidFill>
                <a:schemeClr val="dk1"/>
              </a:solidFill>
              <a:latin typeface="Calibri"/>
              <a:ea typeface="Calibri"/>
              <a:cs typeface="Calibri"/>
              <a:sym typeface="Calibri"/>
            </a:endParaRPr>
          </a:p>
        </p:txBody>
      </p:sp>
      <p:sp>
        <p:nvSpPr>
          <p:cNvPr id="610" name="Google Shape;610;p24"/>
          <p:cNvSpPr/>
          <p:nvPr/>
        </p:nvSpPr>
        <p:spPr>
          <a:xfrm>
            <a:off x="457200" y="4857750"/>
            <a:ext cx="7867166"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611" name="Google Shape;611;p24"/>
          <p:cNvSpPr/>
          <p:nvPr/>
        </p:nvSpPr>
        <p:spPr>
          <a:xfrm>
            <a:off x="8338654" y="4857750"/>
            <a:ext cx="496979"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22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616" name="Shape 616"/>
        <p:cNvGrpSpPr/>
        <p:nvPr/>
      </p:nvGrpSpPr>
      <p:grpSpPr>
        <a:xfrm>
          <a:off x="0" y="0"/>
          <a:ext cx="0" cy="0"/>
          <a:chOff x="0" y="0"/>
          <a:chExt cx="0" cy="0"/>
        </a:xfrm>
      </p:grpSpPr>
      <p:sp>
        <p:nvSpPr>
          <p:cNvPr id="617" name="Google Shape;617;p25"/>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04 · PRECISION FORMATS</a:t>
            </a:r>
            <a:endParaRPr b="0" i="0" sz="800" u="none" cap="none" strike="noStrike">
              <a:solidFill>
                <a:schemeClr val="dk1"/>
              </a:solidFill>
              <a:latin typeface="Calibri"/>
              <a:ea typeface="Calibri"/>
              <a:cs typeface="Calibri"/>
              <a:sym typeface="Calibri"/>
            </a:endParaRPr>
          </a:p>
        </p:txBody>
      </p:sp>
      <p:sp>
        <p:nvSpPr>
          <p:cNvPr id="618" name="Google Shape;618;p25"/>
          <p:cNvSpPr/>
          <p:nvPr/>
        </p:nvSpPr>
        <p:spPr>
          <a:xfrm>
            <a:off x="457200" y="603647"/>
            <a:ext cx="84867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FP16 vs. BF16 — Why the Distinction Matters</a:t>
            </a:r>
            <a:endParaRPr b="0" i="0" sz="2250" u="none" cap="none" strike="noStrike">
              <a:solidFill>
                <a:schemeClr val="dk1"/>
              </a:solidFill>
              <a:latin typeface="Calibri"/>
              <a:ea typeface="Calibri"/>
              <a:cs typeface="Calibri"/>
              <a:sym typeface="Calibri"/>
            </a:endParaRPr>
          </a:p>
        </p:txBody>
      </p:sp>
      <p:grpSp>
        <p:nvGrpSpPr>
          <p:cNvPr id="619" name="Google Shape;619;p25"/>
          <p:cNvGrpSpPr/>
          <p:nvPr/>
        </p:nvGrpSpPr>
        <p:grpSpPr>
          <a:xfrm>
            <a:off x="457200" y="1238250"/>
            <a:ext cx="8305800" cy="3143400"/>
            <a:chOff x="457200" y="1238250"/>
            <a:chExt cx="8305800" cy="3143400"/>
          </a:xfrm>
        </p:grpSpPr>
        <p:sp>
          <p:nvSpPr>
            <p:cNvPr id="620" name="Google Shape;620;p25"/>
            <p:cNvSpPr/>
            <p:nvPr/>
          </p:nvSpPr>
          <p:spPr>
            <a:xfrm>
              <a:off x="457200" y="1238250"/>
              <a:ext cx="4191000" cy="1476300"/>
            </a:xfrm>
            <a:prstGeom prst="roundRect">
              <a:avLst>
                <a:gd fmla="val 516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1" name="Google Shape;621;p25"/>
            <p:cNvSpPr/>
            <p:nvPr/>
          </p:nvSpPr>
          <p:spPr>
            <a:xfrm>
              <a:off x="457200" y="1238250"/>
              <a:ext cx="38100" cy="14763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2" name="Google Shape;622;p25"/>
            <p:cNvSpPr txBox="1"/>
            <p:nvPr/>
          </p:nvSpPr>
          <p:spPr>
            <a:xfrm>
              <a:off x="647700" y="1381125"/>
              <a:ext cx="38100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01 · FP16 (MORE PRECISION)</a:t>
              </a:r>
              <a:endParaRPr b="1" sz="800">
                <a:solidFill>
                  <a:srgbClr val="F0B429"/>
                </a:solidFill>
                <a:latin typeface="Carlito"/>
                <a:ea typeface="Carlito"/>
                <a:cs typeface="Carlito"/>
                <a:sym typeface="Carlito"/>
              </a:endParaRPr>
            </a:p>
            <a:p>
              <a:pPr indent="0" lvl="0" marL="0" rtl="0" algn="l">
                <a:spcBef>
                  <a:spcPts val="450"/>
                </a:spcBef>
                <a:spcAft>
                  <a:spcPts val="0"/>
                </a:spcAft>
                <a:buNone/>
              </a:pPr>
              <a:r>
                <a:rPr b="1" lang="en-US" sz="1150">
                  <a:solidFill>
                    <a:srgbClr val="FFFFFF"/>
                  </a:solidFill>
                  <a:latin typeface="Carlito"/>
                  <a:ea typeface="Carlito"/>
                  <a:cs typeface="Carlito"/>
                  <a:sym typeface="Carlito"/>
                </a:rPr>
                <a:t>Narrower Range, Higher Precision</a:t>
              </a:r>
              <a:endParaRPr b="1" sz="1150">
                <a:solidFill>
                  <a:srgbClr val="FFFFFF"/>
                </a:solidFill>
                <a:latin typeface="Carlito"/>
                <a:ea typeface="Carlito"/>
                <a:cs typeface="Carlito"/>
                <a:sym typeface="Carlito"/>
              </a:endParaRPr>
            </a:p>
            <a:p>
              <a:pPr indent="0" lvl="0" marL="0" rtl="0" algn="l">
                <a:spcBef>
                  <a:spcPts val="300"/>
                </a:spcBef>
                <a:spcAft>
                  <a:spcPts val="0"/>
                </a:spcAft>
                <a:buNone/>
              </a:pPr>
              <a:r>
                <a:rPr b="0" lang="en-US" sz="950">
                  <a:solidFill>
                    <a:srgbClr val="94A3B8"/>
                  </a:solidFill>
                  <a:latin typeface="Carlito"/>
                  <a:ea typeface="Carlito"/>
                  <a:cs typeface="Carlito"/>
                  <a:sym typeface="Carlito"/>
                </a:rPr>
                <a:t>Allocates 10 bits to the mantissa and 5 to the exponent. Its narrow range makes very large or small gradient values prone to overflow or underflow to zero, requiring "loss scaling" tricks to stabilize training.</a:t>
              </a:r>
              <a:endParaRPr b="0" sz="950">
                <a:solidFill>
                  <a:srgbClr val="94A3B8"/>
                </a:solidFill>
                <a:latin typeface="Carlito"/>
                <a:ea typeface="Carlito"/>
                <a:cs typeface="Carlito"/>
                <a:sym typeface="Carlito"/>
              </a:endParaRPr>
            </a:p>
          </p:txBody>
        </p:sp>
        <p:sp>
          <p:nvSpPr>
            <p:cNvPr id="623" name="Google Shape;623;p25"/>
            <p:cNvSpPr/>
            <p:nvPr/>
          </p:nvSpPr>
          <p:spPr>
            <a:xfrm>
              <a:off x="457200" y="2905125"/>
              <a:ext cx="4191000" cy="1476300"/>
            </a:xfrm>
            <a:prstGeom prst="roundRect">
              <a:avLst>
                <a:gd fmla="val 516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4" name="Google Shape;624;p25"/>
            <p:cNvSpPr/>
            <p:nvPr/>
          </p:nvSpPr>
          <p:spPr>
            <a:xfrm>
              <a:off x="457200" y="2905125"/>
              <a:ext cx="38100" cy="1476300"/>
            </a:xfrm>
            <a:prstGeom prst="roundRect">
              <a:avLst>
                <a:gd fmla="val 50000" name="adj"/>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5" name="Google Shape;625;p25"/>
            <p:cNvSpPr txBox="1"/>
            <p:nvPr/>
          </p:nvSpPr>
          <p:spPr>
            <a:xfrm>
              <a:off x="647700" y="3048000"/>
              <a:ext cx="38100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02 · BF16 (WIDER RANGE)</a:t>
              </a:r>
              <a:endParaRPr b="1" sz="800">
                <a:solidFill>
                  <a:srgbClr val="94A3B8"/>
                </a:solidFill>
                <a:latin typeface="Carlito"/>
                <a:ea typeface="Carlito"/>
                <a:cs typeface="Carlito"/>
                <a:sym typeface="Carlito"/>
              </a:endParaRPr>
            </a:p>
            <a:p>
              <a:pPr indent="0" lvl="0" marL="0" rtl="0" algn="l">
                <a:spcBef>
                  <a:spcPts val="450"/>
                </a:spcBef>
                <a:spcAft>
                  <a:spcPts val="0"/>
                </a:spcAft>
                <a:buNone/>
              </a:pPr>
              <a:r>
                <a:rPr b="1" lang="en-US" sz="1150">
                  <a:solidFill>
                    <a:srgbClr val="FFFFFF"/>
                  </a:solidFill>
                  <a:latin typeface="Carlito"/>
                  <a:ea typeface="Carlito"/>
                  <a:cs typeface="Carlito"/>
                  <a:sym typeface="Carlito"/>
                </a:rPr>
                <a:t>FP32-Equivalent Range, Less Precision</a:t>
              </a:r>
              <a:endParaRPr b="1" sz="1150">
                <a:solidFill>
                  <a:srgbClr val="FFFFFF"/>
                </a:solidFill>
                <a:latin typeface="Carlito"/>
                <a:ea typeface="Carlito"/>
                <a:cs typeface="Carlito"/>
                <a:sym typeface="Carlito"/>
              </a:endParaRPr>
            </a:p>
            <a:p>
              <a:pPr indent="0" lvl="0" marL="0" rtl="0" algn="l">
                <a:spcBef>
                  <a:spcPts val="300"/>
                </a:spcBef>
                <a:spcAft>
                  <a:spcPts val="0"/>
                </a:spcAft>
                <a:buNone/>
              </a:pPr>
              <a:r>
                <a:rPr b="0" lang="en-US" sz="950">
                  <a:solidFill>
                    <a:srgbClr val="94A3B8"/>
                  </a:solidFill>
                  <a:latin typeface="Carlito"/>
                  <a:ea typeface="Carlito"/>
                  <a:cs typeface="Carlito"/>
                  <a:sym typeface="Carlito"/>
                </a:rPr>
                <a:t>Allocates 8 bits to the exponent and 7 to the mantissa. Because it shares FP32's wide dynamic range, it avoids stability issues without needing tricks, making it the modern training default.</a:t>
              </a:r>
              <a:endParaRPr b="0" sz="950">
                <a:solidFill>
                  <a:srgbClr val="94A3B8"/>
                </a:solidFill>
                <a:latin typeface="Carlito"/>
                <a:ea typeface="Carlito"/>
                <a:cs typeface="Carlito"/>
                <a:sym typeface="Carlito"/>
              </a:endParaRPr>
            </a:p>
          </p:txBody>
        </p:sp>
        <p:sp>
          <p:nvSpPr>
            <p:cNvPr id="626" name="Google Shape;626;p25"/>
            <p:cNvSpPr/>
            <p:nvPr/>
          </p:nvSpPr>
          <p:spPr>
            <a:xfrm>
              <a:off x="4838700" y="1238250"/>
              <a:ext cx="3924300" cy="3143400"/>
            </a:xfrm>
            <a:prstGeom prst="roundRect">
              <a:avLst>
                <a:gd fmla="val 242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7" name="Google Shape;627;p25"/>
            <p:cNvSpPr txBox="1"/>
            <p:nvPr/>
          </p:nvSpPr>
          <p:spPr>
            <a:xfrm>
              <a:off x="5067300" y="1428750"/>
              <a:ext cx="34671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BIT-LEVEL FORMAT COMPARISON</a:t>
              </a:r>
              <a:endParaRPr b="1" sz="800">
                <a:solidFill>
                  <a:srgbClr val="94A3B8"/>
                </a:solidFill>
                <a:latin typeface="Carlito"/>
                <a:ea typeface="Carlito"/>
                <a:cs typeface="Carlito"/>
                <a:sym typeface="Carlito"/>
              </a:endParaRPr>
            </a:p>
          </p:txBody>
        </p:sp>
        <p:sp>
          <p:nvSpPr>
            <p:cNvPr id="628" name="Google Shape;628;p25"/>
            <p:cNvSpPr txBox="1"/>
            <p:nvPr/>
          </p:nvSpPr>
          <p:spPr>
            <a:xfrm>
              <a:off x="5067300" y="1714500"/>
              <a:ext cx="34671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FFFFF"/>
                  </a:solidFill>
                  <a:latin typeface="Carlito"/>
                  <a:ea typeface="Carlito"/>
                  <a:cs typeface="Carlito"/>
                  <a:sym typeface="Carlito"/>
                </a:rPr>
                <a:t>FP16 </a:t>
              </a:r>
              <a:r>
                <a:rPr b="0" lang="en-US" sz="900">
                  <a:solidFill>
                    <a:srgbClr val="94A3B8"/>
                  </a:solidFill>
                  <a:latin typeface="Carlito"/>
                  <a:ea typeface="Carlito"/>
                  <a:cs typeface="Carlito"/>
                  <a:sym typeface="Carlito"/>
                </a:rPr>
                <a:t>· 1 Sign, 5 Exponent, 10 Mantissa</a:t>
              </a:r>
              <a:endParaRPr b="1" sz="900">
                <a:solidFill>
                  <a:srgbClr val="FFFFFF"/>
                </a:solidFill>
                <a:latin typeface="Carlito"/>
                <a:ea typeface="Carlito"/>
                <a:cs typeface="Carlito"/>
                <a:sym typeface="Carlito"/>
              </a:endParaRPr>
            </a:p>
          </p:txBody>
        </p:sp>
        <p:sp>
          <p:nvSpPr>
            <p:cNvPr id="629" name="Google Shape;629;p25"/>
            <p:cNvSpPr/>
            <p:nvPr/>
          </p:nvSpPr>
          <p:spPr>
            <a:xfrm>
              <a:off x="5067300" y="1924050"/>
              <a:ext cx="171600" cy="209700"/>
            </a:xfrm>
            <a:prstGeom prst="roundRect">
              <a:avLst>
                <a:gd fmla="val 16666" name="adj"/>
              </a:avLst>
            </a:prstGeom>
            <a:solidFill>
              <a:srgbClr val="F5F1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0" name="Google Shape;630;p25"/>
            <p:cNvSpPr txBox="1"/>
            <p:nvPr/>
          </p:nvSpPr>
          <p:spPr>
            <a:xfrm>
              <a:off x="5067300"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ourier New"/>
                  <a:ea typeface="Courier New"/>
                  <a:cs typeface="Courier New"/>
                  <a:sym typeface="Courier New"/>
                </a:rPr>
                <a:t>S</a:t>
              </a:r>
              <a:endParaRPr b="1" sz="800">
                <a:solidFill>
                  <a:srgbClr val="0A1628"/>
                </a:solidFill>
                <a:latin typeface="Courier New"/>
                <a:ea typeface="Courier New"/>
                <a:cs typeface="Courier New"/>
                <a:sym typeface="Courier New"/>
              </a:endParaRPr>
            </a:p>
          </p:txBody>
        </p:sp>
        <p:sp>
          <p:nvSpPr>
            <p:cNvPr id="631" name="Google Shape;631;p25"/>
            <p:cNvSpPr/>
            <p:nvPr/>
          </p:nvSpPr>
          <p:spPr>
            <a:xfrm>
              <a:off x="5267325" y="1924050"/>
              <a:ext cx="171600" cy="209700"/>
            </a:xfrm>
            <a:prstGeom prst="roundRect">
              <a:avLst>
                <a:gd fmla="val 16666"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2" name="Google Shape;632;p25"/>
            <p:cNvSpPr txBox="1"/>
            <p:nvPr/>
          </p:nvSpPr>
          <p:spPr>
            <a:xfrm>
              <a:off x="5267325"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ourier New"/>
                  <a:ea typeface="Courier New"/>
                  <a:cs typeface="Courier New"/>
                  <a:sym typeface="Courier New"/>
                </a:rPr>
                <a:t>E</a:t>
              </a:r>
              <a:endParaRPr b="1" sz="800">
                <a:solidFill>
                  <a:srgbClr val="0A1628"/>
                </a:solidFill>
                <a:latin typeface="Courier New"/>
                <a:ea typeface="Courier New"/>
                <a:cs typeface="Courier New"/>
                <a:sym typeface="Courier New"/>
              </a:endParaRPr>
            </a:p>
          </p:txBody>
        </p:sp>
        <p:sp>
          <p:nvSpPr>
            <p:cNvPr id="633" name="Google Shape;633;p25"/>
            <p:cNvSpPr/>
            <p:nvPr/>
          </p:nvSpPr>
          <p:spPr>
            <a:xfrm>
              <a:off x="5467350" y="1924050"/>
              <a:ext cx="171600" cy="209700"/>
            </a:xfrm>
            <a:prstGeom prst="roundRect">
              <a:avLst>
                <a:gd fmla="val 16666"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4" name="Google Shape;634;p25"/>
            <p:cNvSpPr txBox="1"/>
            <p:nvPr/>
          </p:nvSpPr>
          <p:spPr>
            <a:xfrm>
              <a:off x="5467350"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ourier New"/>
                  <a:ea typeface="Courier New"/>
                  <a:cs typeface="Courier New"/>
                  <a:sym typeface="Courier New"/>
                </a:rPr>
                <a:t>E</a:t>
              </a:r>
              <a:endParaRPr b="1" sz="800">
                <a:solidFill>
                  <a:srgbClr val="0A1628"/>
                </a:solidFill>
                <a:latin typeface="Courier New"/>
                <a:ea typeface="Courier New"/>
                <a:cs typeface="Courier New"/>
                <a:sym typeface="Courier New"/>
              </a:endParaRPr>
            </a:p>
          </p:txBody>
        </p:sp>
        <p:sp>
          <p:nvSpPr>
            <p:cNvPr id="635" name="Google Shape;635;p25"/>
            <p:cNvSpPr/>
            <p:nvPr/>
          </p:nvSpPr>
          <p:spPr>
            <a:xfrm>
              <a:off x="5667375" y="1924050"/>
              <a:ext cx="171600" cy="209700"/>
            </a:xfrm>
            <a:prstGeom prst="roundRect">
              <a:avLst>
                <a:gd fmla="val 16666"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6" name="Google Shape;636;p25"/>
            <p:cNvSpPr txBox="1"/>
            <p:nvPr/>
          </p:nvSpPr>
          <p:spPr>
            <a:xfrm>
              <a:off x="5667375"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ourier New"/>
                  <a:ea typeface="Courier New"/>
                  <a:cs typeface="Courier New"/>
                  <a:sym typeface="Courier New"/>
                </a:rPr>
                <a:t>E</a:t>
              </a:r>
              <a:endParaRPr b="1" sz="800">
                <a:solidFill>
                  <a:srgbClr val="0A1628"/>
                </a:solidFill>
                <a:latin typeface="Courier New"/>
                <a:ea typeface="Courier New"/>
                <a:cs typeface="Courier New"/>
                <a:sym typeface="Courier New"/>
              </a:endParaRPr>
            </a:p>
          </p:txBody>
        </p:sp>
        <p:sp>
          <p:nvSpPr>
            <p:cNvPr id="637" name="Google Shape;637;p25"/>
            <p:cNvSpPr/>
            <p:nvPr/>
          </p:nvSpPr>
          <p:spPr>
            <a:xfrm>
              <a:off x="5867400" y="1924050"/>
              <a:ext cx="171600" cy="209700"/>
            </a:xfrm>
            <a:prstGeom prst="roundRect">
              <a:avLst>
                <a:gd fmla="val 16666"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8" name="Google Shape;638;p25"/>
            <p:cNvSpPr txBox="1"/>
            <p:nvPr/>
          </p:nvSpPr>
          <p:spPr>
            <a:xfrm>
              <a:off x="5867400"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ourier New"/>
                  <a:ea typeface="Courier New"/>
                  <a:cs typeface="Courier New"/>
                  <a:sym typeface="Courier New"/>
                </a:rPr>
                <a:t>E</a:t>
              </a:r>
              <a:endParaRPr b="1" sz="800">
                <a:solidFill>
                  <a:srgbClr val="0A1628"/>
                </a:solidFill>
                <a:latin typeface="Courier New"/>
                <a:ea typeface="Courier New"/>
                <a:cs typeface="Courier New"/>
                <a:sym typeface="Courier New"/>
              </a:endParaRPr>
            </a:p>
          </p:txBody>
        </p:sp>
        <p:sp>
          <p:nvSpPr>
            <p:cNvPr id="639" name="Google Shape;639;p25"/>
            <p:cNvSpPr/>
            <p:nvPr/>
          </p:nvSpPr>
          <p:spPr>
            <a:xfrm>
              <a:off x="6067425" y="1924050"/>
              <a:ext cx="171600" cy="209700"/>
            </a:xfrm>
            <a:prstGeom prst="roundRect">
              <a:avLst>
                <a:gd fmla="val 16666"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0" name="Google Shape;640;p25"/>
            <p:cNvSpPr txBox="1"/>
            <p:nvPr/>
          </p:nvSpPr>
          <p:spPr>
            <a:xfrm>
              <a:off x="6067425"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ourier New"/>
                  <a:ea typeface="Courier New"/>
                  <a:cs typeface="Courier New"/>
                  <a:sym typeface="Courier New"/>
                </a:rPr>
                <a:t>E</a:t>
              </a:r>
              <a:endParaRPr b="1" sz="800">
                <a:solidFill>
                  <a:srgbClr val="0A1628"/>
                </a:solidFill>
                <a:latin typeface="Courier New"/>
                <a:ea typeface="Courier New"/>
                <a:cs typeface="Courier New"/>
                <a:sym typeface="Courier New"/>
              </a:endParaRPr>
            </a:p>
          </p:txBody>
        </p:sp>
        <p:sp>
          <p:nvSpPr>
            <p:cNvPr id="641" name="Google Shape;641;p25"/>
            <p:cNvSpPr/>
            <p:nvPr/>
          </p:nvSpPr>
          <p:spPr>
            <a:xfrm>
              <a:off x="6267450" y="19240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2" name="Google Shape;642;p25"/>
            <p:cNvSpPr txBox="1"/>
            <p:nvPr/>
          </p:nvSpPr>
          <p:spPr>
            <a:xfrm>
              <a:off x="6267450"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43" name="Google Shape;643;p25"/>
            <p:cNvSpPr/>
            <p:nvPr/>
          </p:nvSpPr>
          <p:spPr>
            <a:xfrm>
              <a:off x="6467475" y="19240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4" name="Google Shape;644;p25"/>
            <p:cNvSpPr txBox="1"/>
            <p:nvPr/>
          </p:nvSpPr>
          <p:spPr>
            <a:xfrm>
              <a:off x="6467475"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45" name="Google Shape;645;p25"/>
            <p:cNvSpPr/>
            <p:nvPr/>
          </p:nvSpPr>
          <p:spPr>
            <a:xfrm>
              <a:off x="6667500" y="19240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6" name="Google Shape;646;p25"/>
            <p:cNvSpPr txBox="1"/>
            <p:nvPr/>
          </p:nvSpPr>
          <p:spPr>
            <a:xfrm>
              <a:off x="6667500"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47" name="Google Shape;647;p25"/>
            <p:cNvSpPr/>
            <p:nvPr/>
          </p:nvSpPr>
          <p:spPr>
            <a:xfrm>
              <a:off x="6867525" y="19240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8" name="Google Shape;648;p25"/>
            <p:cNvSpPr txBox="1"/>
            <p:nvPr/>
          </p:nvSpPr>
          <p:spPr>
            <a:xfrm>
              <a:off x="6867525"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49" name="Google Shape;649;p25"/>
            <p:cNvSpPr/>
            <p:nvPr/>
          </p:nvSpPr>
          <p:spPr>
            <a:xfrm>
              <a:off x="7067550" y="19240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0" name="Google Shape;650;p25"/>
            <p:cNvSpPr txBox="1"/>
            <p:nvPr/>
          </p:nvSpPr>
          <p:spPr>
            <a:xfrm>
              <a:off x="7067550"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51" name="Google Shape;651;p25"/>
            <p:cNvSpPr/>
            <p:nvPr/>
          </p:nvSpPr>
          <p:spPr>
            <a:xfrm>
              <a:off x="7267575" y="19240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2" name="Google Shape;652;p25"/>
            <p:cNvSpPr txBox="1"/>
            <p:nvPr/>
          </p:nvSpPr>
          <p:spPr>
            <a:xfrm>
              <a:off x="7267575"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53" name="Google Shape;653;p25"/>
            <p:cNvSpPr/>
            <p:nvPr/>
          </p:nvSpPr>
          <p:spPr>
            <a:xfrm>
              <a:off x="7467600" y="19240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4" name="Google Shape;654;p25"/>
            <p:cNvSpPr txBox="1"/>
            <p:nvPr/>
          </p:nvSpPr>
          <p:spPr>
            <a:xfrm>
              <a:off x="7467600"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55" name="Google Shape;655;p25"/>
            <p:cNvSpPr/>
            <p:nvPr/>
          </p:nvSpPr>
          <p:spPr>
            <a:xfrm>
              <a:off x="7667625" y="19240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6" name="Google Shape;656;p25"/>
            <p:cNvSpPr txBox="1"/>
            <p:nvPr/>
          </p:nvSpPr>
          <p:spPr>
            <a:xfrm>
              <a:off x="7667625"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57" name="Google Shape;657;p25"/>
            <p:cNvSpPr/>
            <p:nvPr/>
          </p:nvSpPr>
          <p:spPr>
            <a:xfrm>
              <a:off x="7867650" y="19240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8" name="Google Shape;658;p25"/>
            <p:cNvSpPr txBox="1"/>
            <p:nvPr/>
          </p:nvSpPr>
          <p:spPr>
            <a:xfrm>
              <a:off x="7867650"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59" name="Google Shape;659;p25"/>
            <p:cNvSpPr/>
            <p:nvPr/>
          </p:nvSpPr>
          <p:spPr>
            <a:xfrm>
              <a:off x="8067675" y="19240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0" name="Google Shape;660;p25"/>
            <p:cNvSpPr txBox="1"/>
            <p:nvPr/>
          </p:nvSpPr>
          <p:spPr>
            <a:xfrm>
              <a:off x="8067675" y="19240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61" name="Google Shape;661;p25"/>
            <p:cNvSpPr txBox="1"/>
            <p:nvPr/>
          </p:nvSpPr>
          <p:spPr>
            <a:xfrm>
              <a:off x="5067300" y="2171700"/>
              <a:ext cx="3171900" cy="14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750">
                  <a:solidFill>
                    <a:srgbClr val="64748B"/>
                  </a:solidFill>
                  <a:latin typeface="Carlito"/>
                  <a:ea typeface="Carlito"/>
                  <a:cs typeface="Carlito"/>
                  <a:sym typeface="Carlito"/>
                </a:rPr>
                <a:t>0 1 2 3 4 5 6 7 8 9 10 11 12 13 14 15</a:t>
              </a:r>
              <a:endParaRPr b="0" sz="750">
                <a:solidFill>
                  <a:srgbClr val="64748B"/>
                </a:solidFill>
                <a:latin typeface="Carlito"/>
                <a:ea typeface="Carlito"/>
                <a:cs typeface="Carlito"/>
                <a:sym typeface="Carlito"/>
              </a:endParaRPr>
            </a:p>
          </p:txBody>
        </p:sp>
        <p:sp>
          <p:nvSpPr>
            <p:cNvPr id="662" name="Google Shape;662;p25"/>
            <p:cNvSpPr txBox="1"/>
            <p:nvPr/>
          </p:nvSpPr>
          <p:spPr>
            <a:xfrm>
              <a:off x="5067300" y="2324100"/>
              <a:ext cx="3467100" cy="14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US" sz="800">
                  <a:solidFill>
                    <a:srgbClr val="94A3B8"/>
                  </a:solidFill>
                  <a:latin typeface="Carlito"/>
                  <a:ea typeface="Carlito"/>
                  <a:cs typeface="Carlito"/>
                  <a:sym typeface="Carlito"/>
                </a:rPr>
                <a:t>More precision · narrower dynamic range</a:t>
              </a:r>
              <a:endParaRPr i="1" sz="800">
                <a:solidFill>
                  <a:srgbClr val="94A3B8"/>
                </a:solidFill>
                <a:latin typeface="Carlito"/>
                <a:ea typeface="Carlito"/>
                <a:cs typeface="Carlito"/>
                <a:sym typeface="Carlito"/>
              </a:endParaRPr>
            </a:p>
          </p:txBody>
        </p:sp>
        <p:sp>
          <p:nvSpPr>
            <p:cNvPr id="663" name="Google Shape;663;p25"/>
            <p:cNvSpPr txBox="1"/>
            <p:nvPr/>
          </p:nvSpPr>
          <p:spPr>
            <a:xfrm>
              <a:off x="5067300" y="2628900"/>
              <a:ext cx="34671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FFFFF"/>
                  </a:solidFill>
                  <a:latin typeface="Carlito"/>
                  <a:ea typeface="Carlito"/>
                  <a:cs typeface="Carlito"/>
                  <a:sym typeface="Carlito"/>
                </a:rPr>
                <a:t>BF16 </a:t>
              </a:r>
              <a:r>
                <a:rPr b="0" lang="en-US" sz="900">
                  <a:solidFill>
                    <a:srgbClr val="94A3B8"/>
                  </a:solidFill>
                  <a:latin typeface="Carlito"/>
                  <a:ea typeface="Carlito"/>
                  <a:cs typeface="Carlito"/>
                  <a:sym typeface="Carlito"/>
                </a:rPr>
                <a:t>· 1 Sign, 8 Exponent, 7 Mantissa</a:t>
              </a:r>
              <a:endParaRPr b="1" sz="900">
                <a:solidFill>
                  <a:srgbClr val="FFFFFF"/>
                </a:solidFill>
                <a:latin typeface="Carlito"/>
                <a:ea typeface="Carlito"/>
                <a:cs typeface="Carlito"/>
                <a:sym typeface="Carlito"/>
              </a:endParaRPr>
            </a:p>
          </p:txBody>
        </p:sp>
        <p:sp>
          <p:nvSpPr>
            <p:cNvPr id="664" name="Google Shape;664;p25"/>
            <p:cNvSpPr/>
            <p:nvPr/>
          </p:nvSpPr>
          <p:spPr>
            <a:xfrm>
              <a:off x="5067300" y="2838450"/>
              <a:ext cx="171600" cy="209700"/>
            </a:xfrm>
            <a:prstGeom prst="roundRect">
              <a:avLst>
                <a:gd fmla="val 16666" name="adj"/>
              </a:avLst>
            </a:prstGeom>
            <a:solidFill>
              <a:srgbClr val="F5F1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5" name="Google Shape;665;p25"/>
            <p:cNvSpPr txBox="1"/>
            <p:nvPr/>
          </p:nvSpPr>
          <p:spPr>
            <a:xfrm>
              <a:off x="5067300"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ourier New"/>
                  <a:ea typeface="Courier New"/>
                  <a:cs typeface="Courier New"/>
                  <a:sym typeface="Courier New"/>
                </a:rPr>
                <a:t>S</a:t>
              </a:r>
              <a:endParaRPr b="1" sz="800">
                <a:solidFill>
                  <a:srgbClr val="0A1628"/>
                </a:solidFill>
                <a:latin typeface="Courier New"/>
                <a:ea typeface="Courier New"/>
                <a:cs typeface="Courier New"/>
                <a:sym typeface="Courier New"/>
              </a:endParaRPr>
            </a:p>
          </p:txBody>
        </p:sp>
        <p:sp>
          <p:nvSpPr>
            <p:cNvPr id="666" name="Google Shape;666;p25"/>
            <p:cNvSpPr/>
            <p:nvPr/>
          </p:nvSpPr>
          <p:spPr>
            <a:xfrm>
              <a:off x="5267325" y="2838450"/>
              <a:ext cx="171600" cy="209700"/>
            </a:xfrm>
            <a:prstGeom prst="roundRect">
              <a:avLst>
                <a:gd fmla="val 16666"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7" name="Google Shape;667;p25"/>
            <p:cNvSpPr txBox="1"/>
            <p:nvPr/>
          </p:nvSpPr>
          <p:spPr>
            <a:xfrm>
              <a:off x="5267325"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ourier New"/>
                  <a:ea typeface="Courier New"/>
                  <a:cs typeface="Courier New"/>
                  <a:sym typeface="Courier New"/>
                </a:rPr>
                <a:t>E</a:t>
              </a:r>
              <a:endParaRPr b="1" sz="800">
                <a:solidFill>
                  <a:srgbClr val="0A1628"/>
                </a:solidFill>
                <a:latin typeface="Courier New"/>
                <a:ea typeface="Courier New"/>
                <a:cs typeface="Courier New"/>
                <a:sym typeface="Courier New"/>
              </a:endParaRPr>
            </a:p>
          </p:txBody>
        </p:sp>
        <p:sp>
          <p:nvSpPr>
            <p:cNvPr id="668" name="Google Shape;668;p25"/>
            <p:cNvSpPr/>
            <p:nvPr/>
          </p:nvSpPr>
          <p:spPr>
            <a:xfrm>
              <a:off x="5467350" y="2838450"/>
              <a:ext cx="171600" cy="209700"/>
            </a:xfrm>
            <a:prstGeom prst="roundRect">
              <a:avLst>
                <a:gd fmla="val 16666"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9" name="Google Shape;669;p25"/>
            <p:cNvSpPr txBox="1"/>
            <p:nvPr/>
          </p:nvSpPr>
          <p:spPr>
            <a:xfrm>
              <a:off x="5467350"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ourier New"/>
                  <a:ea typeface="Courier New"/>
                  <a:cs typeface="Courier New"/>
                  <a:sym typeface="Courier New"/>
                </a:rPr>
                <a:t>E</a:t>
              </a:r>
              <a:endParaRPr b="1" sz="800">
                <a:solidFill>
                  <a:srgbClr val="0A1628"/>
                </a:solidFill>
                <a:latin typeface="Courier New"/>
                <a:ea typeface="Courier New"/>
                <a:cs typeface="Courier New"/>
                <a:sym typeface="Courier New"/>
              </a:endParaRPr>
            </a:p>
          </p:txBody>
        </p:sp>
        <p:sp>
          <p:nvSpPr>
            <p:cNvPr id="670" name="Google Shape;670;p25"/>
            <p:cNvSpPr/>
            <p:nvPr/>
          </p:nvSpPr>
          <p:spPr>
            <a:xfrm>
              <a:off x="5667375" y="2838450"/>
              <a:ext cx="171600" cy="209700"/>
            </a:xfrm>
            <a:prstGeom prst="roundRect">
              <a:avLst>
                <a:gd fmla="val 16666"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1" name="Google Shape;671;p25"/>
            <p:cNvSpPr txBox="1"/>
            <p:nvPr/>
          </p:nvSpPr>
          <p:spPr>
            <a:xfrm>
              <a:off x="5667375"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ourier New"/>
                  <a:ea typeface="Courier New"/>
                  <a:cs typeface="Courier New"/>
                  <a:sym typeface="Courier New"/>
                </a:rPr>
                <a:t>E</a:t>
              </a:r>
              <a:endParaRPr b="1" sz="800">
                <a:solidFill>
                  <a:srgbClr val="0A1628"/>
                </a:solidFill>
                <a:latin typeface="Courier New"/>
                <a:ea typeface="Courier New"/>
                <a:cs typeface="Courier New"/>
                <a:sym typeface="Courier New"/>
              </a:endParaRPr>
            </a:p>
          </p:txBody>
        </p:sp>
        <p:sp>
          <p:nvSpPr>
            <p:cNvPr id="672" name="Google Shape;672;p25"/>
            <p:cNvSpPr/>
            <p:nvPr/>
          </p:nvSpPr>
          <p:spPr>
            <a:xfrm>
              <a:off x="5867400" y="2838450"/>
              <a:ext cx="171600" cy="209700"/>
            </a:xfrm>
            <a:prstGeom prst="roundRect">
              <a:avLst>
                <a:gd fmla="val 16666"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3" name="Google Shape;673;p25"/>
            <p:cNvSpPr txBox="1"/>
            <p:nvPr/>
          </p:nvSpPr>
          <p:spPr>
            <a:xfrm>
              <a:off x="5867400"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ourier New"/>
                  <a:ea typeface="Courier New"/>
                  <a:cs typeface="Courier New"/>
                  <a:sym typeface="Courier New"/>
                </a:rPr>
                <a:t>E</a:t>
              </a:r>
              <a:endParaRPr b="1" sz="800">
                <a:solidFill>
                  <a:srgbClr val="0A1628"/>
                </a:solidFill>
                <a:latin typeface="Courier New"/>
                <a:ea typeface="Courier New"/>
                <a:cs typeface="Courier New"/>
                <a:sym typeface="Courier New"/>
              </a:endParaRPr>
            </a:p>
          </p:txBody>
        </p:sp>
        <p:sp>
          <p:nvSpPr>
            <p:cNvPr id="674" name="Google Shape;674;p25"/>
            <p:cNvSpPr/>
            <p:nvPr/>
          </p:nvSpPr>
          <p:spPr>
            <a:xfrm>
              <a:off x="6067425" y="2838450"/>
              <a:ext cx="171600" cy="209700"/>
            </a:xfrm>
            <a:prstGeom prst="roundRect">
              <a:avLst>
                <a:gd fmla="val 16666"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5" name="Google Shape;675;p25"/>
            <p:cNvSpPr txBox="1"/>
            <p:nvPr/>
          </p:nvSpPr>
          <p:spPr>
            <a:xfrm>
              <a:off x="6067425"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ourier New"/>
                  <a:ea typeface="Courier New"/>
                  <a:cs typeface="Courier New"/>
                  <a:sym typeface="Courier New"/>
                </a:rPr>
                <a:t>E</a:t>
              </a:r>
              <a:endParaRPr b="1" sz="800">
                <a:solidFill>
                  <a:srgbClr val="0A1628"/>
                </a:solidFill>
                <a:latin typeface="Courier New"/>
                <a:ea typeface="Courier New"/>
                <a:cs typeface="Courier New"/>
                <a:sym typeface="Courier New"/>
              </a:endParaRPr>
            </a:p>
          </p:txBody>
        </p:sp>
        <p:sp>
          <p:nvSpPr>
            <p:cNvPr id="676" name="Google Shape;676;p25"/>
            <p:cNvSpPr/>
            <p:nvPr/>
          </p:nvSpPr>
          <p:spPr>
            <a:xfrm>
              <a:off x="6267450" y="2838450"/>
              <a:ext cx="171600" cy="209700"/>
            </a:xfrm>
            <a:prstGeom prst="roundRect">
              <a:avLst>
                <a:gd fmla="val 16666"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7" name="Google Shape;677;p25"/>
            <p:cNvSpPr txBox="1"/>
            <p:nvPr/>
          </p:nvSpPr>
          <p:spPr>
            <a:xfrm>
              <a:off x="6267450"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ourier New"/>
                  <a:ea typeface="Courier New"/>
                  <a:cs typeface="Courier New"/>
                  <a:sym typeface="Courier New"/>
                </a:rPr>
                <a:t>E</a:t>
              </a:r>
              <a:endParaRPr b="1" sz="800">
                <a:solidFill>
                  <a:srgbClr val="0A1628"/>
                </a:solidFill>
                <a:latin typeface="Courier New"/>
                <a:ea typeface="Courier New"/>
                <a:cs typeface="Courier New"/>
                <a:sym typeface="Courier New"/>
              </a:endParaRPr>
            </a:p>
          </p:txBody>
        </p:sp>
        <p:sp>
          <p:nvSpPr>
            <p:cNvPr id="678" name="Google Shape;678;p25"/>
            <p:cNvSpPr/>
            <p:nvPr/>
          </p:nvSpPr>
          <p:spPr>
            <a:xfrm>
              <a:off x="6467475" y="2838450"/>
              <a:ext cx="171600" cy="209700"/>
            </a:xfrm>
            <a:prstGeom prst="roundRect">
              <a:avLst>
                <a:gd fmla="val 16666"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9" name="Google Shape;679;p25"/>
            <p:cNvSpPr txBox="1"/>
            <p:nvPr/>
          </p:nvSpPr>
          <p:spPr>
            <a:xfrm>
              <a:off x="6467475"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ourier New"/>
                  <a:ea typeface="Courier New"/>
                  <a:cs typeface="Courier New"/>
                  <a:sym typeface="Courier New"/>
                </a:rPr>
                <a:t>E</a:t>
              </a:r>
              <a:endParaRPr b="1" sz="800">
                <a:solidFill>
                  <a:srgbClr val="0A1628"/>
                </a:solidFill>
                <a:latin typeface="Courier New"/>
                <a:ea typeface="Courier New"/>
                <a:cs typeface="Courier New"/>
                <a:sym typeface="Courier New"/>
              </a:endParaRPr>
            </a:p>
          </p:txBody>
        </p:sp>
        <p:sp>
          <p:nvSpPr>
            <p:cNvPr id="680" name="Google Shape;680;p25"/>
            <p:cNvSpPr/>
            <p:nvPr/>
          </p:nvSpPr>
          <p:spPr>
            <a:xfrm>
              <a:off x="6667500" y="2838450"/>
              <a:ext cx="171600" cy="209700"/>
            </a:xfrm>
            <a:prstGeom prst="roundRect">
              <a:avLst>
                <a:gd fmla="val 16666"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1" name="Google Shape;681;p25"/>
            <p:cNvSpPr txBox="1"/>
            <p:nvPr/>
          </p:nvSpPr>
          <p:spPr>
            <a:xfrm>
              <a:off x="6667500"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ourier New"/>
                  <a:ea typeface="Courier New"/>
                  <a:cs typeface="Courier New"/>
                  <a:sym typeface="Courier New"/>
                </a:rPr>
                <a:t>E</a:t>
              </a:r>
              <a:endParaRPr b="1" sz="800">
                <a:solidFill>
                  <a:srgbClr val="0A1628"/>
                </a:solidFill>
                <a:latin typeface="Courier New"/>
                <a:ea typeface="Courier New"/>
                <a:cs typeface="Courier New"/>
                <a:sym typeface="Courier New"/>
              </a:endParaRPr>
            </a:p>
          </p:txBody>
        </p:sp>
        <p:sp>
          <p:nvSpPr>
            <p:cNvPr id="682" name="Google Shape;682;p25"/>
            <p:cNvSpPr/>
            <p:nvPr/>
          </p:nvSpPr>
          <p:spPr>
            <a:xfrm>
              <a:off x="6867525" y="28384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3" name="Google Shape;683;p25"/>
            <p:cNvSpPr txBox="1"/>
            <p:nvPr/>
          </p:nvSpPr>
          <p:spPr>
            <a:xfrm>
              <a:off x="6867525"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84" name="Google Shape;684;p25"/>
            <p:cNvSpPr/>
            <p:nvPr/>
          </p:nvSpPr>
          <p:spPr>
            <a:xfrm>
              <a:off x="7067550" y="28384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5" name="Google Shape;685;p25"/>
            <p:cNvSpPr txBox="1"/>
            <p:nvPr/>
          </p:nvSpPr>
          <p:spPr>
            <a:xfrm>
              <a:off x="7067550"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86" name="Google Shape;686;p25"/>
            <p:cNvSpPr/>
            <p:nvPr/>
          </p:nvSpPr>
          <p:spPr>
            <a:xfrm>
              <a:off x="7267575" y="28384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7" name="Google Shape;687;p25"/>
            <p:cNvSpPr txBox="1"/>
            <p:nvPr/>
          </p:nvSpPr>
          <p:spPr>
            <a:xfrm>
              <a:off x="7267575"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88" name="Google Shape;688;p25"/>
            <p:cNvSpPr/>
            <p:nvPr/>
          </p:nvSpPr>
          <p:spPr>
            <a:xfrm>
              <a:off x="7467600" y="28384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9" name="Google Shape;689;p25"/>
            <p:cNvSpPr txBox="1"/>
            <p:nvPr/>
          </p:nvSpPr>
          <p:spPr>
            <a:xfrm>
              <a:off x="7467600"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90" name="Google Shape;690;p25"/>
            <p:cNvSpPr/>
            <p:nvPr/>
          </p:nvSpPr>
          <p:spPr>
            <a:xfrm>
              <a:off x="7667625" y="28384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1" name="Google Shape;691;p25"/>
            <p:cNvSpPr txBox="1"/>
            <p:nvPr/>
          </p:nvSpPr>
          <p:spPr>
            <a:xfrm>
              <a:off x="7667625"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92" name="Google Shape;692;p25"/>
            <p:cNvSpPr/>
            <p:nvPr/>
          </p:nvSpPr>
          <p:spPr>
            <a:xfrm>
              <a:off x="7867650" y="28384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3" name="Google Shape;693;p25"/>
            <p:cNvSpPr txBox="1"/>
            <p:nvPr/>
          </p:nvSpPr>
          <p:spPr>
            <a:xfrm>
              <a:off x="7867650"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94" name="Google Shape;694;p25"/>
            <p:cNvSpPr/>
            <p:nvPr/>
          </p:nvSpPr>
          <p:spPr>
            <a:xfrm>
              <a:off x="8067675" y="2838450"/>
              <a:ext cx="171600" cy="209700"/>
            </a:xfrm>
            <a:prstGeom prst="roundRect">
              <a:avLst>
                <a:gd fmla="val 16666" name="adj"/>
              </a:avLst>
            </a:prstGeom>
            <a:solidFill>
              <a:srgbClr val="1B2D47"/>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5" name="Google Shape;695;p25"/>
            <p:cNvSpPr txBox="1"/>
            <p:nvPr/>
          </p:nvSpPr>
          <p:spPr>
            <a:xfrm>
              <a:off x="8067675" y="2838450"/>
              <a:ext cx="171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00">
                  <a:solidFill>
                    <a:srgbClr val="94A3B8"/>
                  </a:solidFill>
                  <a:latin typeface="Courier New"/>
                  <a:ea typeface="Courier New"/>
                  <a:cs typeface="Courier New"/>
                  <a:sym typeface="Courier New"/>
                </a:rPr>
                <a:t>M</a:t>
              </a:r>
              <a:endParaRPr b="0" sz="800">
                <a:solidFill>
                  <a:srgbClr val="94A3B8"/>
                </a:solidFill>
                <a:latin typeface="Courier New"/>
                <a:ea typeface="Courier New"/>
                <a:cs typeface="Courier New"/>
                <a:sym typeface="Courier New"/>
              </a:endParaRPr>
            </a:p>
          </p:txBody>
        </p:sp>
        <p:sp>
          <p:nvSpPr>
            <p:cNvPr id="696" name="Google Shape;696;p25"/>
            <p:cNvSpPr txBox="1"/>
            <p:nvPr/>
          </p:nvSpPr>
          <p:spPr>
            <a:xfrm>
              <a:off x="5067300" y="3086100"/>
              <a:ext cx="3171900" cy="14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750">
                  <a:solidFill>
                    <a:srgbClr val="64748B"/>
                  </a:solidFill>
                  <a:latin typeface="Carlito"/>
                  <a:ea typeface="Carlito"/>
                  <a:cs typeface="Carlito"/>
                  <a:sym typeface="Carlito"/>
                </a:rPr>
                <a:t>0 1 2 3 4 5 6 7 8 9 10 11 12 13 14 15</a:t>
              </a:r>
              <a:endParaRPr b="0" sz="750">
                <a:solidFill>
                  <a:srgbClr val="64748B"/>
                </a:solidFill>
                <a:latin typeface="Carlito"/>
                <a:ea typeface="Carlito"/>
                <a:cs typeface="Carlito"/>
                <a:sym typeface="Carlito"/>
              </a:endParaRPr>
            </a:p>
          </p:txBody>
        </p:sp>
        <p:sp>
          <p:nvSpPr>
            <p:cNvPr id="697" name="Google Shape;697;p25"/>
            <p:cNvSpPr txBox="1"/>
            <p:nvPr/>
          </p:nvSpPr>
          <p:spPr>
            <a:xfrm>
              <a:off x="5067300" y="3238500"/>
              <a:ext cx="3467100" cy="14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US" sz="800">
                  <a:solidFill>
                    <a:srgbClr val="94A3B8"/>
                  </a:solidFill>
                  <a:latin typeface="Carlito"/>
                  <a:ea typeface="Carlito"/>
                  <a:cs typeface="Carlito"/>
                  <a:sym typeface="Carlito"/>
                </a:rPr>
                <a:t>Less precision · FP32-equivalent range</a:t>
              </a:r>
              <a:endParaRPr i="1" sz="800">
                <a:solidFill>
                  <a:srgbClr val="94A3B8"/>
                </a:solidFill>
                <a:latin typeface="Carlito"/>
                <a:ea typeface="Carlito"/>
                <a:cs typeface="Carlito"/>
                <a:sym typeface="Carlito"/>
              </a:endParaRPr>
            </a:p>
          </p:txBody>
        </p:sp>
        <p:grpSp>
          <p:nvGrpSpPr>
            <p:cNvPr id="698" name="Google Shape;698;p25"/>
            <p:cNvGrpSpPr/>
            <p:nvPr/>
          </p:nvGrpSpPr>
          <p:grpSpPr>
            <a:xfrm>
              <a:off x="5067300" y="3524250"/>
              <a:ext cx="1771800" cy="114300"/>
              <a:chOff x="5067300" y="3524250"/>
              <a:chExt cx="1771800" cy="114300"/>
            </a:xfrm>
          </p:grpSpPr>
          <p:sp>
            <p:nvSpPr>
              <p:cNvPr id="699" name="Google Shape;699;p25"/>
              <p:cNvSpPr/>
              <p:nvPr/>
            </p:nvSpPr>
            <p:spPr>
              <a:xfrm>
                <a:off x="5067300" y="3543300"/>
                <a:ext cx="76200" cy="76200"/>
              </a:xfrm>
              <a:prstGeom prst="roundRect">
                <a:avLst>
                  <a:gd fmla="val 18750" name="adj"/>
                </a:avLst>
              </a:prstGeom>
              <a:solidFill>
                <a:srgbClr val="F5F1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0" name="Google Shape;700;p25"/>
              <p:cNvSpPr txBox="1"/>
              <p:nvPr/>
            </p:nvSpPr>
            <p:spPr>
              <a:xfrm>
                <a:off x="5181600" y="3524250"/>
                <a:ext cx="285900" cy="1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750">
                    <a:solidFill>
                      <a:srgbClr val="94A3B8"/>
                    </a:solidFill>
                    <a:latin typeface="Carlito"/>
                    <a:ea typeface="Carlito"/>
                    <a:cs typeface="Carlito"/>
                    <a:sym typeface="Carlito"/>
                  </a:rPr>
                  <a:t>Sign</a:t>
                </a:r>
                <a:endParaRPr sz="750">
                  <a:solidFill>
                    <a:srgbClr val="94A3B8"/>
                  </a:solidFill>
                  <a:latin typeface="Carlito"/>
                  <a:ea typeface="Carlito"/>
                  <a:cs typeface="Carlito"/>
                  <a:sym typeface="Carlito"/>
                </a:endParaRPr>
              </a:p>
            </p:txBody>
          </p:sp>
          <p:sp>
            <p:nvSpPr>
              <p:cNvPr id="701" name="Google Shape;701;p25"/>
              <p:cNvSpPr/>
              <p:nvPr/>
            </p:nvSpPr>
            <p:spPr>
              <a:xfrm>
                <a:off x="5562600" y="3543300"/>
                <a:ext cx="76200" cy="76200"/>
              </a:xfrm>
              <a:prstGeom prst="roundRect">
                <a:avLst>
                  <a:gd fmla="val 1875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2" name="Google Shape;702;p25"/>
              <p:cNvSpPr txBox="1"/>
              <p:nvPr/>
            </p:nvSpPr>
            <p:spPr>
              <a:xfrm>
                <a:off x="5676900" y="3524250"/>
                <a:ext cx="476400" cy="1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750">
                    <a:solidFill>
                      <a:srgbClr val="94A3B8"/>
                    </a:solidFill>
                    <a:latin typeface="Carlito"/>
                    <a:ea typeface="Carlito"/>
                    <a:cs typeface="Carlito"/>
                    <a:sym typeface="Carlito"/>
                  </a:rPr>
                  <a:t>Exponent</a:t>
                </a:r>
                <a:endParaRPr sz="750">
                  <a:solidFill>
                    <a:srgbClr val="94A3B8"/>
                  </a:solidFill>
                  <a:latin typeface="Carlito"/>
                  <a:ea typeface="Carlito"/>
                  <a:cs typeface="Carlito"/>
                  <a:sym typeface="Carlito"/>
                </a:endParaRPr>
              </a:p>
            </p:txBody>
          </p:sp>
          <p:sp>
            <p:nvSpPr>
              <p:cNvPr id="703" name="Google Shape;703;p25"/>
              <p:cNvSpPr/>
              <p:nvPr/>
            </p:nvSpPr>
            <p:spPr>
              <a:xfrm>
                <a:off x="6248400" y="3543300"/>
                <a:ext cx="76200" cy="76200"/>
              </a:xfrm>
              <a:prstGeom prst="roundRect">
                <a:avLst>
                  <a:gd fmla="val 18750" name="adj"/>
                </a:avLst>
              </a:prstGeom>
              <a:solidFill>
                <a:srgbClr val="1B2D47"/>
              </a:solidFill>
              <a:ln cap="flat" cmpd="sng" w="477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4" name="Google Shape;704;p25"/>
              <p:cNvSpPr txBox="1"/>
              <p:nvPr/>
            </p:nvSpPr>
            <p:spPr>
              <a:xfrm>
                <a:off x="6362700" y="3524250"/>
                <a:ext cx="476400" cy="1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750">
                    <a:solidFill>
                      <a:srgbClr val="94A3B8"/>
                    </a:solidFill>
                    <a:latin typeface="Carlito"/>
                    <a:ea typeface="Carlito"/>
                    <a:cs typeface="Carlito"/>
                    <a:sym typeface="Carlito"/>
                  </a:rPr>
                  <a:t>Mantissa</a:t>
                </a:r>
                <a:endParaRPr sz="750">
                  <a:solidFill>
                    <a:srgbClr val="94A3B8"/>
                  </a:solidFill>
                  <a:latin typeface="Carlito"/>
                  <a:ea typeface="Carlito"/>
                  <a:cs typeface="Carlito"/>
                  <a:sym typeface="Carlito"/>
                </a:endParaRPr>
              </a:p>
            </p:txBody>
          </p:sp>
        </p:grpSp>
        <p:sp>
          <p:nvSpPr>
            <p:cNvPr id="705" name="Google Shape;705;p25"/>
            <p:cNvSpPr/>
            <p:nvPr/>
          </p:nvSpPr>
          <p:spPr>
            <a:xfrm>
              <a:off x="5067300" y="3829050"/>
              <a:ext cx="3467100" cy="342900"/>
            </a:xfrm>
            <a:prstGeom prst="roundRect">
              <a:avLst>
                <a:gd fmla="val 11111" name="adj"/>
              </a:avLst>
            </a:prstGeom>
            <a:solidFill>
              <a:srgbClr val="F0B429">
                <a:alpha val="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706" name="Google Shape;706;p25"/>
            <p:cNvCxnSpPr/>
            <p:nvPr/>
          </p:nvCxnSpPr>
          <p:spPr>
            <a:xfrm>
              <a:off x="5067300" y="3829050"/>
              <a:ext cx="0" cy="342900"/>
            </a:xfrm>
            <a:prstGeom prst="straightConnector1">
              <a:avLst/>
            </a:prstGeom>
            <a:solidFill>
              <a:srgbClr val="FFFFFF"/>
            </a:solidFill>
            <a:ln cap="flat" cmpd="sng" w="19050">
              <a:solidFill>
                <a:srgbClr val="F0B429"/>
              </a:solidFill>
              <a:prstDash val="solid"/>
              <a:round/>
              <a:headEnd len="sm" w="sm" type="none"/>
              <a:tailEnd len="sm" w="sm" type="none"/>
            </a:ln>
          </p:spPr>
        </p:cxnSp>
        <p:sp>
          <p:nvSpPr>
            <p:cNvPr id="707" name="Google Shape;707;p25"/>
            <p:cNvSpPr txBox="1"/>
            <p:nvPr/>
          </p:nvSpPr>
          <p:spPr>
            <a:xfrm>
              <a:off x="5162550" y="3829050"/>
              <a:ext cx="32766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850">
                  <a:solidFill>
                    <a:srgbClr val="F0B429"/>
                  </a:solidFill>
                  <a:latin typeface="Carlito"/>
                  <a:ea typeface="Carlito"/>
                  <a:cs typeface="Carlito"/>
                  <a:sym typeface="Carlito"/>
                </a:rPr>
                <a:t>BF16</a:t>
              </a:r>
              <a:r>
                <a:rPr i="1" lang="en-US" sz="850">
                  <a:solidFill>
                    <a:srgbClr val="F5F1E6"/>
                  </a:solidFill>
                  <a:latin typeface="Carlito"/>
                  <a:ea typeface="Carlito"/>
                  <a:cs typeface="Carlito"/>
                  <a:sym typeface="Carlito"/>
                </a:rPr>
                <a:t> provides FP32-equivalent dynamic range with half the physical footprint.</a:t>
              </a:r>
              <a:endParaRPr i="1" sz="850">
                <a:solidFill>
                  <a:srgbClr val="F5F1E6"/>
                </a:solidFill>
                <a:latin typeface="Carlito"/>
                <a:ea typeface="Carlito"/>
                <a:cs typeface="Carlito"/>
                <a:sym typeface="Carlito"/>
              </a:endParaRPr>
            </a:p>
          </p:txBody>
        </p:sp>
      </p:grpSp>
      <p:sp>
        <p:nvSpPr>
          <p:cNvPr id="708" name="Google Shape;708;p25"/>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709" name="Google Shape;709;p25"/>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23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714" name="Shape 714"/>
        <p:cNvGrpSpPr/>
        <p:nvPr/>
      </p:nvGrpSpPr>
      <p:grpSpPr>
        <a:xfrm>
          <a:off x="0" y="0"/>
          <a:ext cx="0" cy="0"/>
          <a:chOff x="0" y="0"/>
          <a:chExt cx="0" cy="0"/>
        </a:xfrm>
      </p:grpSpPr>
      <p:sp>
        <p:nvSpPr>
          <p:cNvPr id="715" name="Google Shape;715;p26"/>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04 · PRECISION FORMATS</a:t>
            </a:r>
            <a:endParaRPr b="0" i="0" sz="800" u="none" cap="none" strike="noStrike">
              <a:solidFill>
                <a:schemeClr val="dk1"/>
              </a:solidFill>
              <a:latin typeface="Calibri"/>
              <a:ea typeface="Calibri"/>
              <a:cs typeface="Calibri"/>
              <a:sym typeface="Calibri"/>
            </a:endParaRPr>
          </a:p>
        </p:txBody>
      </p:sp>
      <p:sp>
        <p:nvSpPr>
          <p:cNvPr id="716" name="Google Shape;716;p26"/>
          <p:cNvSpPr/>
          <p:nvPr/>
        </p:nvSpPr>
        <p:spPr>
          <a:xfrm>
            <a:off x="457200" y="603647"/>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Mixed-Precision Training</a:t>
            </a:r>
            <a:endParaRPr b="0" i="0" sz="2250" u="none" cap="none" strike="noStrike">
              <a:solidFill>
                <a:schemeClr val="dk1"/>
              </a:solidFill>
              <a:latin typeface="Calibri"/>
              <a:ea typeface="Calibri"/>
              <a:cs typeface="Calibri"/>
              <a:sym typeface="Calibri"/>
            </a:endParaRPr>
          </a:p>
        </p:txBody>
      </p:sp>
      <p:sp>
        <p:nvSpPr>
          <p:cNvPr id="717" name="Google Shape;717;p26"/>
          <p:cNvSpPr/>
          <p:nvPr/>
        </p:nvSpPr>
        <p:spPr>
          <a:xfrm>
            <a:off x="457200" y="1003697"/>
            <a:ext cx="8229600" cy="22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50">
                <a:solidFill>
                  <a:srgbClr val="94A3B8"/>
                </a:solidFill>
                <a:latin typeface="Carlito"/>
                <a:ea typeface="Carlito"/>
                <a:cs typeface="Carlito"/>
                <a:sym typeface="Carlito"/>
              </a:rPr>
              <a:t>The standard recipe for getting </a:t>
            </a:r>
            <a:r>
              <a:rPr b="1" lang="en-US" sz="1150">
                <a:solidFill>
                  <a:srgbClr val="F0B429"/>
                </a:solidFill>
                <a:latin typeface="Carlito"/>
                <a:ea typeface="Carlito"/>
                <a:cs typeface="Carlito"/>
                <a:sym typeface="Carlito"/>
              </a:rPr>
              <a:t>FP16/BF16</a:t>
            </a:r>
            <a:r>
              <a:rPr b="0" lang="en-US" sz="1150">
                <a:solidFill>
                  <a:srgbClr val="94A3B8"/>
                </a:solidFill>
                <a:latin typeface="Carlito"/>
                <a:ea typeface="Carlito"/>
                <a:cs typeface="Carlito"/>
                <a:sym typeface="Carlito"/>
              </a:rPr>
              <a:t> speed and memory gains without losing </a:t>
            </a:r>
            <a:r>
              <a:rPr b="1" lang="en-US" sz="1150">
                <a:solidFill>
                  <a:srgbClr val="F0B429"/>
                </a:solidFill>
                <a:latin typeface="Carlito"/>
                <a:ea typeface="Carlito"/>
                <a:cs typeface="Carlito"/>
                <a:sym typeface="Carlito"/>
              </a:rPr>
              <a:t>FP32</a:t>
            </a:r>
            <a:r>
              <a:rPr b="0" lang="en-US" sz="1150">
                <a:solidFill>
                  <a:srgbClr val="94A3B8"/>
                </a:solidFill>
                <a:latin typeface="Carlito"/>
                <a:ea typeface="Carlito"/>
                <a:cs typeface="Carlito"/>
                <a:sym typeface="Carlito"/>
              </a:rPr>
              <a:t> accuracy.</a:t>
            </a:r>
            <a:endParaRPr b="0" sz="1150">
              <a:solidFill>
                <a:srgbClr val="94A3B8"/>
              </a:solidFill>
              <a:latin typeface="Carlito"/>
              <a:ea typeface="Carlito"/>
              <a:cs typeface="Carlito"/>
              <a:sym typeface="Carlito"/>
            </a:endParaRPr>
          </a:p>
        </p:txBody>
      </p:sp>
      <p:grpSp>
        <p:nvGrpSpPr>
          <p:cNvPr id="718" name="Google Shape;718;p26"/>
          <p:cNvGrpSpPr/>
          <p:nvPr/>
        </p:nvGrpSpPr>
        <p:grpSpPr>
          <a:xfrm>
            <a:off x="457200" y="1381125"/>
            <a:ext cx="8229600" cy="3048000"/>
            <a:chOff x="457200" y="1381125"/>
            <a:chExt cx="8229600" cy="3048000"/>
          </a:xfrm>
        </p:grpSpPr>
        <p:sp>
          <p:nvSpPr>
            <p:cNvPr id="719" name="Google Shape;719;p26"/>
            <p:cNvSpPr txBox="1"/>
            <p:nvPr/>
          </p:nvSpPr>
          <p:spPr>
            <a:xfrm>
              <a:off x="457200" y="1381125"/>
              <a:ext cx="4762500" cy="304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Step 01 Keep a Master Copy</a:t>
              </a:r>
              <a:endParaRPr b="1" sz="800">
                <a:solidFill>
                  <a:srgbClr val="F0B429"/>
                </a:solidFill>
                <a:latin typeface="Carlito"/>
                <a:ea typeface="Carlito"/>
                <a:cs typeface="Carlito"/>
                <a:sym typeface="Carlito"/>
              </a:endParaRPr>
            </a:p>
            <a:p>
              <a:pPr indent="0" lvl="0" marL="0" rtl="0" algn="l">
                <a:spcBef>
                  <a:spcPts val="225"/>
                </a:spcBef>
                <a:spcAft>
                  <a:spcPts val="0"/>
                </a:spcAft>
                <a:buNone/>
              </a:pPr>
              <a:r>
                <a:rPr b="1" lang="en-US" sz="1300">
                  <a:solidFill>
                    <a:srgbClr val="FFFFFF"/>
                  </a:solidFill>
                  <a:latin typeface="Carlito"/>
                  <a:ea typeface="Carlito"/>
                  <a:cs typeface="Carlito"/>
                  <a:sym typeface="Carlito"/>
                </a:rPr>
                <a:t>FP32 Master Weights</a:t>
              </a:r>
              <a:endParaRPr b="1" sz="1300">
                <a:solidFill>
                  <a:srgbClr val="FFFFFF"/>
                </a:solidFill>
                <a:latin typeface="Carlito"/>
                <a:ea typeface="Carlito"/>
                <a:cs typeface="Carlito"/>
                <a:sym typeface="Carlito"/>
              </a:endParaRPr>
            </a:p>
            <a:p>
              <a:pPr indent="0" lvl="0" marL="0" rtl="0" algn="l">
                <a:spcBef>
                  <a:spcPts val="375"/>
                </a:spcBef>
                <a:spcAft>
                  <a:spcPts val="0"/>
                </a:spcAft>
                <a:buNone/>
              </a:pPr>
              <a:r>
                <a:rPr b="0" lang="en-US" sz="1000">
                  <a:solidFill>
                    <a:srgbClr val="94A3B8"/>
                  </a:solidFill>
                  <a:latin typeface="Carlito"/>
                  <a:ea typeface="Carlito"/>
                  <a:cs typeface="Carlito"/>
                  <a:sym typeface="Carlito"/>
                </a:rPr>
                <a:t>Maintain a master copy of all weights in FP32. This accumulates small updates accurately over many training steps, avoiding precision loss that would otherwise compound across thousands of gradient steps.</a:t>
              </a:r>
              <a:endParaRPr b="0" sz="1000">
                <a:solidFill>
                  <a:srgbClr val="94A3B8"/>
                </a:solidFill>
                <a:latin typeface="Carlito"/>
                <a:ea typeface="Carlito"/>
                <a:cs typeface="Carlito"/>
                <a:sym typeface="Carlito"/>
              </a:endParaRPr>
            </a:p>
            <a:p>
              <a:pPr indent="0" lvl="0" marL="0" rtl="0" algn="l">
                <a:spcBef>
                  <a:spcPts val="900"/>
                </a:spcBef>
                <a:spcAft>
                  <a:spcPts val="0"/>
                </a:spcAft>
                <a:buNone/>
              </a:pPr>
              <a:r>
                <a:rPr b="1" lang="en-US" sz="800">
                  <a:solidFill>
                    <a:srgbClr val="F0B429"/>
                  </a:solidFill>
                  <a:latin typeface="Carlito"/>
                  <a:ea typeface="Carlito"/>
                  <a:cs typeface="Carlito"/>
                  <a:sym typeface="Carlito"/>
                </a:rPr>
                <a:t>Step 02 Compute in Low Precision</a:t>
              </a:r>
              <a:endParaRPr b="1" sz="800">
                <a:solidFill>
                  <a:srgbClr val="F0B429"/>
                </a:solidFill>
                <a:latin typeface="Carlito"/>
                <a:ea typeface="Carlito"/>
                <a:cs typeface="Carlito"/>
                <a:sym typeface="Carlito"/>
              </a:endParaRPr>
            </a:p>
            <a:p>
              <a:pPr indent="0" lvl="0" marL="0" rtl="0" algn="l">
                <a:spcBef>
                  <a:spcPts val="225"/>
                </a:spcBef>
                <a:spcAft>
                  <a:spcPts val="0"/>
                </a:spcAft>
                <a:buNone/>
              </a:pPr>
              <a:r>
                <a:rPr b="1" lang="en-US" sz="1300">
                  <a:solidFill>
                    <a:srgbClr val="FFFFFF"/>
                  </a:solidFill>
                  <a:latin typeface="Carlito"/>
                  <a:ea typeface="Carlito"/>
                  <a:cs typeface="Carlito"/>
                  <a:sym typeface="Carlito"/>
                </a:rPr>
                <a:t>FP16 / BF16 Forward &amp; Backward</a:t>
              </a:r>
              <a:endParaRPr b="1" sz="1300">
                <a:solidFill>
                  <a:srgbClr val="FFFFFF"/>
                </a:solidFill>
                <a:latin typeface="Carlito"/>
                <a:ea typeface="Carlito"/>
                <a:cs typeface="Carlito"/>
                <a:sym typeface="Carlito"/>
              </a:endParaRPr>
            </a:p>
            <a:p>
              <a:pPr indent="0" lvl="0" marL="0" rtl="0" algn="l">
                <a:spcBef>
                  <a:spcPts val="375"/>
                </a:spcBef>
                <a:spcAft>
                  <a:spcPts val="0"/>
                </a:spcAft>
                <a:buNone/>
              </a:pPr>
              <a:r>
                <a:rPr b="0" lang="en-US" sz="1000">
                  <a:solidFill>
                    <a:srgbClr val="94A3B8"/>
                  </a:solidFill>
                  <a:latin typeface="Carlito"/>
                  <a:ea typeface="Carlito"/>
                  <a:cs typeface="Carlito"/>
                  <a:sym typeface="Carlito"/>
                </a:rPr>
                <a:t>Run the forward and backward pass in FP16 or BF16. Most of the actual computation runs in the smaller format, gaining speed and memory savings where it matters most inside the matmul kernels.</a:t>
              </a:r>
              <a:endParaRPr b="0" sz="1000">
                <a:solidFill>
                  <a:srgbClr val="94A3B8"/>
                </a:solidFill>
                <a:latin typeface="Carlito"/>
                <a:ea typeface="Carlito"/>
                <a:cs typeface="Carlito"/>
                <a:sym typeface="Carlito"/>
              </a:endParaRPr>
            </a:p>
            <a:p>
              <a:pPr indent="0" lvl="0" marL="0" rtl="0" algn="l">
                <a:spcBef>
                  <a:spcPts val="900"/>
                </a:spcBef>
                <a:spcAft>
                  <a:spcPts val="0"/>
                </a:spcAft>
                <a:buNone/>
              </a:pPr>
              <a:r>
                <a:rPr b="1" lang="en-US" sz="800">
                  <a:solidFill>
                    <a:srgbClr val="F0B429"/>
                  </a:solidFill>
                  <a:latin typeface="Carlito"/>
                  <a:ea typeface="Carlito"/>
                  <a:cs typeface="Carlito"/>
                  <a:sym typeface="Carlito"/>
                </a:rPr>
                <a:t>Step 03 Update Master Copy</a:t>
              </a:r>
              <a:endParaRPr b="1" sz="800">
                <a:solidFill>
                  <a:srgbClr val="F0B429"/>
                </a:solidFill>
                <a:latin typeface="Carlito"/>
                <a:ea typeface="Carlito"/>
                <a:cs typeface="Carlito"/>
                <a:sym typeface="Carlito"/>
              </a:endParaRPr>
            </a:p>
            <a:p>
              <a:pPr indent="0" lvl="0" marL="0" rtl="0" algn="l">
                <a:spcBef>
                  <a:spcPts val="225"/>
                </a:spcBef>
                <a:spcAft>
                  <a:spcPts val="0"/>
                </a:spcAft>
                <a:buNone/>
              </a:pPr>
              <a:r>
                <a:rPr b="1" lang="en-US" sz="1300">
                  <a:solidFill>
                    <a:srgbClr val="FFFFFF"/>
                  </a:solidFill>
                  <a:latin typeface="Carlito"/>
                  <a:ea typeface="Carlito"/>
                  <a:cs typeface="Carlito"/>
                  <a:sym typeface="Carlito"/>
                </a:rPr>
                <a:t>Update FP32 Master Weights</a:t>
              </a:r>
              <a:endParaRPr b="1" sz="1300">
                <a:solidFill>
                  <a:srgbClr val="FFFFFF"/>
                </a:solidFill>
                <a:latin typeface="Carlito"/>
                <a:ea typeface="Carlito"/>
                <a:cs typeface="Carlito"/>
                <a:sym typeface="Carlito"/>
              </a:endParaRPr>
            </a:p>
            <a:p>
              <a:pPr indent="0" lvl="0" marL="0" rtl="0" algn="l">
                <a:spcBef>
                  <a:spcPts val="375"/>
                </a:spcBef>
                <a:spcAft>
                  <a:spcPts val="0"/>
                </a:spcAft>
                <a:buNone/>
              </a:pPr>
              <a:r>
                <a:rPr b="0" lang="en-US" sz="1000">
                  <a:solidFill>
                    <a:srgbClr val="94A3B8"/>
                  </a:solidFill>
                  <a:latin typeface="Carlito"/>
                  <a:ea typeface="Carlito"/>
                  <a:cs typeface="Carlito"/>
                  <a:sym typeface="Carlito"/>
                </a:rPr>
                <a:t>Update the FP32 master weights from the lower-precision gradients. The accurate FP32 copy is then re-cast to FP16/BF16 for the next step so the small precision errors never accumulate into large drift.</a:t>
              </a:r>
              <a:endParaRPr b="0" sz="1000">
                <a:solidFill>
                  <a:srgbClr val="94A3B8"/>
                </a:solidFill>
                <a:latin typeface="Carlito"/>
                <a:ea typeface="Carlito"/>
                <a:cs typeface="Carlito"/>
                <a:sym typeface="Carlito"/>
              </a:endParaRPr>
            </a:p>
          </p:txBody>
        </p:sp>
        <p:sp>
          <p:nvSpPr>
            <p:cNvPr id="720" name="Google Shape;720;p26"/>
            <p:cNvSpPr/>
            <p:nvPr/>
          </p:nvSpPr>
          <p:spPr>
            <a:xfrm>
              <a:off x="5524500" y="1381125"/>
              <a:ext cx="3162300" cy="3048000"/>
            </a:xfrm>
            <a:prstGeom prst="roundRect">
              <a:avLst>
                <a:gd fmla="val 250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1" name="Google Shape;721;p26"/>
            <p:cNvSpPr/>
            <p:nvPr/>
          </p:nvSpPr>
          <p:spPr>
            <a:xfrm>
              <a:off x="5524500" y="1381125"/>
              <a:ext cx="38100" cy="30480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2" name="Google Shape;722;p26"/>
            <p:cNvSpPr txBox="1"/>
            <p:nvPr/>
          </p:nvSpPr>
          <p:spPr>
            <a:xfrm>
              <a:off x="5676900" y="1524000"/>
              <a:ext cx="2857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THE TRAINING LOOP</a:t>
              </a:r>
              <a:endParaRPr b="1" sz="800">
                <a:solidFill>
                  <a:srgbClr val="94A3B8"/>
                </a:solidFill>
                <a:latin typeface="Carlito"/>
                <a:ea typeface="Carlito"/>
                <a:cs typeface="Carlito"/>
                <a:sym typeface="Carlito"/>
              </a:endParaRPr>
            </a:p>
          </p:txBody>
        </p:sp>
        <p:sp>
          <p:nvSpPr>
            <p:cNvPr id="723" name="Google Shape;723;p26"/>
            <p:cNvSpPr/>
            <p:nvPr/>
          </p:nvSpPr>
          <p:spPr>
            <a:xfrm>
              <a:off x="5772150" y="1762125"/>
              <a:ext cx="2667000" cy="304800"/>
            </a:xfrm>
            <a:prstGeom prst="roundRect">
              <a:avLst>
                <a:gd fmla="val 18750" name="adj"/>
              </a:avLst>
            </a:prstGeom>
            <a:solidFill>
              <a:srgbClr val="0A1628"/>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4" name="Google Shape;724;p26"/>
            <p:cNvSpPr txBox="1"/>
            <p:nvPr/>
          </p:nvSpPr>
          <p:spPr>
            <a:xfrm>
              <a:off x="5867400" y="1762125"/>
              <a:ext cx="2476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0B429"/>
                  </a:solidFill>
                  <a:latin typeface="Courier New"/>
                  <a:ea typeface="Courier New"/>
                  <a:cs typeface="Courier New"/>
                  <a:sym typeface="Courier New"/>
                </a:rPr>
                <a:t>FP32</a:t>
              </a:r>
              <a:r>
                <a:rPr lang="en-US" sz="1000">
                  <a:solidFill>
                    <a:srgbClr val="FFFFFF"/>
                  </a:solidFill>
                  <a:latin typeface="Carlito"/>
                  <a:ea typeface="Carlito"/>
                  <a:cs typeface="Carlito"/>
                  <a:sym typeface="Carlito"/>
                </a:rPr>
                <a:t> master weights</a:t>
              </a:r>
              <a:endParaRPr sz="1000">
                <a:solidFill>
                  <a:srgbClr val="FFFFFF"/>
                </a:solidFill>
                <a:latin typeface="Carlito"/>
                <a:ea typeface="Carlito"/>
                <a:cs typeface="Carlito"/>
                <a:sym typeface="Carlito"/>
              </a:endParaRPr>
            </a:p>
          </p:txBody>
        </p:sp>
        <p:sp>
          <p:nvSpPr>
            <p:cNvPr id="725" name="Google Shape;725;p26"/>
            <p:cNvSpPr txBox="1"/>
            <p:nvPr/>
          </p:nvSpPr>
          <p:spPr>
            <a:xfrm>
              <a:off x="5524500" y="2085975"/>
              <a:ext cx="31623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94A3B8"/>
                  </a:solidFill>
                  <a:latin typeface="Courier New"/>
                  <a:ea typeface="Courier New"/>
                  <a:cs typeface="Courier New"/>
                  <a:sym typeface="Courier New"/>
                </a:rPr>
                <a:t>CAST</a:t>
              </a:r>
              <a:endParaRPr b="1" sz="800">
                <a:solidFill>
                  <a:srgbClr val="94A3B8"/>
                </a:solidFill>
                <a:latin typeface="Courier New"/>
                <a:ea typeface="Courier New"/>
                <a:cs typeface="Courier New"/>
                <a:sym typeface="Courier New"/>
              </a:endParaRPr>
            </a:p>
          </p:txBody>
        </p:sp>
        <p:sp>
          <p:nvSpPr>
            <p:cNvPr id="726" name="Google Shape;726;p26"/>
            <p:cNvSpPr/>
            <p:nvPr/>
          </p:nvSpPr>
          <p:spPr>
            <a:xfrm>
              <a:off x="5772150" y="2257425"/>
              <a:ext cx="2667000" cy="304800"/>
            </a:xfrm>
            <a:prstGeom prst="roundRect">
              <a:avLst>
                <a:gd fmla="val 18750" name="adj"/>
              </a:avLst>
            </a:prstGeom>
            <a:solidFill>
              <a:srgbClr val="0A1628"/>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7" name="Google Shape;727;p26"/>
            <p:cNvSpPr txBox="1"/>
            <p:nvPr/>
          </p:nvSpPr>
          <p:spPr>
            <a:xfrm>
              <a:off x="5867400" y="2257425"/>
              <a:ext cx="2476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0B429"/>
                  </a:solidFill>
                  <a:latin typeface="Courier New"/>
                  <a:ea typeface="Courier New"/>
                  <a:cs typeface="Courier New"/>
                  <a:sym typeface="Courier New"/>
                </a:rPr>
                <a:t>FP16</a:t>
              </a:r>
              <a:r>
                <a:rPr lang="en-US" sz="1000">
                  <a:solidFill>
                    <a:srgbClr val="FFFFFF"/>
                  </a:solidFill>
                  <a:latin typeface="Carlito"/>
                  <a:ea typeface="Carlito"/>
                  <a:cs typeface="Carlito"/>
                  <a:sym typeface="Carlito"/>
                </a:rPr>
                <a:t> forward / backward</a:t>
              </a:r>
              <a:endParaRPr sz="1000">
                <a:solidFill>
                  <a:srgbClr val="FFFFFF"/>
                </a:solidFill>
                <a:latin typeface="Carlito"/>
                <a:ea typeface="Carlito"/>
                <a:cs typeface="Carlito"/>
                <a:sym typeface="Carlito"/>
              </a:endParaRPr>
            </a:p>
          </p:txBody>
        </p:sp>
        <p:sp>
          <p:nvSpPr>
            <p:cNvPr id="728" name="Google Shape;728;p26"/>
            <p:cNvSpPr txBox="1"/>
            <p:nvPr/>
          </p:nvSpPr>
          <p:spPr>
            <a:xfrm>
              <a:off x="5524500" y="2581275"/>
              <a:ext cx="31623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94A3B8"/>
                  </a:solidFill>
                  <a:latin typeface="Courier New"/>
                  <a:ea typeface="Courier New"/>
                  <a:cs typeface="Courier New"/>
                  <a:sym typeface="Courier New"/>
                </a:rPr>
                <a:t>GRADIENTS</a:t>
              </a:r>
              <a:endParaRPr b="1" sz="800">
                <a:solidFill>
                  <a:srgbClr val="94A3B8"/>
                </a:solidFill>
                <a:latin typeface="Courier New"/>
                <a:ea typeface="Courier New"/>
                <a:cs typeface="Courier New"/>
                <a:sym typeface="Courier New"/>
              </a:endParaRPr>
            </a:p>
          </p:txBody>
        </p:sp>
        <p:sp>
          <p:nvSpPr>
            <p:cNvPr id="729" name="Google Shape;729;p26"/>
            <p:cNvSpPr/>
            <p:nvPr/>
          </p:nvSpPr>
          <p:spPr>
            <a:xfrm>
              <a:off x="5772150" y="2752725"/>
              <a:ext cx="2667000" cy="304800"/>
            </a:xfrm>
            <a:prstGeom prst="roundRect">
              <a:avLst>
                <a:gd fmla="val 18750" name="adj"/>
              </a:avLst>
            </a:prstGeom>
            <a:solidFill>
              <a:srgbClr val="0A1628"/>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0" name="Google Shape;730;p26"/>
            <p:cNvSpPr txBox="1"/>
            <p:nvPr/>
          </p:nvSpPr>
          <p:spPr>
            <a:xfrm>
              <a:off x="5867400" y="2752725"/>
              <a:ext cx="2476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0B429"/>
                  </a:solidFill>
                  <a:latin typeface="Courier New"/>
                  <a:ea typeface="Courier New"/>
                  <a:cs typeface="Courier New"/>
                  <a:sym typeface="Courier New"/>
                </a:rPr>
                <a:t>FP32</a:t>
              </a:r>
              <a:r>
                <a:rPr lang="en-US" sz="1000">
                  <a:solidFill>
                    <a:srgbClr val="FFFFFF"/>
                  </a:solidFill>
                  <a:latin typeface="Carlito"/>
                  <a:ea typeface="Carlito"/>
                  <a:cs typeface="Carlito"/>
                  <a:sym typeface="Carlito"/>
                </a:rPr>
                <a:t> weight update</a:t>
              </a:r>
              <a:endParaRPr sz="1000">
                <a:solidFill>
                  <a:srgbClr val="FFFFFF"/>
                </a:solidFill>
                <a:latin typeface="Carlito"/>
                <a:ea typeface="Carlito"/>
                <a:cs typeface="Carlito"/>
                <a:sym typeface="Carlito"/>
              </a:endParaRPr>
            </a:p>
          </p:txBody>
        </p:sp>
        <p:sp>
          <p:nvSpPr>
            <p:cNvPr id="731" name="Google Shape;731;p26"/>
            <p:cNvSpPr txBox="1"/>
            <p:nvPr/>
          </p:nvSpPr>
          <p:spPr>
            <a:xfrm>
              <a:off x="5524500" y="3086100"/>
              <a:ext cx="31623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94A3B8"/>
                  </a:solidFill>
                  <a:latin typeface="Courier New"/>
                  <a:ea typeface="Courier New"/>
                  <a:cs typeface="Courier New"/>
                  <a:sym typeface="Courier New"/>
                </a:rPr>
                <a:t>CAST (LOOP)</a:t>
              </a:r>
              <a:endParaRPr b="1" sz="800">
                <a:solidFill>
                  <a:srgbClr val="94A3B8"/>
                </a:solidFill>
                <a:latin typeface="Courier New"/>
                <a:ea typeface="Courier New"/>
                <a:cs typeface="Courier New"/>
                <a:sym typeface="Courier New"/>
              </a:endParaRPr>
            </a:p>
          </p:txBody>
        </p:sp>
        <p:sp>
          <p:nvSpPr>
            <p:cNvPr id="732" name="Google Shape;732;p26"/>
            <p:cNvSpPr/>
            <p:nvPr/>
          </p:nvSpPr>
          <p:spPr>
            <a:xfrm>
              <a:off x="5772150" y="3286125"/>
              <a:ext cx="2667000" cy="495300"/>
            </a:xfrm>
            <a:prstGeom prst="roundRect">
              <a:avLst>
                <a:gd fmla="val 11538" name="adj"/>
              </a:avLst>
            </a:prstGeom>
            <a:solidFill>
              <a:srgbClr val="F0B429">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3" name="Google Shape;733;p26"/>
            <p:cNvSpPr/>
            <p:nvPr/>
          </p:nvSpPr>
          <p:spPr>
            <a:xfrm>
              <a:off x="5772150" y="3286125"/>
              <a:ext cx="28500" cy="4953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4" name="Google Shape;734;p26"/>
            <p:cNvSpPr txBox="1"/>
            <p:nvPr/>
          </p:nvSpPr>
          <p:spPr>
            <a:xfrm>
              <a:off x="5867400" y="3286125"/>
              <a:ext cx="24765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950">
                  <a:solidFill>
                    <a:srgbClr val="F5F1E6"/>
                  </a:solidFill>
                  <a:latin typeface="Carlito"/>
                  <a:ea typeface="Carlito"/>
                  <a:cs typeface="Carlito"/>
                  <a:sym typeface="Carlito"/>
                </a:rPr>
                <a:t>The </a:t>
              </a:r>
              <a:r>
                <a:rPr b="1" lang="en-US" sz="950">
                  <a:solidFill>
                    <a:srgbClr val="F0B429"/>
                  </a:solidFill>
                  <a:latin typeface="Carlito"/>
                  <a:ea typeface="Carlito"/>
                  <a:cs typeface="Carlito"/>
                  <a:sym typeface="Carlito"/>
                </a:rPr>
                <a:t>FP32 master</a:t>
              </a:r>
              <a:r>
                <a:rPr lang="en-US" sz="950">
                  <a:solidFill>
                    <a:srgbClr val="F5F1E6"/>
                  </a:solidFill>
                  <a:latin typeface="Carlito"/>
                  <a:ea typeface="Carlito"/>
                  <a:cs typeface="Carlito"/>
                  <a:sym typeface="Carlito"/>
                </a:rPr>
                <a:t> anchors accuracy; </a:t>
              </a:r>
              <a:r>
                <a:rPr b="1" lang="en-US" sz="950">
                  <a:solidFill>
                    <a:srgbClr val="F0B429"/>
                  </a:solidFill>
                  <a:latin typeface="Carlito"/>
                  <a:ea typeface="Carlito"/>
                  <a:cs typeface="Carlito"/>
                  <a:sym typeface="Carlito"/>
                </a:rPr>
                <a:t>FP16/BF16</a:t>
              </a:r>
              <a:r>
                <a:rPr lang="en-US" sz="950">
                  <a:solidFill>
                    <a:srgbClr val="F5F1E6"/>
                  </a:solidFill>
                  <a:latin typeface="Carlito"/>
                  <a:ea typeface="Carlito"/>
                  <a:cs typeface="Carlito"/>
                  <a:sym typeface="Carlito"/>
                </a:rPr>
                <a:t> handles speed. Loop repeats every step.</a:t>
              </a:r>
              <a:endParaRPr sz="950">
                <a:solidFill>
                  <a:srgbClr val="F5F1E6"/>
                </a:solidFill>
                <a:latin typeface="Carlito"/>
                <a:ea typeface="Carlito"/>
                <a:cs typeface="Carlito"/>
                <a:sym typeface="Carlito"/>
              </a:endParaRPr>
            </a:p>
          </p:txBody>
        </p:sp>
      </p:grpSp>
      <p:sp>
        <p:nvSpPr>
          <p:cNvPr id="735" name="Google Shape;735;p26"/>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736" name="Google Shape;736;p26"/>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24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741" name="Shape 741"/>
        <p:cNvGrpSpPr/>
        <p:nvPr/>
      </p:nvGrpSpPr>
      <p:grpSpPr>
        <a:xfrm>
          <a:off x="0" y="0"/>
          <a:ext cx="0" cy="0"/>
          <a:chOff x="0" y="0"/>
          <a:chExt cx="0" cy="0"/>
        </a:xfrm>
      </p:grpSpPr>
      <p:sp>
        <p:nvSpPr>
          <p:cNvPr id="742" name="Google Shape;742;p27"/>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Carlito"/>
              <a:buNone/>
            </a:pPr>
            <a:r>
              <a:rPr b="0" i="0" lang="en-US" sz="800" u="none" cap="none" strike="noStrike">
                <a:solidFill>
                  <a:srgbClr val="F0B429"/>
                </a:solidFill>
                <a:latin typeface="Carlito"/>
                <a:ea typeface="Carlito"/>
                <a:cs typeface="Carlito"/>
                <a:sym typeface="Carlito"/>
              </a:rPr>
              <a:t>PART 04 · PRECISION FORMATS · ANTICIPATED Q&amp;A</a:t>
            </a:r>
            <a:endParaRPr b="0" i="0" sz="800" u="none" cap="none" strike="noStrike">
              <a:solidFill>
                <a:schemeClr val="dk1"/>
              </a:solidFill>
              <a:latin typeface="Calibri"/>
              <a:ea typeface="Calibri"/>
              <a:cs typeface="Calibri"/>
              <a:sym typeface="Calibri"/>
            </a:endParaRPr>
          </a:p>
        </p:txBody>
      </p:sp>
      <p:sp>
        <p:nvSpPr>
          <p:cNvPr id="743" name="Google Shape;743;p27"/>
          <p:cNvSpPr/>
          <p:nvPr/>
        </p:nvSpPr>
        <p:spPr>
          <a:xfrm>
            <a:off x="457200" y="603647"/>
            <a:ext cx="8636100" cy="277800"/>
          </a:xfrm>
          <a:prstGeom prst="rect">
            <a:avLst/>
          </a:prstGeom>
          <a:noFill/>
          <a:ln>
            <a:noFill/>
          </a:ln>
        </p:spPr>
        <p:txBody>
          <a:bodyPr anchorCtr="0" anchor="t" bIns="0" lIns="0" spcFirstLastPara="1" rIns="0" wrap="square" tIns="0">
            <a:noAutofit/>
          </a:bodyPr>
          <a:lstStyle/>
          <a:p>
            <a:pPr indent="0" lvl="0" marL="0" marR="0" rtl="0" algn="l">
              <a:lnSpc>
                <a:spcPct val="120035"/>
              </a:lnSpc>
              <a:spcBef>
                <a:spcPts val="0"/>
              </a:spcBef>
              <a:spcAft>
                <a:spcPts val="0"/>
              </a:spcAft>
              <a:buClr>
                <a:srgbClr val="F5F1E6"/>
              </a:buClr>
              <a:buSzPts val="1687"/>
              <a:buFont typeface="Carlito"/>
              <a:buNone/>
            </a:pPr>
            <a:r>
              <a:rPr b="0" i="0" lang="en-US" sz="1688" u="none" cap="none" strike="noStrike">
                <a:solidFill>
                  <a:srgbClr val="F5F1E6"/>
                </a:solidFill>
                <a:latin typeface="Carlito"/>
                <a:ea typeface="Carlito"/>
                <a:cs typeface="Carlito"/>
                <a:sym typeface="Carlito"/>
              </a:rPr>
              <a:t>Likely Faculty Question</a:t>
            </a:r>
            <a:endParaRPr b="0" i="0" sz="1688" u="none" cap="none" strike="noStrike">
              <a:solidFill>
                <a:schemeClr val="dk1"/>
              </a:solidFill>
              <a:latin typeface="Calibri"/>
              <a:ea typeface="Calibri"/>
              <a:cs typeface="Calibri"/>
              <a:sym typeface="Calibri"/>
            </a:endParaRPr>
          </a:p>
        </p:txBody>
      </p:sp>
      <p:grpSp>
        <p:nvGrpSpPr>
          <p:cNvPr id="744" name="Google Shape;744;p27"/>
          <p:cNvGrpSpPr/>
          <p:nvPr/>
        </p:nvGrpSpPr>
        <p:grpSpPr>
          <a:xfrm>
            <a:off x="457200" y="1095375"/>
            <a:ext cx="3619500" cy="2571900"/>
            <a:chOff x="457200" y="1095375"/>
            <a:chExt cx="3619500" cy="2571900"/>
          </a:xfrm>
        </p:grpSpPr>
        <p:sp>
          <p:nvSpPr>
            <p:cNvPr id="745" name="Google Shape;745;p27"/>
            <p:cNvSpPr/>
            <p:nvPr/>
          </p:nvSpPr>
          <p:spPr>
            <a:xfrm>
              <a:off x="457200" y="1095375"/>
              <a:ext cx="3619500" cy="2571900"/>
            </a:xfrm>
            <a:prstGeom prst="roundRect">
              <a:avLst>
                <a:gd fmla="val 2962"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6" name="Google Shape;746;p27"/>
            <p:cNvSpPr/>
            <p:nvPr/>
          </p:nvSpPr>
          <p:spPr>
            <a:xfrm>
              <a:off x="457200" y="1095375"/>
              <a:ext cx="38100" cy="25719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7" name="Google Shape;747;p27"/>
            <p:cNvSpPr txBox="1"/>
            <p:nvPr/>
          </p:nvSpPr>
          <p:spPr>
            <a:xfrm>
              <a:off x="647700" y="1285875"/>
              <a:ext cx="32385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01 · FACULTY QUESTION</a:t>
              </a:r>
              <a:endParaRPr b="1" sz="800">
                <a:solidFill>
                  <a:srgbClr val="F0B429"/>
                </a:solidFill>
                <a:latin typeface="Carlito"/>
                <a:ea typeface="Carlito"/>
                <a:cs typeface="Carlito"/>
                <a:sym typeface="Carlito"/>
              </a:endParaRPr>
            </a:p>
            <a:p>
              <a:pPr indent="0" lvl="0" marL="0" rtl="0" algn="l">
                <a:spcBef>
                  <a:spcPts val="1875"/>
                </a:spcBef>
                <a:spcAft>
                  <a:spcPts val="0"/>
                </a:spcAft>
                <a:buNone/>
              </a:pPr>
              <a:r>
                <a:rPr b="1" lang="en-US" sz="1650">
                  <a:solidFill>
                    <a:srgbClr val="FFFFFF"/>
                  </a:solidFill>
                  <a:latin typeface="Carlito"/>
                  <a:ea typeface="Carlito"/>
                  <a:cs typeface="Carlito"/>
                  <a:sym typeface="Carlito"/>
                </a:rPr>
                <a:t>If lower precision loses information, why doesn’t it noticeably hurt model accuracy?</a:t>
              </a:r>
              <a:endParaRPr b="1" sz="1650">
                <a:solidFill>
                  <a:srgbClr val="FFFFFF"/>
                </a:solidFill>
                <a:latin typeface="Carlito"/>
                <a:ea typeface="Carlito"/>
                <a:cs typeface="Carlito"/>
                <a:sym typeface="Carlito"/>
              </a:endParaRPr>
            </a:p>
          </p:txBody>
        </p:sp>
      </p:grpSp>
      <p:grpSp>
        <p:nvGrpSpPr>
          <p:cNvPr id="748" name="Google Shape;748;p27"/>
          <p:cNvGrpSpPr/>
          <p:nvPr/>
        </p:nvGrpSpPr>
        <p:grpSpPr>
          <a:xfrm>
            <a:off x="4267200" y="1095375"/>
            <a:ext cx="4419600" cy="2571900"/>
            <a:chOff x="4267200" y="1095375"/>
            <a:chExt cx="4419600" cy="2571900"/>
          </a:xfrm>
        </p:grpSpPr>
        <p:sp>
          <p:nvSpPr>
            <p:cNvPr id="749" name="Google Shape;749;p27"/>
            <p:cNvSpPr/>
            <p:nvPr/>
          </p:nvSpPr>
          <p:spPr>
            <a:xfrm>
              <a:off x="4267200" y="1095375"/>
              <a:ext cx="4419600" cy="2571900"/>
            </a:xfrm>
            <a:prstGeom prst="roundRect">
              <a:avLst>
                <a:gd fmla="val 2962"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0" name="Google Shape;750;p27"/>
            <p:cNvSpPr/>
            <p:nvPr/>
          </p:nvSpPr>
          <p:spPr>
            <a:xfrm>
              <a:off x="4267200" y="1095375"/>
              <a:ext cx="38100" cy="2571900"/>
            </a:xfrm>
            <a:prstGeom prst="roundRect">
              <a:avLst>
                <a:gd fmla="val 50000" name="adj"/>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1" name="Google Shape;751;p27"/>
            <p:cNvSpPr txBox="1"/>
            <p:nvPr/>
          </p:nvSpPr>
          <p:spPr>
            <a:xfrm>
              <a:off x="4457700" y="1285875"/>
              <a:ext cx="40386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02 · ANSWER &amp; ANALYSIS</a:t>
              </a:r>
              <a:endParaRPr b="1" sz="800">
                <a:solidFill>
                  <a:srgbClr val="94A3B8"/>
                </a:solidFill>
                <a:latin typeface="Carlito"/>
                <a:ea typeface="Carlito"/>
                <a:cs typeface="Carlito"/>
                <a:sym typeface="Carlito"/>
              </a:endParaRPr>
            </a:p>
            <a:p>
              <a:pPr indent="0" lvl="0" marL="0" rtl="0" algn="l">
                <a:spcBef>
                  <a:spcPts val="1125"/>
                </a:spcBef>
                <a:spcAft>
                  <a:spcPts val="0"/>
                </a:spcAft>
                <a:buNone/>
              </a:pPr>
              <a:r>
                <a:rPr b="1" lang="en-US" sz="1050">
                  <a:solidFill>
                    <a:srgbClr val="F0B429"/>
                  </a:solidFill>
                  <a:latin typeface="Carlito"/>
                  <a:ea typeface="Carlito"/>
                  <a:cs typeface="Carlito"/>
                  <a:sym typeface="Carlito"/>
                </a:rPr>
                <a:t>Neural networks are highly tolerant of small numeric noise</a:t>
              </a:r>
              <a:r>
                <a:rPr b="0" lang="en-US" sz="1050">
                  <a:solidFill>
                    <a:srgbClr val="F5F1E6"/>
                  </a:solidFill>
                  <a:latin typeface="Carlito"/>
                  <a:ea typeface="Carlito"/>
                  <a:cs typeface="Carlito"/>
                  <a:sym typeface="Carlito"/>
                </a:rPr>
                <a:t> — a well-documented empirical finding. The gradient signal driving learning is typically far larger than the rounding error introduced by dropping formats.</a:t>
              </a:r>
              <a:endParaRPr b="0" sz="1050">
                <a:solidFill>
                  <a:srgbClr val="F5F1E6"/>
                </a:solidFill>
                <a:latin typeface="Carlito"/>
                <a:ea typeface="Carlito"/>
                <a:cs typeface="Carlito"/>
                <a:sym typeface="Carlito"/>
              </a:endParaRPr>
            </a:p>
            <a:p>
              <a:pPr indent="0" lvl="0" marL="0" rtl="0" algn="l">
                <a:spcBef>
                  <a:spcPts val="1125"/>
                </a:spcBef>
                <a:spcAft>
                  <a:spcPts val="0"/>
                </a:spcAft>
                <a:buNone/>
              </a:pPr>
              <a:r>
                <a:rPr b="0" lang="en-US" sz="1050">
                  <a:solidFill>
                    <a:srgbClr val="F5F1E6"/>
                  </a:solidFill>
                  <a:latin typeface="Carlito"/>
                  <a:ea typeface="Carlito"/>
                  <a:cs typeface="Carlito"/>
                  <a:sym typeface="Carlito"/>
                </a:rPr>
                <a:t>Because the overall signal dominates, the network still learns the same function when moving from </a:t>
              </a:r>
              <a:r>
                <a:rPr b="1" lang="en-US" sz="1050">
                  <a:solidFill>
                    <a:srgbClr val="F0B429"/>
                  </a:solidFill>
                  <a:latin typeface="Carlito"/>
                  <a:ea typeface="Carlito"/>
                  <a:cs typeface="Carlito"/>
                  <a:sym typeface="Carlito"/>
                </a:rPr>
                <a:t>32 to 16 bits</a:t>
              </a:r>
              <a:r>
                <a:rPr b="0" lang="en-US" sz="1050">
                  <a:solidFill>
                    <a:srgbClr val="F5F1E6"/>
                  </a:solidFill>
                  <a:latin typeface="Carlito"/>
                  <a:ea typeface="Carlito"/>
                  <a:cs typeface="Carlito"/>
                  <a:sym typeface="Carlito"/>
                </a:rPr>
                <a:t>. This inherent robustness is precisely what makes quantization to even lower formats (</a:t>
              </a:r>
              <a:r>
                <a:rPr b="1" lang="en-US" sz="1050">
                  <a:solidFill>
                    <a:srgbClr val="F0B429"/>
                  </a:solidFill>
                  <a:latin typeface="Carlito"/>
                  <a:ea typeface="Carlito"/>
                  <a:cs typeface="Carlito"/>
                  <a:sym typeface="Carlito"/>
                </a:rPr>
                <a:t>8-bit and below</a:t>
              </a:r>
              <a:r>
                <a:rPr b="0" lang="en-US" sz="1050">
                  <a:solidFill>
                    <a:srgbClr val="F5F1E6"/>
                  </a:solidFill>
                  <a:latin typeface="Carlito"/>
                  <a:ea typeface="Carlito"/>
                  <a:cs typeface="Carlito"/>
                  <a:sym typeface="Carlito"/>
                </a:rPr>
                <a:t>) viable for inference.</a:t>
              </a:r>
              <a:endParaRPr b="0" sz="1050">
                <a:solidFill>
                  <a:srgbClr val="F5F1E6"/>
                </a:solidFill>
                <a:latin typeface="Carlito"/>
                <a:ea typeface="Carlito"/>
                <a:cs typeface="Carlito"/>
                <a:sym typeface="Carlito"/>
              </a:endParaRPr>
            </a:p>
          </p:txBody>
        </p:sp>
      </p:grpSp>
      <p:grpSp>
        <p:nvGrpSpPr>
          <p:cNvPr id="752" name="Google Shape;752;p27"/>
          <p:cNvGrpSpPr/>
          <p:nvPr/>
        </p:nvGrpSpPr>
        <p:grpSpPr>
          <a:xfrm>
            <a:off x="457200" y="3857625"/>
            <a:ext cx="8229600" cy="457200"/>
            <a:chOff x="457200" y="3857625"/>
            <a:chExt cx="8229600" cy="457200"/>
          </a:xfrm>
        </p:grpSpPr>
        <p:sp>
          <p:nvSpPr>
            <p:cNvPr id="753" name="Google Shape;753;p27"/>
            <p:cNvSpPr/>
            <p:nvPr/>
          </p:nvSpPr>
          <p:spPr>
            <a:xfrm>
              <a:off x="457200" y="3857625"/>
              <a:ext cx="8229600" cy="457200"/>
            </a:xfrm>
            <a:prstGeom prst="roundRect">
              <a:avLst>
                <a:gd fmla="val 12500" name="adj"/>
              </a:avLst>
            </a:prstGeom>
            <a:solidFill>
              <a:srgbClr val="0F1B30"/>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4" name="Google Shape;754;p27"/>
            <p:cNvSpPr/>
            <p:nvPr/>
          </p:nvSpPr>
          <p:spPr>
            <a:xfrm>
              <a:off x="457200" y="3857625"/>
              <a:ext cx="38100" cy="4572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5" name="Google Shape;755;p27"/>
            <p:cNvSpPr txBox="1"/>
            <p:nvPr/>
          </p:nvSpPr>
          <p:spPr>
            <a:xfrm>
              <a:off x="647700" y="3857625"/>
              <a:ext cx="78486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900">
                  <a:solidFill>
                    <a:srgbClr val="F0B429"/>
                  </a:solidFill>
                  <a:latin typeface="Carlito"/>
                  <a:ea typeface="Carlito"/>
                  <a:cs typeface="Carlito"/>
                  <a:sym typeface="Carlito"/>
                </a:rPr>
                <a:t>→ TRANSITION</a:t>
              </a:r>
              <a:r>
                <a:rPr i="1" lang="en-US" sz="900">
                  <a:solidFill>
                    <a:srgbClr val="94A3B8"/>
                  </a:solidFill>
                  <a:latin typeface="Carlito"/>
                  <a:ea typeface="Carlito"/>
                  <a:cs typeface="Carlito"/>
                  <a:sym typeface="Carlito"/>
                </a:rPr>
                <a:t>Sets up the next section — pushing precision all the way down to </a:t>
              </a:r>
              <a:r>
                <a:rPr b="1" i="1" lang="en-US" sz="900">
                  <a:solidFill>
                    <a:srgbClr val="F0B429"/>
                  </a:solidFill>
                  <a:latin typeface="Carlito"/>
                  <a:ea typeface="Carlito"/>
                  <a:cs typeface="Carlito"/>
                  <a:sym typeface="Carlito"/>
                </a:rPr>
                <a:t>8-bit</a:t>
              </a:r>
              <a:r>
                <a:rPr i="1" lang="en-US" sz="900">
                  <a:solidFill>
                    <a:srgbClr val="94A3B8"/>
                  </a:solidFill>
                  <a:latin typeface="Carlito"/>
                  <a:ea typeface="Carlito"/>
                  <a:cs typeface="Carlito"/>
                  <a:sym typeface="Carlito"/>
                </a:rPr>
                <a:t> and </a:t>
              </a:r>
              <a:r>
                <a:rPr b="1" i="1" lang="en-US" sz="900">
                  <a:solidFill>
                    <a:srgbClr val="F0B429"/>
                  </a:solidFill>
                  <a:latin typeface="Carlito"/>
                  <a:ea typeface="Carlito"/>
                  <a:cs typeface="Carlito"/>
                  <a:sym typeface="Carlito"/>
                </a:rPr>
                <a:t>4-bit</a:t>
              </a:r>
              <a:r>
                <a:rPr i="1" lang="en-US" sz="900">
                  <a:solidFill>
                    <a:srgbClr val="94A3B8"/>
                  </a:solidFill>
                  <a:latin typeface="Carlito"/>
                  <a:ea typeface="Carlito"/>
                  <a:cs typeface="Carlito"/>
                  <a:sym typeface="Carlito"/>
                </a:rPr>
                <a:t> representations.</a:t>
              </a:r>
              <a:endParaRPr i="1" sz="900">
                <a:solidFill>
                  <a:srgbClr val="94A3B8"/>
                </a:solidFill>
                <a:latin typeface="Carlito"/>
                <a:ea typeface="Carlito"/>
                <a:cs typeface="Carlito"/>
                <a:sym typeface="Carlito"/>
              </a:endParaRPr>
            </a:p>
          </p:txBody>
        </p:sp>
      </p:grpSp>
      <p:sp>
        <p:nvSpPr>
          <p:cNvPr id="756" name="Google Shape;756;p27"/>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757" name="Google Shape;757;p27"/>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25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762" name="Shape 762"/>
        <p:cNvGrpSpPr/>
        <p:nvPr/>
      </p:nvGrpSpPr>
      <p:grpSpPr>
        <a:xfrm>
          <a:off x="0" y="0"/>
          <a:ext cx="0" cy="0"/>
          <a:chOff x="0" y="0"/>
          <a:chExt cx="0" cy="0"/>
        </a:xfrm>
      </p:grpSpPr>
      <p:sp>
        <p:nvSpPr>
          <p:cNvPr id="763" name="Google Shape;763;p28"/>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04 · SECTION SUMMARY</a:t>
            </a:r>
            <a:endParaRPr b="0" i="0" sz="800" u="none" cap="none" strike="noStrike">
              <a:solidFill>
                <a:schemeClr val="dk1"/>
              </a:solidFill>
              <a:latin typeface="Calibri"/>
              <a:ea typeface="Calibri"/>
              <a:cs typeface="Calibri"/>
              <a:sym typeface="Calibri"/>
            </a:endParaRPr>
          </a:p>
        </p:txBody>
      </p:sp>
      <p:sp>
        <p:nvSpPr>
          <p:cNvPr id="764" name="Google Shape;764;p28"/>
          <p:cNvSpPr/>
          <p:nvPr/>
        </p:nvSpPr>
        <p:spPr>
          <a:xfrm>
            <a:off x="457200" y="603647"/>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Section Summary: Precision Formats</a:t>
            </a:r>
            <a:endParaRPr b="0" i="0" sz="2250" u="none" cap="none" strike="noStrike">
              <a:solidFill>
                <a:schemeClr val="dk1"/>
              </a:solidFill>
              <a:latin typeface="Calibri"/>
              <a:ea typeface="Calibri"/>
              <a:cs typeface="Calibri"/>
              <a:sym typeface="Calibri"/>
            </a:endParaRPr>
          </a:p>
        </p:txBody>
      </p:sp>
      <p:grpSp>
        <p:nvGrpSpPr>
          <p:cNvPr id="765" name="Google Shape;765;p28"/>
          <p:cNvGrpSpPr/>
          <p:nvPr/>
        </p:nvGrpSpPr>
        <p:grpSpPr>
          <a:xfrm>
            <a:off x="457200" y="1095375"/>
            <a:ext cx="8229600" cy="904800"/>
            <a:chOff x="457200" y="1095375"/>
            <a:chExt cx="8229600" cy="904800"/>
          </a:xfrm>
        </p:grpSpPr>
        <p:sp>
          <p:nvSpPr>
            <p:cNvPr id="766" name="Google Shape;766;p28"/>
            <p:cNvSpPr/>
            <p:nvPr/>
          </p:nvSpPr>
          <p:spPr>
            <a:xfrm>
              <a:off x="457200" y="1095375"/>
              <a:ext cx="8229600" cy="904800"/>
            </a:xfrm>
            <a:prstGeom prst="roundRect">
              <a:avLst>
                <a:gd fmla="val 842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7" name="Google Shape;767;p28"/>
            <p:cNvSpPr/>
            <p:nvPr/>
          </p:nvSpPr>
          <p:spPr>
            <a:xfrm>
              <a:off x="457200" y="1095375"/>
              <a:ext cx="38100" cy="9048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8" name="Google Shape;768;p28"/>
            <p:cNvSpPr txBox="1"/>
            <p:nvPr/>
          </p:nvSpPr>
          <p:spPr>
            <a:xfrm>
              <a:off x="647700" y="1095375"/>
              <a:ext cx="7848600" cy="9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50">
                  <a:solidFill>
                    <a:srgbClr val="F5F1E6"/>
                  </a:solidFill>
                  <a:latin typeface="Carlito"/>
                  <a:ea typeface="Carlito"/>
                  <a:cs typeface="Carlito"/>
                  <a:sym typeface="Carlito"/>
                </a:rPr>
                <a:t>Numeric format is the first and simplest resource lever: moving from </a:t>
              </a:r>
              <a:r>
                <a:rPr b="1" lang="en-US" sz="1050">
                  <a:solidFill>
                    <a:srgbClr val="F0B429"/>
                  </a:solidFill>
                  <a:latin typeface="Carlito"/>
                  <a:ea typeface="Carlito"/>
                  <a:cs typeface="Carlito"/>
                  <a:sym typeface="Carlito"/>
                </a:rPr>
                <a:t>FP32</a:t>
              </a:r>
              <a:r>
                <a:rPr lang="en-US" sz="1050">
                  <a:solidFill>
                    <a:srgbClr val="F5F1E6"/>
                  </a:solidFill>
                  <a:latin typeface="Carlito"/>
                  <a:ea typeface="Carlito"/>
                  <a:cs typeface="Carlito"/>
                  <a:sym typeface="Carlito"/>
                </a:rPr>
                <a:t> to </a:t>
              </a:r>
              <a:r>
                <a:rPr b="1" lang="en-US" sz="1050">
                  <a:solidFill>
                    <a:srgbClr val="F0B429"/>
                  </a:solidFill>
                  <a:latin typeface="Carlito"/>
                  <a:ea typeface="Carlito"/>
                  <a:cs typeface="Carlito"/>
                  <a:sym typeface="Carlito"/>
                </a:rPr>
                <a:t>FP16/BF16</a:t>
              </a:r>
              <a:r>
                <a:rPr lang="en-US" sz="1050">
                  <a:solidFill>
                    <a:srgbClr val="F5F1E6"/>
                  </a:solidFill>
                  <a:latin typeface="Carlito"/>
                  <a:ea typeface="Carlito"/>
                  <a:cs typeface="Carlito"/>
                  <a:sym typeface="Carlito"/>
                </a:rPr>
                <a:t> </a:t>
              </a:r>
              <a:r>
                <a:rPr b="1" lang="en-US" sz="1050">
                  <a:solidFill>
                    <a:srgbClr val="F0B429"/>
                  </a:solidFill>
                  <a:latin typeface="Carlito"/>
                  <a:ea typeface="Carlito"/>
                  <a:cs typeface="Carlito"/>
                  <a:sym typeface="Carlito"/>
                </a:rPr>
                <a:t>roughly halves memory</a:t>
              </a:r>
              <a:r>
                <a:rPr lang="en-US" sz="1050">
                  <a:solidFill>
                    <a:srgbClr val="F5F1E6"/>
                  </a:solidFill>
                  <a:latin typeface="Carlito"/>
                  <a:ea typeface="Carlito"/>
                  <a:cs typeface="Carlito"/>
                  <a:sym typeface="Carlito"/>
                </a:rPr>
                <a:t> and often meaningfully speeds up computation, with minimal accuracy impact for most tasks. </a:t>
              </a:r>
              <a:r>
                <a:rPr b="1" lang="en-US" sz="1050">
                  <a:solidFill>
                    <a:srgbClr val="F0B429"/>
                  </a:solidFill>
                  <a:latin typeface="Carlito"/>
                  <a:ea typeface="Carlito"/>
                  <a:cs typeface="Carlito"/>
                  <a:sym typeface="Carlito"/>
                </a:rPr>
                <a:t>BF16</a:t>
              </a:r>
              <a:r>
                <a:rPr lang="en-US" sz="1050">
                  <a:solidFill>
                    <a:srgbClr val="F5F1E6"/>
                  </a:solidFill>
                  <a:latin typeface="Carlito"/>
                  <a:ea typeface="Carlito"/>
                  <a:cs typeface="Carlito"/>
                  <a:sym typeface="Carlito"/>
                </a:rPr>
                <a:t> is the modern training default — same memory savings as </a:t>
              </a:r>
              <a:r>
                <a:rPr b="1" lang="en-US" sz="1050">
                  <a:solidFill>
                    <a:srgbClr val="F0B429"/>
                  </a:solidFill>
                  <a:latin typeface="Carlito"/>
                  <a:ea typeface="Carlito"/>
                  <a:cs typeface="Carlito"/>
                  <a:sym typeface="Carlito"/>
                </a:rPr>
                <a:t>FP16</a:t>
              </a:r>
              <a:r>
                <a:rPr lang="en-US" sz="1050">
                  <a:solidFill>
                    <a:srgbClr val="F5F1E6"/>
                  </a:solidFill>
                  <a:latin typeface="Carlito"/>
                  <a:ea typeface="Carlito"/>
                  <a:cs typeface="Carlito"/>
                  <a:sym typeface="Carlito"/>
                </a:rPr>
                <a:t> without the range headaches.</a:t>
              </a:r>
              <a:endParaRPr sz="1050">
                <a:solidFill>
                  <a:srgbClr val="F5F1E6"/>
                </a:solidFill>
                <a:latin typeface="Carlito"/>
                <a:ea typeface="Carlito"/>
                <a:cs typeface="Carlito"/>
                <a:sym typeface="Carlito"/>
              </a:endParaRPr>
            </a:p>
          </p:txBody>
        </p:sp>
      </p:grpSp>
      <p:grpSp>
        <p:nvGrpSpPr>
          <p:cNvPr id="769" name="Google Shape;769;p28"/>
          <p:cNvGrpSpPr/>
          <p:nvPr/>
        </p:nvGrpSpPr>
        <p:grpSpPr>
          <a:xfrm>
            <a:off x="457200" y="2152650"/>
            <a:ext cx="2638500" cy="1086000"/>
            <a:chOff x="457200" y="2152650"/>
            <a:chExt cx="2638500" cy="1086000"/>
          </a:xfrm>
        </p:grpSpPr>
        <p:sp>
          <p:nvSpPr>
            <p:cNvPr id="770" name="Google Shape;770;p28"/>
            <p:cNvSpPr/>
            <p:nvPr/>
          </p:nvSpPr>
          <p:spPr>
            <a:xfrm>
              <a:off x="457200" y="2152650"/>
              <a:ext cx="2638500" cy="1086000"/>
            </a:xfrm>
            <a:prstGeom prst="roundRect">
              <a:avLst>
                <a:gd fmla="val 7017" name="adj"/>
              </a:avLst>
            </a:prstGeom>
            <a:solidFill>
              <a:srgbClr val="0F1B30"/>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1" name="Google Shape;771;p28"/>
            <p:cNvSpPr txBox="1"/>
            <p:nvPr/>
          </p:nvSpPr>
          <p:spPr>
            <a:xfrm>
              <a:off x="609600" y="2152650"/>
              <a:ext cx="2333700" cy="10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MEMORY</a:t>
              </a:r>
              <a:endParaRPr b="1" sz="800">
                <a:solidFill>
                  <a:srgbClr val="94A3B8"/>
                </a:solidFill>
                <a:latin typeface="Carlito"/>
                <a:ea typeface="Carlito"/>
                <a:cs typeface="Carlito"/>
                <a:sym typeface="Carlito"/>
              </a:endParaRPr>
            </a:p>
            <a:p>
              <a:pPr indent="0" lvl="0" marL="0" rtl="0" algn="l">
                <a:spcBef>
                  <a:spcPts val="300"/>
                </a:spcBef>
                <a:spcAft>
                  <a:spcPts val="0"/>
                </a:spcAft>
                <a:buNone/>
              </a:pPr>
              <a:r>
                <a:rPr b="1" lang="en-US" sz="2400">
                  <a:solidFill>
                    <a:srgbClr val="F0B429"/>
                  </a:solidFill>
                  <a:latin typeface="Arial"/>
                  <a:ea typeface="Arial"/>
                  <a:cs typeface="Arial"/>
                  <a:sym typeface="Arial"/>
                </a:rPr>
                <a:t>~½x</a:t>
              </a:r>
              <a:endParaRPr b="1" sz="2400">
                <a:solidFill>
                  <a:srgbClr val="F0B429"/>
                </a:solidFill>
                <a:latin typeface="Arial"/>
                <a:ea typeface="Arial"/>
                <a:cs typeface="Arial"/>
                <a:sym typeface="Arial"/>
              </a:endParaRPr>
            </a:p>
            <a:p>
              <a:pPr indent="0" lvl="0" marL="0" rtl="0" algn="l">
                <a:spcBef>
                  <a:spcPts val="300"/>
                </a:spcBef>
                <a:spcAft>
                  <a:spcPts val="0"/>
                </a:spcAft>
                <a:buNone/>
              </a:pPr>
              <a:r>
                <a:rPr lang="en-US" sz="950">
                  <a:solidFill>
                    <a:srgbClr val="94A3B8"/>
                  </a:solidFill>
                  <a:latin typeface="Carlito"/>
                  <a:ea typeface="Carlito"/>
                  <a:cs typeface="Carlito"/>
                  <a:sym typeface="Carlito"/>
                </a:rPr>
                <a:t>FP16/BF16 vs FP32</a:t>
              </a:r>
              <a:endParaRPr sz="950">
                <a:solidFill>
                  <a:srgbClr val="94A3B8"/>
                </a:solidFill>
                <a:latin typeface="Carlito"/>
                <a:ea typeface="Carlito"/>
                <a:cs typeface="Carlito"/>
                <a:sym typeface="Carlito"/>
              </a:endParaRPr>
            </a:p>
          </p:txBody>
        </p:sp>
      </p:grpSp>
      <p:grpSp>
        <p:nvGrpSpPr>
          <p:cNvPr id="772" name="Google Shape;772;p28"/>
          <p:cNvGrpSpPr/>
          <p:nvPr/>
        </p:nvGrpSpPr>
        <p:grpSpPr>
          <a:xfrm>
            <a:off x="3248025" y="2152650"/>
            <a:ext cx="2638500" cy="1086000"/>
            <a:chOff x="3248025" y="2152650"/>
            <a:chExt cx="2638500" cy="1086000"/>
          </a:xfrm>
        </p:grpSpPr>
        <p:sp>
          <p:nvSpPr>
            <p:cNvPr id="773" name="Google Shape;773;p28"/>
            <p:cNvSpPr/>
            <p:nvPr/>
          </p:nvSpPr>
          <p:spPr>
            <a:xfrm>
              <a:off x="3248025" y="2152650"/>
              <a:ext cx="2638500" cy="1086000"/>
            </a:xfrm>
            <a:prstGeom prst="roundRect">
              <a:avLst>
                <a:gd fmla="val 7017" name="adj"/>
              </a:avLst>
            </a:prstGeom>
            <a:solidFill>
              <a:srgbClr val="0F1B30"/>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4" name="Google Shape;774;p28"/>
            <p:cNvSpPr txBox="1"/>
            <p:nvPr/>
          </p:nvSpPr>
          <p:spPr>
            <a:xfrm>
              <a:off x="3400425" y="2152650"/>
              <a:ext cx="2333700" cy="10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TRAINING DEFAULT</a:t>
              </a:r>
              <a:endParaRPr b="1" sz="800">
                <a:solidFill>
                  <a:srgbClr val="94A3B8"/>
                </a:solidFill>
                <a:latin typeface="Carlito"/>
                <a:ea typeface="Carlito"/>
                <a:cs typeface="Carlito"/>
                <a:sym typeface="Carlito"/>
              </a:endParaRPr>
            </a:p>
            <a:p>
              <a:pPr indent="0" lvl="0" marL="0" rtl="0" algn="l">
                <a:spcBef>
                  <a:spcPts val="300"/>
                </a:spcBef>
                <a:spcAft>
                  <a:spcPts val="0"/>
                </a:spcAft>
                <a:buNone/>
              </a:pPr>
              <a:r>
                <a:rPr b="1" lang="en-US" sz="2400">
                  <a:solidFill>
                    <a:srgbClr val="F0B429"/>
                  </a:solidFill>
                  <a:latin typeface="Arial"/>
                  <a:ea typeface="Arial"/>
                  <a:cs typeface="Arial"/>
                  <a:sym typeface="Arial"/>
                </a:rPr>
                <a:t>BF16</a:t>
              </a:r>
              <a:endParaRPr b="1" sz="2400">
                <a:solidFill>
                  <a:srgbClr val="F0B429"/>
                </a:solidFill>
                <a:latin typeface="Arial"/>
                <a:ea typeface="Arial"/>
                <a:cs typeface="Arial"/>
                <a:sym typeface="Arial"/>
              </a:endParaRPr>
            </a:p>
            <a:p>
              <a:pPr indent="0" lvl="0" marL="0" rtl="0" algn="l">
                <a:spcBef>
                  <a:spcPts val="300"/>
                </a:spcBef>
                <a:spcAft>
                  <a:spcPts val="0"/>
                </a:spcAft>
                <a:buNone/>
              </a:pPr>
              <a:r>
                <a:rPr lang="en-US" sz="950">
                  <a:solidFill>
                    <a:srgbClr val="94A3B8"/>
                  </a:solidFill>
                  <a:latin typeface="Carlito"/>
                  <a:ea typeface="Carlito"/>
                  <a:cs typeface="Carlito"/>
                  <a:sym typeface="Carlito"/>
                </a:rPr>
                <a:t>FP32-equivalent range, fewer overflow headaches</a:t>
              </a:r>
              <a:endParaRPr sz="950">
                <a:solidFill>
                  <a:srgbClr val="94A3B8"/>
                </a:solidFill>
                <a:latin typeface="Carlito"/>
                <a:ea typeface="Carlito"/>
                <a:cs typeface="Carlito"/>
                <a:sym typeface="Carlito"/>
              </a:endParaRPr>
            </a:p>
          </p:txBody>
        </p:sp>
      </p:grpSp>
      <p:grpSp>
        <p:nvGrpSpPr>
          <p:cNvPr id="775" name="Google Shape;775;p28"/>
          <p:cNvGrpSpPr/>
          <p:nvPr/>
        </p:nvGrpSpPr>
        <p:grpSpPr>
          <a:xfrm>
            <a:off x="6038850" y="2152650"/>
            <a:ext cx="2638500" cy="1086000"/>
            <a:chOff x="6038850" y="2152650"/>
            <a:chExt cx="2638500" cy="1086000"/>
          </a:xfrm>
        </p:grpSpPr>
        <p:sp>
          <p:nvSpPr>
            <p:cNvPr id="776" name="Google Shape;776;p28"/>
            <p:cNvSpPr/>
            <p:nvPr/>
          </p:nvSpPr>
          <p:spPr>
            <a:xfrm>
              <a:off x="6038850" y="2152650"/>
              <a:ext cx="2638500" cy="1086000"/>
            </a:xfrm>
            <a:prstGeom prst="roundRect">
              <a:avLst>
                <a:gd fmla="val 7017" name="adj"/>
              </a:avLst>
            </a:prstGeom>
            <a:solidFill>
              <a:srgbClr val="0F1B30"/>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7" name="Google Shape;777;p28"/>
            <p:cNvSpPr txBox="1"/>
            <p:nvPr/>
          </p:nvSpPr>
          <p:spPr>
            <a:xfrm>
              <a:off x="6191250" y="2152650"/>
              <a:ext cx="2333700" cy="10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ACCURACY COST</a:t>
              </a:r>
              <a:endParaRPr b="1" sz="800">
                <a:solidFill>
                  <a:srgbClr val="94A3B8"/>
                </a:solidFill>
                <a:latin typeface="Carlito"/>
                <a:ea typeface="Carlito"/>
                <a:cs typeface="Carlito"/>
                <a:sym typeface="Carlito"/>
              </a:endParaRPr>
            </a:p>
            <a:p>
              <a:pPr indent="0" lvl="0" marL="0" rtl="0" algn="l">
                <a:spcBef>
                  <a:spcPts val="300"/>
                </a:spcBef>
                <a:spcAft>
                  <a:spcPts val="0"/>
                </a:spcAft>
                <a:buNone/>
              </a:pPr>
              <a:r>
                <a:rPr b="1" lang="en-US" sz="2400">
                  <a:solidFill>
                    <a:srgbClr val="F0B429"/>
                  </a:solidFill>
                  <a:latin typeface="Arial"/>
                  <a:ea typeface="Arial"/>
                  <a:cs typeface="Arial"/>
                  <a:sym typeface="Arial"/>
                </a:rPr>
                <a:t>Minimal</a:t>
              </a:r>
              <a:endParaRPr b="1" sz="2400">
                <a:solidFill>
                  <a:srgbClr val="F0B429"/>
                </a:solidFill>
                <a:latin typeface="Arial"/>
                <a:ea typeface="Arial"/>
                <a:cs typeface="Arial"/>
                <a:sym typeface="Arial"/>
              </a:endParaRPr>
            </a:p>
            <a:p>
              <a:pPr indent="0" lvl="0" marL="0" rtl="0" algn="l">
                <a:spcBef>
                  <a:spcPts val="300"/>
                </a:spcBef>
                <a:spcAft>
                  <a:spcPts val="0"/>
                </a:spcAft>
                <a:buNone/>
              </a:pPr>
              <a:r>
                <a:rPr lang="en-US" sz="950">
                  <a:solidFill>
                    <a:srgbClr val="94A3B8"/>
                  </a:solidFill>
                  <a:latin typeface="Carlito"/>
                  <a:ea typeface="Carlito"/>
                  <a:cs typeface="Carlito"/>
                  <a:sym typeface="Carlito"/>
                </a:rPr>
                <a:t>Networks tolerate small numeric noise</a:t>
              </a:r>
              <a:endParaRPr sz="950">
                <a:solidFill>
                  <a:srgbClr val="94A3B8"/>
                </a:solidFill>
                <a:latin typeface="Carlito"/>
                <a:ea typeface="Carlito"/>
                <a:cs typeface="Carlito"/>
                <a:sym typeface="Carlito"/>
              </a:endParaRPr>
            </a:p>
          </p:txBody>
        </p:sp>
      </p:grpSp>
      <p:grpSp>
        <p:nvGrpSpPr>
          <p:cNvPr id="778" name="Google Shape;778;p28"/>
          <p:cNvGrpSpPr/>
          <p:nvPr/>
        </p:nvGrpSpPr>
        <p:grpSpPr>
          <a:xfrm>
            <a:off x="457200" y="3390900"/>
            <a:ext cx="8229600" cy="809700"/>
            <a:chOff x="457200" y="3390900"/>
            <a:chExt cx="8229600" cy="809700"/>
          </a:xfrm>
        </p:grpSpPr>
        <p:sp>
          <p:nvSpPr>
            <p:cNvPr id="779" name="Google Shape;779;p28"/>
            <p:cNvSpPr/>
            <p:nvPr/>
          </p:nvSpPr>
          <p:spPr>
            <a:xfrm>
              <a:off x="457200" y="3390900"/>
              <a:ext cx="8229600" cy="809700"/>
            </a:xfrm>
            <a:prstGeom prst="roundRect">
              <a:avLst>
                <a:gd fmla="val 941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0" name="Google Shape;780;p28"/>
            <p:cNvSpPr/>
            <p:nvPr/>
          </p:nvSpPr>
          <p:spPr>
            <a:xfrm>
              <a:off x="457200" y="3390900"/>
              <a:ext cx="38100" cy="8097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1" name="Google Shape;781;p28"/>
            <p:cNvSpPr txBox="1"/>
            <p:nvPr/>
          </p:nvSpPr>
          <p:spPr>
            <a:xfrm>
              <a:off x="647700" y="3390900"/>
              <a:ext cx="78486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F0B429"/>
                  </a:solidFill>
                  <a:latin typeface="Carlito"/>
                  <a:ea typeface="Carlito"/>
                  <a:cs typeface="Carlito"/>
                  <a:sym typeface="Carlito"/>
                </a:rPr>
                <a:t>→ TRANSITION</a:t>
              </a:r>
              <a:endParaRPr b="1" sz="850">
                <a:solidFill>
                  <a:srgbClr val="F0B429"/>
                </a:solidFill>
                <a:latin typeface="Carlito"/>
                <a:ea typeface="Carlito"/>
                <a:cs typeface="Carlito"/>
                <a:sym typeface="Carlito"/>
              </a:endParaRPr>
            </a:p>
            <a:p>
              <a:pPr indent="0" lvl="0" marL="0" rtl="0" algn="l">
                <a:spcBef>
                  <a:spcPts val="300"/>
                </a:spcBef>
                <a:spcAft>
                  <a:spcPts val="0"/>
                </a:spcAft>
                <a:buNone/>
              </a:pPr>
              <a:r>
                <a:rPr i="1" lang="en-US" sz="1000">
                  <a:solidFill>
                    <a:srgbClr val="F5F1E6"/>
                  </a:solidFill>
                  <a:latin typeface="Carlito"/>
                  <a:ea typeface="Carlito"/>
                  <a:cs typeface="Carlito"/>
                  <a:sym typeface="Carlito"/>
                </a:rPr>
                <a:t>Quantization takes this same idea further, compressing to </a:t>
              </a:r>
              <a:r>
                <a:rPr b="1" i="0" lang="en-US" sz="1000">
                  <a:solidFill>
                    <a:srgbClr val="F0B429"/>
                  </a:solidFill>
                  <a:latin typeface="Carlito"/>
                  <a:ea typeface="Carlito"/>
                  <a:cs typeface="Carlito"/>
                  <a:sym typeface="Carlito"/>
                </a:rPr>
                <a:t>8-bit</a:t>
              </a:r>
              <a:r>
                <a:rPr i="1" lang="en-US" sz="1000">
                  <a:solidFill>
                    <a:srgbClr val="F5F1E6"/>
                  </a:solidFill>
                  <a:latin typeface="Carlito"/>
                  <a:ea typeface="Carlito"/>
                  <a:cs typeface="Carlito"/>
                  <a:sym typeface="Carlito"/>
                </a:rPr>
                <a:t> or even </a:t>
              </a:r>
              <a:r>
                <a:rPr b="1" i="0" lang="en-US" sz="1000">
                  <a:solidFill>
                    <a:srgbClr val="F0B429"/>
                  </a:solidFill>
                  <a:latin typeface="Carlito"/>
                  <a:ea typeface="Carlito"/>
                  <a:cs typeface="Carlito"/>
                  <a:sym typeface="Carlito"/>
                </a:rPr>
                <a:t>4-bit</a:t>
              </a:r>
              <a:r>
                <a:rPr i="1" lang="en-US" sz="1000">
                  <a:solidFill>
                    <a:srgbClr val="F5F1E6"/>
                  </a:solidFill>
                  <a:latin typeface="Carlito"/>
                  <a:ea typeface="Carlito"/>
                  <a:cs typeface="Carlito"/>
                  <a:sym typeface="Carlito"/>
                </a:rPr>
                <a:t> representations, with a more deliberate process to preserve accuracy at that scale.</a:t>
              </a:r>
              <a:endParaRPr i="1" sz="1000">
                <a:solidFill>
                  <a:srgbClr val="F5F1E6"/>
                </a:solidFill>
                <a:latin typeface="Carlito"/>
                <a:ea typeface="Carlito"/>
                <a:cs typeface="Carlito"/>
                <a:sym typeface="Carlito"/>
              </a:endParaRPr>
            </a:p>
          </p:txBody>
        </p:sp>
      </p:grpSp>
      <p:sp>
        <p:nvSpPr>
          <p:cNvPr id="782" name="Google Shape;782;p28"/>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783" name="Google Shape;783;p28"/>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26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pic>
        <p:nvPicPr>
          <p:cNvPr descr="preencoded.png" id="789" name="Google Shape;789;p29"/>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790" name="Google Shape;790;p29"/>
          <p:cNvPicPr preferRelativeResize="0"/>
          <p:nvPr/>
        </p:nvPicPr>
        <p:blipFill rotWithShape="1">
          <a:blip r:embed="rId3">
            <a:alphaModFix/>
          </a:blip>
          <a:srcRect b="0" l="0" r="0" t="0"/>
          <a:stretch/>
        </p:blipFill>
        <p:spPr>
          <a:xfrm>
            <a:off x="0" y="0"/>
            <a:ext cx="9144000" cy="2941774"/>
          </a:xfrm>
          <a:prstGeom prst="rect">
            <a:avLst/>
          </a:prstGeom>
          <a:noFill/>
          <a:ln>
            <a:noFill/>
          </a:ln>
        </p:spPr>
      </p:pic>
      <p:sp>
        <p:nvSpPr>
          <p:cNvPr id="791" name="Google Shape;791;p29"/>
          <p:cNvSpPr/>
          <p:nvPr/>
        </p:nvSpPr>
        <p:spPr>
          <a:xfrm>
            <a:off x="5713203" y="76177"/>
            <a:ext cx="4922100" cy="2345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142339"/>
              </a:buClr>
              <a:buSzPts val="21375"/>
              <a:buFont typeface="Arial"/>
              <a:buNone/>
            </a:pPr>
            <a:r>
              <a:rPr b="1" i="0" lang="en-US" sz="21375" u="none" cap="none" strike="noStrike">
                <a:solidFill>
                  <a:srgbClr val="F0B429"/>
                </a:solidFill>
                <a:latin typeface="Arial"/>
                <a:ea typeface="Arial"/>
                <a:cs typeface="Arial"/>
                <a:sym typeface="Arial"/>
              </a:rPr>
              <a:t>05</a:t>
            </a:r>
            <a:endParaRPr b="0" i="0" sz="21375" u="none" cap="none" strike="noStrike">
              <a:solidFill>
                <a:srgbClr val="F0B429"/>
              </a:solidFill>
              <a:latin typeface="Calibri"/>
              <a:ea typeface="Calibri"/>
              <a:cs typeface="Calibri"/>
              <a:sym typeface="Calibri"/>
            </a:endParaRPr>
          </a:p>
        </p:txBody>
      </p:sp>
      <p:sp>
        <p:nvSpPr>
          <p:cNvPr id="792" name="Google Shape;792;p29"/>
          <p:cNvSpPr/>
          <p:nvPr/>
        </p:nvSpPr>
        <p:spPr>
          <a:xfrm>
            <a:off x="457200" y="400050"/>
            <a:ext cx="571500" cy="28500"/>
          </a:xfrm>
          <a:prstGeom prst="rect">
            <a:avLst/>
          </a:prstGeom>
          <a:solidFill>
            <a:srgbClr val="F0B42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93" name="Google Shape;793;p29"/>
          <p:cNvSpPr/>
          <p:nvPr/>
        </p:nvSpPr>
        <p:spPr>
          <a:xfrm>
            <a:off x="457200" y="657225"/>
            <a:ext cx="8636100" cy="208200"/>
          </a:xfrm>
          <a:prstGeom prst="rect">
            <a:avLst/>
          </a:prstGeom>
          <a:noFill/>
          <a:ln>
            <a:noFill/>
          </a:ln>
        </p:spPr>
        <p:txBody>
          <a:bodyPr anchorCtr="0" anchor="t" bIns="0" lIns="0" spcFirstLastPara="1" rIns="0" wrap="square" tIns="0">
            <a:noAutofit/>
          </a:bodyPr>
          <a:lstStyle/>
          <a:p>
            <a:pPr indent="0" lvl="0" marL="0" marR="0" rtl="0" algn="l">
              <a:lnSpc>
                <a:spcPct val="149950"/>
              </a:lnSpc>
              <a:spcBef>
                <a:spcPts val="0"/>
              </a:spcBef>
              <a:spcAft>
                <a:spcPts val="0"/>
              </a:spcAft>
              <a:buClr>
                <a:srgbClr val="F0B429"/>
              </a:buClr>
              <a:buSzPts val="1013"/>
              <a:buFont typeface="Arial"/>
              <a:buNone/>
            </a:pPr>
            <a:r>
              <a:rPr b="0" i="0" lang="en-US" sz="1013" u="none" cap="none" strike="noStrike">
                <a:solidFill>
                  <a:srgbClr val="F0B429"/>
                </a:solidFill>
                <a:latin typeface="Arial"/>
                <a:ea typeface="Arial"/>
                <a:cs typeface="Arial"/>
                <a:sym typeface="Arial"/>
              </a:rPr>
              <a:t>PART 05 / 08</a:t>
            </a:r>
            <a:endParaRPr b="0" i="0" sz="1013" u="none" cap="none" strike="noStrike">
              <a:solidFill>
                <a:schemeClr val="dk1"/>
              </a:solidFill>
              <a:latin typeface="Calibri"/>
              <a:ea typeface="Calibri"/>
              <a:cs typeface="Calibri"/>
              <a:sym typeface="Calibri"/>
            </a:endParaRPr>
          </a:p>
        </p:txBody>
      </p:sp>
      <p:sp>
        <p:nvSpPr>
          <p:cNvPr id="794" name="Google Shape;794;p29"/>
          <p:cNvSpPr/>
          <p:nvPr/>
        </p:nvSpPr>
        <p:spPr>
          <a:xfrm>
            <a:off x="457200" y="1021556"/>
            <a:ext cx="7535100" cy="4074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5F1E6"/>
              </a:buClr>
              <a:buSzPts val="2700"/>
              <a:buFont typeface="Carlito"/>
              <a:buNone/>
            </a:pPr>
            <a:r>
              <a:rPr b="1" i="0" lang="en-US" sz="2700" u="none" cap="none" strike="noStrike">
                <a:solidFill>
                  <a:srgbClr val="F5F1E6"/>
                </a:solidFill>
                <a:latin typeface="Carlito"/>
                <a:ea typeface="Carlito"/>
                <a:cs typeface="Carlito"/>
                <a:sym typeface="Carlito"/>
              </a:rPr>
              <a:t>Quantization</a:t>
            </a:r>
            <a:endParaRPr b="0" i="0" sz="2700" u="none" cap="none" strike="noStrike">
              <a:solidFill>
                <a:schemeClr val="dk1"/>
              </a:solidFill>
              <a:latin typeface="Calibri"/>
              <a:ea typeface="Calibri"/>
              <a:cs typeface="Calibri"/>
              <a:sym typeface="Calibri"/>
            </a:endParaRPr>
          </a:p>
        </p:txBody>
      </p:sp>
      <p:sp>
        <p:nvSpPr>
          <p:cNvPr id="795" name="Google Shape;795;p29"/>
          <p:cNvSpPr/>
          <p:nvPr/>
        </p:nvSpPr>
        <p:spPr>
          <a:xfrm>
            <a:off x="457200" y="1570174"/>
            <a:ext cx="5572200" cy="462900"/>
          </a:xfrm>
          <a:prstGeom prst="rect">
            <a:avLst/>
          </a:prstGeom>
          <a:noFill/>
          <a:ln>
            <a:noFill/>
          </a:ln>
        </p:spPr>
        <p:txBody>
          <a:bodyPr anchorCtr="0" anchor="t" bIns="0" lIns="0" spcFirstLastPara="1" rIns="0" wrap="square" tIns="0">
            <a:noAutofit/>
          </a:bodyPr>
          <a:lstStyle/>
          <a:p>
            <a:pPr indent="0" lvl="0" marL="0" marR="0" rtl="0" algn="l">
              <a:lnSpc>
                <a:spcPct val="150044"/>
              </a:lnSpc>
              <a:spcBef>
                <a:spcPts val="0"/>
              </a:spcBef>
              <a:spcAft>
                <a:spcPts val="0"/>
              </a:spcAft>
              <a:buClr>
                <a:srgbClr val="94A3B8"/>
              </a:buClr>
              <a:buSzPts val="1125"/>
              <a:buFont typeface="Carlito"/>
              <a:buNone/>
            </a:pPr>
            <a:r>
              <a:rPr b="0" i="0" lang="en-US" sz="1125" u="none" cap="none" strike="noStrike">
                <a:solidFill>
                  <a:srgbClr val="94A3B8"/>
                </a:solidFill>
                <a:latin typeface="Carlito"/>
                <a:ea typeface="Carlito"/>
                <a:cs typeface="Carlito"/>
                <a:sym typeface="Carlito"/>
              </a:rPr>
              <a:t>Compressing a trained model’s weights to lower-bit representations, and the two dominant strategies for doing it well.</a:t>
            </a:r>
            <a:endParaRPr b="0" i="0" sz="1125" u="none" cap="none" strike="noStrike">
              <a:solidFill>
                <a:schemeClr val="dk1"/>
              </a:solidFill>
              <a:latin typeface="Calibri"/>
              <a:ea typeface="Calibri"/>
              <a:cs typeface="Calibri"/>
              <a:sym typeface="Calibri"/>
            </a:endParaRPr>
          </a:p>
        </p:txBody>
      </p:sp>
      <p:grpSp>
        <p:nvGrpSpPr>
          <p:cNvPr id="796" name="Google Shape;796;p29"/>
          <p:cNvGrpSpPr/>
          <p:nvPr/>
        </p:nvGrpSpPr>
        <p:grpSpPr>
          <a:xfrm>
            <a:off x="457200" y="2286000"/>
            <a:ext cx="8210700" cy="1905000"/>
            <a:chOff x="457200" y="2286000"/>
            <a:chExt cx="8210700" cy="1905000"/>
          </a:xfrm>
        </p:grpSpPr>
        <p:sp>
          <p:nvSpPr>
            <p:cNvPr id="797" name="Google Shape;797;p29"/>
            <p:cNvSpPr/>
            <p:nvPr/>
          </p:nvSpPr>
          <p:spPr>
            <a:xfrm>
              <a:off x="457200" y="2286000"/>
              <a:ext cx="2610000" cy="1905000"/>
            </a:xfrm>
            <a:prstGeom prst="roundRect">
              <a:avLst>
                <a:gd fmla="val 400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8" name="Google Shape;798;p29"/>
            <p:cNvSpPr/>
            <p:nvPr/>
          </p:nvSpPr>
          <p:spPr>
            <a:xfrm>
              <a:off x="457200" y="2286000"/>
              <a:ext cx="38100" cy="19050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9" name="Google Shape;799;p29"/>
            <p:cNvSpPr txBox="1"/>
            <p:nvPr/>
          </p:nvSpPr>
          <p:spPr>
            <a:xfrm>
              <a:off x="647700" y="2476500"/>
              <a:ext cx="22290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01 · TARGET FORMATS</a:t>
              </a:r>
              <a:endParaRPr b="1" sz="1000">
                <a:solidFill>
                  <a:srgbClr val="F0B429"/>
                </a:solidFill>
                <a:latin typeface="Carlito"/>
                <a:ea typeface="Carlito"/>
                <a:cs typeface="Carlito"/>
                <a:sym typeface="Carlito"/>
              </a:endParaRPr>
            </a:p>
            <a:p>
              <a:pPr indent="0" lvl="0" marL="0" rtl="0" algn="l">
                <a:spcBef>
                  <a:spcPts val="1125"/>
                </a:spcBef>
                <a:spcAft>
                  <a:spcPts val="0"/>
                </a:spcAft>
                <a:buNone/>
              </a:pPr>
              <a:r>
                <a:rPr b="1" lang="en-US" sz="2400">
                  <a:solidFill>
                    <a:srgbClr val="F5F1E6"/>
                  </a:solidFill>
                  <a:latin typeface="Arial"/>
                  <a:ea typeface="Arial"/>
                  <a:cs typeface="Arial"/>
                  <a:sym typeface="Arial"/>
                </a:rPr>
                <a:t>INT8 / 4-bit</a:t>
              </a:r>
              <a:endParaRPr b="1" sz="2400">
                <a:solidFill>
                  <a:srgbClr val="F5F1E6"/>
                </a:solidFill>
                <a:latin typeface="Arial"/>
                <a:ea typeface="Arial"/>
                <a:cs typeface="Arial"/>
                <a:sym typeface="Arial"/>
              </a:endParaRPr>
            </a:p>
            <a:p>
              <a:pPr indent="0" lvl="0" marL="0" rtl="0" algn="l">
                <a:spcBef>
                  <a:spcPts val="750"/>
                </a:spcBef>
                <a:spcAft>
                  <a:spcPts val="0"/>
                </a:spcAft>
                <a:buNone/>
              </a:pPr>
              <a:r>
                <a:rPr b="0" lang="en-US" sz="1100">
                  <a:solidFill>
                    <a:srgbClr val="94A3B8"/>
                  </a:solidFill>
                  <a:latin typeface="Carlito"/>
                  <a:ea typeface="Carlito"/>
                  <a:cs typeface="Carlito"/>
                  <a:sym typeface="Carlito"/>
                </a:rPr>
                <a:t>Compressing weights down to highly efficient low-bit integer representations.</a:t>
              </a:r>
              <a:endParaRPr b="0" sz="1100">
                <a:solidFill>
                  <a:srgbClr val="94A3B8"/>
                </a:solidFill>
                <a:latin typeface="Carlito"/>
                <a:ea typeface="Carlito"/>
                <a:cs typeface="Carlito"/>
                <a:sym typeface="Carlito"/>
              </a:endParaRPr>
            </a:p>
          </p:txBody>
        </p:sp>
        <p:sp>
          <p:nvSpPr>
            <p:cNvPr id="800" name="Google Shape;800;p29"/>
            <p:cNvSpPr/>
            <p:nvPr/>
          </p:nvSpPr>
          <p:spPr>
            <a:xfrm>
              <a:off x="3257550" y="2286000"/>
              <a:ext cx="2610000" cy="1905000"/>
            </a:xfrm>
            <a:prstGeom prst="roundRect">
              <a:avLst>
                <a:gd fmla="val 400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1" name="Google Shape;801;p29"/>
            <p:cNvSpPr/>
            <p:nvPr/>
          </p:nvSpPr>
          <p:spPr>
            <a:xfrm>
              <a:off x="3257550" y="2286000"/>
              <a:ext cx="38100" cy="1905000"/>
            </a:xfrm>
            <a:prstGeom prst="roundRect">
              <a:avLst>
                <a:gd fmla="val 50000" name="adj"/>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2" name="Google Shape;802;p29"/>
            <p:cNvSpPr txBox="1"/>
            <p:nvPr/>
          </p:nvSpPr>
          <p:spPr>
            <a:xfrm>
              <a:off x="3448050" y="2476500"/>
              <a:ext cx="22290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94A3B8"/>
                  </a:solidFill>
                  <a:latin typeface="Carlito"/>
                  <a:ea typeface="Carlito"/>
                  <a:cs typeface="Carlito"/>
                  <a:sym typeface="Carlito"/>
                </a:rPr>
                <a:t>02 · STRATEGIES</a:t>
              </a:r>
              <a:endParaRPr b="1" sz="1000">
                <a:solidFill>
                  <a:srgbClr val="94A3B8"/>
                </a:solidFill>
                <a:latin typeface="Carlito"/>
                <a:ea typeface="Carlito"/>
                <a:cs typeface="Carlito"/>
                <a:sym typeface="Carlito"/>
              </a:endParaRPr>
            </a:p>
            <a:p>
              <a:pPr indent="0" lvl="0" marL="0" rtl="0" algn="l">
                <a:spcBef>
                  <a:spcPts val="1125"/>
                </a:spcBef>
                <a:spcAft>
                  <a:spcPts val="0"/>
                </a:spcAft>
                <a:buNone/>
              </a:pPr>
              <a:r>
                <a:rPr b="1" lang="en-US" sz="2400">
                  <a:solidFill>
                    <a:srgbClr val="F5F1E6"/>
                  </a:solidFill>
                  <a:latin typeface="Arial"/>
                  <a:ea typeface="Arial"/>
                  <a:cs typeface="Arial"/>
                  <a:sym typeface="Arial"/>
                </a:rPr>
                <a:t>PTQ vs QAT</a:t>
              </a:r>
              <a:endParaRPr b="1" sz="2400">
                <a:solidFill>
                  <a:srgbClr val="F5F1E6"/>
                </a:solidFill>
                <a:latin typeface="Arial"/>
                <a:ea typeface="Arial"/>
                <a:cs typeface="Arial"/>
                <a:sym typeface="Arial"/>
              </a:endParaRPr>
            </a:p>
            <a:p>
              <a:pPr indent="0" lvl="0" marL="0" rtl="0" algn="l">
                <a:spcBef>
                  <a:spcPts val="750"/>
                </a:spcBef>
                <a:spcAft>
                  <a:spcPts val="0"/>
                </a:spcAft>
                <a:buNone/>
              </a:pPr>
              <a:r>
                <a:rPr b="0" lang="en-US" sz="1100">
                  <a:solidFill>
                    <a:srgbClr val="94A3B8"/>
                  </a:solidFill>
                  <a:latin typeface="Carlito"/>
                  <a:ea typeface="Carlito"/>
                  <a:cs typeface="Carlito"/>
                  <a:sym typeface="Carlito"/>
                </a:rPr>
                <a:t>Choosing between fast Post-Training Quantization or accuracy-preserving Quantization-Aware Training.</a:t>
              </a:r>
              <a:endParaRPr b="0" sz="1100">
                <a:solidFill>
                  <a:srgbClr val="94A3B8"/>
                </a:solidFill>
                <a:latin typeface="Carlito"/>
                <a:ea typeface="Carlito"/>
                <a:cs typeface="Carlito"/>
                <a:sym typeface="Carlito"/>
              </a:endParaRPr>
            </a:p>
          </p:txBody>
        </p:sp>
        <p:sp>
          <p:nvSpPr>
            <p:cNvPr id="803" name="Google Shape;803;p29"/>
            <p:cNvSpPr/>
            <p:nvPr/>
          </p:nvSpPr>
          <p:spPr>
            <a:xfrm>
              <a:off x="6057900" y="2286000"/>
              <a:ext cx="2610000" cy="1905000"/>
            </a:xfrm>
            <a:prstGeom prst="roundRect">
              <a:avLst>
                <a:gd fmla="val 400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4" name="Google Shape;804;p29"/>
            <p:cNvSpPr/>
            <p:nvPr/>
          </p:nvSpPr>
          <p:spPr>
            <a:xfrm>
              <a:off x="6057900" y="2286000"/>
              <a:ext cx="38100" cy="1905000"/>
            </a:xfrm>
            <a:prstGeom prst="roundRect">
              <a:avLst>
                <a:gd fmla="val 50000" name="adj"/>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5" name="Google Shape;805;p29"/>
            <p:cNvSpPr txBox="1"/>
            <p:nvPr/>
          </p:nvSpPr>
          <p:spPr>
            <a:xfrm>
              <a:off x="6248400" y="2476500"/>
              <a:ext cx="22290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94A3B8"/>
                  </a:solidFill>
                  <a:latin typeface="Carlito"/>
                  <a:ea typeface="Carlito"/>
                  <a:cs typeface="Carlito"/>
                  <a:sym typeface="Carlito"/>
                </a:rPr>
                <a:t>03 · ECOSYSTEM</a:t>
              </a:r>
              <a:endParaRPr b="1" sz="1000">
                <a:solidFill>
                  <a:srgbClr val="94A3B8"/>
                </a:solidFill>
                <a:latin typeface="Carlito"/>
                <a:ea typeface="Carlito"/>
                <a:cs typeface="Carlito"/>
                <a:sym typeface="Carlito"/>
              </a:endParaRPr>
            </a:p>
            <a:p>
              <a:pPr indent="0" lvl="0" marL="0" rtl="0" algn="l">
                <a:spcBef>
                  <a:spcPts val="1125"/>
                </a:spcBef>
                <a:spcAft>
                  <a:spcPts val="0"/>
                </a:spcAft>
                <a:buNone/>
              </a:pPr>
              <a:r>
                <a:rPr b="1" lang="en-US" sz="1600">
                  <a:solidFill>
                    <a:srgbClr val="F5F1E6"/>
                  </a:solidFill>
                  <a:latin typeface="Arial"/>
                  <a:ea typeface="Arial"/>
                  <a:cs typeface="Arial"/>
                  <a:sym typeface="Arial"/>
                </a:rPr>
                <a:t>bitsandbytes · GPTQ · ONNX</a:t>
              </a:r>
              <a:endParaRPr b="1" sz="1600">
                <a:solidFill>
                  <a:srgbClr val="F5F1E6"/>
                </a:solidFill>
                <a:latin typeface="Arial"/>
                <a:ea typeface="Arial"/>
                <a:cs typeface="Arial"/>
                <a:sym typeface="Arial"/>
              </a:endParaRPr>
            </a:p>
            <a:p>
              <a:pPr indent="0" lvl="0" marL="0" rtl="0" algn="l">
                <a:spcBef>
                  <a:spcPts val="750"/>
                </a:spcBef>
                <a:spcAft>
                  <a:spcPts val="0"/>
                </a:spcAft>
                <a:buNone/>
              </a:pPr>
              <a:r>
                <a:rPr b="0" lang="en-US" sz="1100">
                  <a:solidFill>
                    <a:srgbClr val="94A3B8"/>
                  </a:solidFill>
                  <a:latin typeface="Carlito"/>
                  <a:ea typeface="Carlito"/>
                  <a:cs typeface="Carlito"/>
                  <a:sym typeface="Carlito"/>
                </a:rPr>
                <a:t>Leveraging modern libraries and formats to deploy optimized models on target hardware.</a:t>
              </a:r>
              <a:endParaRPr b="0" sz="1100">
                <a:solidFill>
                  <a:srgbClr val="94A3B8"/>
                </a:solidFill>
                <a:latin typeface="Carlito"/>
                <a:ea typeface="Carlito"/>
                <a:cs typeface="Carlito"/>
                <a:sym typeface="Carlito"/>
              </a:endParaRPr>
            </a:p>
          </p:txBody>
        </p:sp>
      </p:grpSp>
      <p:sp>
        <p:nvSpPr>
          <p:cNvPr id="806" name="Google Shape;806;p29"/>
          <p:cNvSpPr/>
          <p:nvPr/>
        </p:nvSpPr>
        <p:spPr>
          <a:xfrm>
            <a:off x="2926817" y="2398849"/>
            <a:ext cx="114300" cy="11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25"/>
              <a:buFont typeface="Quattrocento Sans"/>
              <a:buNone/>
            </a:pPr>
            <a:r>
              <a:rPr b="0" i="0" lang="en-US" sz="1125" u="none" cap="none" strike="noStrike">
                <a:solidFill>
                  <a:srgbClr val="64748B"/>
                </a:solidFill>
                <a:latin typeface="Quattrocento Sans"/>
                <a:ea typeface="Quattrocento Sans"/>
                <a:cs typeface="Quattrocento Sans"/>
                <a:sym typeface="Quattrocento Sans"/>
              </a:rPr>
              <a:t>→</a:t>
            </a:r>
            <a:endParaRPr b="0" i="0" sz="1125"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811" name="Shape 811"/>
        <p:cNvGrpSpPr/>
        <p:nvPr/>
      </p:nvGrpSpPr>
      <p:grpSpPr>
        <a:xfrm>
          <a:off x="0" y="0"/>
          <a:ext cx="0" cy="0"/>
          <a:chOff x="0" y="0"/>
          <a:chExt cx="0" cy="0"/>
        </a:xfrm>
      </p:grpSpPr>
      <p:sp>
        <p:nvSpPr>
          <p:cNvPr id="812" name="Google Shape;812;p30"/>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05 · QUANTIZATION</a:t>
            </a:r>
            <a:endParaRPr b="0" i="0" sz="800" u="none" cap="none" strike="noStrike">
              <a:solidFill>
                <a:schemeClr val="dk1"/>
              </a:solidFill>
              <a:latin typeface="Calibri"/>
              <a:ea typeface="Calibri"/>
              <a:cs typeface="Calibri"/>
              <a:sym typeface="Calibri"/>
            </a:endParaRPr>
          </a:p>
        </p:txBody>
      </p:sp>
      <p:sp>
        <p:nvSpPr>
          <p:cNvPr id="813" name="Google Shape;813;p30"/>
          <p:cNvSpPr/>
          <p:nvPr/>
        </p:nvSpPr>
        <p:spPr>
          <a:xfrm>
            <a:off x="457200" y="603647"/>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What Quantization Actually Does</a:t>
            </a:r>
            <a:endParaRPr b="0" i="0" sz="2250" u="none" cap="none" strike="noStrike">
              <a:solidFill>
                <a:schemeClr val="dk1"/>
              </a:solidFill>
              <a:latin typeface="Calibri"/>
              <a:ea typeface="Calibri"/>
              <a:cs typeface="Calibri"/>
              <a:sym typeface="Calibri"/>
            </a:endParaRPr>
          </a:p>
        </p:txBody>
      </p:sp>
      <p:grpSp>
        <p:nvGrpSpPr>
          <p:cNvPr id="814" name="Google Shape;814;p30"/>
          <p:cNvGrpSpPr/>
          <p:nvPr/>
        </p:nvGrpSpPr>
        <p:grpSpPr>
          <a:xfrm>
            <a:off x="457200" y="1238250"/>
            <a:ext cx="3619500" cy="2952750"/>
            <a:chOff x="457200" y="1238250"/>
            <a:chExt cx="3619500" cy="2952750"/>
          </a:xfrm>
        </p:grpSpPr>
        <p:sp>
          <p:nvSpPr>
            <p:cNvPr id="815" name="Google Shape;815;p30"/>
            <p:cNvSpPr txBox="1"/>
            <p:nvPr/>
          </p:nvSpPr>
          <p:spPr>
            <a:xfrm>
              <a:off x="457200" y="1238250"/>
              <a:ext cx="3619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150">
                  <a:solidFill>
                    <a:srgbClr val="F5F1E6"/>
                  </a:solidFill>
                  <a:latin typeface="Carlito"/>
                  <a:ea typeface="Carlito"/>
                  <a:cs typeface="Carlito"/>
                  <a:sym typeface="Carlito"/>
                </a:rPr>
                <a:t>Quantization maps a wide range of floating-point values to a much smaller set of discrete levels — typically 8 bits (256 levels) or even 4 bits (16 levels) — using a </a:t>
              </a:r>
              <a:r>
                <a:rPr b="1" lang="en-US" sz="1150">
                  <a:solidFill>
                    <a:srgbClr val="F0B429"/>
                  </a:solidFill>
                  <a:latin typeface="Carlito"/>
                  <a:ea typeface="Carlito"/>
                  <a:cs typeface="Carlito"/>
                  <a:sym typeface="Carlito"/>
                </a:rPr>
                <a:t>scale</a:t>
              </a:r>
              <a:r>
                <a:rPr lang="en-US" sz="1150">
                  <a:solidFill>
                    <a:srgbClr val="F5F1E6"/>
                  </a:solidFill>
                  <a:latin typeface="Carlito"/>
                  <a:ea typeface="Carlito"/>
                  <a:cs typeface="Carlito"/>
                  <a:sym typeface="Carlito"/>
                </a:rPr>
                <a:t> and </a:t>
              </a:r>
              <a:r>
                <a:rPr b="1" lang="en-US" sz="1150">
                  <a:solidFill>
                    <a:srgbClr val="F0B429"/>
                  </a:solidFill>
                  <a:latin typeface="Carlito"/>
                  <a:ea typeface="Carlito"/>
                  <a:cs typeface="Carlito"/>
                  <a:sym typeface="Carlito"/>
                </a:rPr>
                <a:t>zero-point</a:t>
              </a:r>
              <a:r>
                <a:rPr lang="en-US" sz="1150">
                  <a:solidFill>
                    <a:srgbClr val="F5F1E6"/>
                  </a:solidFill>
                  <a:latin typeface="Carlito"/>
                  <a:ea typeface="Carlito"/>
                  <a:cs typeface="Carlito"/>
                  <a:sym typeface="Carlito"/>
                </a:rPr>
                <a:t> to convert between the original and compressed ranges.</a:t>
              </a:r>
              <a:endParaRPr sz="1150">
                <a:solidFill>
                  <a:srgbClr val="F5F1E6"/>
                </a:solidFill>
                <a:latin typeface="Carlito"/>
                <a:ea typeface="Carlito"/>
                <a:cs typeface="Carlito"/>
                <a:sym typeface="Carlito"/>
              </a:endParaRPr>
            </a:p>
          </p:txBody>
        </p:sp>
        <p:grpSp>
          <p:nvGrpSpPr>
            <p:cNvPr id="816" name="Google Shape;816;p30"/>
            <p:cNvGrpSpPr/>
            <p:nvPr/>
          </p:nvGrpSpPr>
          <p:grpSpPr>
            <a:xfrm>
              <a:off x="457200" y="2476500"/>
              <a:ext cx="3619500" cy="1714500"/>
              <a:chOff x="457200" y="2476500"/>
              <a:chExt cx="3619500" cy="1714500"/>
            </a:xfrm>
          </p:grpSpPr>
          <p:sp>
            <p:nvSpPr>
              <p:cNvPr id="817" name="Google Shape;817;p30"/>
              <p:cNvSpPr/>
              <p:nvPr/>
            </p:nvSpPr>
            <p:spPr>
              <a:xfrm>
                <a:off x="457200" y="2476500"/>
                <a:ext cx="3619500" cy="1714500"/>
              </a:xfrm>
              <a:prstGeom prst="roundRect">
                <a:avLst>
                  <a:gd fmla="val 444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8" name="Google Shape;818;p30"/>
              <p:cNvSpPr/>
              <p:nvPr/>
            </p:nvSpPr>
            <p:spPr>
              <a:xfrm>
                <a:off x="457200" y="2476500"/>
                <a:ext cx="38100" cy="17145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9" name="Google Shape;819;p30"/>
              <p:cNvSpPr txBox="1"/>
              <p:nvPr/>
            </p:nvSpPr>
            <p:spPr>
              <a:xfrm>
                <a:off x="647700" y="2476500"/>
                <a:ext cx="3238500" cy="17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94A3B8"/>
                    </a:solidFill>
                    <a:latin typeface="Carlito"/>
                    <a:ea typeface="Carlito"/>
                    <a:cs typeface="Carlito"/>
                    <a:sym typeface="Carlito"/>
                  </a:rPr>
                  <a:t>INT8 PERFORMANCE ADVANTAGE</a:t>
                </a:r>
                <a:endParaRPr b="1" sz="900">
                  <a:solidFill>
                    <a:srgbClr val="94A3B8"/>
                  </a:solidFill>
                  <a:latin typeface="Carlito"/>
                  <a:ea typeface="Carlito"/>
                  <a:cs typeface="Carlito"/>
                  <a:sym typeface="Carlito"/>
                </a:endParaRPr>
              </a:p>
              <a:p>
                <a:pPr indent="0" lvl="0" marL="0" rtl="0" algn="l">
                  <a:spcBef>
                    <a:spcPts val="600"/>
                  </a:spcBef>
                  <a:spcAft>
                    <a:spcPts val="0"/>
                  </a:spcAft>
                  <a:buNone/>
                </a:pPr>
                <a:r>
                  <a:rPr b="1" lang="en-US" sz="3200">
                    <a:solidFill>
                      <a:srgbClr val="F0B429"/>
                    </a:solidFill>
                    <a:latin typeface="Arial"/>
                    <a:ea typeface="Arial"/>
                    <a:cs typeface="Arial"/>
                    <a:sym typeface="Arial"/>
                  </a:rPr>
                  <a:t>~¼x </a:t>
                </a:r>
                <a:r>
                  <a:rPr b="0" lang="en-US" sz="1600">
                    <a:solidFill>
                      <a:srgbClr val="F5F1E6"/>
                    </a:solidFill>
                    <a:latin typeface="Arial"/>
                    <a:ea typeface="Arial"/>
                    <a:cs typeface="Arial"/>
                    <a:sym typeface="Arial"/>
                  </a:rPr>
                  <a:t>model size</a:t>
                </a:r>
                <a:endParaRPr b="1" sz="3200">
                  <a:solidFill>
                    <a:srgbClr val="F0B429"/>
                  </a:solidFill>
                  <a:latin typeface="Arial"/>
                  <a:ea typeface="Arial"/>
                  <a:cs typeface="Arial"/>
                  <a:sym typeface="Arial"/>
                </a:endParaRPr>
              </a:p>
              <a:p>
                <a:pPr indent="0" lvl="0" marL="0" rtl="0" algn="l">
                  <a:spcBef>
                    <a:spcPts val="600"/>
                  </a:spcBef>
                  <a:spcAft>
                    <a:spcPts val="0"/>
                  </a:spcAft>
                  <a:buNone/>
                </a:pPr>
                <a:r>
                  <a:rPr b="0" lang="en-US" sz="1050">
                    <a:solidFill>
                      <a:srgbClr val="94A3B8"/>
                    </a:solidFill>
                    <a:latin typeface="Carlito"/>
                    <a:ea typeface="Carlito"/>
                    <a:cs typeface="Carlito"/>
                    <a:sym typeface="Carlito"/>
                  </a:rPr>
                  <a:t>Integer arithmetic is generally faster than floating-point arithmetic, delivering significant speedups on target hardware.</a:t>
                </a:r>
                <a:endParaRPr b="0" sz="1050">
                  <a:solidFill>
                    <a:srgbClr val="94A3B8"/>
                  </a:solidFill>
                  <a:latin typeface="Carlito"/>
                  <a:ea typeface="Carlito"/>
                  <a:cs typeface="Carlito"/>
                  <a:sym typeface="Carlito"/>
                </a:endParaRPr>
              </a:p>
            </p:txBody>
          </p:sp>
        </p:grpSp>
      </p:grpSp>
      <p:grpSp>
        <p:nvGrpSpPr>
          <p:cNvPr id="820" name="Google Shape;820;p30"/>
          <p:cNvGrpSpPr/>
          <p:nvPr/>
        </p:nvGrpSpPr>
        <p:grpSpPr>
          <a:xfrm>
            <a:off x="4457700" y="1238250"/>
            <a:ext cx="4229100" cy="3048000"/>
            <a:chOff x="4457700" y="1238250"/>
            <a:chExt cx="4229100" cy="3048000"/>
          </a:xfrm>
        </p:grpSpPr>
        <p:sp>
          <p:nvSpPr>
            <p:cNvPr id="821" name="Google Shape;821;p30"/>
            <p:cNvSpPr/>
            <p:nvPr/>
          </p:nvSpPr>
          <p:spPr>
            <a:xfrm>
              <a:off x="4457700" y="1238250"/>
              <a:ext cx="4229100" cy="3048000"/>
            </a:xfrm>
            <a:prstGeom prst="roundRect">
              <a:avLst>
                <a:gd fmla="val 250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2" name="Google Shape;822;p30"/>
            <p:cNvSpPr txBox="1"/>
            <p:nvPr/>
          </p:nvSpPr>
          <p:spPr>
            <a:xfrm>
              <a:off x="4686300" y="1428750"/>
              <a:ext cx="23814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0B429"/>
                  </a:solidFill>
                  <a:latin typeface="Carlito"/>
                  <a:ea typeface="Carlito"/>
                  <a:cs typeface="Carlito"/>
                  <a:sym typeface="Carlito"/>
                </a:rPr>
                <a:t>FP32 · CONTINUOUS VALUES</a:t>
              </a:r>
              <a:endParaRPr b="1" sz="900">
                <a:solidFill>
                  <a:srgbClr val="F0B429"/>
                </a:solidFill>
                <a:latin typeface="Carlito"/>
                <a:ea typeface="Carlito"/>
                <a:cs typeface="Carlito"/>
                <a:sym typeface="Carlito"/>
              </a:endParaRPr>
            </a:p>
          </p:txBody>
        </p:sp>
        <p:sp>
          <p:nvSpPr>
            <p:cNvPr id="823" name="Google Shape;823;p30"/>
            <p:cNvSpPr/>
            <p:nvPr/>
          </p:nvSpPr>
          <p:spPr>
            <a:xfrm>
              <a:off x="7505700" y="1409700"/>
              <a:ext cx="952500" cy="209700"/>
            </a:xfrm>
            <a:prstGeom prst="roundRect">
              <a:avLst>
                <a:gd fmla="val 13636" name="adj"/>
              </a:avLst>
            </a:prstGeom>
            <a:solidFill>
              <a:srgbClr val="F0B429">
                <a:alpha val="8000"/>
              </a:srgbClr>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4" name="Google Shape;824;p30"/>
            <p:cNvSpPr txBox="1"/>
            <p:nvPr/>
          </p:nvSpPr>
          <p:spPr>
            <a:xfrm>
              <a:off x="7505700" y="1409700"/>
              <a:ext cx="9525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00">
                  <a:solidFill>
                    <a:srgbClr val="94A3B8"/>
                  </a:solidFill>
                  <a:latin typeface="Arial"/>
                  <a:ea typeface="Arial"/>
                  <a:cs typeface="Arial"/>
                  <a:sym typeface="Arial"/>
                </a:rPr>
                <a:t>4 bytes each</a:t>
              </a:r>
              <a:endParaRPr sz="800">
                <a:solidFill>
                  <a:srgbClr val="94A3B8"/>
                </a:solidFill>
                <a:latin typeface="Arial"/>
                <a:ea typeface="Arial"/>
                <a:cs typeface="Arial"/>
                <a:sym typeface="Arial"/>
              </a:endParaRPr>
            </a:p>
          </p:txBody>
        </p:sp>
      </p:grpSp>
      <p:pic>
        <p:nvPicPr>
          <p:cNvPr id="825" name="Google Shape;825;p30"/>
          <p:cNvPicPr preferRelativeResize="0"/>
          <p:nvPr/>
        </p:nvPicPr>
        <p:blipFill rotWithShape="1">
          <a:blip r:embed="rId3">
            <a:alphaModFix/>
          </a:blip>
          <a:srcRect b="8228" l="0" r="0" t="8237"/>
          <a:stretch/>
        </p:blipFill>
        <p:spPr>
          <a:xfrm>
            <a:off x="4686300" y="1714500"/>
            <a:ext cx="3771900" cy="285900"/>
          </a:xfrm>
          <a:prstGeom prst="rect">
            <a:avLst/>
          </a:prstGeom>
          <a:noFill/>
          <a:ln>
            <a:noFill/>
          </a:ln>
        </p:spPr>
      </p:pic>
      <p:grpSp>
        <p:nvGrpSpPr>
          <p:cNvPr id="826" name="Google Shape;826;p30"/>
          <p:cNvGrpSpPr/>
          <p:nvPr/>
        </p:nvGrpSpPr>
        <p:grpSpPr>
          <a:xfrm>
            <a:off x="4686300" y="1714500"/>
            <a:ext cx="3772013" cy="2400300"/>
            <a:chOff x="4686300" y="1714500"/>
            <a:chExt cx="3772013" cy="2400300"/>
          </a:xfrm>
        </p:grpSpPr>
        <p:sp>
          <p:nvSpPr>
            <p:cNvPr id="827" name="Google Shape;827;p30"/>
            <p:cNvSpPr/>
            <p:nvPr/>
          </p:nvSpPr>
          <p:spPr>
            <a:xfrm>
              <a:off x="4686300" y="1714500"/>
              <a:ext cx="3771900" cy="285900"/>
            </a:xfrm>
            <a:prstGeom prst="roundRect">
              <a:avLst>
                <a:gd fmla="val 13333" name="adj"/>
              </a:avLst>
            </a:prstGeom>
            <a:solidFill>
              <a:srgbClr val="000000">
                <a:alpha val="0"/>
              </a:srgbClr>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8" name="Google Shape;828;p30"/>
            <p:cNvSpPr/>
            <p:nvPr/>
          </p:nvSpPr>
          <p:spPr>
            <a:xfrm>
              <a:off x="5810250" y="2143125"/>
              <a:ext cx="1524000" cy="247800"/>
            </a:xfrm>
            <a:prstGeom prst="roundRect">
              <a:avLst>
                <a:gd fmla="val 50000" name="adj"/>
              </a:avLst>
            </a:prstGeom>
            <a:solidFill>
              <a:srgbClr val="F0B429">
                <a:alpha val="12000"/>
              </a:srgbClr>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9" name="Google Shape;829;p30"/>
            <p:cNvSpPr txBox="1"/>
            <p:nvPr/>
          </p:nvSpPr>
          <p:spPr>
            <a:xfrm>
              <a:off x="5810250" y="2143125"/>
              <a:ext cx="15240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0B429"/>
                  </a:solidFill>
                  <a:latin typeface="Courier New"/>
                  <a:ea typeface="Courier New"/>
                  <a:cs typeface="Courier New"/>
                  <a:sym typeface="Courier New"/>
                </a:rPr>
                <a:t>↓ scale + zero-point</a:t>
              </a:r>
              <a:endParaRPr b="1" sz="800">
                <a:solidFill>
                  <a:srgbClr val="F0B429"/>
                </a:solidFill>
                <a:latin typeface="Courier New"/>
                <a:ea typeface="Courier New"/>
                <a:cs typeface="Courier New"/>
                <a:sym typeface="Courier New"/>
              </a:endParaRPr>
            </a:p>
          </p:txBody>
        </p:sp>
        <p:sp>
          <p:nvSpPr>
            <p:cNvPr id="830" name="Google Shape;830;p30"/>
            <p:cNvSpPr txBox="1"/>
            <p:nvPr/>
          </p:nvSpPr>
          <p:spPr>
            <a:xfrm>
              <a:off x="4686300" y="2571750"/>
              <a:ext cx="23814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0B429"/>
                  </a:solidFill>
                  <a:latin typeface="Carlito"/>
                  <a:ea typeface="Carlito"/>
                  <a:cs typeface="Carlito"/>
                  <a:sym typeface="Carlito"/>
                </a:rPr>
                <a:t>INT8 · 256 LEVELS</a:t>
              </a:r>
              <a:endParaRPr b="1" sz="900">
                <a:solidFill>
                  <a:srgbClr val="F0B429"/>
                </a:solidFill>
                <a:latin typeface="Carlito"/>
                <a:ea typeface="Carlito"/>
                <a:cs typeface="Carlito"/>
                <a:sym typeface="Carlito"/>
              </a:endParaRPr>
            </a:p>
          </p:txBody>
        </p:sp>
        <p:sp>
          <p:nvSpPr>
            <p:cNvPr id="831" name="Google Shape;831;p30"/>
            <p:cNvSpPr/>
            <p:nvPr/>
          </p:nvSpPr>
          <p:spPr>
            <a:xfrm>
              <a:off x="7505700" y="2552700"/>
              <a:ext cx="952500" cy="209700"/>
            </a:xfrm>
            <a:prstGeom prst="roundRect">
              <a:avLst>
                <a:gd fmla="val 13636" name="adj"/>
              </a:avLst>
            </a:prstGeom>
            <a:solidFill>
              <a:srgbClr val="F0B429">
                <a:alpha val="8000"/>
              </a:srgbClr>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2" name="Google Shape;832;p30"/>
            <p:cNvSpPr txBox="1"/>
            <p:nvPr/>
          </p:nvSpPr>
          <p:spPr>
            <a:xfrm>
              <a:off x="7505700" y="2552700"/>
              <a:ext cx="9525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00">
                  <a:solidFill>
                    <a:srgbClr val="94A3B8"/>
                  </a:solidFill>
                  <a:latin typeface="Arial"/>
                  <a:ea typeface="Arial"/>
                  <a:cs typeface="Arial"/>
                  <a:sym typeface="Arial"/>
                </a:rPr>
                <a:t>1 byte each</a:t>
              </a:r>
              <a:endParaRPr sz="800">
                <a:solidFill>
                  <a:srgbClr val="94A3B8"/>
                </a:solidFill>
                <a:latin typeface="Arial"/>
                <a:ea typeface="Arial"/>
                <a:cs typeface="Arial"/>
                <a:sym typeface="Arial"/>
              </a:endParaRPr>
            </a:p>
          </p:txBody>
        </p:sp>
        <p:grpSp>
          <p:nvGrpSpPr>
            <p:cNvPr id="833" name="Google Shape;833;p30"/>
            <p:cNvGrpSpPr/>
            <p:nvPr/>
          </p:nvGrpSpPr>
          <p:grpSpPr>
            <a:xfrm>
              <a:off x="4686300" y="2857500"/>
              <a:ext cx="3772013" cy="285900"/>
              <a:chOff x="4686300" y="2857500"/>
              <a:chExt cx="3772013" cy="285900"/>
            </a:xfrm>
          </p:grpSpPr>
          <p:sp>
            <p:nvSpPr>
              <p:cNvPr id="834" name="Google Shape;834;p30"/>
              <p:cNvSpPr/>
              <p:nvPr/>
            </p:nvSpPr>
            <p:spPr>
              <a:xfrm>
                <a:off x="4686300" y="2857500"/>
                <a:ext cx="471600" cy="285900"/>
              </a:xfrm>
              <a:prstGeom prst="rect">
                <a:avLst/>
              </a:prstGeom>
              <a:solidFill>
                <a:srgbClr val="1B2D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5" name="Google Shape;835;p30"/>
              <p:cNvSpPr/>
              <p:nvPr/>
            </p:nvSpPr>
            <p:spPr>
              <a:xfrm>
                <a:off x="5157788" y="2857500"/>
                <a:ext cx="471600" cy="285900"/>
              </a:xfrm>
              <a:prstGeom prst="rect">
                <a:avLst/>
              </a:prstGeom>
              <a:solidFill>
                <a:srgbClr val="2A3B5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6" name="Google Shape;836;p30"/>
              <p:cNvSpPr/>
              <p:nvPr/>
            </p:nvSpPr>
            <p:spPr>
              <a:xfrm>
                <a:off x="5629275" y="2857500"/>
                <a:ext cx="471600" cy="285900"/>
              </a:xfrm>
              <a:prstGeom prst="rect">
                <a:avLst/>
              </a:prstGeom>
              <a:solidFill>
                <a:srgbClr val="3D51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7" name="Google Shape;837;p30"/>
              <p:cNvSpPr/>
              <p:nvPr/>
            </p:nvSpPr>
            <p:spPr>
              <a:xfrm>
                <a:off x="6100763" y="2857500"/>
                <a:ext cx="471600" cy="285900"/>
              </a:xfrm>
              <a:prstGeom prst="rect">
                <a:avLst/>
              </a:prstGeom>
              <a:solidFill>
                <a:srgbClr val="5C7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8" name="Google Shape;838;p30"/>
              <p:cNvSpPr/>
              <p:nvPr/>
            </p:nvSpPr>
            <p:spPr>
              <a:xfrm>
                <a:off x="6572250" y="2857500"/>
                <a:ext cx="471600" cy="285900"/>
              </a:xfrm>
              <a:prstGeom prst="rect">
                <a:avLst/>
              </a:prstGeom>
              <a:solidFill>
                <a:srgbClr val="7E92B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9" name="Google Shape;839;p30"/>
              <p:cNvSpPr/>
              <p:nvPr/>
            </p:nvSpPr>
            <p:spPr>
              <a:xfrm>
                <a:off x="7043738" y="2857500"/>
                <a:ext cx="471600" cy="285900"/>
              </a:xfrm>
              <a:prstGeom prst="rect">
                <a:avLst/>
              </a:prstGeom>
              <a:solidFill>
                <a:srgbClr val="A6B4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0" name="Google Shape;840;p30"/>
              <p:cNvSpPr/>
              <p:nvPr/>
            </p:nvSpPr>
            <p:spPr>
              <a:xfrm>
                <a:off x="7515225" y="2857500"/>
                <a:ext cx="471600" cy="285900"/>
              </a:xfrm>
              <a:prstGeom prst="rect">
                <a:avLst/>
              </a:prstGeom>
              <a:solidFill>
                <a:srgbClr val="C8CF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1" name="Google Shape;841;p30"/>
              <p:cNvSpPr/>
              <p:nvPr/>
            </p:nvSpPr>
            <p:spPr>
              <a:xfrm>
                <a:off x="7986713" y="2857500"/>
                <a:ext cx="471600" cy="285900"/>
              </a:xfrm>
              <a:prstGeom prst="rect">
                <a:avLst/>
              </a:prstGeom>
              <a:solidFill>
                <a:srgbClr val="E1E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2" name="Google Shape;842;p30"/>
              <p:cNvSpPr/>
              <p:nvPr/>
            </p:nvSpPr>
            <p:spPr>
              <a:xfrm>
                <a:off x="4686300" y="2857500"/>
                <a:ext cx="3771900" cy="285900"/>
              </a:xfrm>
              <a:prstGeom prst="roundRect">
                <a:avLst>
                  <a:gd fmla="val 13333" name="adj"/>
                </a:avLst>
              </a:prstGeom>
              <a:solidFill>
                <a:srgbClr val="000000">
                  <a:alpha val="0"/>
                </a:srgbClr>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3" name="Google Shape;843;p30"/>
              <p:cNvSpPr txBox="1"/>
              <p:nvPr/>
            </p:nvSpPr>
            <p:spPr>
              <a:xfrm>
                <a:off x="4686300" y="2857500"/>
                <a:ext cx="471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5F1E6"/>
                    </a:solidFill>
                    <a:latin typeface="Arial"/>
                    <a:ea typeface="Arial"/>
                    <a:cs typeface="Arial"/>
                    <a:sym typeface="Arial"/>
                  </a:rPr>
                  <a:t>0</a:t>
                </a:r>
                <a:endParaRPr b="1" sz="800">
                  <a:solidFill>
                    <a:srgbClr val="F5F1E6"/>
                  </a:solidFill>
                  <a:latin typeface="Arial"/>
                  <a:ea typeface="Arial"/>
                  <a:cs typeface="Arial"/>
                  <a:sym typeface="Arial"/>
                </a:endParaRPr>
              </a:p>
            </p:txBody>
          </p:sp>
          <p:sp>
            <p:nvSpPr>
              <p:cNvPr id="844" name="Google Shape;844;p30"/>
              <p:cNvSpPr txBox="1"/>
              <p:nvPr/>
            </p:nvSpPr>
            <p:spPr>
              <a:xfrm>
                <a:off x="5157788" y="2857500"/>
                <a:ext cx="471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5F1E6"/>
                    </a:solidFill>
                    <a:latin typeface="Arial"/>
                    <a:ea typeface="Arial"/>
                    <a:cs typeface="Arial"/>
                    <a:sym typeface="Arial"/>
                  </a:rPr>
                  <a:t>32</a:t>
                </a:r>
                <a:endParaRPr b="1" sz="800">
                  <a:solidFill>
                    <a:srgbClr val="F5F1E6"/>
                  </a:solidFill>
                  <a:latin typeface="Arial"/>
                  <a:ea typeface="Arial"/>
                  <a:cs typeface="Arial"/>
                  <a:sym typeface="Arial"/>
                </a:endParaRPr>
              </a:p>
            </p:txBody>
          </p:sp>
          <p:sp>
            <p:nvSpPr>
              <p:cNvPr id="845" name="Google Shape;845;p30"/>
              <p:cNvSpPr txBox="1"/>
              <p:nvPr/>
            </p:nvSpPr>
            <p:spPr>
              <a:xfrm>
                <a:off x="5629275" y="2857500"/>
                <a:ext cx="471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5F1E6"/>
                    </a:solidFill>
                    <a:latin typeface="Arial"/>
                    <a:ea typeface="Arial"/>
                    <a:cs typeface="Arial"/>
                    <a:sym typeface="Arial"/>
                  </a:rPr>
                  <a:t>64</a:t>
                </a:r>
                <a:endParaRPr b="1" sz="800">
                  <a:solidFill>
                    <a:srgbClr val="F5F1E6"/>
                  </a:solidFill>
                  <a:latin typeface="Arial"/>
                  <a:ea typeface="Arial"/>
                  <a:cs typeface="Arial"/>
                  <a:sym typeface="Arial"/>
                </a:endParaRPr>
              </a:p>
            </p:txBody>
          </p:sp>
          <p:sp>
            <p:nvSpPr>
              <p:cNvPr id="846" name="Google Shape;846;p30"/>
              <p:cNvSpPr txBox="1"/>
              <p:nvPr/>
            </p:nvSpPr>
            <p:spPr>
              <a:xfrm>
                <a:off x="6100763" y="2857500"/>
                <a:ext cx="471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5F1E6"/>
                    </a:solidFill>
                    <a:latin typeface="Arial"/>
                    <a:ea typeface="Arial"/>
                    <a:cs typeface="Arial"/>
                    <a:sym typeface="Arial"/>
                  </a:rPr>
                  <a:t>96</a:t>
                </a:r>
                <a:endParaRPr b="1" sz="800">
                  <a:solidFill>
                    <a:srgbClr val="F5F1E6"/>
                  </a:solidFill>
                  <a:latin typeface="Arial"/>
                  <a:ea typeface="Arial"/>
                  <a:cs typeface="Arial"/>
                  <a:sym typeface="Arial"/>
                </a:endParaRPr>
              </a:p>
            </p:txBody>
          </p:sp>
          <p:sp>
            <p:nvSpPr>
              <p:cNvPr id="847" name="Google Shape;847;p30"/>
              <p:cNvSpPr txBox="1"/>
              <p:nvPr/>
            </p:nvSpPr>
            <p:spPr>
              <a:xfrm>
                <a:off x="6572250" y="2857500"/>
                <a:ext cx="471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5F1E6"/>
                    </a:solidFill>
                    <a:latin typeface="Arial"/>
                    <a:ea typeface="Arial"/>
                    <a:cs typeface="Arial"/>
                    <a:sym typeface="Arial"/>
                  </a:rPr>
                  <a:t>128</a:t>
                </a:r>
                <a:endParaRPr b="1" sz="800">
                  <a:solidFill>
                    <a:srgbClr val="F5F1E6"/>
                  </a:solidFill>
                  <a:latin typeface="Arial"/>
                  <a:ea typeface="Arial"/>
                  <a:cs typeface="Arial"/>
                  <a:sym typeface="Arial"/>
                </a:endParaRPr>
              </a:p>
            </p:txBody>
          </p:sp>
          <p:sp>
            <p:nvSpPr>
              <p:cNvPr id="848" name="Google Shape;848;p30"/>
              <p:cNvSpPr txBox="1"/>
              <p:nvPr/>
            </p:nvSpPr>
            <p:spPr>
              <a:xfrm>
                <a:off x="7043738" y="2857500"/>
                <a:ext cx="471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5F1E6"/>
                    </a:solidFill>
                    <a:latin typeface="Arial"/>
                    <a:ea typeface="Arial"/>
                    <a:cs typeface="Arial"/>
                    <a:sym typeface="Arial"/>
                  </a:rPr>
                  <a:t>160</a:t>
                </a:r>
                <a:endParaRPr b="1" sz="800">
                  <a:solidFill>
                    <a:srgbClr val="F5F1E6"/>
                  </a:solidFill>
                  <a:latin typeface="Arial"/>
                  <a:ea typeface="Arial"/>
                  <a:cs typeface="Arial"/>
                  <a:sym typeface="Arial"/>
                </a:endParaRPr>
              </a:p>
            </p:txBody>
          </p:sp>
          <p:sp>
            <p:nvSpPr>
              <p:cNvPr id="849" name="Google Shape;849;p30"/>
              <p:cNvSpPr txBox="1"/>
              <p:nvPr/>
            </p:nvSpPr>
            <p:spPr>
              <a:xfrm>
                <a:off x="7515225" y="2857500"/>
                <a:ext cx="471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Arial"/>
                    <a:ea typeface="Arial"/>
                    <a:cs typeface="Arial"/>
                    <a:sym typeface="Arial"/>
                  </a:rPr>
                  <a:t>192</a:t>
                </a:r>
                <a:endParaRPr b="1" sz="800">
                  <a:solidFill>
                    <a:srgbClr val="0A1628"/>
                  </a:solidFill>
                  <a:latin typeface="Arial"/>
                  <a:ea typeface="Arial"/>
                  <a:cs typeface="Arial"/>
                  <a:sym typeface="Arial"/>
                </a:endParaRPr>
              </a:p>
            </p:txBody>
          </p:sp>
          <p:sp>
            <p:nvSpPr>
              <p:cNvPr id="850" name="Google Shape;850;p30"/>
              <p:cNvSpPr txBox="1"/>
              <p:nvPr/>
            </p:nvSpPr>
            <p:spPr>
              <a:xfrm>
                <a:off x="7986713" y="2857500"/>
                <a:ext cx="471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Arial"/>
                    <a:ea typeface="Arial"/>
                    <a:cs typeface="Arial"/>
                    <a:sym typeface="Arial"/>
                  </a:rPr>
                  <a:t>255</a:t>
                </a:r>
                <a:endParaRPr b="1" sz="800">
                  <a:solidFill>
                    <a:srgbClr val="0A1628"/>
                  </a:solidFill>
                  <a:latin typeface="Arial"/>
                  <a:ea typeface="Arial"/>
                  <a:cs typeface="Arial"/>
                  <a:sym typeface="Arial"/>
                </a:endParaRPr>
              </a:p>
            </p:txBody>
          </p:sp>
        </p:grpSp>
        <p:sp>
          <p:nvSpPr>
            <p:cNvPr id="851" name="Google Shape;851;p30"/>
            <p:cNvSpPr txBox="1"/>
            <p:nvPr/>
          </p:nvSpPr>
          <p:spPr>
            <a:xfrm>
              <a:off x="4686300" y="3352800"/>
              <a:ext cx="37719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US" sz="1000">
                  <a:solidFill>
                    <a:srgbClr val="94A3B8"/>
                  </a:solidFill>
                  <a:latin typeface="Carlito"/>
                  <a:ea typeface="Carlito"/>
                  <a:cs typeface="Carlito"/>
                  <a:sym typeface="Carlito"/>
                </a:rPr>
                <a:t>Each FP32 value maps to the nearest INT8 level — controlled, reversible approximation to yield massive space savings.</a:t>
              </a:r>
              <a:endParaRPr i="1" sz="1000">
                <a:solidFill>
                  <a:srgbClr val="94A3B8"/>
                </a:solidFill>
                <a:latin typeface="Carlito"/>
                <a:ea typeface="Carlito"/>
                <a:cs typeface="Carlito"/>
                <a:sym typeface="Carlito"/>
              </a:endParaRPr>
            </a:p>
          </p:txBody>
        </p:sp>
      </p:grpSp>
      <p:sp>
        <p:nvSpPr>
          <p:cNvPr id="852" name="Google Shape;852;p30"/>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853" name="Google Shape;853;p30"/>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28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858" name="Shape 858"/>
        <p:cNvGrpSpPr/>
        <p:nvPr/>
      </p:nvGrpSpPr>
      <p:grpSpPr>
        <a:xfrm>
          <a:off x="0" y="0"/>
          <a:ext cx="0" cy="0"/>
          <a:chOff x="0" y="0"/>
          <a:chExt cx="0" cy="0"/>
        </a:xfrm>
      </p:grpSpPr>
      <p:sp>
        <p:nvSpPr>
          <p:cNvPr id="859" name="Google Shape;859;p31"/>
          <p:cNvSpPr/>
          <p:nvPr/>
        </p:nvSpPr>
        <p:spPr>
          <a:xfrm>
            <a:off x="457200" y="400050"/>
            <a:ext cx="8636000" cy="164592"/>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05 · QUANTIZATION</a:t>
            </a:r>
            <a:endParaRPr b="0" i="0" sz="800" u="none" cap="none" strike="noStrike">
              <a:solidFill>
                <a:schemeClr val="dk1"/>
              </a:solidFill>
              <a:latin typeface="Calibri"/>
              <a:ea typeface="Calibri"/>
              <a:cs typeface="Calibri"/>
              <a:sym typeface="Calibri"/>
            </a:endParaRPr>
          </a:p>
        </p:txBody>
      </p:sp>
      <p:sp>
        <p:nvSpPr>
          <p:cNvPr id="860" name="Google Shape;860;p31"/>
          <p:cNvSpPr/>
          <p:nvPr/>
        </p:nvSpPr>
        <p:spPr>
          <a:xfrm>
            <a:off x="457200" y="603647"/>
            <a:ext cx="8486775" cy="28389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5F1E6"/>
              </a:buClr>
              <a:buSzPts val="1800"/>
              <a:buFont typeface="Carlito"/>
              <a:buNone/>
            </a:pPr>
            <a:r>
              <a:rPr b="1" i="0" lang="en-US" sz="1800" u="none" cap="none" strike="noStrike">
                <a:solidFill>
                  <a:srgbClr val="F5F1E6"/>
                </a:solidFill>
                <a:latin typeface="Carlito"/>
                <a:ea typeface="Carlito"/>
                <a:cs typeface="Carlito"/>
                <a:sym typeface="Carlito"/>
              </a:rPr>
              <a:t>Post-Training Quantization vs. Quantization-Aware Training</a:t>
            </a:r>
            <a:endParaRPr b="0" i="0" sz="1800" u="none" cap="none" strike="noStrike">
              <a:solidFill>
                <a:schemeClr val="dk1"/>
              </a:solidFill>
              <a:latin typeface="Calibri"/>
              <a:ea typeface="Calibri"/>
              <a:cs typeface="Calibri"/>
              <a:sym typeface="Calibri"/>
            </a:endParaRPr>
          </a:p>
        </p:txBody>
      </p:sp>
      <p:sp>
        <p:nvSpPr>
          <p:cNvPr id="861" name="Google Shape;861;p31"/>
          <p:cNvSpPr/>
          <p:nvPr/>
        </p:nvSpPr>
        <p:spPr>
          <a:xfrm>
            <a:off x="457200" y="923665"/>
            <a:ext cx="8229600" cy="183599"/>
          </a:xfrm>
          <a:prstGeom prst="rect">
            <a:avLst/>
          </a:prstGeom>
          <a:noFill/>
          <a:ln>
            <a:noFill/>
          </a:ln>
        </p:spPr>
        <p:txBody>
          <a:bodyPr anchorCtr="0" anchor="t" bIns="0" lIns="0" spcFirstLastPara="1" rIns="0" wrap="square" tIns="0">
            <a:noAutofit/>
          </a:bodyPr>
          <a:lstStyle/>
          <a:p>
            <a:pPr indent="0" lvl="0" marL="0" marR="0" rtl="0" algn="l">
              <a:lnSpc>
                <a:spcPct val="140062"/>
              </a:lnSpc>
              <a:spcBef>
                <a:spcPts val="0"/>
              </a:spcBef>
              <a:spcAft>
                <a:spcPts val="0"/>
              </a:spcAft>
              <a:buClr>
                <a:srgbClr val="94A3B8"/>
              </a:buClr>
              <a:buSzPts val="956"/>
              <a:buFont typeface="Carlito"/>
              <a:buNone/>
            </a:pPr>
            <a:r>
              <a:rPr b="0" i="0" lang="en-US" sz="956" u="none" cap="none" strike="noStrike">
                <a:solidFill>
                  <a:srgbClr val="94A3B8"/>
                </a:solidFill>
                <a:latin typeface="Carlito"/>
                <a:ea typeface="Carlito"/>
                <a:cs typeface="Carlito"/>
                <a:sym typeface="Carlito"/>
              </a:rPr>
              <a:t>Two strategies for when and how quantization is applied to a model.</a:t>
            </a:r>
            <a:endParaRPr b="0" i="0" sz="956" u="none" cap="none" strike="noStrike">
              <a:solidFill>
                <a:schemeClr val="dk1"/>
              </a:solidFill>
              <a:latin typeface="Calibri"/>
              <a:ea typeface="Calibri"/>
              <a:cs typeface="Calibri"/>
              <a:sym typeface="Calibri"/>
            </a:endParaRPr>
          </a:p>
        </p:txBody>
      </p:sp>
      <p:graphicFrame>
        <p:nvGraphicFramePr>
          <p:cNvPr id="862" name="Google Shape;862;p31"/>
          <p:cNvGraphicFramePr/>
          <p:nvPr/>
        </p:nvGraphicFramePr>
        <p:xfrm>
          <a:off x="457200" y="1265113"/>
          <a:ext cx="3000000" cy="3000000"/>
        </p:xfrm>
        <a:graphic>
          <a:graphicData uri="http://schemas.openxmlformats.org/drawingml/2006/table">
            <a:tbl>
              <a:tblPr>
                <a:noFill/>
                <a:tableStyleId>{032C9997-6F46-4A23-839E-9CD501ED875D}</a:tableStyleId>
              </a:tblPr>
              <a:tblGrid>
                <a:gridCol w="2304200"/>
                <a:gridCol w="2962650"/>
                <a:gridCol w="2962750"/>
              </a:tblGrid>
              <a:tr h="101600">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Approach</a:t>
                      </a:r>
                      <a:endParaRPr sz="800" u="none" cap="none" strike="noStrike">
                        <a:latin typeface="Carlito"/>
                        <a:ea typeface="Carlito"/>
                        <a:cs typeface="Carlito"/>
                        <a:sym typeface="Carlito"/>
                      </a:endParaRPr>
                    </a:p>
                  </a:txBody>
                  <a:tcPr marT="128600" marB="100025" marR="128600" marL="1000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When It Happens</a:t>
                      </a:r>
                      <a:endParaRPr sz="800" u="none" cap="none" strike="noStrike">
                        <a:latin typeface="Carlito"/>
                        <a:ea typeface="Carlito"/>
                        <a:cs typeface="Carlito"/>
                        <a:sym typeface="Carlito"/>
                      </a:endParaRPr>
                    </a:p>
                  </a:txBody>
                  <a:tcPr marT="128600" marB="100025" marR="128600" marL="1000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Trade-off</a:t>
                      </a:r>
                      <a:endParaRPr sz="800" u="none" cap="none" strike="noStrike">
                        <a:latin typeface="Carlito"/>
                        <a:ea typeface="Carlito"/>
                        <a:cs typeface="Carlito"/>
                        <a:sym typeface="Carlito"/>
                      </a:endParaRPr>
                    </a:p>
                  </a:txBody>
                  <a:tcPr marT="128600" marB="100025" marR="128600" marL="1000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07200">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Approach A Post-Training Quantization PTQ</a:t>
                      </a:r>
                      <a:endParaRPr sz="844" u="none" cap="none" strike="noStrike">
                        <a:latin typeface="Carlito"/>
                        <a:ea typeface="Carlito"/>
                        <a:cs typeface="Carlito"/>
                        <a:sym typeface="Carlito"/>
                      </a:endParaRPr>
                    </a:p>
                  </a:txBody>
                  <a:tcPr marT="128600" marB="128600" marR="128600" marL="1286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Applied after a model is fully trained, using a small calibration dataset to determine scale factors.</a:t>
                      </a:r>
                      <a:endParaRPr sz="844" u="none" cap="none" strike="noStrike">
                        <a:latin typeface="Carlito"/>
                        <a:ea typeface="Carlito"/>
                        <a:cs typeface="Carlito"/>
                        <a:sym typeface="Carlito"/>
                      </a:endParaRPr>
                    </a:p>
                  </a:txBody>
                  <a:tcPr marT="128600" marB="128600" marR="128600" marL="1286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Fast and simple, but can lose more accuracy on quantization-sensitive models.</a:t>
                      </a:r>
                      <a:endParaRPr sz="844" u="none" cap="none" strike="noStrike">
                        <a:latin typeface="Carlito"/>
                        <a:ea typeface="Carlito"/>
                        <a:cs typeface="Carlito"/>
                        <a:sym typeface="Carlito"/>
                      </a:endParaRPr>
                    </a:p>
                  </a:txBody>
                  <a:tcPr marT="128600" marB="128600" marR="128600" marL="1286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07200">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Approach B Quantization-Aware Training QAT</a:t>
                      </a:r>
                      <a:endParaRPr sz="844" u="none" cap="none" strike="noStrike">
                        <a:latin typeface="Carlito"/>
                        <a:ea typeface="Carlito"/>
                        <a:cs typeface="Carlito"/>
                        <a:sym typeface="Carlito"/>
                      </a:endParaRPr>
                    </a:p>
                  </a:txBody>
                  <a:tcPr marT="128600" marB="128600" marR="128600" marL="1286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Quantization effects are simulated during training itself — the model learns to be robust to rounding.</a:t>
                      </a:r>
                      <a:endParaRPr sz="844" u="none" cap="none" strike="noStrike">
                        <a:latin typeface="Carlito"/>
                        <a:ea typeface="Carlito"/>
                        <a:cs typeface="Carlito"/>
                        <a:sym typeface="Carlito"/>
                      </a:endParaRPr>
                    </a:p>
                  </a:txBody>
                  <a:tcPr marT="128600" marB="128600" marR="128600" marL="1286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Better accuracy retention, but requires retraining, more time and compute cost.</a:t>
                      </a:r>
                      <a:endParaRPr sz="844" u="none" cap="none" strike="noStrike">
                        <a:latin typeface="Carlito"/>
                        <a:ea typeface="Carlito"/>
                        <a:cs typeface="Carlito"/>
                        <a:sym typeface="Carlito"/>
                      </a:endParaRPr>
                    </a:p>
                  </a:txBody>
                  <a:tcPr marT="128600" marB="128600" marR="128600" marL="1286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
        <p:nvSpPr>
          <p:cNvPr id="863" name="Google Shape;863;p31"/>
          <p:cNvSpPr/>
          <p:nvPr/>
        </p:nvSpPr>
        <p:spPr>
          <a:xfrm>
            <a:off x="457200" y="3397523"/>
            <a:ext cx="8229600" cy="391120"/>
          </a:xfrm>
          <a:prstGeom prst="roundRect">
            <a:avLst>
              <a:gd fmla="val 14612" name="adj"/>
            </a:avLst>
          </a:prstGeom>
          <a:solidFill>
            <a:srgbClr val="F0B429">
              <a:alpha val="12157"/>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864" name="Google Shape;864;p31"/>
          <p:cNvCxnSpPr/>
          <p:nvPr/>
        </p:nvCxnSpPr>
        <p:spPr>
          <a:xfrm>
            <a:off x="471488" y="3397523"/>
            <a:ext cx="0" cy="391120"/>
          </a:xfrm>
          <a:prstGeom prst="straightConnector1">
            <a:avLst/>
          </a:prstGeom>
          <a:noFill/>
          <a:ln cap="flat" cmpd="sng" w="28575">
            <a:solidFill>
              <a:srgbClr val="F0B429"/>
            </a:solidFill>
            <a:prstDash val="solid"/>
            <a:round/>
            <a:headEnd len="sm" w="sm" type="none"/>
            <a:tailEnd len="sm" w="sm" type="none"/>
          </a:ln>
        </p:spPr>
      </p:cxnSp>
      <p:sp>
        <p:nvSpPr>
          <p:cNvPr id="865" name="Google Shape;865;p31"/>
          <p:cNvSpPr/>
          <p:nvPr/>
        </p:nvSpPr>
        <p:spPr>
          <a:xfrm>
            <a:off x="642938" y="3514502"/>
            <a:ext cx="157163" cy="1571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B429"/>
              </a:buClr>
              <a:buSzPts val="1547"/>
              <a:buFont typeface="Quattrocento Sans"/>
              <a:buNone/>
            </a:pPr>
            <a:r>
              <a:rPr b="0" i="0" lang="en-US" sz="1547" u="none" cap="none" strike="noStrike">
                <a:solidFill>
                  <a:srgbClr val="F0B429"/>
                </a:solidFill>
                <a:latin typeface="Quattrocento Sans"/>
                <a:ea typeface="Quattrocento Sans"/>
                <a:cs typeface="Quattrocento Sans"/>
                <a:sym typeface="Quattrocento Sans"/>
              </a:rPr>
              <a:t>▶</a:t>
            </a:r>
            <a:endParaRPr b="0" i="0" sz="1547" u="none" cap="none" strike="noStrike">
              <a:solidFill>
                <a:schemeClr val="dk1"/>
              </a:solidFill>
              <a:latin typeface="Calibri"/>
              <a:ea typeface="Calibri"/>
              <a:cs typeface="Calibri"/>
              <a:sym typeface="Calibri"/>
            </a:endParaRPr>
          </a:p>
        </p:txBody>
      </p:sp>
      <p:sp>
        <p:nvSpPr>
          <p:cNvPr id="866" name="Google Shape;866;p31"/>
          <p:cNvSpPr/>
          <p:nvPr/>
        </p:nvSpPr>
        <p:spPr>
          <a:xfrm>
            <a:off x="1986632" y="3518967"/>
            <a:ext cx="286531" cy="142875"/>
          </a:xfrm>
          <a:prstGeom prst="roundRect">
            <a:avLst>
              <a:gd fmla="val 20000" name="adj"/>
            </a:avLst>
          </a:prstGeom>
          <a:solidFill>
            <a:srgbClr val="F0B429">
              <a:alpha val="784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867" name="Google Shape;867;p31"/>
          <p:cNvSpPr/>
          <p:nvPr/>
        </p:nvSpPr>
        <p:spPr>
          <a:xfrm>
            <a:off x="900113" y="3511823"/>
            <a:ext cx="7629525" cy="162520"/>
          </a:xfrm>
          <a:prstGeom prst="rect">
            <a:avLst/>
          </a:prstGeom>
          <a:noFill/>
          <a:ln>
            <a:noFill/>
          </a:ln>
        </p:spPr>
        <p:txBody>
          <a:bodyPr anchorCtr="0" anchor="t" bIns="0" lIns="0" spcFirstLastPara="1" rIns="0" wrap="square" tIns="0">
            <a:noAutofit/>
          </a:bodyPr>
          <a:lstStyle/>
          <a:p>
            <a:pPr indent="0" lvl="0" marL="0" marR="0" rtl="0" algn="l">
              <a:lnSpc>
                <a:spcPct val="149877"/>
              </a:lnSpc>
              <a:spcBef>
                <a:spcPts val="0"/>
              </a:spcBef>
              <a:spcAft>
                <a:spcPts val="0"/>
              </a:spcAft>
              <a:buClr>
                <a:srgbClr val="F5F1E6"/>
              </a:buClr>
              <a:buSzPts val="816"/>
              <a:buFont typeface="Carlito"/>
              <a:buNone/>
            </a:pPr>
            <a:r>
              <a:rPr b="0" i="0" lang="en-US" sz="816" u="none" cap="none" strike="noStrike">
                <a:solidFill>
                  <a:srgbClr val="F5F1E6"/>
                </a:solidFill>
                <a:latin typeface="Carlito"/>
                <a:ea typeface="Carlito"/>
                <a:cs typeface="Carlito"/>
                <a:sym typeface="Carlito"/>
              </a:rPr>
              <a:t>Today’s live demo uses </a:t>
            </a:r>
            <a:r>
              <a:rPr b="1" i="0" lang="en-US" sz="916" u="none" cap="none" strike="noStrike">
                <a:solidFill>
                  <a:srgbClr val="FF0000"/>
                </a:solidFill>
                <a:highlight>
                  <a:srgbClr val="F0B429"/>
                </a:highlight>
                <a:latin typeface="Courier New"/>
                <a:ea typeface="Courier New"/>
                <a:cs typeface="Courier New"/>
                <a:sym typeface="Courier New"/>
              </a:rPr>
              <a:t>PTQ</a:t>
            </a:r>
            <a:r>
              <a:rPr b="1" i="0" lang="en-US" sz="916" u="none" cap="none" strike="noStrike">
                <a:solidFill>
                  <a:srgbClr val="FF0000"/>
                </a:solidFill>
                <a:latin typeface="Carlito"/>
                <a:ea typeface="Carlito"/>
                <a:cs typeface="Carlito"/>
                <a:sym typeface="Carlito"/>
              </a:rPr>
              <a:t> </a:t>
            </a:r>
            <a:r>
              <a:rPr b="0" i="0" lang="en-US" sz="816" u="none" cap="none" strike="noStrike">
                <a:solidFill>
                  <a:srgbClr val="F5F1E6"/>
                </a:solidFill>
                <a:latin typeface="Carlito"/>
                <a:ea typeface="Carlito"/>
                <a:cs typeface="Carlito"/>
                <a:sym typeface="Carlito"/>
              </a:rPr>
              <a:t>— fast and the right choice for a 50-minute demonstration window.</a:t>
            </a:r>
            <a:endParaRPr b="0" i="0" sz="816" u="none" cap="none" strike="noStrike">
              <a:solidFill>
                <a:schemeClr val="dk1"/>
              </a:solidFill>
              <a:latin typeface="Calibri"/>
              <a:ea typeface="Calibri"/>
              <a:cs typeface="Calibri"/>
              <a:sym typeface="Calibri"/>
            </a:endParaRPr>
          </a:p>
        </p:txBody>
      </p:sp>
      <p:sp>
        <p:nvSpPr>
          <p:cNvPr id="868" name="Google Shape;868;p31"/>
          <p:cNvSpPr/>
          <p:nvPr/>
        </p:nvSpPr>
        <p:spPr>
          <a:xfrm>
            <a:off x="457200" y="4857750"/>
            <a:ext cx="7867166"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869" name="Google Shape;869;p31"/>
          <p:cNvSpPr/>
          <p:nvPr/>
        </p:nvSpPr>
        <p:spPr>
          <a:xfrm>
            <a:off x="8338654" y="4857750"/>
            <a:ext cx="496979"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29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874" name="Shape 874"/>
        <p:cNvGrpSpPr/>
        <p:nvPr/>
      </p:nvGrpSpPr>
      <p:grpSpPr>
        <a:xfrm>
          <a:off x="0" y="0"/>
          <a:ext cx="0" cy="0"/>
          <a:chOff x="0" y="0"/>
          <a:chExt cx="0" cy="0"/>
        </a:xfrm>
      </p:grpSpPr>
      <p:sp>
        <p:nvSpPr>
          <p:cNvPr id="875" name="Google Shape;875;p32"/>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05 · QUANTIZATION</a:t>
            </a:r>
            <a:endParaRPr b="0" i="0" sz="800" u="none" cap="none" strike="noStrike">
              <a:solidFill>
                <a:schemeClr val="dk1"/>
              </a:solidFill>
              <a:latin typeface="Calibri"/>
              <a:ea typeface="Calibri"/>
              <a:cs typeface="Calibri"/>
              <a:sym typeface="Calibri"/>
            </a:endParaRPr>
          </a:p>
        </p:txBody>
      </p:sp>
      <p:sp>
        <p:nvSpPr>
          <p:cNvPr id="876" name="Google Shape;876;p32"/>
          <p:cNvSpPr/>
          <p:nvPr/>
        </p:nvSpPr>
        <p:spPr>
          <a:xfrm>
            <a:off x="457200" y="603647"/>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How PTQ Actually Calibrates a Model</a:t>
            </a:r>
            <a:endParaRPr b="0" i="0" sz="2250" u="none" cap="none" strike="noStrike">
              <a:solidFill>
                <a:schemeClr val="dk1"/>
              </a:solidFill>
              <a:latin typeface="Calibri"/>
              <a:ea typeface="Calibri"/>
              <a:cs typeface="Calibri"/>
              <a:sym typeface="Calibri"/>
            </a:endParaRPr>
          </a:p>
        </p:txBody>
      </p:sp>
      <p:grpSp>
        <p:nvGrpSpPr>
          <p:cNvPr id="877" name="Google Shape;877;p32"/>
          <p:cNvGrpSpPr/>
          <p:nvPr/>
        </p:nvGrpSpPr>
        <p:grpSpPr>
          <a:xfrm>
            <a:off x="457200" y="1095375"/>
            <a:ext cx="8229450" cy="904800"/>
            <a:chOff x="457200" y="1095375"/>
            <a:chExt cx="8229450" cy="904800"/>
          </a:xfrm>
        </p:grpSpPr>
        <p:sp>
          <p:nvSpPr>
            <p:cNvPr id="878" name="Google Shape;878;p32"/>
            <p:cNvSpPr txBox="1"/>
            <p:nvPr/>
          </p:nvSpPr>
          <p:spPr>
            <a:xfrm>
              <a:off x="457200" y="1095375"/>
              <a:ext cx="39054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450"/>
                </a:spcAft>
                <a:buNone/>
              </a:pPr>
              <a:r>
                <a:rPr b="0" lang="en-US" sz="1050">
                  <a:solidFill>
                    <a:srgbClr val="F5F1E6"/>
                  </a:solidFill>
                  <a:latin typeface="Carlito"/>
                  <a:ea typeface="Carlito"/>
                  <a:cs typeface="Carlito"/>
                  <a:sym typeface="Carlito"/>
                </a:rPr>
                <a:t>A small, representative batch of real input data is passed through the trained model. The actual range of activation and weight values observed is used to compute a </a:t>
              </a:r>
              <a:r>
                <a:rPr b="1" lang="en-US" sz="1050">
                  <a:solidFill>
                    <a:srgbClr val="F0B429"/>
                  </a:solidFill>
                  <a:latin typeface="Carlito"/>
                  <a:ea typeface="Carlito"/>
                  <a:cs typeface="Carlito"/>
                  <a:sym typeface="Carlito"/>
                </a:rPr>
                <a:t>scale factor</a:t>
              </a:r>
              <a:r>
                <a:rPr b="0" lang="en-US" sz="1050">
                  <a:solidFill>
                    <a:srgbClr val="F5F1E6"/>
                  </a:solidFill>
                  <a:latin typeface="Carlito"/>
                  <a:ea typeface="Carlito"/>
                  <a:cs typeface="Carlito"/>
                  <a:sym typeface="Carlito"/>
                </a:rPr>
                <a:t> — the conversion ratio between the FP32 numeric range seen in practice and the INT8 target range.</a:t>
              </a:r>
              <a:endParaRPr b="0" sz="1050">
                <a:solidFill>
                  <a:srgbClr val="F5F1E6"/>
                </a:solidFill>
                <a:latin typeface="Carlito"/>
                <a:ea typeface="Carlito"/>
                <a:cs typeface="Carlito"/>
                <a:sym typeface="Carlito"/>
              </a:endParaRPr>
            </a:p>
          </p:txBody>
        </p:sp>
        <p:sp>
          <p:nvSpPr>
            <p:cNvPr id="879" name="Google Shape;879;p32"/>
            <p:cNvSpPr txBox="1"/>
            <p:nvPr/>
          </p:nvSpPr>
          <p:spPr>
            <a:xfrm>
              <a:off x="4743450" y="1095375"/>
              <a:ext cx="39432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450"/>
                </a:spcAft>
                <a:buNone/>
              </a:pPr>
              <a:r>
                <a:rPr b="0" lang="en-US" sz="1050">
                  <a:solidFill>
                    <a:srgbClr val="94A3B8"/>
                  </a:solidFill>
                  <a:latin typeface="Carlito"/>
                  <a:ea typeface="Carlito"/>
                  <a:cs typeface="Carlito"/>
                  <a:sym typeface="Carlito"/>
                </a:rPr>
                <a:t>Without observing realistic value ranges, the scale factor could badly mismatch the model’s actual behavior — wasting precision on values that never occur, or clipping values that do. Calibration is the step that makes </a:t>
              </a:r>
              <a:r>
                <a:rPr b="1" lang="en-US" sz="1050">
                  <a:solidFill>
                    <a:srgbClr val="F0B429"/>
                  </a:solidFill>
                  <a:latin typeface="Carlito"/>
                  <a:ea typeface="Carlito"/>
                  <a:cs typeface="Carlito"/>
                  <a:sym typeface="Carlito"/>
                </a:rPr>
                <a:t>PTQ</a:t>
              </a:r>
              <a:r>
                <a:rPr b="0" lang="en-US" sz="1050">
                  <a:solidFill>
                    <a:srgbClr val="94A3B8"/>
                  </a:solidFill>
                  <a:latin typeface="Carlito"/>
                  <a:ea typeface="Carlito"/>
                  <a:cs typeface="Carlito"/>
                  <a:sym typeface="Carlito"/>
                </a:rPr>
                <a:t> “know” what your model actually does.</a:t>
              </a:r>
              <a:endParaRPr b="0" sz="1050">
                <a:solidFill>
                  <a:srgbClr val="94A3B8"/>
                </a:solidFill>
                <a:latin typeface="Carlito"/>
                <a:ea typeface="Carlito"/>
                <a:cs typeface="Carlito"/>
                <a:sym typeface="Carlito"/>
              </a:endParaRPr>
            </a:p>
          </p:txBody>
        </p:sp>
      </p:grpSp>
      <p:grpSp>
        <p:nvGrpSpPr>
          <p:cNvPr id="880" name="Google Shape;880;p32"/>
          <p:cNvGrpSpPr/>
          <p:nvPr/>
        </p:nvGrpSpPr>
        <p:grpSpPr>
          <a:xfrm>
            <a:off x="457200" y="2143125"/>
            <a:ext cx="8229600" cy="2428800"/>
            <a:chOff x="457200" y="2143125"/>
            <a:chExt cx="8229600" cy="2428800"/>
          </a:xfrm>
        </p:grpSpPr>
        <p:sp>
          <p:nvSpPr>
            <p:cNvPr id="881" name="Google Shape;881;p32"/>
            <p:cNvSpPr/>
            <p:nvPr/>
          </p:nvSpPr>
          <p:spPr>
            <a:xfrm>
              <a:off x="457200" y="2143125"/>
              <a:ext cx="8229600" cy="2428800"/>
            </a:xfrm>
            <a:prstGeom prst="roundRect">
              <a:avLst>
                <a:gd fmla="val 4705"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2" name="Google Shape;882;p32"/>
            <p:cNvSpPr txBox="1"/>
            <p:nvPr/>
          </p:nvSpPr>
          <p:spPr>
            <a:xfrm>
              <a:off x="457200" y="2286000"/>
              <a:ext cx="82296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F0B429"/>
                  </a:solidFill>
                  <a:latin typeface="Carlito"/>
                  <a:ea typeface="Carlito"/>
                  <a:cs typeface="Carlito"/>
                  <a:sym typeface="Carlito"/>
                </a:rPr>
                <a:t>THE PTQ CALIBRATION PIPELINE</a:t>
              </a:r>
              <a:endParaRPr b="1" sz="900">
                <a:solidFill>
                  <a:srgbClr val="F0B429"/>
                </a:solidFill>
                <a:latin typeface="Carlito"/>
                <a:ea typeface="Carlito"/>
                <a:cs typeface="Carlito"/>
                <a:sym typeface="Carlito"/>
              </a:endParaRPr>
            </a:p>
          </p:txBody>
        </p:sp>
      </p:grpSp>
      <p:grpSp>
        <p:nvGrpSpPr>
          <p:cNvPr id="883" name="Google Shape;883;p32"/>
          <p:cNvGrpSpPr/>
          <p:nvPr/>
        </p:nvGrpSpPr>
        <p:grpSpPr>
          <a:xfrm>
            <a:off x="647700" y="2667000"/>
            <a:ext cx="1666800" cy="1666800"/>
            <a:chOff x="647700" y="2667000"/>
            <a:chExt cx="1666800" cy="1666800"/>
          </a:xfrm>
        </p:grpSpPr>
        <p:sp>
          <p:nvSpPr>
            <p:cNvPr id="884" name="Google Shape;884;p32"/>
            <p:cNvSpPr/>
            <p:nvPr/>
          </p:nvSpPr>
          <p:spPr>
            <a:xfrm>
              <a:off x="647700" y="2667000"/>
              <a:ext cx="1666800" cy="1666800"/>
            </a:xfrm>
            <a:prstGeom prst="roundRect">
              <a:avLst>
                <a:gd fmla="val 4571" name="adj"/>
              </a:avLst>
            </a:prstGeom>
            <a:solidFill>
              <a:srgbClr val="0F1B30"/>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5" name="Google Shape;885;p32"/>
            <p:cNvSpPr/>
            <p:nvPr/>
          </p:nvSpPr>
          <p:spPr>
            <a:xfrm>
              <a:off x="1309688" y="2809875"/>
              <a:ext cx="342900" cy="190500"/>
            </a:xfrm>
            <a:prstGeom prst="roundRect">
              <a:avLst>
                <a:gd fmla="val 50000" name="adj"/>
              </a:avLst>
            </a:prstGeom>
            <a:solidFill>
              <a:srgbClr val="F0B429">
                <a:alpha val="12000"/>
              </a:srgbClr>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6" name="Google Shape;886;p32"/>
            <p:cNvSpPr txBox="1"/>
            <p:nvPr/>
          </p:nvSpPr>
          <p:spPr>
            <a:xfrm>
              <a:off x="1309688" y="2809875"/>
              <a:ext cx="3429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0B429"/>
                  </a:solidFill>
                  <a:latin typeface="Arial"/>
                  <a:ea typeface="Arial"/>
                  <a:cs typeface="Arial"/>
                  <a:sym typeface="Arial"/>
                </a:rPr>
                <a:t>01</a:t>
              </a:r>
              <a:endParaRPr b="1" sz="800">
                <a:solidFill>
                  <a:srgbClr val="F0B429"/>
                </a:solidFill>
                <a:latin typeface="Arial"/>
                <a:ea typeface="Arial"/>
                <a:cs typeface="Arial"/>
                <a:sym typeface="Arial"/>
              </a:endParaRPr>
            </a:p>
          </p:txBody>
        </p:sp>
        <p:sp>
          <p:nvSpPr>
            <p:cNvPr id="887" name="Google Shape;887;p32"/>
            <p:cNvSpPr txBox="1"/>
            <p:nvPr/>
          </p:nvSpPr>
          <p:spPr>
            <a:xfrm>
              <a:off x="647700" y="3124835"/>
              <a:ext cx="16668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F0B429"/>
                  </a:solidFill>
                  <a:latin typeface="Material Icons"/>
                  <a:ea typeface="Material Icons"/>
                  <a:cs typeface="Material Icons"/>
                  <a:sym typeface="Material Icons"/>
                </a:rPr>
                <a:t>developer_board</a:t>
              </a:r>
              <a:endParaRPr sz="2000">
                <a:solidFill>
                  <a:srgbClr val="F0B429"/>
                </a:solidFill>
                <a:latin typeface="Material Icons"/>
                <a:ea typeface="Material Icons"/>
                <a:cs typeface="Material Icons"/>
                <a:sym typeface="Material Icons"/>
              </a:endParaRPr>
            </a:p>
          </p:txBody>
        </p:sp>
        <p:sp>
          <p:nvSpPr>
            <p:cNvPr id="888" name="Google Shape;888;p32"/>
            <p:cNvSpPr txBox="1"/>
            <p:nvPr/>
          </p:nvSpPr>
          <p:spPr>
            <a:xfrm>
              <a:off x="742950" y="3476625"/>
              <a:ext cx="14763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F5F1E6"/>
                  </a:solidFill>
                  <a:latin typeface="Carlito"/>
                  <a:ea typeface="Carlito"/>
                  <a:cs typeface="Carlito"/>
                  <a:sym typeface="Carlito"/>
                </a:rPr>
                <a:t>Trained FP32 Model</a:t>
              </a:r>
              <a:endParaRPr b="1" sz="950">
                <a:solidFill>
                  <a:srgbClr val="F5F1E6"/>
                </a:solidFill>
                <a:latin typeface="Carlito"/>
                <a:ea typeface="Carlito"/>
                <a:cs typeface="Carlito"/>
                <a:sym typeface="Carlito"/>
              </a:endParaRPr>
            </a:p>
            <a:p>
              <a:pPr indent="0" lvl="0" marL="0" rtl="0" algn="ctr">
                <a:spcBef>
                  <a:spcPts val="375"/>
                </a:spcBef>
                <a:spcAft>
                  <a:spcPts val="0"/>
                </a:spcAft>
                <a:buNone/>
              </a:pPr>
              <a:r>
                <a:rPr lang="en-US" sz="850">
                  <a:solidFill>
                    <a:srgbClr val="94A3B8"/>
                  </a:solidFill>
                  <a:latin typeface="Carlito"/>
                  <a:ea typeface="Carlito"/>
                  <a:cs typeface="Carlito"/>
                  <a:sym typeface="Carlito"/>
                </a:rPr>
                <a:t>Baseline high-precision model ready for quantization mapping.</a:t>
              </a:r>
              <a:endParaRPr sz="850">
                <a:solidFill>
                  <a:srgbClr val="94A3B8"/>
                </a:solidFill>
                <a:latin typeface="Carlito"/>
                <a:ea typeface="Carlito"/>
                <a:cs typeface="Carlito"/>
                <a:sym typeface="Carlito"/>
              </a:endParaRPr>
            </a:p>
          </p:txBody>
        </p:sp>
      </p:grpSp>
      <p:sp>
        <p:nvSpPr>
          <p:cNvPr id="889" name="Google Shape;889;p32"/>
          <p:cNvSpPr txBox="1"/>
          <p:nvPr/>
        </p:nvSpPr>
        <p:spPr>
          <a:xfrm>
            <a:off x="2314575" y="3376168"/>
            <a:ext cx="390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600">
                <a:solidFill>
                  <a:srgbClr val="F0B429"/>
                </a:solidFill>
                <a:latin typeface="Material Icons"/>
                <a:ea typeface="Material Icons"/>
                <a:cs typeface="Material Icons"/>
                <a:sym typeface="Material Icons"/>
              </a:rPr>
              <a:t>east</a:t>
            </a:r>
            <a:endParaRPr sz="1600">
              <a:solidFill>
                <a:srgbClr val="F0B429"/>
              </a:solidFill>
              <a:latin typeface="Material Icons"/>
              <a:ea typeface="Material Icons"/>
              <a:cs typeface="Material Icons"/>
              <a:sym typeface="Material Icons"/>
            </a:endParaRPr>
          </a:p>
        </p:txBody>
      </p:sp>
      <p:grpSp>
        <p:nvGrpSpPr>
          <p:cNvPr id="890" name="Google Shape;890;p32"/>
          <p:cNvGrpSpPr/>
          <p:nvPr/>
        </p:nvGrpSpPr>
        <p:grpSpPr>
          <a:xfrm>
            <a:off x="2705100" y="2667000"/>
            <a:ext cx="1666800" cy="1666800"/>
            <a:chOff x="2705100" y="2667000"/>
            <a:chExt cx="1666800" cy="1666800"/>
          </a:xfrm>
        </p:grpSpPr>
        <p:sp>
          <p:nvSpPr>
            <p:cNvPr id="891" name="Google Shape;891;p32"/>
            <p:cNvSpPr/>
            <p:nvPr/>
          </p:nvSpPr>
          <p:spPr>
            <a:xfrm>
              <a:off x="2705100" y="2667000"/>
              <a:ext cx="1666800" cy="1666800"/>
            </a:xfrm>
            <a:prstGeom prst="roundRect">
              <a:avLst>
                <a:gd fmla="val 4571" name="adj"/>
              </a:avLst>
            </a:prstGeom>
            <a:solidFill>
              <a:srgbClr val="0F1B30"/>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2" name="Google Shape;892;p32"/>
            <p:cNvSpPr/>
            <p:nvPr/>
          </p:nvSpPr>
          <p:spPr>
            <a:xfrm>
              <a:off x="3367088" y="2809875"/>
              <a:ext cx="342900" cy="190500"/>
            </a:xfrm>
            <a:prstGeom prst="roundRect">
              <a:avLst>
                <a:gd fmla="val 50000" name="adj"/>
              </a:avLst>
            </a:prstGeom>
            <a:solidFill>
              <a:srgbClr val="F0B429">
                <a:alpha val="12000"/>
              </a:srgbClr>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3" name="Google Shape;893;p32"/>
            <p:cNvSpPr txBox="1"/>
            <p:nvPr/>
          </p:nvSpPr>
          <p:spPr>
            <a:xfrm>
              <a:off x="3367088" y="2809875"/>
              <a:ext cx="3429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0B429"/>
                  </a:solidFill>
                  <a:latin typeface="Arial"/>
                  <a:ea typeface="Arial"/>
                  <a:cs typeface="Arial"/>
                  <a:sym typeface="Arial"/>
                </a:rPr>
                <a:t>02</a:t>
              </a:r>
              <a:endParaRPr b="1" sz="800">
                <a:solidFill>
                  <a:srgbClr val="F0B429"/>
                </a:solidFill>
                <a:latin typeface="Arial"/>
                <a:ea typeface="Arial"/>
                <a:cs typeface="Arial"/>
                <a:sym typeface="Arial"/>
              </a:endParaRPr>
            </a:p>
          </p:txBody>
        </p:sp>
        <p:sp>
          <p:nvSpPr>
            <p:cNvPr id="894" name="Google Shape;894;p32"/>
            <p:cNvSpPr txBox="1"/>
            <p:nvPr/>
          </p:nvSpPr>
          <p:spPr>
            <a:xfrm>
              <a:off x="2705100" y="3124835"/>
              <a:ext cx="16668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F0B429"/>
                  </a:solidFill>
                  <a:latin typeface="Material Icons"/>
                  <a:ea typeface="Material Icons"/>
                  <a:cs typeface="Material Icons"/>
                  <a:sym typeface="Material Icons"/>
                </a:rPr>
                <a:t>play_circle_filled</a:t>
              </a:r>
              <a:endParaRPr sz="2000">
                <a:solidFill>
                  <a:srgbClr val="F0B429"/>
                </a:solidFill>
                <a:latin typeface="Material Icons"/>
                <a:ea typeface="Material Icons"/>
                <a:cs typeface="Material Icons"/>
                <a:sym typeface="Material Icons"/>
              </a:endParaRPr>
            </a:p>
          </p:txBody>
        </p:sp>
        <p:sp>
          <p:nvSpPr>
            <p:cNvPr id="895" name="Google Shape;895;p32"/>
            <p:cNvSpPr txBox="1"/>
            <p:nvPr/>
          </p:nvSpPr>
          <p:spPr>
            <a:xfrm>
              <a:off x="2800350" y="3476625"/>
              <a:ext cx="14763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F5F1E6"/>
                  </a:solidFill>
                  <a:latin typeface="Carlito"/>
                  <a:ea typeface="Carlito"/>
                  <a:cs typeface="Carlito"/>
                  <a:sym typeface="Carlito"/>
                </a:rPr>
                <a:t>Calibration Run</a:t>
              </a:r>
              <a:endParaRPr b="1" sz="950">
                <a:solidFill>
                  <a:srgbClr val="F5F1E6"/>
                </a:solidFill>
                <a:latin typeface="Carlito"/>
                <a:ea typeface="Carlito"/>
                <a:cs typeface="Carlito"/>
                <a:sym typeface="Carlito"/>
              </a:endParaRPr>
            </a:p>
            <a:p>
              <a:pPr indent="0" lvl="0" marL="0" rtl="0" algn="ctr">
                <a:spcBef>
                  <a:spcPts val="375"/>
                </a:spcBef>
                <a:spcAft>
                  <a:spcPts val="0"/>
                </a:spcAft>
                <a:buNone/>
              </a:pPr>
              <a:r>
                <a:rPr lang="en-US" sz="850">
                  <a:solidFill>
                    <a:srgbClr val="94A3B8"/>
                  </a:solidFill>
                  <a:latin typeface="Carlito"/>
                  <a:ea typeface="Carlito"/>
                  <a:cs typeface="Carlito"/>
                  <a:sym typeface="Carlito"/>
                </a:rPr>
                <a:t>Pass a representative calibration batch through the network.</a:t>
              </a:r>
              <a:endParaRPr sz="850">
                <a:solidFill>
                  <a:srgbClr val="94A3B8"/>
                </a:solidFill>
                <a:latin typeface="Carlito"/>
                <a:ea typeface="Carlito"/>
                <a:cs typeface="Carlito"/>
                <a:sym typeface="Carlito"/>
              </a:endParaRPr>
            </a:p>
          </p:txBody>
        </p:sp>
      </p:grpSp>
      <p:sp>
        <p:nvSpPr>
          <p:cNvPr id="896" name="Google Shape;896;p32"/>
          <p:cNvSpPr txBox="1"/>
          <p:nvPr/>
        </p:nvSpPr>
        <p:spPr>
          <a:xfrm>
            <a:off x="4371975" y="3376168"/>
            <a:ext cx="390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600">
                <a:solidFill>
                  <a:srgbClr val="F0B429"/>
                </a:solidFill>
                <a:latin typeface="Material Icons"/>
                <a:ea typeface="Material Icons"/>
                <a:cs typeface="Material Icons"/>
                <a:sym typeface="Material Icons"/>
              </a:rPr>
              <a:t>east</a:t>
            </a:r>
            <a:endParaRPr sz="1600">
              <a:solidFill>
                <a:srgbClr val="F0B429"/>
              </a:solidFill>
              <a:latin typeface="Material Icons"/>
              <a:ea typeface="Material Icons"/>
              <a:cs typeface="Material Icons"/>
              <a:sym typeface="Material Icons"/>
            </a:endParaRPr>
          </a:p>
        </p:txBody>
      </p:sp>
      <p:grpSp>
        <p:nvGrpSpPr>
          <p:cNvPr id="897" name="Google Shape;897;p32"/>
          <p:cNvGrpSpPr/>
          <p:nvPr/>
        </p:nvGrpSpPr>
        <p:grpSpPr>
          <a:xfrm>
            <a:off x="4762500" y="2667000"/>
            <a:ext cx="1666800" cy="1666800"/>
            <a:chOff x="4762500" y="2667000"/>
            <a:chExt cx="1666800" cy="1666800"/>
          </a:xfrm>
        </p:grpSpPr>
        <p:sp>
          <p:nvSpPr>
            <p:cNvPr id="898" name="Google Shape;898;p32"/>
            <p:cNvSpPr/>
            <p:nvPr/>
          </p:nvSpPr>
          <p:spPr>
            <a:xfrm>
              <a:off x="4762500" y="2667000"/>
              <a:ext cx="1666800" cy="1666800"/>
            </a:xfrm>
            <a:prstGeom prst="roundRect">
              <a:avLst>
                <a:gd fmla="val 4571" name="adj"/>
              </a:avLst>
            </a:prstGeom>
            <a:solidFill>
              <a:srgbClr val="0F1B30"/>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9" name="Google Shape;899;p32"/>
            <p:cNvSpPr/>
            <p:nvPr/>
          </p:nvSpPr>
          <p:spPr>
            <a:xfrm>
              <a:off x="5424488" y="2809875"/>
              <a:ext cx="342900" cy="190500"/>
            </a:xfrm>
            <a:prstGeom prst="roundRect">
              <a:avLst>
                <a:gd fmla="val 50000" name="adj"/>
              </a:avLst>
            </a:prstGeom>
            <a:solidFill>
              <a:srgbClr val="F0B429">
                <a:alpha val="12000"/>
              </a:srgbClr>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0" name="Google Shape;900;p32"/>
            <p:cNvSpPr txBox="1"/>
            <p:nvPr/>
          </p:nvSpPr>
          <p:spPr>
            <a:xfrm>
              <a:off x="5424488" y="2809875"/>
              <a:ext cx="3429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0B429"/>
                  </a:solidFill>
                  <a:latin typeface="Arial"/>
                  <a:ea typeface="Arial"/>
                  <a:cs typeface="Arial"/>
                  <a:sym typeface="Arial"/>
                </a:rPr>
                <a:t>03</a:t>
              </a:r>
              <a:endParaRPr b="1" sz="800">
                <a:solidFill>
                  <a:srgbClr val="F0B429"/>
                </a:solidFill>
                <a:latin typeface="Arial"/>
                <a:ea typeface="Arial"/>
                <a:cs typeface="Arial"/>
                <a:sym typeface="Arial"/>
              </a:endParaRPr>
            </a:p>
          </p:txBody>
        </p:sp>
        <p:sp>
          <p:nvSpPr>
            <p:cNvPr id="901" name="Google Shape;901;p32"/>
            <p:cNvSpPr txBox="1"/>
            <p:nvPr/>
          </p:nvSpPr>
          <p:spPr>
            <a:xfrm>
              <a:off x="4762500" y="3124835"/>
              <a:ext cx="16668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F0B429"/>
                  </a:solidFill>
                  <a:latin typeface="Material Icons"/>
                  <a:ea typeface="Material Icons"/>
                  <a:cs typeface="Material Icons"/>
                  <a:sym typeface="Material Icons"/>
                </a:rPr>
                <a:t>bar_chart</a:t>
              </a:r>
              <a:endParaRPr sz="2000">
                <a:solidFill>
                  <a:srgbClr val="F0B429"/>
                </a:solidFill>
                <a:latin typeface="Material Icons"/>
                <a:ea typeface="Material Icons"/>
                <a:cs typeface="Material Icons"/>
                <a:sym typeface="Material Icons"/>
              </a:endParaRPr>
            </a:p>
          </p:txBody>
        </p:sp>
        <p:sp>
          <p:nvSpPr>
            <p:cNvPr id="902" name="Google Shape;902;p32"/>
            <p:cNvSpPr txBox="1"/>
            <p:nvPr/>
          </p:nvSpPr>
          <p:spPr>
            <a:xfrm>
              <a:off x="4857750" y="3476625"/>
              <a:ext cx="14763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F5F1E6"/>
                  </a:solidFill>
                  <a:latin typeface="Carlito"/>
                  <a:ea typeface="Carlito"/>
                  <a:cs typeface="Carlito"/>
                  <a:sym typeface="Carlito"/>
                </a:rPr>
                <a:t>Observe Ranges</a:t>
              </a:r>
              <a:endParaRPr b="1" sz="950">
                <a:solidFill>
                  <a:srgbClr val="F5F1E6"/>
                </a:solidFill>
                <a:latin typeface="Carlito"/>
                <a:ea typeface="Carlito"/>
                <a:cs typeface="Carlito"/>
                <a:sym typeface="Carlito"/>
              </a:endParaRPr>
            </a:p>
            <a:p>
              <a:pPr indent="0" lvl="0" marL="0" rtl="0" algn="ctr">
                <a:spcBef>
                  <a:spcPts val="375"/>
                </a:spcBef>
                <a:spcAft>
                  <a:spcPts val="0"/>
                </a:spcAft>
                <a:buNone/>
              </a:pPr>
              <a:r>
                <a:rPr lang="en-US" sz="850">
                  <a:solidFill>
                    <a:srgbClr val="94A3B8"/>
                  </a:solidFill>
                  <a:latin typeface="Carlito"/>
                  <a:ea typeface="Carlito"/>
                  <a:cs typeface="Carlito"/>
                  <a:sym typeface="Carlito"/>
                </a:rPr>
                <a:t>Analyze and record activation and weight value distributions.</a:t>
              </a:r>
              <a:endParaRPr sz="850">
                <a:solidFill>
                  <a:srgbClr val="94A3B8"/>
                </a:solidFill>
                <a:latin typeface="Carlito"/>
                <a:ea typeface="Carlito"/>
                <a:cs typeface="Carlito"/>
                <a:sym typeface="Carlito"/>
              </a:endParaRPr>
            </a:p>
          </p:txBody>
        </p:sp>
      </p:grpSp>
      <p:sp>
        <p:nvSpPr>
          <p:cNvPr id="903" name="Google Shape;903;p32"/>
          <p:cNvSpPr txBox="1"/>
          <p:nvPr/>
        </p:nvSpPr>
        <p:spPr>
          <a:xfrm>
            <a:off x="6429375" y="3376168"/>
            <a:ext cx="390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600">
                <a:solidFill>
                  <a:srgbClr val="F0B429"/>
                </a:solidFill>
                <a:latin typeface="Material Icons"/>
                <a:ea typeface="Material Icons"/>
                <a:cs typeface="Material Icons"/>
                <a:sym typeface="Material Icons"/>
              </a:rPr>
              <a:t>east</a:t>
            </a:r>
            <a:endParaRPr sz="1600">
              <a:solidFill>
                <a:srgbClr val="F0B429"/>
              </a:solidFill>
              <a:latin typeface="Material Icons"/>
              <a:ea typeface="Material Icons"/>
              <a:cs typeface="Material Icons"/>
              <a:sym typeface="Material Icons"/>
            </a:endParaRPr>
          </a:p>
        </p:txBody>
      </p:sp>
      <p:grpSp>
        <p:nvGrpSpPr>
          <p:cNvPr id="904" name="Google Shape;904;p32"/>
          <p:cNvGrpSpPr/>
          <p:nvPr/>
        </p:nvGrpSpPr>
        <p:grpSpPr>
          <a:xfrm>
            <a:off x="6819900" y="2667000"/>
            <a:ext cx="1666800" cy="1666800"/>
            <a:chOff x="6819900" y="2667000"/>
            <a:chExt cx="1666800" cy="1666800"/>
          </a:xfrm>
        </p:grpSpPr>
        <p:sp>
          <p:nvSpPr>
            <p:cNvPr id="905" name="Google Shape;905;p32"/>
            <p:cNvSpPr/>
            <p:nvPr/>
          </p:nvSpPr>
          <p:spPr>
            <a:xfrm>
              <a:off x="6819900" y="2667000"/>
              <a:ext cx="1666800" cy="1666800"/>
            </a:xfrm>
            <a:prstGeom prst="roundRect">
              <a:avLst>
                <a:gd fmla="val 4571" name="adj"/>
              </a:avLst>
            </a:prstGeom>
            <a:solidFill>
              <a:srgbClr val="0F1B30"/>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6" name="Google Shape;906;p32"/>
            <p:cNvSpPr/>
            <p:nvPr/>
          </p:nvSpPr>
          <p:spPr>
            <a:xfrm>
              <a:off x="7481888" y="2809875"/>
              <a:ext cx="342900" cy="190500"/>
            </a:xfrm>
            <a:prstGeom prst="roundRect">
              <a:avLst>
                <a:gd fmla="val 50000" name="adj"/>
              </a:avLst>
            </a:prstGeom>
            <a:solidFill>
              <a:srgbClr val="F0B429">
                <a:alpha val="12000"/>
              </a:srgbClr>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7" name="Google Shape;907;p32"/>
            <p:cNvSpPr txBox="1"/>
            <p:nvPr/>
          </p:nvSpPr>
          <p:spPr>
            <a:xfrm>
              <a:off x="7481888" y="2809875"/>
              <a:ext cx="3429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0B429"/>
                  </a:solidFill>
                  <a:latin typeface="Arial"/>
                  <a:ea typeface="Arial"/>
                  <a:cs typeface="Arial"/>
                  <a:sym typeface="Arial"/>
                </a:rPr>
                <a:t>04</a:t>
              </a:r>
              <a:endParaRPr b="1" sz="800">
                <a:solidFill>
                  <a:srgbClr val="F0B429"/>
                </a:solidFill>
                <a:latin typeface="Arial"/>
                <a:ea typeface="Arial"/>
                <a:cs typeface="Arial"/>
                <a:sym typeface="Arial"/>
              </a:endParaRPr>
            </a:p>
          </p:txBody>
        </p:sp>
        <p:sp>
          <p:nvSpPr>
            <p:cNvPr id="908" name="Google Shape;908;p32"/>
            <p:cNvSpPr txBox="1"/>
            <p:nvPr/>
          </p:nvSpPr>
          <p:spPr>
            <a:xfrm>
              <a:off x="6819900" y="3124835"/>
              <a:ext cx="16668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F0B429"/>
                  </a:solidFill>
                  <a:latin typeface="Material Icons"/>
                  <a:ea typeface="Material Icons"/>
                  <a:cs typeface="Material Icons"/>
                  <a:sym typeface="Material Icons"/>
                </a:rPr>
                <a:t>calculate</a:t>
              </a:r>
              <a:endParaRPr sz="2000">
                <a:solidFill>
                  <a:srgbClr val="F0B429"/>
                </a:solidFill>
                <a:latin typeface="Material Icons"/>
                <a:ea typeface="Material Icons"/>
                <a:cs typeface="Material Icons"/>
                <a:sym typeface="Material Icons"/>
              </a:endParaRPr>
            </a:p>
          </p:txBody>
        </p:sp>
        <p:sp>
          <p:nvSpPr>
            <p:cNvPr id="909" name="Google Shape;909;p32"/>
            <p:cNvSpPr txBox="1"/>
            <p:nvPr/>
          </p:nvSpPr>
          <p:spPr>
            <a:xfrm>
              <a:off x="6915150" y="3476625"/>
              <a:ext cx="14763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F5F1E6"/>
                  </a:solidFill>
                  <a:latin typeface="Carlito"/>
                  <a:ea typeface="Carlito"/>
                  <a:cs typeface="Carlito"/>
                  <a:sym typeface="Carlito"/>
                </a:rPr>
                <a:t>Compute Scaling</a:t>
              </a:r>
              <a:endParaRPr b="1" sz="950">
                <a:solidFill>
                  <a:srgbClr val="F5F1E6"/>
                </a:solidFill>
                <a:latin typeface="Carlito"/>
                <a:ea typeface="Carlito"/>
                <a:cs typeface="Carlito"/>
                <a:sym typeface="Carlito"/>
              </a:endParaRPr>
            </a:p>
            <a:p>
              <a:pPr indent="0" lvl="0" marL="0" rtl="0" algn="ctr">
                <a:spcBef>
                  <a:spcPts val="375"/>
                </a:spcBef>
                <a:spcAft>
                  <a:spcPts val="0"/>
                </a:spcAft>
                <a:buNone/>
              </a:pPr>
              <a:r>
                <a:rPr lang="en-US" sz="850">
                  <a:solidFill>
                    <a:srgbClr val="94A3B8"/>
                  </a:solidFill>
                  <a:latin typeface="Carlito"/>
                  <a:ea typeface="Carlito"/>
                  <a:cs typeface="Carlito"/>
                  <a:sym typeface="Carlito"/>
                </a:rPr>
                <a:t>Generate final scale and zero-point conversion matrices.</a:t>
              </a:r>
              <a:endParaRPr sz="850">
                <a:solidFill>
                  <a:srgbClr val="94A3B8"/>
                </a:solidFill>
                <a:latin typeface="Carlito"/>
                <a:ea typeface="Carlito"/>
                <a:cs typeface="Carlito"/>
                <a:sym typeface="Carlito"/>
              </a:endParaRPr>
            </a:p>
          </p:txBody>
        </p:sp>
      </p:grpSp>
      <p:sp>
        <p:nvSpPr>
          <p:cNvPr id="910" name="Google Shape;910;p32"/>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911" name="Google Shape;911;p32"/>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30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916" name="Shape 916"/>
        <p:cNvGrpSpPr/>
        <p:nvPr/>
      </p:nvGrpSpPr>
      <p:grpSpPr>
        <a:xfrm>
          <a:off x="0" y="0"/>
          <a:ext cx="0" cy="0"/>
          <a:chOff x="0" y="0"/>
          <a:chExt cx="0" cy="0"/>
        </a:xfrm>
      </p:grpSpPr>
      <p:sp>
        <p:nvSpPr>
          <p:cNvPr id="917" name="Google Shape;917;p33"/>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05 · QUANTIZATION</a:t>
            </a:r>
            <a:endParaRPr b="0" i="0" sz="800" u="none" cap="none" strike="noStrike">
              <a:solidFill>
                <a:schemeClr val="dk1"/>
              </a:solidFill>
              <a:latin typeface="Calibri"/>
              <a:ea typeface="Calibri"/>
              <a:cs typeface="Calibri"/>
              <a:sym typeface="Calibri"/>
            </a:endParaRPr>
          </a:p>
        </p:txBody>
      </p:sp>
      <p:sp>
        <p:nvSpPr>
          <p:cNvPr id="918" name="Google Shape;918;p33"/>
          <p:cNvSpPr/>
          <p:nvPr/>
        </p:nvSpPr>
        <p:spPr>
          <a:xfrm>
            <a:off x="457200" y="603647"/>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Common Quantization Tooling</a:t>
            </a:r>
            <a:endParaRPr b="0" i="0" sz="2250" u="none" cap="none" strike="noStrike">
              <a:solidFill>
                <a:schemeClr val="dk1"/>
              </a:solidFill>
              <a:latin typeface="Calibri"/>
              <a:ea typeface="Calibri"/>
              <a:cs typeface="Calibri"/>
              <a:sym typeface="Calibri"/>
            </a:endParaRPr>
          </a:p>
        </p:txBody>
      </p:sp>
      <p:sp>
        <p:nvSpPr>
          <p:cNvPr id="919" name="Google Shape;919;p33"/>
          <p:cNvSpPr/>
          <p:nvPr/>
        </p:nvSpPr>
        <p:spPr>
          <a:xfrm>
            <a:off x="457200" y="1003697"/>
            <a:ext cx="8229600" cy="22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94A3B8"/>
                </a:solidFill>
                <a:latin typeface="Carlito"/>
                <a:ea typeface="Carlito"/>
                <a:cs typeface="Carlito"/>
                <a:sym typeface="Carlito"/>
              </a:rPr>
              <a:t>The three libraries you’ll encounter most often in modern </a:t>
            </a:r>
            <a:r>
              <a:rPr b="1" lang="en-US" sz="1100">
                <a:solidFill>
                  <a:srgbClr val="F0B429"/>
                </a:solidFill>
                <a:latin typeface="Carlito"/>
                <a:ea typeface="Carlito"/>
                <a:cs typeface="Carlito"/>
                <a:sym typeface="Carlito"/>
              </a:rPr>
              <a:t>PyTorch</a:t>
            </a:r>
            <a:r>
              <a:rPr b="0" lang="en-US" sz="1100">
                <a:solidFill>
                  <a:srgbClr val="94A3B8"/>
                </a:solidFill>
                <a:latin typeface="Carlito"/>
                <a:ea typeface="Carlito"/>
                <a:cs typeface="Carlito"/>
                <a:sym typeface="Carlito"/>
              </a:rPr>
              <a:t> workflows.</a:t>
            </a:r>
            <a:endParaRPr b="0" sz="1100">
              <a:solidFill>
                <a:srgbClr val="94A3B8"/>
              </a:solidFill>
              <a:latin typeface="Carlito"/>
              <a:ea typeface="Carlito"/>
              <a:cs typeface="Carlito"/>
              <a:sym typeface="Carlito"/>
            </a:endParaRPr>
          </a:p>
        </p:txBody>
      </p:sp>
      <p:grpSp>
        <p:nvGrpSpPr>
          <p:cNvPr id="920" name="Google Shape;920;p33"/>
          <p:cNvGrpSpPr/>
          <p:nvPr/>
        </p:nvGrpSpPr>
        <p:grpSpPr>
          <a:xfrm>
            <a:off x="457200" y="1333500"/>
            <a:ext cx="2590800" cy="2762400"/>
            <a:chOff x="457200" y="1333500"/>
            <a:chExt cx="2590800" cy="2762400"/>
          </a:xfrm>
        </p:grpSpPr>
        <p:sp>
          <p:nvSpPr>
            <p:cNvPr id="921" name="Google Shape;921;p33"/>
            <p:cNvSpPr/>
            <p:nvPr/>
          </p:nvSpPr>
          <p:spPr>
            <a:xfrm>
              <a:off x="457200" y="1333500"/>
              <a:ext cx="2590800" cy="2762400"/>
            </a:xfrm>
            <a:prstGeom prst="roundRect">
              <a:avLst>
                <a:gd fmla="val 2941" name="adj"/>
              </a:avLst>
            </a:prstGeom>
            <a:solidFill>
              <a:srgbClr val="111E30"/>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2" name="Google Shape;922;p33"/>
            <p:cNvSpPr/>
            <p:nvPr/>
          </p:nvSpPr>
          <p:spPr>
            <a:xfrm>
              <a:off x="457200" y="1333500"/>
              <a:ext cx="25908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3" name="Google Shape;923;p33"/>
            <p:cNvSpPr/>
            <p:nvPr/>
          </p:nvSpPr>
          <p:spPr>
            <a:xfrm>
              <a:off x="571500" y="1543050"/>
              <a:ext cx="342900" cy="342900"/>
            </a:xfrm>
            <a:prstGeom prst="ellipse">
              <a:avLst/>
            </a:prstGeom>
            <a:solidFill>
              <a:srgbClr val="F0B429">
                <a:alpha val="10000"/>
              </a:srgbClr>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4" name="Google Shape;924;p33"/>
            <p:cNvSpPr txBox="1"/>
            <p:nvPr/>
          </p:nvSpPr>
          <p:spPr>
            <a:xfrm>
              <a:off x="571500" y="1566418"/>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600">
                  <a:solidFill>
                    <a:srgbClr val="F0B429"/>
                  </a:solidFill>
                  <a:latin typeface="Material Icons"/>
                  <a:ea typeface="Material Icons"/>
                  <a:cs typeface="Material Icons"/>
                  <a:sym typeface="Material Icons"/>
                </a:rPr>
                <a:t>auto_awesome</a:t>
              </a:r>
              <a:endParaRPr sz="1600">
                <a:solidFill>
                  <a:srgbClr val="F0B429"/>
                </a:solidFill>
                <a:latin typeface="Material Icons"/>
                <a:ea typeface="Material Icons"/>
                <a:cs typeface="Material Icons"/>
                <a:sym typeface="Material Icons"/>
              </a:endParaRPr>
            </a:p>
          </p:txBody>
        </p:sp>
        <p:sp>
          <p:nvSpPr>
            <p:cNvPr id="925" name="Google Shape;925;p33"/>
            <p:cNvSpPr txBox="1"/>
            <p:nvPr/>
          </p:nvSpPr>
          <p:spPr>
            <a:xfrm>
              <a:off x="609600" y="2000250"/>
              <a:ext cx="2286000" cy="195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HUGGING FACE ECOSYSTEM</a:t>
              </a:r>
              <a:endParaRPr b="1" sz="800">
                <a:solidFill>
                  <a:srgbClr val="F0B429"/>
                </a:solidFill>
                <a:latin typeface="Carlito"/>
                <a:ea typeface="Carlito"/>
                <a:cs typeface="Carlito"/>
                <a:sym typeface="Carlito"/>
              </a:endParaRPr>
            </a:p>
            <a:p>
              <a:pPr indent="0" lvl="0" marL="0" rtl="0" algn="l">
                <a:spcBef>
                  <a:spcPts val="300"/>
                </a:spcBef>
                <a:spcAft>
                  <a:spcPts val="0"/>
                </a:spcAft>
                <a:buNone/>
              </a:pPr>
              <a:r>
                <a:rPr b="1" lang="en-US" sz="1600">
                  <a:solidFill>
                    <a:srgbClr val="F5F1E6"/>
                  </a:solidFill>
                  <a:latin typeface="Courier New"/>
                  <a:ea typeface="Courier New"/>
                  <a:cs typeface="Courier New"/>
                  <a:sym typeface="Courier New"/>
                </a:rPr>
                <a:t>bitsandbytes</a:t>
              </a:r>
              <a:endParaRPr b="1" sz="1600">
                <a:solidFill>
                  <a:srgbClr val="F5F1E6"/>
                </a:solidFill>
                <a:latin typeface="Courier New"/>
                <a:ea typeface="Courier New"/>
                <a:cs typeface="Courier New"/>
                <a:sym typeface="Courier New"/>
              </a:endParaRPr>
            </a:p>
            <a:p>
              <a:pPr indent="0" lvl="0" marL="0" rtl="0" algn="l">
                <a:spcBef>
                  <a:spcPts val="900"/>
                </a:spcBef>
                <a:spcAft>
                  <a:spcPts val="0"/>
                </a:spcAft>
                <a:buNone/>
              </a:pPr>
              <a:r>
                <a:rPr b="0" lang="en-US" sz="950">
                  <a:solidFill>
                    <a:srgbClr val="94A3B8"/>
                  </a:solidFill>
                  <a:latin typeface="Carlito"/>
                  <a:ea typeface="Carlito"/>
                  <a:cs typeface="Carlito"/>
                  <a:sym typeface="Carlito"/>
                </a:rPr>
                <a:t>Widely used with Hugging Face Transformers for </a:t>
              </a:r>
              <a:r>
                <a:rPr b="1" lang="en-US" sz="950">
                  <a:solidFill>
                    <a:srgbClr val="F0B429"/>
                  </a:solidFill>
                  <a:latin typeface="Carlito"/>
                  <a:ea typeface="Carlito"/>
                  <a:cs typeface="Carlito"/>
                  <a:sym typeface="Carlito"/>
                </a:rPr>
                <a:t>8-bit</a:t>
              </a:r>
              <a:r>
                <a:rPr b="0" lang="en-US" sz="950">
                  <a:solidFill>
                    <a:srgbClr val="94A3B8"/>
                  </a:solidFill>
                  <a:latin typeface="Carlito"/>
                  <a:ea typeface="Carlito"/>
                  <a:cs typeface="Carlito"/>
                  <a:sym typeface="Carlito"/>
                </a:rPr>
                <a:t> and </a:t>
              </a:r>
              <a:r>
                <a:rPr b="1" lang="en-US" sz="950">
                  <a:solidFill>
                    <a:srgbClr val="F0B429"/>
                  </a:solidFill>
                  <a:latin typeface="Carlito"/>
                  <a:ea typeface="Carlito"/>
                  <a:cs typeface="Carlito"/>
                  <a:sym typeface="Carlito"/>
                </a:rPr>
                <a:t>4-bit</a:t>
              </a:r>
              <a:r>
                <a:rPr b="0" lang="en-US" sz="950">
                  <a:solidFill>
                    <a:srgbClr val="94A3B8"/>
                  </a:solidFill>
                  <a:latin typeface="Carlito"/>
                  <a:ea typeface="Carlito"/>
                  <a:cs typeface="Carlito"/>
                  <a:sym typeface="Carlito"/>
                </a:rPr>
                <a:t> loading, including the format used inside </a:t>
              </a:r>
              <a:r>
                <a:rPr b="0" lang="en-US" sz="950">
                  <a:solidFill>
                    <a:srgbClr val="F0B429"/>
                  </a:solidFill>
                  <a:latin typeface="Courier New"/>
                  <a:ea typeface="Courier New"/>
                  <a:cs typeface="Courier New"/>
                  <a:sym typeface="Courier New"/>
                </a:rPr>
                <a:t>QLoRA</a:t>
              </a:r>
              <a:r>
                <a:rPr b="0" lang="en-US" sz="950">
                  <a:solidFill>
                    <a:srgbClr val="94A3B8"/>
                  </a:solidFill>
                  <a:latin typeface="Carlito"/>
                  <a:ea typeface="Carlito"/>
                  <a:cs typeface="Carlito"/>
                  <a:sym typeface="Carlito"/>
                </a:rPr>
                <a:t>.</a:t>
              </a:r>
              <a:endParaRPr b="0" sz="950">
                <a:solidFill>
                  <a:srgbClr val="94A3B8"/>
                </a:solidFill>
                <a:latin typeface="Carlito"/>
                <a:ea typeface="Carlito"/>
                <a:cs typeface="Carlito"/>
                <a:sym typeface="Carlito"/>
              </a:endParaRPr>
            </a:p>
            <a:p>
              <a:pPr indent="0" lvl="0" marL="0" rtl="0" algn="l">
                <a:spcBef>
                  <a:spcPts val="600"/>
                </a:spcBef>
                <a:spcAft>
                  <a:spcPts val="0"/>
                </a:spcAft>
                <a:buNone/>
              </a:pPr>
              <a:r>
                <a:rPr b="0" lang="en-US" sz="950">
                  <a:solidFill>
                    <a:srgbClr val="94A3B8"/>
                  </a:solidFill>
                  <a:latin typeface="Carlito"/>
                  <a:ea typeface="Carlito"/>
                  <a:cs typeface="Carlito"/>
                  <a:sym typeface="Carlito"/>
                </a:rPr>
                <a:t>The default choice for low-bit LLM loading in the open-source community.</a:t>
              </a:r>
              <a:endParaRPr b="0" sz="950">
                <a:solidFill>
                  <a:srgbClr val="94A3B8"/>
                </a:solidFill>
                <a:latin typeface="Carlito"/>
                <a:ea typeface="Carlito"/>
                <a:cs typeface="Carlito"/>
                <a:sym typeface="Carlito"/>
              </a:endParaRPr>
            </a:p>
          </p:txBody>
        </p:sp>
      </p:grpSp>
      <p:grpSp>
        <p:nvGrpSpPr>
          <p:cNvPr id="926" name="Google Shape;926;p33"/>
          <p:cNvGrpSpPr/>
          <p:nvPr/>
        </p:nvGrpSpPr>
        <p:grpSpPr>
          <a:xfrm>
            <a:off x="3276600" y="1333500"/>
            <a:ext cx="2590800" cy="2762400"/>
            <a:chOff x="3276600" y="1333500"/>
            <a:chExt cx="2590800" cy="2762400"/>
          </a:xfrm>
        </p:grpSpPr>
        <p:sp>
          <p:nvSpPr>
            <p:cNvPr id="927" name="Google Shape;927;p33"/>
            <p:cNvSpPr/>
            <p:nvPr/>
          </p:nvSpPr>
          <p:spPr>
            <a:xfrm>
              <a:off x="3276600" y="1333500"/>
              <a:ext cx="2590800" cy="2762400"/>
            </a:xfrm>
            <a:prstGeom prst="roundRect">
              <a:avLst>
                <a:gd fmla="val 2941" name="adj"/>
              </a:avLst>
            </a:prstGeom>
            <a:solidFill>
              <a:srgbClr val="111E30"/>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8" name="Google Shape;928;p33"/>
            <p:cNvSpPr/>
            <p:nvPr/>
          </p:nvSpPr>
          <p:spPr>
            <a:xfrm>
              <a:off x="3276600" y="1333500"/>
              <a:ext cx="25908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9" name="Google Shape;929;p33"/>
            <p:cNvSpPr/>
            <p:nvPr/>
          </p:nvSpPr>
          <p:spPr>
            <a:xfrm>
              <a:off x="3390900" y="1543050"/>
              <a:ext cx="342900" cy="342900"/>
            </a:xfrm>
            <a:prstGeom prst="ellipse">
              <a:avLst/>
            </a:prstGeom>
            <a:solidFill>
              <a:srgbClr val="F0B429">
                <a:alpha val="10000"/>
              </a:srgbClr>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0" name="Google Shape;930;p33"/>
            <p:cNvSpPr txBox="1"/>
            <p:nvPr/>
          </p:nvSpPr>
          <p:spPr>
            <a:xfrm>
              <a:off x="3390900" y="1566418"/>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600">
                  <a:solidFill>
                    <a:srgbClr val="F0B429"/>
                  </a:solidFill>
                  <a:latin typeface="Material Icons"/>
                  <a:ea typeface="Material Icons"/>
                  <a:cs typeface="Material Icons"/>
                  <a:sym typeface="Material Icons"/>
                </a:rPr>
                <a:t>psychology</a:t>
              </a:r>
              <a:endParaRPr sz="1600">
                <a:solidFill>
                  <a:srgbClr val="F0B429"/>
                </a:solidFill>
                <a:latin typeface="Material Icons"/>
                <a:ea typeface="Material Icons"/>
                <a:cs typeface="Material Icons"/>
                <a:sym typeface="Material Icons"/>
              </a:endParaRPr>
            </a:p>
          </p:txBody>
        </p:sp>
        <p:sp>
          <p:nvSpPr>
            <p:cNvPr id="931" name="Google Shape;931;p33"/>
            <p:cNvSpPr txBox="1"/>
            <p:nvPr/>
          </p:nvSpPr>
          <p:spPr>
            <a:xfrm>
              <a:off x="3429000" y="2000250"/>
              <a:ext cx="2286000" cy="195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LLM-SPECIFIC</a:t>
              </a:r>
              <a:endParaRPr b="1" sz="800">
                <a:solidFill>
                  <a:srgbClr val="F0B429"/>
                </a:solidFill>
                <a:latin typeface="Carlito"/>
                <a:ea typeface="Carlito"/>
                <a:cs typeface="Carlito"/>
                <a:sym typeface="Carlito"/>
              </a:endParaRPr>
            </a:p>
            <a:p>
              <a:pPr indent="0" lvl="0" marL="0" rtl="0" algn="l">
                <a:spcBef>
                  <a:spcPts val="300"/>
                </a:spcBef>
                <a:spcAft>
                  <a:spcPts val="0"/>
                </a:spcAft>
                <a:buNone/>
              </a:pPr>
              <a:r>
                <a:rPr b="1" lang="en-US" sz="1600">
                  <a:solidFill>
                    <a:srgbClr val="F5F1E6"/>
                  </a:solidFill>
                  <a:latin typeface="Courier New"/>
                  <a:ea typeface="Courier New"/>
                  <a:cs typeface="Courier New"/>
                  <a:sym typeface="Courier New"/>
                </a:rPr>
                <a:t>GPTQ</a:t>
              </a:r>
              <a:endParaRPr b="1" sz="1600">
                <a:solidFill>
                  <a:srgbClr val="F5F1E6"/>
                </a:solidFill>
                <a:latin typeface="Courier New"/>
                <a:ea typeface="Courier New"/>
                <a:cs typeface="Courier New"/>
                <a:sym typeface="Courier New"/>
              </a:endParaRPr>
            </a:p>
            <a:p>
              <a:pPr indent="0" lvl="0" marL="0" rtl="0" algn="l">
                <a:spcBef>
                  <a:spcPts val="900"/>
                </a:spcBef>
                <a:spcAft>
                  <a:spcPts val="0"/>
                </a:spcAft>
                <a:buNone/>
              </a:pPr>
              <a:r>
                <a:rPr b="0" lang="en-US" sz="950">
                  <a:solidFill>
                    <a:srgbClr val="94A3B8"/>
                  </a:solidFill>
                  <a:latin typeface="Carlito"/>
                  <a:ea typeface="Carlito"/>
                  <a:cs typeface="Carlito"/>
                  <a:sym typeface="Carlito"/>
                </a:rPr>
                <a:t>A post-training quantization method specifically designed for large language models.</a:t>
              </a:r>
              <a:endParaRPr b="0" sz="950">
                <a:solidFill>
                  <a:srgbClr val="94A3B8"/>
                </a:solidFill>
                <a:latin typeface="Carlito"/>
                <a:ea typeface="Carlito"/>
                <a:cs typeface="Carlito"/>
                <a:sym typeface="Carlito"/>
              </a:endParaRPr>
            </a:p>
            <a:p>
              <a:pPr indent="0" lvl="0" marL="0" rtl="0" algn="l">
                <a:spcBef>
                  <a:spcPts val="600"/>
                </a:spcBef>
                <a:spcAft>
                  <a:spcPts val="0"/>
                </a:spcAft>
                <a:buNone/>
              </a:pPr>
              <a:r>
                <a:rPr b="0" lang="en-US" sz="950">
                  <a:solidFill>
                    <a:srgbClr val="94A3B8"/>
                  </a:solidFill>
                  <a:latin typeface="Carlito"/>
                  <a:ea typeface="Carlito"/>
                  <a:cs typeface="Carlito"/>
                  <a:sym typeface="Carlito"/>
                </a:rPr>
                <a:t>Minimizes accuracy loss at very low bit-widths (down to </a:t>
              </a:r>
              <a:r>
                <a:rPr b="1" lang="en-US" sz="950">
                  <a:solidFill>
                    <a:srgbClr val="F0B429"/>
                  </a:solidFill>
                  <a:latin typeface="Carlito"/>
                  <a:ea typeface="Carlito"/>
                  <a:cs typeface="Carlito"/>
                  <a:sym typeface="Carlito"/>
                </a:rPr>
                <a:t>4-bit</a:t>
              </a:r>
              <a:r>
                <a:rPr b="0" lang="en-US" sz="950">
                  <a:solidFill>
                    <a:srgbClr val="94A3B8"/>
                  </a:solidFill>
                  <a:latin typeface="Carlito"/>
                  <a:ea typeface="Carlito"/>
                  <a:cs typeface="Carlito"/>
                  <a:sym typeface="Carlito"/>
                </a:rPr>
                <a:t> or lower) using a calibration-based approach.</a:t>
              </a:r>
              <a:endParaRPr b="0" sz="950">
                <a:solidFill>
                  <a:srgbClr val="94A3B8"/>
                </a:solidFill>
                <a:latin typeface="Carlito"/>
                <a:ea typeface="Carlito"/>
                <a:cs typeface="Carlito"/>
                <a:sym typeface="Carlito"/>
              </a:endParaRPr>
            </a:p>
          </p:txBody>
        </p:sp>
      </p:grpSp>
      <p:grpSp>
        <p:nvGrpSpPr>
          <p:cNvPr id="932" name="Google Shape;932;p33"/>
          <p:cNvGrpSpPr/>
          <p:nvPr/>
        </p:nvGrpSpPr>
        <p:grpSpPr>
          <a:xfrm>
            <a:off x="6096000" y="1333500"/>
            <a:ext cx="2590800" cy="2762400"/>
            <a:chOff x="6096000" y="1333500"/>
            <a:chExt cx="2590800" cy="2762400"/>
          </a:xfrm>
        </p:grpSpPr>
        <p:sp>
          <p:nvSpPr>
            <p:cNvPr id="933" name="Google Shape;933;p33"/>
            <p:cNvSpPr/>
            <p:nvPr/>
          </p:nvSpPr>
          <p:spPr>
            <a:xfrm>
              <a:off x="6096000" y="1333500"/>
              <a:ext cx="2590800" cy="2762400"/>
            </a:xfrm>
            <a:prstGeom prst="roundRect">
              <a:avLst>
                <a:gd fmla="val 2941" name="adj"/>
              </a:avLst>
            </a:prstGeom>
            <a:solidFill>
              <a:srgbClr val="111E30"/>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4" name="Google Shape;934;p33"/>
            <p:cNvSpPr/>
            <p:nvPr/>
          </p:nvSpPr>
          <p:spPr>
            <a:xfrm>
              <a:off x="6096000" y="1333500"/>
              <a:ext cx="25908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5" name="Google Shape;935;p33"/>
            <p:cNvSpPr/>
            <p:nvPr/>
          </p:nvSpPr>
          <p:spPr>
            <a:xfrm>
              <a:off x="6210300" y="1543050"/>
              <a:ext cx="342900" cy="342900"/>
            </a:xfrm>
            <a:prstGeom prst="ellipse">
              <a:avLst/>
            </a:prstGeom>
            <a:solidFill>
              <a:srgbClr val="F0B429">
                <a:alpha val="10000"/>
              </a:srgbClr>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6" name="Google Shape;936;p33"/>
            <p:cNvSpPr txBox="1"/>
            <p:nvPr/>
          </p:nvSpPr>
          <p:spPr>
            <a:xfrm>
              <a:off x="6210300" y="1566418"/>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600">
                  <a:solidFill>
                    <a:srgbClr val="F0B429"/>
                  </a:solidFill>
                  <a:latin typeface="Material Icons"/>
                  <a:ea typeface="Material Icons"/>
                  <a:cs typeface="Material Icons"/>
                  <a:sym typeface="Material Icons"/>
                </a:rPr>
                <a:t>speed</a:t>
              </a:r>
              <a:endParaRPr sz="1600">
                <a:solidFill>
                  <a:srgbClr val="F0B429"/>
                </a:solidFill>
                <a:latin typeface="Material Icons"/>
                <a:ea typeface="Material Icons"/>
                <a:cs typeface="Material Icons"/>
                <a:sym typeface="Material Icons"/>
              </a:endParaRPr>
            </a:p>
          </p:txBody>
        </p:sp>
        <p:sp>
          <p:nvSpPr>
            <p:cNvPr id="937" name="Google Shape;937;p33"/>
            <p:cNvSpPr txBox="1"/>
            <p:nvPr/>
          </p:nvSpPr>
          <p:spPr>
            <a:xfrm>
              <a:off x="6248400" y="2000250"/>
              <a:ext cx="2286000" cy="195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DEPLOYMENT ECOSYSTEM</a:t>
              </a:r>
              <a:endParaRPr b="1" sz="800">
                <a:solidFill>
                  <a:srgbClr val="F0B429"/>
                </a:solidFill>
                <a:latin typeface="Carlito"/>
                <a:ea typeface="Carlito"/>
                <a:cs typeface="Carlito"/>
                <a:sym typeface="Carlito"/>
              </a:endParaRPr>
            </a:p>
            <a:p>
              <a:pPr indent="0" lvl="0" marL="0" rtl="0" algn="l">
                <a:spcBef>
                  <a:spcPts val="300"/>
                </a:spcBef>
                <a:spcAft>
                  <a:spcPts val="0"/>
                </a:spcAft>
                <a:buNone/>
              </a:pPr>
              <a:r>
                <a:rPr b="1" lang="en-US" sz="1600">
                  <a:solidFill>
                    <a:srgbClr val="F5F1E6"/>
                  </a:solidFill>
                  <a:latin typeface="Courier New"/>
                  <a:ea typeface="Courier New"/>
                  <a:cs typeface="Courier New"/>
                  <a:sym typeface="Courier New"/>
                </a:rPr>
                <a:t>ONNX Runtime</a:t>
              </a:r>
              <a:endParaRPr b="1" sz="1600">
                <a:solidFill>
                  <a:srgbClr val="F5F1E6"/>
                </a:solidFill>
                <a:latin typeface="Courier New"/>
                <a:ea typeface="Courier New"/>
                <a:cs typeface="Courier New"/>
                <a:sym typeface="Courier New"/>
              </a:endParaRPr>
            </a:p>
            <a:p>
              <a:pPr indent="0" lvl="0" marL="0" rtl="0" algn="l">
                <a:spcBef>
                  <a:spcPts val="900"/>
                </a:spcBef>
                <a:spcAft>
                  <a:spcPts val="0"/>
                </a:spcAft>
                <a:buNone/>
              </a:pPr>
              <a:r>
                <a:rPr b="0" lang="en-US" sz="950">
                  <a:solidFill>
                    <a:srgbClr val="94A3B8"/>
                  </a:solidFill>
                  <a:latin typeface="Carlito"/>
                  <a:ea typeface="Carlito"/>
                  <a:cs typeface="Carlito"/>
                  <a:sym typeface="Carlito"/>
                </a:rPr>
                <a:t>Built into the </a:t>
              </a:r>
              <a:r>
                <a:rPr b="0" lang="en-US" sz="950">
                  <a:solidFill>
                    <a:srgbClr val="F0B429"/>
                  </a:solidFill>
                  <a:latin typeface="Courier New"/>
                  <a:ea typeface="Courier New"/>
                  <a:cs typeface="Courier New"/>
                  <a:sym typeface="Courier New"/>
                </a:rPr>
                <a:t>ONNX</a:t>
              </a:r>
              <a:r>
                <a:rPr b="0" lang="en-US" sz="950">
                  <a:solidFill>
                    <a:srgbClr val="94A3B8"/>
                  </a:solidFill>
                  <a:latin typeface="Carlito"/>
                  <a:ea typeface="Carlito"/>
                  <a:cs typeface="Carlito"/>
                  <a:sym typeface="Carlito"/>
                </a:rPr>
                <a:t> ecosystem. Quantizes a model as part of preparing it for deployment across multiple hardware targets.</a:t>
              </a:r>
              <a:endParaRPr b="0" sz="950">
                <a:solidFill>
                  <a:srgbClr val="94A3B8"/>
                </a:solidFill>
                <a:latin typeface="Carlito"/>
                <a:ea typeface="Carlito"/>
                <a:cs typeface="Carlito"/>
                <a:sym typeface="Carlito"/>
              </a:endParaRPr>
            </a:p>
            <a:p>
              <a:pPr indent="0" lvl="0" marL="0" rtl="0" algn="l">
                <a:spcBef>
                  <a:spcPts val="600"/>
                </a:spcBef>
                <a:spcAft>
                  <a:spcPts val="0"/>
                </a:spcAft>
                <a:buNone/>
              </a:pPr>
              <a:r>
                <a:rPr b="0" lang="en-US" sz="950">
                  <a:solidFill>
                    <a:srgbClr val="94A3B8"/>
                  </a:solidFill>
                  <a:latin typeface="Carlito"/>
                  <a:ea typeface="Carlito"/>
                  <a:cs typeface="Carlito"/>
                  <a:sym typeface="Carlito"/>
                </a:rPr>
                <a:t>Pairs naturally with the </a:t>
              </a:r>
              <a:r>
                <a:rPr b="0" lang="en-US" sz="950">
                  <a:solidFill>
                    <a:srgbClr val="F0B429"/>
                  </a:solidFill>
                  <a:latin typeface="Courier New"/>
                  <a:ea typeface="Courier New"/>
                  <a:cs typeface="Courier New"/>
                  <a:sym typeface="Courier New"/>
                </a:rPr>
                <a:t>ONNX</a:t>
              </a:r>
              <a:r>
                <a:rPr b="0" lang="en-US" sz="950">
                  <a:solidFill>
                    <a:srgbClr val="94A3B8"/>
                  </a:solidFill>
                  <a:latin typeface="Carlito"/>
                  <a:ea typeface="Carlito"/>
                  <a:cs typeface="Carlito"/>
                  <a:sym typeface="Carlito"/>
                </a:rPr>
                <a:t> export flow covered in Part Six.</a:t>
              </a:r>
              <a:endParaRPr b="0" sz="950">
                <a:solidFill>
                  <a:srgbClr val="94A3B8"/>
                </a:solidFill>
                <a:latin typeface="Carlito"/>
                <a:ea typeface="Carlito"/>
                <a:cs typeface="Carlito"/>
                <a:sym typeface="Carlito"/>
              </a:endParaRPr>
            </a:p>
          </p:txBody>
        </p:sp>
      </p:grpSp>
      <p:grpSp>
        <p:nvGrpSpPr>
          <p:cNvPr id="938" name="Google Shape;938;p33"/>
          <p:cNvGrpSpPr/>
          <p:nvPr/>
        </p:nvGrpSpPr>
        <p:grpSpPr>
          <a:xfrm>
            <a:off x="457200" y="4286250"/>
            <a:ext cx="8229600" cy="381000"/>
            <a:chOff x="457200" y="4286250"/>
            <a:chExt cx="8229600" cy="381000"/>
          </a:xfrm>
        </p:grpSpPr>
        <p:sp>
          <p:nvSpPr>
            <p:cNvPr id="939" name="Google Shape;939;p33"/>
            <p:cNvSpPr/>
            <p:nvPr/>
          </p:nvSpPr>
          <p:spPr>
            <a:xfrm>
              <a:off x="457200" y="4286250"/>
              <a:ext cx="8229600" cy="381000"/>
            </a:xfrm>
            <a:prstGeom prst="roundRect">
              <a:avLst>
                <a:gd fmla="val 15000" name="adj"/>
              </a:avLst>
            </a:prstGeom>
            <a:solidFill>
              <a:srgbClr val="F0B429">
                <a:alpha val="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940" name="Google Shape;940;p33"/>
            <p:cNvCxnSpPr/>
            <p:nvPr/>
          </p:nvCxnSpPr>
          <p:spPr>
            <a:xfrm>
              <a:off x="471488" y="4286250"/>
              <a:ext cx="0" cy="381000"/>
            </a:xfrm>
            <a:prstGeom prst="straightConnector1">
              <a:avLst/>
            </a:prstGeom>
            <a:solidFill>
              <a:srgbClr val="FFFFFF"/>
            </a:solidFill>
            <a:ln cap="flat" cmpd="sng" w="28575">
              <a:solidFill>
                <a:srgbClr val="F0B429"/>
              </a:solidFill>
              <a:prstDash val="solid"/>
              <a:round/>
              <a:headEnd len="sm" w="sm" type="none"/>
              <a:tailEnd len="sm" w="sm" type="none"/>
            </a:ln>
          </p:spPr>
        </p:cxnSp>
        <p:sp>
          <p:nvSpPr>
            <p:cNvPr id="941" name="Google Shape;941;p33"/>
            <p:cNvSpPr txBox="1"/>
            <p:nvPr/>
          </p:nvSpPr>
          <p:spPr>
            <a:xfrm>
              <a:off x="609600" y="4382897"/>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00">
                  <a:solidFill>
                    <a:srgbClr val="F0B429"/>
                  </a:solidFill>
                  <a:latin typeface="Material Icons"/>
                  <a:ea typeface="Material Icons"/>
                  <a:cs typeface="Material Icons"/>
                  <a:sym typeface="Material Icons"/>
                </a:rPr>
                <a:t>info</a:t>
              </a:r>
              <a:endParaRPr sz="1400">
                <a:solidFill>
                  <a:srgbClr val="F0B429"/>
                </a:solidFill>
                <a:latin typeface="Material Icons"/>
                <a:ea typeface="Material Icons"/>
                <a:cs typeface="Material Icons"/>
                <a:sym typeface="Material Icons"/>
              </a:endParaRPr>
            </a:p>
          </p:txBody>
        </p:sp>
        <p:sp>
          <p:nvSpPr>
            <p:cNvPr id="942" name="Google Shape;942;p33"/>
            <p:cNvSpPr txBox="1"/>
            <p:nvPr/>
          </p:nvSpPr>
          <p:spPr>
            <a:xfrm>
              <a:off x="876300" y="4286250"/>
              <a:ext cx="7658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950">
                  <a:solidFill>
                    <a:srgbClr val="94A3B8"/>
                  </a:solidFill>
                  <a:latin typeface="Carlito"/>
                  <a:ea typeface="Carlito"/>
                  <a:cs typeface="Carlito"/>
                  <a:sym typeface="Carlito"/>
                </a:rPr>
                <a:t>Other formats like </a:t>
              </a:r>
              <a:r>
                <a:rPr b="1" lang="en-US" sz="950">
                  <a:solidFill>
                    <a:srgbClr val="F0B429"/>
                  </a:solidFill>
                  <a:latin typeface="Courier New"/>
                  <a:ea typeface="Courier New"/>
                  <a:cs typeface="Courier New"/>
                  <a:sym typeface="Courier New"/>
                </a:rPr>
                <a:t>NF4</a:t>
              </a:r>
              <a:r>
                <a:rPr lang="en-US" sz="950">
                  <a:solidFill>
                    <a:srgbClr val="94A3B8"/>
                  </a:solidFill>
                  <a:latin typeface="Carlito"/>
                  <a:ea typeface="Carlito"/>
                  <a:cs typeface="Carlito"/>
                  <a:sym typeface="Carlito"/>
                </a:rPr>
                <a:t> (used inside </a:t>
              </a:r>
              <a:r>
                <a:rPr lang="en-US" sz="950">
                  <a:solidFill>
                    <a:srgbClr val="F0B429"/>
                  </a:solidFill>
                  <a:latin typeface="Courier New"/>
                  <a:ea typeface="Courier New"/>
                  <a:cs typeface="Courier New"/>
                  <a:sym typeface="Courier New"/>
                </a:rPr>
                <a:t>QLoRA</a:t>
              </a:r>
              <a:r>
                <a:rPr lang="en-US" sz="950">
                  <a:solidFill>
                    <a:srgbClr val="94A3B8"/>
                  </a:solidFill>
                  <a:latin typeface="Carlito"/>
                  <a:ea typeface="Carlito"/>
                  <a:cs typeface="Carlito"/>
                  <a:sym typeface="Carlito"/>
                </a:rPr>
                <a:t>) round out the low-bit landscape for LLMs.</a:t>
              </a:r>
              <a:endParaRPr sz="950">
                <a:solidFill>
                  <a:srgbClr val="94A3B8"/>
                </a:solidFill>
                <a:latin typeface="Carlito"/>
                <a:ea typeface="Carlito"/>
                <a:cs typeface="Carlito"/>
                <a:sym typeface="Carlito"/>
              </a:endParaRPr>
            </a:p>
          </p:txBody>
        </p:sp>
      </p:grpSp>
      <p:sp>
        <p:nvSpPr>
          <p:cNvPr id="943" name="Google Shape;943;p33"/>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944" name="Google Shape;944;p33"/>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31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949" name="Shape 949"/>
        <p:cNvGrpSpPr/>
        <p:nvPr/>
      </p:nvGrpSpPr>
      <p:grpSpPr>
        <a:xfrm>
          <a:off x="0" y="0"/>
          <a:ext cx="0" cy="0"/>
          <a:chOff x="0" y="0"/>
          <a:chExt cx="0" cy="0"/>
        </a:xfrm>
      </p:grpSpPr>
      <p:sp>
        <p:nvSpPr>
          <p:cNvPr id="950" name="Google Shape;950;p34"/>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Carlito"/>
              <a:buNone/>
            </a:pPr>
            <a:r>
              <a:rPr b="0" i="0" lang="en-US" sz="800" u="none" cap="none" strike="noStrike">
                <a:solidFill>
                  <a:srgbClr val="F0B429"/>
                </a:solidFill>
                <a:latin typeface="Carlito"/>
                <a:ea typeface="Carlito"/>
                <a:cs typeface="Carlito"/>
                <a:sym typeface="Carlito"/>
              </a:rPr>
              <a:t>PART 05 · QUANTIZATION · ANTICIPATED Q&amp;A</a:t>
            </a:r>
            <a:endParaRPr b="0" i="0" sz="800" u="none" cap="none" strike="noStrike">
              <a:solidFill>
                <a:schemeClr val="dk1"/>
              </a:solidFill>
              <a:latin typeface="Calibri"/>
              <a:ea typeface="Calibri"/>
              <a:cs typeface="Calibri"/>
              <a:sym typeface="Calibri"/>
            </a:endParaRPr>
          </a:p>
        </p:txBody>
      </p:sp>
      <p:sp>
        <p:nvSpPr>
          <p:cNvPr id="951" name="Google Shape;951;p34"/>
          <p:cNvSpPr/>
          <p:nvPr/>
        </p:nvSpPr>
        <p:spPr>
          <a:xfrm>
            <a:off x="457200" y="603647"/>
            <a:ext cx="8636100" cy="277800"/>
          </a:xfrm>
          <a:prstGeom prst="rect">
            <a:avLst/>
          </a:prstGeom>
          <a:noFill/>
          <a:ln>
            <a:noFill/>
          </a:ln>
        </p:spPr>
        <p:txBody>
          <a:bodyPr anchorCtr="0" anchor="t" bIns="0" lIns="0" spcFirstLastPara="1" rIns="0" wrap="square" tIns="0">
            <a:noAutofit/>
          </a:bodyPr>
          <a:lstStyle/>
          <a:p>
            <a:pPr indent="0" lvl="0" marL="0" marR="0" rtl="0" algn="l">
              <a:lnSpc>
                <a:spcPct val="120035"/>
              </a:lnSpc>
              <a:spcBef>
                <a:spcPts val="0"/>
              </a:spcBef>
              <a:spcAft>
                <a:spcPts val="0"/>
              </a:spcAft>
              <a:buClr>
                <a:srgbClr val="F5F1E6"/>
              </a:buClr>
              <a:buSzPts val="1687"/>
              <a:buFont typeface="Carlito"/>
              <a:buNone/>
            </a:pPr>
            <a:r>
              <a:rPr b="0" i="0" lang="en-US" sz="1688" u="none" cap="none" strike="noStrike">
                <a:solidFill>
                  <a:srgbClr val="F5F1E6"/>
                </a:solidFill>
                <a:latin typeface="Carlito"/>
                <a:ea typeface="Carlito"/>
                <a:cs typeface="Carlito"/>
                <a:sym typeface="Carlito"/>
              </a:rPr>
              <a:t>Likely Faculty Question</a:t>
            </a:r>
            <a:endParaRPr b="0" i="0" sz="1688" u="none" cap="none" strike="noStrike">
              <a:solidFill>
                <a:schemeClr val="dk1"/>
              </a:solidFill>
              <a:latin typeface="Calibri"/>
              <a:ea typeface="Calibri"/>
              <a:cs typeface="Calibri"/>
              <a:sym typeface="Calibri"/>
            </a:endParaRPr>
          </a:p>
        </p:txBody>
      </p:sp>
      <p:grpSp>
        <p:nvGrpSpPr>
          <p:cNvPr id="952" name="Google Shape;952;p34"/>
          <p:cNvGrpSpPr/>
          <p:nvPr/>
        </p:nvGrpSpPr>
        <p:grpSpPr>
          <a:xfrm>
            <a:off x="457200" y="1000125"/>
            <a:ext cx="8229600" cy="809700"/>
            <a:chOff x="457200" y="1000125"/>
            <a:chExt cx="8229600" cy="809700"/>
          </a:xfrm>
        </p:grpSpPr>
        <p:sp>
          <p:nvSpPr>
            <p:cNvPr id="953" name="Google Shape;953;p34"/>
            <p:cNvSpPr/>
            <p:nvPr/>
          </p:nvSpPr>
          <p:spPr>
            <a:xfrm>
              <a:off x="457200" y="1000125"/>
              <a:ext cx="8229600" cy="762000"/>
            </a:xfrm>
            <a:prstGeom prst="roundRect">
              <a:avLst>
                <a:gd fmla="val 1000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54" name="Google Shape;954;p34"/>
            <p:cNvPicPr preferRelativeResize="0"/>
            <p:nvPr/>
          </p:nvPicPr>
          <p:blipFill rotWithShape="1">
            <a:blip r:embed="rId3">
              <a:alphaModFix/>
            </a:blip>
            <a:srcRect b="0" l="0" r="0" t="0"/>
            <a:stretch/>
          </p:blipFill>
          <p:spPr>
            <a:xfrm>
              <a:off x="457200" y="1000125"/>
              <a:ext cx="76200" cy="809700"/>
            </a:xfrm>
            <a:prstGeom prst="rect">
              <a:avLst/>
            </a:prstGeom>
            <a:noFill/>
            <a:ln>
              <a:noFill/>
            </a:ln>
          </p:spPr>
        </p:pic>
        <p:sp>
          <p:nvSpPr>
            <p:cNvPr id="955" name="Google Shape;955;p34"/>
            <p:cNvSpPr txBox="1"/>
            <p:nvPr/>
          </p:nvSpPr>
          <p:spPr>
            <a:xfrm>
              <a:off x="647700" y="1095375"/>
              <a:ext cx="78486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F0B429"/>
                  </a:solidFill>
                  <a:latin typeface="Material Icons"/>
                  <a:ea typeface="Material Icons"/>
                  <a:cs typeface="Material Icons"/>
                  <a:sym typeface="Material Icons"/>
                </a:rPr>
                <a:t>help_outline </a:t>
              </a:r>
              <a:r>
                <a:rPr b="1" lang="en-US" sz="1000">
                  <a:solidFill>
                    <a:srgbClr val="F0B429"/>
                  </a:solidFill>
                  <a:latin typeface="Carlito"/>
                  <a:ea typeface="Carlito"/>
                  <a:cs typeface="Carlito"/>
                  <a:sym typeface="Carlito"/>
                </a:rPr>
                <a:t>FACULTY QUESTION</a:t>
              </a:r>
              <a:endParaRPr b="1" sz="1000">
                <a:solidFill>
                  <a:srgbClr val="F0B429"/>
                </a:solidFill>
                <a:latin typeface="Carlito"/>
                <a:ea typeface="Carlito"/>
                <a:cs typeface="Carlito"/>
                <a:sym typeface="Carlito"/>
              </a:endParaRPr>
            </a:p>
            <a:p>
              <a:pPr indent="0" lvl="0" marL="0" rtl="0" algn="l">
                <a:spcBef>
                  <a:spcPts val="450"/>
                </a:spcBef>
                <a:spcAft>
                  <a:spcPts val="0"/>
                </a:spcAft>
                <a:buNone/>
              </a:pPr>
              <a:r>
                <a:rPr b="1" lang="en-US" sz="1500">
                  <a:solidFill>
                    <a:srgbClr val="F5F1E6"/>
                  </a:solidFill>
                  <a:latin typeface="Carlito"/>
                  <a:ea typeface="Carlito"/>
                  <a:cs typeface="Carlito"/>
                  <a:sym typeface="Carlito"/>
                </a:rPr>
                <a:t>How low can you quantize before accuracy meaningfully degrades?</a:t>
              </a:r>
              <a:endParaRPr b="1" sz="1500">
                <a:solidFill>
                  <a:srgbClr val="F5F1E6"/>
                </a:solidFill>
                <a:latin typeface="Carlito"/>
                <a:ea typeface="Carlito"/>
                <a:cs typeface="Carlito"/>
                <a:sym typeface="Carlito"/>
              </a:endParaRPr>
            </a:p>
          </p:txBody>
        </p:sp>
        <p:pic>
          <p:nvPicPr>
            <p:cNvPr id="956" name="Google Shape;956;p34"/>
            <p:cNvPicPr preferRelativeResize="0"/>
            <p:nvPr/>
          </p:nvPicPr>
          <p:blipFill rotWithShape="1">
            <a:blip r:embed="rId4">
              <a:alphaModFix/>
            </a:blip>
            <a:srcRect b="0" l="0" r="0" t="0"/>
            <a:stretch/>
          </p:blipFill>
          <p:spPr>
            <a:xfrm>
              <a:off x="457200" y="1000125"/>
              <a:ext cx="76200" cy="762000"/>
            </a:xfrm>
            <a:prstGeom prst="rect">
              <a:avLst/>
            </a:prstGeom>
            <a:noFill/>
            <a:ln>
              <a:noFill/>
            </a:ln>
          </p:spPr>
        </p:pic>
      </p:grpSp>
      <p:grpSp>
        <p:nvGrpSpPr>
          <p:cNvPr id="957" name="Google Shape;957;p34"/>
          <p:cNvGrpSpPr/>
          <p:nvPr/>
        </p:nvGrpSpPr>
        <p:grpSpPr>
          <a:xfrm>
            <a:off x="457200" y="1905000"/>
            <a:ext cx="4000500" cy="2238300"/>
            <a:chOff x="457200" y="1905000"/>
            <a:chExt cx="4000500" cy="2238300"/>
          </a:xfrm>
        </p:grpSpPr>
        <p:sp>
          <p:nvSpPr>
            <p:cNvPr id="958" name="Google Shape;958;p34"/>
            <p:cNvSpPr/>
            <p:nvPr/>
          </p:nvSpPr>
          <p:spPr>
            <a:xfrm>
              <a:off x="457200" y="1905000"/>
              <a:ext cx="4000500" cy="2238300"/>
            </a:xfrm>
            <a:prstGeom prst="roundRect">
              <a:avLst>
                <a:gd fmla="val 340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9" name="Google Shape;959;p34"/>
            <p:cNvSpPr/>
            <p:nvPr/>
          </p:nvSpPr>
          <p:spPr>
            <a:xfrm>
              <a:off x="457200" y="1905000"/>
              <a:ext cx="40005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0" name="Google Shape;960;p34"/>
            <p:cNvSpPr txBox="1"/>
            <p:nvPr/>
          </p:nvSpPr>
          <p:spPr>
            <a:xfrm>
              <a:off x="647700" y="2047875"/>
              <a:ext cx="3619500" cy="1905000"/>
            </a:xfrm>
            <a:prstGeom prst="rect">
              <a:avLst/>
            </a:prstGeom>
            <a:solidFill>
              <a:srgbClr val="000000">
                <a:alpha val="0"/>
              </a:srgbClr>
            </a:solidFill>
            <a:ln>
              <a:noFill/>
            </a:ln>
          </p:spPr>
          <p:txBody>
            <a:bodyPr anchorCtr="0" anchor="t" bIns="0" lIns="0" spcFirstLastPara="1" rIns="0" wrap="square" tIns="47625">
              <a:noAutofit/>
            </a:bodyPr>
            <a:lstStyle/>
            <a:p>
              <a:pPr indent="0" lvl="0" marL="0" rtl="0" algn="l">
                <a:spcBef>
                  <a:spcPts val="0"/>
                </a:spcBef>
                <a:spcAft>
                  <a:spcPts val="0"/>
                </a:spcAft>
                <a:buNone/>
              </a:pPr>
              <a:r>
                <a:rPr b="1" lang="en-US" sz="1400">
                  <a:solidFill>
                    <a:srgbClr val="F0B429"/>
                  </a:solidFill>
                  <a:latin typeface="Material Icons"/>
                  <a:ea typeface="Material Icons"/>
                  <a:cs typeface="Material Icons"/>
                  <a:sym typeface="Material Icons"/>
                </a:rPr>
                <a:t>layers </a:t>
              </a:r>
              <a:r>
                <a:rPr b="1" lang="en-US" sz="1200">
                  <a:solidFill>
                    <a:srgbClr val="F0B429"/>
                  </a:solidFill>
                  <a:latin typeface="Carlito"/>
                  <a:ea typeface="Carlito"/>
                  <a:cs typeface="Carlito"/>
                  <a:sym typeface="Carlito"/>
                </a:rPr>
                <a:t>Quantization Thresholds</a:t>
              </a:r>
              <a:endParaRPr b="1" sz="1200">
                <a:solidFill>
                  <a:srgbClr val="F0B429"/>
                </a:solidFill>
                <a:latin typeface="Carlito"/>
                <a:ea typeface="Carlito"/>
                <a:cs typeface="Carlito"/>
                <a:sym typeface="Carlito"/>
              </a:endParaRPr>
            </a:p>
            <a:p>
              <a:pPr indent="0" lvl="0" marL="0" rtl="0" algn="l">
                <a:spcBef>
                  <a:spcPts val="900"/>
                </a:spcBef>
                <a:spcAft>
                  <a:spcPts val="0"/>
                </a:spcAft>
                <a:buNone/>
              </a:pPr>
              <a:r>
                <a:rPr b="1" lang="en-US" sz="950">
                  <a:solidFill>
                    <a:srgbClr val="F0B429"/>
                  </a:solidFill>
                  <a:latin typeface="Carlito"/>
                  <a:ea typeface="Carlito"/>
                  <a:cs typeface="Carlito"/>
                  <a:sym typeface="Carlito"/>
                </a:rPr>
                <a:t>8-Bit Quantization:</a:t>
              </a:r>
              <a:r>
                <a:rPr lang="en-US" sz="950">
                  <a:solidFill>
                    <a:srgbClr val="F5F1E6"/>
                  </a:solidFill>
                  <a:latin typeface="Carlito"/>
                  <a:ea typeface="Carlito"/>
                  <a:cs typeface="Carlito"/>
                  <a:sym typeface="Carlito"/>
                </a:rPr>
                <a:t> </a:t>
              </a:r>
              <a:r>
                <a:rPr b="0" lang="en-US" sz="950">
                  <a:solidFill>
                    <a:srgbClr val="94A3B8"/>
                  </a:solidFill>
                  <a:latin typeface="Carlito"/>
                  <a:ea typeface="Carlito"/>
                  <a:cs typeface="Carlito"/>
                  <a:sym typeface="Carlito"/>
                </a:rPr>
                <a:t>Now routine with minimal measurable accuracy loss for most models.</a:t>
              </a:r>
              <a:endParaRPr sz="950">
                <a:solidFill>
                  <a:srgbClr val="F5F1E6"/>
                </a:solidFill>
                <a:latin typeface="Carlito"/>
                <a:ea typeface="Carlito"/>
                <a:cs typeface="Carlito"/>
                <a:sym typeface="Carlito"/>
              </a:endParaRPr>
            </a:p>
            <a:p>
              <a:pPr indent="0" lvl="0" marL="0" rtl="0" algn="l">
                <a:spcBef>
                  <a:spcPts val="900"/>
                </a:spcBef>
                <a:spcAft>
                  <a:spcPts val="0"/>
                </a:spcAft>
                <a:buNone/>
              </a:pPr>
              <a:r>
                <a:rPr b="1" lang="en-US" sz="950">
                  <a:solidFill>
                    <a:srgbClr val="F0B429"/>
                  </a:solidFill>
                  <a:latin typeface="Carlito"/>
                  <a:ea typeface="Carlito"/>
                  <a:cs typeface="Carlito"/>
                  <a:sym typeface="Carlito"/>
                </a:rPr>
                <a:t>4-Bit Quantization:</a:t>
              </a:r>
              <a:r>
                <a:rPr lang="en-US" sz="950">
                  <a:solidFill>
                    <a:srgbClr val="F5F1E6"/>
                  </a:solidFill>
                  <a:latin typeface="Carlito"/>
                  <a:ea typeface="Carlito"/>
                  <a:cs typeface="Carlito"/>
                  <a:sym typeface="Carlito"/>
                </a:rPr>
                <a:t> </a:t>
              </a:r>
              <a:r>
                <a:rPr b="0" lang="en-US" sz="950">
                  <a:solidFill>
                    <a:srgbClr val="94A3B8"/>
                  </a:solidFill>
                  <a:latin typeface="Carlito"/>
                  <a:ea typeface="Carlito"/>
                  <a:cs typeface="Carlito"/>
                  <a:sym typeface="Carlito"/>
                </a:rPr>
                <a:t>Viable for large language models specifically because their sheer parameter count provides redundancy that tolerates aggressive compression (using formats like </a:t>
              </a:r>
              <a:r>
                <a:rPr b="1" lang="en-US" sz="950">
                  <a:solidFill>
                    <a:srgbClr val="F0B429"/>
                  </a:solidFill>
                  <a:latin typeface="Courier New"/>
                  <a:ea typeface="Courier New"/>
                  <a:cs typeface="Courier New"/>
                  <a:sym typeface="Courier New"/>
                </a:rPr>
                <a:t>GPTQ</a:t>
              </a:r>
              <a:r>
                <a:rPr b="0" lang="en-US" sz="950">
                  <a:solidFill>
                    <a:srgbClr val="94A3B8"/>
                  </a:solidFill>
                  <a:latin typeface="Carlito"/>
                  <a:ea typeface="Carlito"/>
                  <a:cs typeface="Carlito"/>
                  <a:sym typeface="Carlito"/>
                </a:rPr>
                <a:t> or </a:t>
              </a:r>
              <a:r>
                <a:rPr b="1" lang="en-US" sz="950">
                  <a:solidFill>
                    <a:srgbClr val="F0B429"/>
                  </a:solidFill>
                  <a:latin typeface="Courier New"/>
                  <a:ea typeface="Courier New"/>
                  <a:cs typeface="Courier New"/>
                  <a:sym typeface="Courier New"/>
                </a:rPr>
                <a:t>NF4</a:t>
              </a:r>
              <a:r>
                <a:rPr b="0" lang="en-US" sz="950">
                  <a:solidFill>
                    <a:srgbClr val="94A3B8"/>
                  </a:solidFill>
                  <a:latin typeface="Carlito"/>
                  <a:ea typeface="Carlito"/>
                  <a:cs typeface="Carlito"/>
                  <a:sym typeface="Carlito"/>
                </a:rPr>
                <a:t>).</a:t>
              </a:r>
              <a:endParaRPr sz="950">
                <a:solidFill>
                  <a:srgbClr val="F5F1E6"/>
                </a:solidFill>
                <a:latin typeface="Carlito"/>
                <a:ea typeface="Carlito"/>
                <a:cs typeface="Carlito"/>
                <a:sym typeface="Carlito"/>
              </a:endParaRPr>
            </a:p>
          </p:txBody>
        </p:sp>
      </p:grpSp>
      <p:grpSp>
        <p:nvGrpSpPr>
          <p:cNvPr id="961" name="Google Shape;961;p34"/>
          <p:cNvGrpSpPr/>
          <p:nvPr/>
        </p:nvGrpSpPr>
        <p:grpSpPr>
          <a:xfrm>
            <a:off x="4686300" y="1905000"/>
            <a:ext cx="4000500" cy="2238300"/>
            <a:chOff x="4686300" y="1905000"/>
            <a:chExt cx="4000500" cy="2238300"/>
          </a:xfrm>
        </p:grpSpPr>
        <p:sp>
          <p:nvSpPr>
            <p:cNvPr id="962" name="Google Shape;962;p34"/>
            <p:cNvSpPr/>
            <p:nvPr/>
          </p:nvSpPr>
          <p:spPr>
            <a:xfrm>
              <a:off x="4686300" y="1905000"/>
              <a:ext cx="4000500" cy="2238300"/>
            </a:xfrm>
            <a:prstGeom prst="roundRect">
              <a:avLst>
                <a:gd fmla="val 340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3" name="Google Shape;963;p34"/>
            <p:cNvSpPr/>
            <p:nvPr/>
          </p:nvSpPr>
          <p:spPr>
            <a:xfrm>
              <a:off x="4686300" y="1905000"/>
              <a:ext cx="40005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4" name="Google Shape;964;p34"/>
            <p:cNvSpPr txBox="1"/>
            <p:nvPr/>
          </p:nvSpPr>
          <p:spPr>
            <a:xfrm>
              <a:off x="4876800" y="2047875"/>
              <a:ext cx="3619500" cy="1905000"/>
            </a:xfrm>
            <a:prstGeom prst="rect">
              <a:avLst/>
            </a:prstGeom>
            <a:solidFill>
              <a:srgbClr val="000000">
                <a:alpha val="0"/>
              </a:srgbClr>
            </a:solidFill>
            <a:ln>
              <a:noFill/>
            </a:ln>
          </p:spPr>
          <p:txBody>
            <a:bodyPr anchorCtr="0" anchor="t" bIns="0" lIns="0" spcFirstLastPara="1" rIns="0" wrap="square" tIns="47625">
              <a:noAutofit/>
            </a:bodyPr>
            <a:lstStyle/>
            <a:p>
              <a:pPr indent="0" lvl="0" marL="0" rtl="0" algn="l">
                <a:spcBef>
                  <a:spcPts val="0"/>
                </a:spcBef>
                <a:spcAft>
                  <a:spcPts val="0"/>
                </a:spcAft>
                <a:buNone/>
              </a:pPr>
              <a:r>
                <a:rPr b="1" lang="en-US" sz="1400">
                  <a:solidFill>
                    <a:srgbClr val="F0B429"/>
                  </a:solidFill>
                  <a:latin typeface="Material Icons"/>
                  <a:ea typeface="Material Icons"/>
                  <a:cs typeface="Material Icons"/>
                  <a:sym typeface="Material Icons"/>
                </a:rPr>
                <a:t>report_problem </a:t>
              </a:r>
              <a:r>
                <a:rPr b="1" lang="en-US" sz="1200">
                  <a:solidFill>
                    <a:srgbClr val="F0B429"/>
                  </a:solidFill>
                  <a:latin typeface="Carlito"/>
                  <a:ea typeface="Carlito"/>
                  <a:cs typeface="Carlito"/>
                  <a:sym typeface="Carlito"/>
                </a:rPr>
                <a:t>Sensitivity &amp; Validation</a:t>
              </a:r>
              <a:endParaRPr b="1" sz="1200">
                <a:solidFill>
                  <a:srgbClr val="F0B429"/>
                </a:solidFill>
                <a:latin typeface="Carlito"/>
                <a:ea typeface="Carlito"/>
                <a:cs typeface="Carlito"/>
                <a:sym typeface="Carlito"/>
              </a:endParaRPr>
            </a:p>
            <a:p>
              <a:pPr indent="0" lvl="0" marL="0" rtl="0" algn="l">
                <a:spcBef>
                  <a:spcPts val="900"/>
                </a:spcBef>
                <a:spcAft>
                  <a:spcPts val="0"/>
                </a:spcAft>
                <a:buNone/>
              </a:pPr>
              <a:r>
                <a:rPr b="1" lang="en-US" sz="950">
                  <a:solidFill>
                    <a:srgbClr val="F5F1E6"/>
                  </a:solidFill>
                  <a:latin typeface="Carlito"/>
                  <a:ea typeface="Carlito"/>
                  <a:cs typeface="Carlito"/>
                  <a:sym typeface="Carlito"/>
                </a:rPr>
                <a:t>Model Scale Dependencies:</a:t>
              </a:r>
              <a:r>
                <a:rPr lang="en-US" sz="950">
                  <a:solidFill>
                    <a:srgbClr val="F5F1E6"/>
                  </a:solidFill>
                  <a:latin typeface="Carlito"/>
                  <a:ea typeface="Carlito"/>
                  <a:cs typeface="Carlito"/>
                  <a:sym typeface="Carlito"/>
                </a:rPr>
                <a:t> </a:t>
              </a:r>
              <a:r>
                <a:rPr b="0" lang="en-US" sz="950">
                  <a:solidFill>
                    <a:srgbClr val="94A3B8"/>
                  </a:solidFill>
                  <a:latin typeface="Carlito"/>
                  <a:ea typeface="Carlito"/>
                  <a:cs typeface="Carlito"/>
                  <a:sym typeface="Carlito"/>
                </a:rPr>
                <a:t>Very small models, or models already operating near their capacity limit, tend to be significantly more sensitive to precision reduction.</a:t>
              </a:r>
              <a:endParaRPr sz="950">
                <a:solidFill>
                  <a:srgbClr val="F5F1E6"/>
                </a:solidFill>
                <a:latin typeface="Carlito"/>
                <a:ea typeface="Carlito"/>
                <a:cs typeface="Carlito"/>
                <a:sym typeface="Carlito"/>
              </a:endParaRPr>
            </a:p>
            <a:p>
              <a:pPr indent="0" lvl="0" marL="0" rtl="0" algn="l">
                <a:spcBef>
                  <a:spcPts val="900"/>
                </a:spcBef>
                <a:spcAft>
                  <a:spcPts val="0"/>
                </a:spcAft>
                <a:buNone/>
              </a:pPr>
              <a:r>
                <a:rPr b="1" lang="en-US" sz="950">
                  <a:solidFill>
                    <a:srgbClr val="F0B429"/>
                  </a:solidFill>
                  <a:latin typeface="Carlito"/>
                  <a:ea typeface="Carlito"/>
                  <a:cs typeface="Carlito"/>
                  <a:sym typeface="Carlito"/>
                </a:rPr>
                <a:t>Mandatory Benchmarking:</a:t>
              </a:r>
              <a:r>
                <a:rPr lang="en-US" sz="950">
                  <a:solidFill>
                    <a:srgbClr val="F5F1E6"/>
                  </a:solidFill>
                  <a:latin typeface="Carlito"/>
                  <a:ea typeface="Carlito"/>
                  <a:cs typeface="Carlito"/>
                  <a:sym typeface="Carlito"/>
                </a:rPr>
                <a:t> </a:t>
              </a:r>
              <a:r>
                <a:rPr b="0" lang="en-US" sz="950">
                  <a:solidFill>
                    <a:srgbClr val="94A3B8"/>
                  </a:solidFill>
                  <a:latin typeface="Carlito"/>
                  <a:ea typeface="Carlito"/>
                  <a:cs typeface="Carlito"/>
                  <a:sym typeface="Carlito"/>
                </a:rPr>
                <a:t>Real-world validation after quantization—rather than assuming it is safe—is standard practice to avoid silent quality degradation.</a:t>
              </a:r>
              <a:endParaRPr sz="950">
                <a:solidFill>
                  <a:srgbClr val="F5F1E6"/>
                </a:solidFill>
                <a:latin typeface="Carlito"/>
                <a:ea typeface="Carlito"/>
                <a:cs typeface="Carlito"/>
                <a:sym typeface="Carlito"/>
              </a:endParaRPr>
            </a:p>
          </p:txBody>
        </p:sp>
      </p:grpSp>
      <p:sp>
        <p:nvSpPr>
          <p:cNvPr id="965" name="Google Shape;965;p34"/>
          <p:cNvSpPr txBox="1"/>
          <p:nvPr/>
        </p:nvSpPr>
        <p:spPr>
          <a:xfrm>
            <a:off x="457200" y="4286250"/>
            <a:ext cx="82296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i="0" lang="en-US" sz="1200">
                <a:solidFill>
                  <a:srgbClr val="F0B429"/>
                </a:solidFill>
                <a:latin typeface="Material Icons"/>
                <a:ea typeface="Material Icons"/>
                <a:cs typeface="Material Icons"/>
                <a:sym typeface="Material Icons"/>
              </a:rPr>
              <a:t>east </a:t>
            </a:r>
            <a:r>
              <a:rPr i="1" lang="en-US" sz="950">
                <a:solidFill>
                  <a:srgbClr val="94A3B8"/>
                </a:solidFill>
                <a:latin typeface="Carlito"/>
                <a:ea typeface="Carlito"/>
                <a:cs typeface="Carlito"/>
                <a:sym typeface="Carlito"/>
              </a:rPr>
              <a:t>Directly motivates the live benchmarking in Part Eight.</a:t>
            </a:r>
            <a:endParaRPr i="1" sz="950">
              <a:solidFill>
                <a:srgbClr val="94A3B8"/>
              </a:solidFill>
              <a:latin typeface="Carlito"/>
              <a:ea typeface="Carlito"/>
              <a:cs typeface="Carlito"/>
              <a:sym typeface="Carlito"/>
            </a:endParaRPr>
          </a:p>
        </p:txBody>
      </p:sp>
      <p:sp>
        <p:nvSpPr>
          <p:cNvPr id="966" name="Google Shape;966;p34"/>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967" name="Google Shape;967;p34"/>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32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972" name="Shape 972"/>
        <p:cNvGrpSpPr/>
        <p:nvPr/>
      </p:nvGrpSpPr>
      <p:grpSpPr>
        <a:xfrm>
          <a:off x="0" y="0"/>
          <a:ext cx="0" cy="0"/>
          <a:chOff x="0" y="0"/>
          <a:chExt cx="0" cy="0"/>
        </a:xfrm>
      </p:grpSpPr>
      <p:sp>
        <p:nvSpPr>
          <p:cNvPr id="973" name="Google Shape;973;p35"/>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05 · QUANTIZATION · GOTCHA #1</a:t>
            </a:r>
            <a:endParaRPr b="0" i="0" sz="800" u="none" cap="none" strike="noStrike">
              <a:solidFill>
                <a:schemeClr val="dk1"/>
              </a:solidFill>
              <a:latin typeface="Calibri"/>
              <a:ea typeface="Calibri"/>
              <a:cs typeface="Calibri"/>
              <a:sym typeface="Calibri"/>
            </a:endParaRPr>
          </a:p>
        </p:txBody>
      </p:sp>
      <p:sp>
        <p:nvSpPr>
          <p:cNvPr id="974" name="Google Shape;974;p35"/>
          <p:cNvSpPr/>
          <p:nvPr/>
        </p:nvSpPr>
        <p:spPr>
          <a:xfrm>
            <a:off x="457200" y="603647"/>
            <a:ext cx="8636100" cy="259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5F1E6"/>
              </a:buClr>
              <a:buSzPts val="1575"/>
              <a:buFont typeface="Carlito"/>
              <a:buNone/>
            </a:pPr>
            <a:r>
              <a:rPr b="1" i="0" lang="en-US" sz="1575" u="none" cap="none" strike="noStrike">
                <a:solidFill>
                  <a:srgbClr val="F5F1E6"/>
                </a:solidFill>
                <a:latin typeface="Carlito"/>
                <a:ea typeface="Carlito"/>
                <a:cs typeface="Carlito"/>
                <a:sym typeface="Carlito"/>
              </a:rPr>
              <a:t>A Real Gotcha Worth Knowing: Not All Models Quantize the Same Way</a:t>
            </a:r>
            <a:endParaRPr b="0" i="0" sz="1575" u="none" cap="none" strike="noStrike">
              <a:solidFill>
                <a:schemeClr val="dk1"/>
              </a:solidFill>
              <a:latin typeface="Calibri"/>
              <a:ea typeface="Calibri"/>
              <a:cs typeface="Calibri"/>
              <a:sym typeface="Calibri"/>
            </a:endParaRPr>
          </a:p>
        </p:txBody>
      </p:sp>
      <p:grpSp>
        <p:nvGrpSpPr>
          <p:cNvPr id="975" name="Google Shape;975;p35"/>
          <p:cNvGrpSpPr/>
          <p:nvPr/>
        </p:nvGrpSpPr>
        <p:grpSpPr>
          <a:xfrm>
            <a:off x="457200" y="971550"/>
            <a:ext cx="8229600" cy="381000"/>
            <a:chOff x="457200" y="971550"/>
            <a:chExt cx="8229600" cy="381000"/>
          </a:xfrm>
        </p:grpSpPr>
        <p:sp>
          <p:nvSpPr>
            <p:cNvPr id="976" name="Google Shape;976;p35"/>
            <p:cNvSpPr/>
            <p:nvPr/>
          </p:nvSpPr>
          <p:spPr>
            <a:xfrm>
              <a:off x="457200" y="971550"/>
              <a:ext cx="8229600" cy="381000"/>
            </a:xfrm>
            <a:prstGeom prst="roundRect">
              <a:avLst>
                <a:gd fmla="val 15000" name="adj"/>
              </a:avLst>
            </a:prstGeom>
            <a:solidFill>
              <a:srgbClr val="FB923C">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977" name="Google Shape;977;p35"/>
            <p:cNvCxnSpPr/>
            <p:nvPr/>
          </p:nvCxnSpPr>
          <p:spPr>
            <a:xfrm>
              <a:off x="471488" y="971550"/>
              <a:ext cx="0" cy="381000"/>
            </a:xfrm>
            <a:prstGeom prst="straightConnector1">
              <a:avLst/>
            </a:prstGeom>
            <a:solidFill>
              <a:srgbClr val="FFFFFF"/>
            </a:solidFill>
            <a:ln cap="flat" cmpd="sng" w="28575">
              <a:solidFill>
                <a:srgbClr val="FB923C"/>
              </a:solidFill>
              <a:prstDash val="solid"/>
              <a:round/>
              <a:headEnd len="sm" w="sm" type="none"/>
              <a:tailEnd len="sm" w="sm" type="none"/>
            </a:ln>
          </p:spPr>
        </p:cxnSp>
        <p:sp>
          <p:nvSpPr>
            <p:cNvPr id="978" name="Google Shape;978;p35"/>
            <p:cNvSpPr txBox="1"/>
            <p:nvPr/>
          </p:nvSpPr>
          <p:spPr>
            <a:xfrm>
              <a:off x="609600" y="971550"/>
              <a:ext cx="79248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00">
                  <a:solidFill>
                    <a:srgbClr val="FB923C"/>
                  </a:solidFill>
                  <a:latin typeface="Material Icons"/>
                  <a:ea typeface="Material Icons"/>
                  <a:cs typeface="Material Icons"/>
                  <a:sym typeface="Material Icons"/>
                </a:rPr>
                <a:t>report_problem </a:t>
              </a:r>
              <a:r>
                <a:rPr b="1" lang="en-US" sz="1000">
                  <a:solidFill>
                    <a:srgbClr val="FB923C"/>
                  </a:solidFill>
                  <a:latin typeface="Carlito"/>
                  <a:ea typeface="Carlito"/>
                  <a:cs typeface="Carlito"/>
                  <a:sym typeface="Carlito"/>
                </a:rPr>
                <a:t>GOTCHA</a:t>
              </a:r>
              <a:r>
                <a:rPr lang="en-US" sz="1000">
                  <a:solidFill>
                    <a:srgbClr val="94A3B8"/>
                  </a:solidFill>
                  <a:latin typeface="Carlito"/>
                  <a:ea typeface="Carlito"/>
                  <a:cs typeface="Carlito"/>
                  <a:sym typeface="Carlito"/>
                </a:rPr>
                <a:t>·</a:t>
              </a:r>
              <a:r>
                <a:rPr lang="en-US" sz="1000">
                  <a:solidFill>
                    <a:srgbClr val="F5F1E6"/>
                  </a:solidFill>
                  <a:latin typeface="Carlito"/>
                  <a:ea typeface="Carlito"/>
                  <a:cs typeface="Carlito"/>
                  <a:sym typeface="Carlito"/>
                </a:rPr>
                <a:t>Silent failure mode. Code runs without error, but quantization has no effect.</a:t>
              </a:r>
              <a:endParaRPr sz="1000">
                <a:latin typeface="Carlito"/>
                <a:ea typeface="Carlito"/>
                <a:cs typeface="Carlito"/>
                <a:sym typeface="Carlito"/>
              </a:endParaRPr>
            </a:p>
          </p:txBody>
        </p:sp>
      </p:grpSp>
      <p:grpSp>
        <p:nvGrpSpPr>
          <p:cNvPr id="979" name="Google Shape;979;p35"/>
          <p:cNvGrpSpPr/>
          <p:nvPr/>
        </p:nvGrpSpPr>
        <p:grpSpPr>
          <a:xfrm>
            <a:off x="457200" y="1504950"/>
            <a:ext cx="2514600" cy="2238300"/>
            <a:chOff x="457200" y="1504950"/>
            <a:chExt cx="2514600" cy="2238300"/>
          </a:xfrm>
        </p:grpSpPr>
        <p:sp>
          <p:nvSpPr>
            <p:cNvPr id="980" name="Google Shape;980;p35"/>
            <p:cNvSpPr/>
            <p:nvPr/>
          </p:nvSpPr>
          <p:spPr>
            <a:xfrm>
              <a:off x="457200" y="1504950"/>
              <a:ext cx="2514600" cy="2238300"/>
            </a:xfrm>
            <a:prstGeom prst="roundRect">
              <a:avLst>
                <a:gd fmla="val 340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1" name="Google Shape;981;p35"/>
            <p:cNvSpPr/>
            <p:nvPr/>
          </p:nvSpPr>
          <p:spPr>
            <a:xfrm>
              <a:off x="457200" y="1504950"/>
              <a:ext cx="25146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2" name="Google Shape;982;p35"/>
            <p:cNvSpPr txBox="1"/>
            <p:nvPr/>
          </p:nvSpPr>
          <p:spPr>
            <a:xfrm>
              <a:off x="609600" y="1657350"/>
              <a:ext cx="2209800" cy="195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01 / THE QUIRK</a:t>
              </a:r>
              <a:endParaRPr b="1" sz="1000">
                <a:solidFill>
                  <a:srgbClr val="F0B429"/>
                </a:solidFill>
                <a:latin typeface="Carlito"/>
                <a:ea typeface="Carlito"/>
                <a:cs typeface="Carlito"/>
                <a:sym typeface="Carlito"/>
              </a:endParaRPr>
            </a:p>
            <a:p>
              <a:pPr indent="0" lvl="0" marL="0" rtl="0" algn="l">
                <a:spcBef>
                  <a:spcPts val="600"/>
                </a:spcBef>
                <a:spcAft>
                  <a:spcPts val="0"/>
                </a:spcAft>
                <a:buNone/>
              </a:pPr>
              <a:r>
                <a:rPr b="1" lang="en-US" sz="1400">
                  <a:solidFill>
                    <a:srgbClr val="F5F1E6"/>
                  </a:solidFill>
                  <a:latin typeface="Courier New"/>
                  <a:ea typeface="Courier New"/>
                  <a:cs typeface="Courier New"/>
                  <a:sym typeface="Courier New"/>
                </a:rPr>
                <a:t>GPT-2 &amp; Conv1D</a:t>
              </a:r>
              <a:endParaRPr b="1" sz="1400">
                <a:solidFill>
                  <a:srgbClr val="F5F1E6"/>
                </a:solidFill>
                <a:latin typeface="Courier New"/>
                <a:ea typeface="Courier New"/>
                <a:cs typeface="Courier New"/>
                <a:sym typeface="Courier New"/>
              </a:endParaRPr>
            </a:p>
            <a:p>
              <a:pPr indent="0" lvl="0" marL="0" rtl="0" algn="l">
                <a:spcBef>
                  <a:spcPts val="900"/>
                </a:spcBef>
                <a:spcAft>
                  <a:spcPts val="0"/>
                </a:spcAft>
                <a:buNone/>
              </a:pPr>
              <a:r>
                <a:rPr b="1" lang="en-US" sz="950">
                  <a:solidFill>
                    <a:srgbClr val="F5F1E6"/>
                  </a:solidFill>
                  <a:latin typeface="Carlito"/>
                  <a:ea typeface="Carlito"/>
                  <a:cs typeface="Carlito"/>
                  <a:sym typeface="Carlito"/>
                </a:rPr>
                <a:t>GPT-2</a:t>
              </a:r>
              <a:r>
                <a:rPr lang="en-US" sz="950">
                  <a:solidFill>
                    <a:srgbClr val="94A3B8"/>
                  </a:solidFill>
                  <a:latin typeface="Carlito"/>
                  <a:ea typeface="Carlito"/>
                  <a:cs typeface="Carlito"/>
                  <a:sym typeface="Carlito"/>
                </a:rPr>
                <a:t> (used in today's demo) uses </a:t>
              </a:r>
              <a:r>
                <a:rPr lang="en-US" sz="950">
                  <a:solidFill>
                    <a:srgbClr val="F0B429"/>
                  </a:solidFill>
                  <a:latin typeface="Courier New"/>
                  <a:ea typeface="Courier New"/>
                  <a:cs typeface="Courier New"/>
                  <a:sym typeface="Courier New"/>
                </a:rPr>
                <a:t>Conv1D</a:t>
              </a:r>
              <a:r>
                <a:rPr lang="en-US" sz="950">
                  <a:solidFill>
                    <a:srgbClr val="94A3B8"/>
                  </a:solidFill>
                  <a:latin typeface="Carlito"/>
                  <a:ea typeface="Carlito"/>
                  <a:cs typeface="Carlito"/>
                  <a:sym typeface="Carlito"/>
                </a:rPr>
                <a:t> layers internally for attention and feed-forward weights instead of the standard </a:t>
              </a:r>
              <a:r>
                <a:rPr lang="en-US" sz="950">
                  <a:solidFill>
                    <a:srgbClr val="F0B429"/>
                  </a:solidFill>
                  <a:latin typeface="Courier New"/>
                  <a:ea typeface="Courier New"/>
                  <a:cs typeface="Courier New"/>
                  <a:sym typeface="Courier New"/>
                </a:rPr>
                <a:t>nn.Linear</a:t>
              </a:r>
              <a:r>
                <a:rPr lang="en-US" sz="950">
                  <a:solidFill>
                    <a:srgbClr val="94A3B8"/>
                  </a:solidFill>
                  <a:latin typeface="Carlito"/>
                  <a:ea typeface="Carlito"/>
                  <a:cs typeface="Carlito"/>
                  <a:sym typeface="Carlito"/>
                </a:rPr>
                <a:t>.</a:t>
              </a:r>
              <a:endParaRPr sz="950">
                <a:solidFill>
                  <a:srgbClr val="94A3B8"/>
                </a:solidFill>
                <a:latin typeface="Carlito"/>
                <a:ea typeface="Carlito"/>
                <a:cs typeface="Carlito"/>
                <a:sym typeface="Carlito"/>
              </a:endParaRPr>
            </a:p>
          </p:txBody>
        </p:sp>
      </p:grpSp>
      <p:grpSp>
        <p:nvGrpSpPr>
          <p:cNvPr id="983" name="Google Shape;983;p35"/>
          <p:cNvGrpSpPr/>
          <p:nvPr/>
        </p:nvGrpSpPr>
        <p:grpSpPr>
          <a:xfrm>
            <a:off x="3314700" y="1504950"/>
            <a:ext cx="2514600" cy="2238300"/>
            <a:chOff x="3314700" y="1504950"/>
            <a:chExt cx="2514600" cy="2238300"/>
          </a:xfrm>
        </p:grpSpPr>
        <p:sp>
          <p:nvSpPr>
            <p:cNvPr id="984" name="Google Shape;984;p35"/>
            <p:cNvSpPr/>
            <p:nvPr/>
          </p:nvSpPr>
          <p:spPr>
            <a:xfrm>
              <a:off x="3314700" y="1504950"/>
              <a:ext cx="2514600" cy="2238300"/>
            </a:xfrm>
            <a:prstGeom prst="roundRect">
              <a:avLst>
                <a:gd fmla="val 340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5" name="Google Shape;985;p35"/>
            <p:cNvSpPr/>
            <p:nvPr/>
          </p:nvSpPr>
          <p:spPr>
            <a:xfrm>
              <a:off x="3314700" y="1504950"/>
              <a:ext cx="25146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6" name="Google Shape;986;p35"/>
            <p:cNvSpPr txBox="1"/>
            <p:nvPr/>
          </p:nvSpPr>
          <p:spPr>
            <a:xfrm>
              <a:off x="3467100" y="1657350"/>
              <a:ext cx="2209800" cy="195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02 / THE SILENT SKIP</a:t>
              </a:r>
              <a:endParaRPr b="1" sz="1000">
                <a:solidFill>
                  <a:srgbClr val="F0B429"/>
                </a:solidFill>
                <a:latin typeface="Carlito"/>
                <a:ea typeface="Carlito"/>
                <a:cs typeface="Carlito"/>
                <a:sym typeface="Carlito"/>
              </a:endParaRPr>
            </a:p>
            <a:p>
              <a:pPr indent="0" lvl="0" marL="0" rtl="0" algn="l">
                <a:spcBef>
                  <a:spcPts val="600"/>
                </a:spcBef>
                <a:spcAft>
                  <a:spcPts val="0"/>
                </a:spcAft>
                <a:buNone/>
              </a:pPr>
              <a:r>
                <a:rPr b="1" lang="en-US" sz="1400">
                  <a:solidFill>
                    <a:srgbClr val="F5F1E6"/>
                  </a:solidFill>
                  <a:latin typeface="Courier New"/>
                  <a:ea typeface="Courier New"/>
                  <a:cs typeface="Courier New"/>
                  <a:sym typeface="Courier New"/>
                </a:rPr>
                <a:t>Library Limits</a:t>
              </a:r>
              <a:endParaRPr b="1" sz="1400">
                <a:solidFill>
                  <a:srgbClr val="F5F1E6"/>
                </a:solidFill>
                <a:latin typeface="Courier New"/>
                <a:ea typeface="Courier New"/>
                <a:cs typeface="Courier New"/>
                <a:sym typeface="Courier New"/>
              </a:endParaRPr>
            </a:p>
            <a:p>
              <a:pPr indent="0" lvl="0" marL="0" rtl="0" algn="l">
                <a:spcBef>
                  <a:spcPts val="900"/>
                </a:spcBef>
                <a:spcAft>
                  <a:spcPts val="0"/>
                </a:spcAft>
                <a:buNone/>
              </a:pPr>
              <a:r>
                <a:rPr lang="en-US" sz="950">
                  <a:solidFill>
                    <a:srgbClr val="94A3B8"/>
                  </a:solidFill>
                  <a:latin typeface="Carlito"/>
                  <a:ea typeface="Carlito"/>
                  <a:cs typeface="Carlito"/>
                  <a:sym typeface="Carlito"/>
                </a:rPr>
                <a:t>Most tools only target </a:t>
              </a:r>
              <a:r>
                <a:rPr lang="en-US" sz="950">
                  <a:solidFill>
                    <a:srgbClr val="F0B429"/>
                  </a:solidFill>
                  <a:latin typeface="Courier New"/>
                  <a:ea typeface="Courier New"/>
                  <a:cs typeface="Courier New"/>
                  <a:sym typeface="Courier New"/>
                </a:rPr>
                <a:t>nn.Linear</a:t>
              </a:r>
              <a:r>
                <a:rPr lang="en-US" sz="950">
                  <a:solidFill>
                    <a:srgbClr val="94A3B8"/>
                  </a:solidFill>
                  <a:latin typeface="Carlito"/>
                  <a:ea typeface="Carlito"/>
                  <a:cs typeface="Carlito"/>
                  <a:sym typeface="Carlito"/>
                </a:rPr>
                <a:t> layers. They will </a:t>
              </a:r>
              <a:r>
                <a:rPr b="1" lang="en-US" sz="950">
                  <a:solidFill>
                    <a:srgbClr val="FB923C"/>
                  </a:solidFill>
                  <a:latin typeface="Carlito"/>
                  <a:ea typeface="Carlito"/>
                  <a:cs typeface="Carlito"/>
                  <a:sym typeface="Carlito"/>
                </a:rPr>
                <a:t>silently skip</a:t>
              </a:r>
              <a:r>
                <a:rPr lang="en-US" sz="950">
                  <a:solidFill>
                    <a:srgbClr val="94A3B8"/>
                  </a:solidFill>
                  <a:latin typeface="Carlito"/>
                  <a:ea typeface="Carlito"/>
                  <a:cs typeface="Carlito"/>
                  <a:sym typeface="Carlito"/>
                </a:rPr>
                <a:t> </a:t>
              </a:r>
              <a:r>
                <a:rPr lang="en-US" sz="950">
                  <a:solidFill>
                    <a:srgbClr val="F5F1E6"/>
                  </a:solidFill>
                  <a:latin typeface="Courier New"/>
                  <a:ea typeface="Courier New"/>
                  <a:cs typeface="Courier New"/>
                  <a:sym typeface="Courier New"/>
                </a:rPr>
                <a:t>Conv1D</a:t>
              </a:r>
              <a:r>
                <a:rPr lang="en-US" sz="950">
                  <a:solidFill>
                    <a:srgbClr val="94A3B8"/>
                  </a:solidFill>
                  <a:latin typeface="Carlito"/>
                  <a:ea typeface="Carlito"/>
                  <a:cs typeface="Carlito"/>
                  <a:sym typeface="Carlito"/>
                </a:rPr>
                <a:t> ones, executing "successfully" without actually quantizing anything.</a:t>
              </a:r>
              <a:endParaRPr sz="950">
                <a:solidFill>
                  <a:srgbClr val="94A3B8"/>
                </a:solidFill>
                <a:latin typeface="Carlito"/>
                <a:ea typeface="Carlito"/>
                <a:cs typeface="Carlito"/>
                <a:sym typeface="Carlito"/>
              </a:endParaRPr>
            </a:p>
          </p:txBody>
        </p:sp>
      </p:grpSp>
      <p:grpSp>
        <p:nvGrpSpPr>
          <p:cNvPr id="987" name="Google Shape;987;p35"/>
          <p:cNvGrpSpPr/>
          <p:nvPr/>
        </p:nvGrpSpPr>
        <p:grpSpPr>
          <a:xfrm>
            <a:off x="6172200" y="1504950"/>
            <a:ext cx="2514600" cy="2238300"/>
            <a:chOff x="6172200" y="1504950"/>
            <a:chExt cx="2514600" cy="2238300"/>
          </a:xfrm>
        </p:grpSpPr>
        <p:sp>
          <p:nvSpPr>
            <p:cNvPr id="988" name="Google Shape;988;p35"/>
            <p:cNvSpPr/>
            <p:nvPr/>
          </p:nvSpPr>
          <p:spPr>
            <a:xfrm>
              <a:off x="6172200" y="1504950"/>
              <a:ext cx="2514600" cy="2238300"/>
            </a:xfrm>
            <a:prstGeom prst="roundRect">
              <a:avLst>
                <a:gd fmla="val 340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9" name="Google Shape;989;p35"/>
            <p:cNvSpPr/>
            <p:nvPr/>
          </p:nvSpPr>
          <p:spPr>
            <a:xfrm>
              <a:off x="6172200" y="1504950"/>
              <a:ext cx="25146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0" name="Google Shape;990;p35"/>
            <p:cNvSpPr txBox="1"/>
            <p:nvPr/>
          </p:nvSpPr>
          <p:spPr>
            <a:xfrm>
              <a:off x="6324600" y="1657350"/>
              <a:ext cx="2209800" cy="195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03 / THE SOLUTION</a:t>
              </a:r>
              <a:endParaRPr b="1" sz="1000">
                <a:solidFill>
                  <a:srgbClr val="F0B429"/>
                </a:solidFill>
                <a:latin typeface="Carlito"/>
                <a:ea typeface="Carlito"/>
                <a:cs typeface="Carlito"/>
                <a:sym typeface="Carlito"/>
              </a:endParaRPr>
            </a:p>
            <a:p>
              <a:pPr indent="0" lvl="0" marL="0" rtl="0" algn="l">
                <a:spcBef>
                  <a:spcPts val="600"/>
                </a:spcBef>
                <a:spcAft>
                  <a:spcPts val="0"/>
                </a:spcAft>
                <a:buNone/>
              </a:pPr>
              <a:r>
                <a:rPr b="1" lang="en-US" sz="1400">
                  <a:solidFill>
                    <a:srgbClr val="F5F1E6"/>
                  </a:solidFill>
                  <a:latin typeface="Courier New"/>
                  <a:ea typeface="Courier New"/>
                  <a:cs typeface="Courier New"/>
                  <a:sym typeface="Courier New"/>
                </a:rPr>
                <a:t>Transposition</a:t>
              </a:r>
              <a:endParaRPr b="1" sz="1400">
                <a:solidFill>
                  <a:srgbClr val="F5F1E6"/>
                </a:solidFill>
                <a:latin typeface="Courier New"/>
                <a:ea typeface="Courier New"/>
                <a:cs typeface="Courier New"/>
                <a:sym typeface="Courier New"/>
              </a:endParaRPr>
            </a:p>
            <a:p>
              <a:pPr indent="0" lvl="0" marL="0" rtl="0" algn="l">
                <a:spcBef>
                  <a:spcPts val="900"/>
                </a:spcBef>
                <a:spcAft>
                  <a:spcPts val="0"/>
                </a:spcAft>
                <a:buNone/>
              </a:pPr>
              <a:r>
                <a:rPr lang="en-US" sz="950">
                  <a:solidFill>
                    <a:srgbClr val="94A3B8"/>
                  </a:solidFill>
                  <a:latin typeface="Carlito"/>
                  <a:ea typeface="Carlito"/>
                  <a:cs typeface="Carlito"/>
                  <a:sym typeface="Carlito"/>
                </a:rPr>
                <a:t>Transpose the </a:t>
              </a:r>
              <a:r>
                <a:rPr lang="en-US" sz="950">
                  <a:solidFill>
                    <a:srgbClr val="F5F1E6"/>
                  </a:solidFill>
                  <a:latin typeface="Courier New"/>
                  <a:ea typeface="Courier New"/>
                  <a:cs typeface="Courier New"/>
                  <a:sym typeface="Courier New"/>
                </a:rPr>
                <a:t>Conv1D</a:t>
              </a:r>
              <a:r>
                <a:rPr lang="en-US" sz="950">
                  <a:solidFill>
                    <a:srgbClr val="94A3B8"/>
                  </a:solidFill>
                  <a:latin typeface="Carlito"/>
                  <a:ea typeface="Carlito"/>
                  <a:cs typeface="Carlito"/>
                  <a:sym typeface="Carlito"/>
                </a:rPr>
                <a:t> weights into equivalent </a:t>
              </a:r>
              <a:r>
                <a:rPr lang="en-US" sz="950">
                  <a:solidFill>
                    <a:srgbClr val="F0B429"/>
                  </a:solidFill>
                  <a:latin typeface="Courier New"/>
                  <a:ea typeface="Courier New"/>
                  <a:cs typeface="Courier New"/>
                  <a:sym typeface="Courier New"/>
                </a:rPr>
                <a:t>nn.Linear</a:t>
              </a:r>
              <a:r>
                <a:rPr lang="en-US" sz="950">
                  <a:solidFill>
                    <a:srgbClr val="94A3B8"/>
                  </a:solidFill>
                  <a:latin typeface="Carlito"/>
                  <a:ea typeface="Carlito"/>
                  <a:cs typeface="Carlito"/>
                  <a:sym typeface="Carlito"/>
                </a:rPr>
                <a:t> containers before quantizing. Output difference is pure noise (</a:t>
              </a:r>
              <a:r>
                <a:rPr lang="en-US" sz="950">
                  <a:solidFill>
                    <a:srgbClr val="F0B429"/>
                  </a:solidFill>
                  <a:latin typeface="Carlito"/>
                  <a:ea typeface="Carlito"/>
                  <a:cs typeface="Carlito"/>
                  <a:sym typeface="Carlito"/>
                </a:rPr>
                <a:t>~1e-4</a:t>
              </a:r>
              <a:r>
                <a:rPr lang="en-US" sz="950">
                  <a:solidFill>
                    <a:srgbClr val="94A3B8"/>
                  </a:solidFill>
                  <a:latin typeface="Carlito"/>
                  <a:ea typeface="Carlito"/>
                  <a:cs typeface="Carlito"/>
                  <a:sym typeface="Carlito"/>
                </a:rPr>
                <a:t>).</a:t>
              </a:r>
              <a:endParaRPr sz="950">
                <a:solidFill>
                  <a:srgbClr val="94A3B8"/>
                </a:solidFill>
                <a:latin typeface="Carlito"/>
                <a:ea typeface="Carlito"/>
                <a:cs typeface="Carlito"/>
                <a:sym typeface="Carlito"/>
              </a:endParaRPr>
            </a:p>
          </p:txBody>
        </p:sp>
      </p:grpSp>
      <p:grpSp>
        <p:nvGrpSpPr>
          <p:cNvPr id="991" name="Google Shape;991;p35"/>
          <p:cNvGrpSpPr/>
          <p:nvPr/>
        </p:nvGrpSpPr>
        <p:grpSpPr>
          <a:xfrm>
            <a:off x="457200" y="3962400"/>
            <a:ext cx="8229600" cy="609600"/>
            <a:chOff x="457200" y="3962400"/>
            <a:chExt cx="8229600" cy="609600"/>
          </a:xfrm>
        </p:grpSpPr>
        <p:sp>
          <p:nvSpPr>
            <p:cNvPr id="992" name="Google Shape;992;p35"/>
            <p:cNvSpPr/>
            <p:nvPr/>
          </p:nvSpPr>
          <p:spPr>
            <a:xfrm>
              <a:off x="457200" y="3962400"/>
              <a:ext cx="8229600" cy="609600"/>
            </a:xfrm>
            <a:prstGeom prst="roundRect">
              <a:avLst>
                <a:gd fmla="val 9375" name="adj"/>
              </a:avLst>
            </a:prstGeom>
            <a:solidFill>
              <a:srgbClr val="F0B429">
                <a:alpha val="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993" name="Google Shape;993;p35"/>
            <p:cNvCxnSpPr/>
            <p:nvPr/>
          </p:nvCxnSpPr>
          <p:spPr>
            <a:xfrm>
              <a:off x="471488" y="3962400"/>
              <a:ext cx="0" cy="609600"/>
            </a:xfrm>
            <a:prstGeom prst="straightConnector1">
              <a:avLst/>
            </a:prstGeom>
            <a:solidFill>
              <a:srgbClr val="FFFFFF"/>
            </a:solidFill>
            <a:ln cap="flat" cmpd="sng" w="28575">
              <a:solidFill>
                <a:srgbClr val="F0B429"/>
              </a:solidFill>
              <a:prstDash val="solid"/>
              <a:round/>
              <a:headEnd len="sm" w="sm" type="none"/>
              <a:tailEnd len="sm" w="sm" type="none"/>
            </a:ln>
          </p:spPr>
        </p:cxnSp>
        <p:sp>
          <p:nvSpPr>
            <p:cNvPr id="994" name="Google Shape;994;p35"/>
            <p:cNvSpPr/>
            <p:nvPr/>
          </p:nvSpPr>
          <p:spPr>
            <a:xfrm>
              <a:off x="609600" y="4057650"/>
              <a:ext cx="1095300" cy="209700"/>
            </a:xfrm>
            <a:prstGeom prst="roundRect">
              <a:avLst>
                <a:gd fmla="val 13636"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5" name="Google Shape;995;p35"/>
            <p:cNvSpPr txBox="1"/>
            <p:nvPr/>
          </p:nvSpPr>
          <p:spPr>
            <a:xfrm>
              <a:off x="609600" y="4057650"/>
              <a:ext cx="10953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arlito"/>
                  <a:ea typeface="Carlito"/>
                  <a:cs typeface="Carlito"/>
                  <a:sym typeface="Carlito"/>
                </a:rPr>
                <a:t>TEACHING POINT</a:t>
              </a:r>
              <a:endParaRPr b="1" sz="800">
                <a:solidFill>
                  <a:srgbClr val="0A1628"/>
                </a:solidFill>
                <a:latin typeface="Carlito"/>
                <a:ea typeface="Carlito"/>
                <a:cs typeface="Carlito"/>
                <a:sym typeface="Carlito"/>
              </a:endParaRPr>
            </a:p>
          </p:txBody>
        </p:sp>
        <p:sp>
          <p:nvSpPr>
            <p:cNvPr id="996" name="Google Shape;996;p35"/>
            <p:cNvSpPr txBox="1"/>
            <p:nvPr/>
          </p:nvSpPr>
          <p:spPr>
            <a:xfrm>
              <a:off x="1857375" y="4019550"/>
              <a:ext cx="6677100" cy="4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US" sz="950">
                  <a:solidFill>
                    <a:srgbClr val="F5F1E6"/>
                  </a:solidFill>
                  <a:latin typeface="Carlito"/>
                  <a:ea typeface="Carlito"/>
                  <a:cs typeface="Carlito"/>
                  <a:sym typeface="Carlito"/>
                </a:rPr>
                <a:t>"Quantization ran with no errors" is not the same as "quantization actually changed anything." Always verify the effect, not just that the code executed successfully.</a:t>
              </a:r>
              <a:endParaRPr i="1" sz="950">
                <a:solidFill>
                  <a:srgbClr val="F5F1E6"/>
                </a:solidFill>
                <a:latin typeface="Carlito"/>
                <a:ea typeface="Carlito"/>
                <a:cs typeface="Carlito"/>
                <a:sym typeface="Carlito"/>
              </a:endParaRPr>
            </a:p>
          </p:txBody>
        </p:sp>
      </p:grpSp>
      <p:sp>
        <p:nvSpPr>
          <p:cNvPr id="997" name="Google Shape;997;p35"/>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998" name="Google Shape;998;p35"/>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33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003" name="Shape 1003"/>
        <p:cNvGrpSpPr/>
        <p:nvPr/>
      </p:nvGrpSpPr>
      <p:grpSpPr>
        <a:xfrm>
          <a:off x="0" y="0"/>
          <a:ext cx="0" cy="0"/>
          <a:chOff x="0" y="0"/>
          <a:chExt cx="0" cy="0"/>
        </a:xfrm>
      </p:grpSpPr>
      <p:sp>
        <p:nvSpPr>
          <p:cNvPr id="1004" name="Google Shape;1004;p36"/>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05 · QUANTIZATION · GOTCHA #2</a:t>
            </a:r>
            <a:endParaRPr b="0" i="0" sz="800" u="none" cap="none" strike="noStrike">
              <a:solidFill>
                <a:schemeClr val="dk1"/>
              </a:solidFill>
              <a:latin typeface="Calibri"/>
              <a:ea typeface="Calibri"/>
              <a:cs typeface="Calibri"/>
              <a:sym typeface="Calibri"/>
            </a:endParaRPr>
          </a:p>
        </p:txBody>
      </p:sp>
      <p:sp>
        <p:nvSpPr>
          <p:cNvPr id="1005" name="Google Shape;1005;p36"/>
          <p:cNvSpPr/>
          <p:nvPr/>
        </p:nvSpPr>
        <p:spPr>
          <a:xfrm>
            <a:off x="457200" y="603647"/>
            <a:ext cx="8636100" cy="259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5F1E6"/>
              </a:buClr>
              <a:buSzPts val="1575"/>
              <a:buFont typeface="Carlito"/>
              <a:buNone/>
            </a:pPr>
            <a:r>
              <a:rPr b="1" i="0" lang="en-US" sz="1575" u="none" cap="none" strike="noStrike">
                <a:solidFill>
                  <a:srgbClr val="F5F1E6"/>
                </a:solidFill>
                <a:latin typeface="Carlito"/>
                <a:ea typeface="Carlito"/>
                <a:cs typeface="Carlito"/>
                <a:sym typeface="Carlito"/>
              </a:rPr>
              <a:t>A Second Gotcha: Measuring Quantized Model Size Correctly</a:t>
            </a:r>
            <a:endParaRPr b="0" i="0" sz="1575" u="none" cap="none" strike="noStrike">
              <a:solidFill>
                <a:schemeClr val="dk1"/>
              </a:solidFill>
              <a:latin typeface="Calibri"/>
              <a:ea typeface="Calibri"/>
              <a:cs typeface="Calibri"/>
              <a:sym typeface="Calibri"/>
            </a:endParaRPr>
          </a:p>
        </p:txBody>
      </p:sp>
      <p:grpSp>
        <p:nvGrpSpPr>
          <p:cNvPr id="1006" name="Google Shape;1006;p36"/>
          <p:cNvGrpSpPr/>
          <p:nvPr/>
        </p:nvGrpSpPr>
        <p:grpSpPr>
          <a:xfrm>
            <a:off x="457200" y="971550"/>
            <a:ext cx="8229600" cy="381000"/>
            <a:chOff x="457200" y="971550"/>
            <a:chExt cx="8229600" cy="381000"/>
          </a:xfrm>
        </p:grpSpPr>
        <p:sp>
          <p:nvSpPr>
            <p:cNvPr id="1007" name="Google Shape;1007;p36"/>
            <p:cNvSpPr/>
            <p:nvPr/>
          </p:nvSpPr>
          <p:spPr>
            <a:xfrm>
              <a:off x="457200" y="971550"/>
              <a:ext cx="8229600" cy="381000"/>
            </a:xfrm>
            <a:prstGeom prst="roundRect">
              <a:avLst>
                <a:gd fmla="val 15000" name="adj"/>
              </a:avLst>
            </a:prstGeom>
            <a:solidFill>
              <a:srgbClr val="FB923C">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008" name="Google Shape;1008;p36"/>
            <p:cNvCxnSpPr/>
            <p:nvPr/>
          </p:nvCxnSpPr>
          <p:spPr>
            <a:xfrm>
              <a:off x="471488" y="971550"/>
              <a:ext cx="0" cy="381000"/>
            </a:xfrm>
            <a:prstGeom prst="straightConnector1">
              <a:avLst/>
            </a:prstGeom>
            <a:solidFill>
              <a:srgbClr val="FFFFFF"/>
            </a:solidFill>
            <a:ln cap="flat" cmpd="sng" w="28575">
              <a:solidFill>
                <a:srgbClr val="FB923C"/>
              </a:solidFill>
              <a:prstDash val="solid"/>
              <a:round/>
              <a:headEnd len="sm" w="sm" type="none"/>
              <a:tailEnd len="sm" w="sm" type="none"/>
            </a:ln>
          </p:spPr>
        </p:cxnSp>
        <p:sp>
          <p:nvSpPr>
            <p:cNvPr id="1009" name="Google Shape;1009;p36"/>
            <p:cNvSpPr txBox="1"/>
            <p:nvPr/>
          </p:nvSpPr>
          <p:spPr>
            <a:xfrm>
              <a:off x="609600" y="971550"/>
              <a:ext cx="79248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400">
                  <a:solidFill>
                    <a:srgbClr val="FB923C"/>
                  </a:solidFill>
                  <a:latin typeface="Material Icons"/>
                  <a:ea typeface="Material Icons"/>
                  <a:cs typeface="Material Icons"/>
                  <a:sym typeface="Material Icons"/>
                </a:rPr>
                <a:t>report_problem </a:t>
              </a:r>
              <a:r>
                <a:rPr b="1" lang="en-US" sz="1000">
                  <a:solidFill>
                    <a:srgbClr val="FB923C"/>
                  </a:solidFill>
                  <a:latin typeface="Carlito"/>
                  <a:ea typeface="Carlito"/>
                  <a:cs typeface="Carlito"/>
                  <a:sym typeface="Carlito"/>
                </a:rPr>
                <a:t>GOTCHA</a:t>
              </a:r>
              <a:r>
                <a:rPr b="0" lang="en-US" sz="1000">
                  <a:solidFill>
                    <a:srgbClr val="94A3B8"/>
                  </a:solidFill>
                  <a:latin typeface="Carlito"/>
                  <a:ea typeface="Carlito"/>
                  <a:cs typeface="Carlito"/>
                  <a:sym typeface="Carlito"/>
                </a:rPr>
                <a:t> · </a:t>
              </a:r>
              <a:r>
                <a:rPr b="0" lang="en-US" sz="1000">
                  <a:solidFill>
                    <a:srgbClr val="F5F1E6"/>
                  </a:solidFill>
                  <a:latin typeface="Carlito"/>
                  <a:ea typeface="Carlito"/>
                  <a:cs typeface="Carlito"/>
                  <a:sym typeface="Carlito"/>
                </a:rPr>
                <a:t>A trusted measurement tool reports zero reduction after working quantization.</a:t>
              </a:r>
              <a:endParaRPr b="0" sz="1400">
                <a:solidFill>
                  <a:srgbClr val="FB923C"/>
                </a:solidFill>
                <a:latin typeface="Material Icons"/>
                <a:ea typeface="Material Icons"/>
                <a:cs typeface="Material Icons"/>
                <a:sym typeface="Material Icons"/>
              </a:endParaRPr>
            </a:p>
          </p:txBody>
        </p:sp>
      </p:grpSp>
      <p:grpSp>
        <p:nvGrpSpPr>
          <p:cNvPr id="1010" name="Google Shape;1010;p36"/>
          <p:cNvGrpSpPr/>
          <p:nvPr/>
        </p:nvGrpSpPr>
        <p:grpSpPr>
          <a:xfrm>
            <a:off x="457200" y="1504950"/>
            <a:ext cx="2514600" cy="2238300"/>
            <a:chOff x="457200" y="1504950"/>
            <a:chExt cx="2514600" cy="2238300"/>
          </a:xfrm>
        </p:grpSpPr>
        <p:sp>
          <p:nvSpPr>
            <p:cNvPr id="1011" name="Google Shape;1011;p36"/>
            <p:cNvSpPr/>
            <p:nvPr/>
          </p:nvSpPr>
          <p:spPr>
            <a:xfrm>
              <a:off x="457200" y="1504950"/>
              <a:ext cx="2514600" cy="2238300"/>
            </a:xfrm>
            <a:prstGeom prst="roundRect">
              <a:avLst>
                <a:gd fmla="val 340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2" name="Google Shape;1012;p36"/>
            <p:cNvSpPr/>
            <p:nvPr/>
          </p:nvSpPr>
          <p:spPr>
            <a:xfrm>
              <a:off x="457200" y="1504950"/>
              <a:ext cx="25146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3" name="Google Shape;1013;p36"/>
            <p:cNvSpPr txBox="1"/>
            <p:nvPr/>
          </p:nvSpPr>
          <p:spPr>
            <a:xfrm>
              <a:off x="609600" y="1657350"/>
              <a:ext cx="2209800" cy="1952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01 / THE BUG</a:t>
              </a:r>
              <a:endParaRPr b="1" sz="1000">
                <a:solidFill>
                  <a:srgbClr val="F0B429"/>
                </a:solidFill>
                <a:latin typeface="Carlito"/>
                <a:ea typeface="Carlito"/>
                <a:cs typeface="Carlito"/>
                <a:sym typeface="Carlito"/>
              </a:endParaRPr>
            </a:p>
            <a:p>
              <a:pPr indent="0" lvl="0" marL="0" rtl="0" algn="l">
                <a:spcBef>
                  <a:spcPts val="600"/>
                </a:spcBef>
                <a:spcAft>
                  <a:spcPts val="0"/>
                </a:spcAft>
                <a:buNone/>
              </a:pPr>
              <a:r>
                <a:rPr b="1" lang="en-US" sz="1400">
                  <a:solidFill>
                    <a:srgbClr val="F5F1E6"/>
                  </a:solidFill>
                  <a:latin typeface="Courier New"/>
                  <a:ea typeface="Courier New"/>
                  <a:cs typeface="Courier New"/>
                  <a:sym typeface="Courier New"/>
                </a:rPr>
                <a:t>False Alarm</a:t>
              </a:r>
              <a:endParaRPr b="1" sz="1000">
                <a:solidFill>
                  <a:srgbClr val="F0B429"/>
                </a:solidFill>
                <a:latin typeface="Carlito"/>
                <a:ea typeface="Carlito"/>
                <a:cs typeface="Carlito"/>
                <a:sym typeface="Carlito"/>
              </a:endParaRPr>
            </a:p>
            <a:p>
              <a:pPr indent="0" lvl="0" marL="0" rtl="0" algn="l">
                <a:spcBef>
                  <a:spcPts val="900"/>
                </a:spcBef>
                <a:spcAft>
                  <a:spcPts val="0"/>
                </a:spcAft>
                <a:buNone/>
              </a:pPr>
              <a:r>
                <a:rPr b="1" lang="en-US" sz="950">
                  <a:solidFill>
                    <a:srgbClr val="F5F1E6"/>
                  </a:solidFill>
                  <a:latin typeface="Carlito"/>
                  <a:ea typeface="Carlito"/>
                  <a:cs typeface="Carlito"/>
                  <a:sym typeface="Carlito"/>
                </a:rPr>
                <a:t>Hugging Face's</a:t>
              </a:r>
              <a:r>
                <a:rPr b="0" lang="en-US" sz="950">
                  <a:solidFill>
                    <a:srgbClr val="94A3B8"/>
                  </a:solidFill>
                  <a:latin typeface="Carlito"/>
                  <a:ea typeface="Carlito"/>
                  <a:cs typeface="Carlito"/>
                  <a:sym typeface="Carlito"/>
                </a:rPr>
                <a:t> </a:t>
              </a:r>
              <a:r>
                <a:rPr b="0" lang="en-US" sz="950">
                  <a:solidFill>
                    <a:srgbClr val="F0B429"/>
                  </a:solidFill>
                  <a:latin typeface="Courier New"/>
                  <a:ea typeface="Courier New"/>
                  <a:cs typeface="Courier New"/>
                  <a:sym typeface="Courier New"/>
                </a:rPr>
                <a:t>get_memory_footprint</a:t>
              </a:r>
              <a:r>
                <a:rPr b="0" lang="en-US" sz="950">
                  <a:solidFill>
                    <a:srgbClr val="94A3B8"/>
                  </a:solidFill>
                  <a:latin typeface="Carlito"/>
                  <a:ea typeface="Carlito"/>
                  <a:cs typeface="Carlito"/>
                  <a:sym typeface="Carlito"/>
                </a:rPr>
                <a:t> can report zero size reduction after quantization, even when the model actually quantized correctly.</a:t>
              </a:r>
              <a:endParaRPr b="0" sz="950">
                <a:solidFill>
                  <a:srgbClr val="94A3B8"/>
                </a:solidFill>
                <a:latin typeface="Carlito"/>
                <a:ea typeface="Carlito"/>
                <a:cs typeface="Carlito"/>
                <a:sym typeface="Carlito"/>
              </a:endParaRPr>
            </a:p>
          </p:txBody>
        </p:sp>
      </p:grpSp>
      <p:grpSp>
        <p:nvGrpSpPr>
          <p:cNvPr id="1014" name="Google Shape;1014;p36"/>
          <p:cNvGrpSpPr/>
          <p:nvPr/>
        </p:nvGrpSpPr>
        <p:grpSpPr>
          <a:xfrm>
            <a:off x="3314700" y="1504950"/>
            <a:ext cx="2514600" cy="2238300"/>
            <a:chOff x="3314700" y="1504950"/>
            <a:chExt cx="2514600" cy="2238300"/>
          </a:xfrm>
        </p:grpSpPr>
        <p:sp>
          <p:nvSpPr>
            <p:cNvPr id="1015" name="Google Shape;1015;p36"/>
            <p:cNvSpPr/>
            <p:nvPr/>
          </p:nvSpPr>
          <p:spPr>
            <a:xfrm>
              <a:off x="3314700" y="1504950"/>
              <a:ext cx="2514600" cy="2238300"/>
            </a:xfrm>
            <a:prstGeom prst="roundRect">
              <a:avLst>
                <a:gd fmla="val 340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6" name="Google Shape;1016;p36"/>
            <p:cNvSpPr/>
            <p:nvPr/>
          </p:nvSpPr>
          <p:spPr>
            <a:xfrm>
              <a:off x="3314700" y="1504950"/>
              <a:ext cx="25146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7" name="Google Shape;1017;p36"/>
            <p:cNvSpPr txBox="1"/>
            <p:nvPr/>
          </p:nvSpPr>
          <p:spPr>
            <a:xfrm>
              <a:off x="3467100" y="1657350"/>
              <a:ext cx="2209800" cy="1952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02 / THE ROOT CAUSE</a:t>
              </a:r>
              <a:endParaRPr b="1" sz="1000">
                <a:solidFill>
                  <a:srgbClr val="F0B429"/>
                </a:solidFill>
                <a:latin typeface="Carlito"/>
                <a:ea typeface="Carlito"/>
                <a:cs typeface="Carlito"/>
                <a:sym typeface="Carlito"/>
              </a:endParaRPr>
            </a:p>
            <a:p>
              <a:pPr indent="0" lvl="0" marL="0" rtl="0" algn="l">
                <a:spcBef>
                  <a:spcPts val="600"/>
                </a:spcBef>
                <a:spcAft>
                  <a:spcPts val="0"/>
                </a:spcAft>
                <a:buNone/>
              </a:pPr>
              <a:r>
                <a:rPr b="1" lang="en-US" sz="1400">
                  <a:solidFill>
                    <a:srgbClr val="F5F1E6"/>
                  </a:solidFill>
                  <a:latin typeface="Courier New"/>
                  <a:ea typeface="Courier New"/>
                  <a:cs typeface="Courier New"/>
                  <a:sym typeface="Courier New"/>
                </a:rPr>
                <a:t>Facade Effect</a:t>
              </a:r>
              <a:endParaRPr b="1" sz="1000">
                <a:solidFill>
                  <a:srgbClr val="F0B429"/>
                </a:solidFill>
                <a:latin typeface="Carlito"/>
                <a:ea typeface="Carlito"/>
                <a:cs typeface="Carlito"/>
                <a:sym typeface="Carlito"/>
              </a:endParaRPr>
            </a:p>
            <a:p>
              <a:pPr indent="0" lvl="0" marL="0" rtl="0" algn="l">
                <a:spcBef>
                  <a:spcPts val="900"/>
                </a:spcBef>
                <a:spcAft>
                  <a:spcPts val="0"/>
                </a:spcAft>
                <a:buNone/>
              </a:pPr>
              <a:r>
                <a:rPr b="0" lang="en-US" sz="950">
                  <a:solidFill>
                    <a:srgbClr val="94A3B8"/>
                  </a:solidFill>
                  <a:latin typeface="Carlito"/>
                  <a:ea typeface="Carlito"/>
                  <a:cs typeface="Carlito"/>
                  <a:sym typeface="Carlito"/>
                </a:rPr>
                <a:t>Quantized formats (from </a:t>
              </a:r>
              <a:r>
                <a:rPr b="0" lang="en-US" sz="950">
                  <a:solidFill>
                    <a:srgbClr val="F0B429"/>
                  </a:solidFill>
                  <a:latin typeface="Courier New"/>
                  <a:ea typeface="Courier New"/>
                  <a:cs typeface="Courier New"/>
                  <a:sym typeface="Courier New"/>
                </a:rPr>
                <a:t>torchao</a:t>
              </a:r>
              <a:r>
                <a:rPr b="0" lang="en-US" sz="950">
                  <a:solidFill>
                    <a:srgbClr val="94A3B8"/>
                  </a:solidFill>
                  <a:latin typeface="Carlito"/>
                  <a:ea typeface="Carlito"/>
                  <a:cs typeface="Carlito"/>
                  <a:sym typeface="Carlito"/>
                </a:rPr>
                <a:t>) expose a backward-compatible "facade" reporting original </a:t>
              </a:r>
              <a:r>
                <a:rPr b="0" lang="en-US" sz="950">
                  <a:solidFill>
                    <a:srgbClr val="F0B429"/>
                  </a:solidFill>
                  <a:latin typeface="Courier New"/>
                  <a:ea typeface="Courier New"/>
                  <a:cs typeface="Courier New"/>
                  <a:sym typeface="Courier New"/>
                </a:rPr>
                <a:t>FP32</a:t>
              </a:r>
              <a:r>
                <a:rPr b="0" lang="en-US" sz="950">
                  <a:solidFill>
                    <a:srgbClr val="94A3B8"/>
                  </a:solidFill>
                  <a:latin typeface="Carlito"/>
                  <a:ea typeface="Carlito"/>
                  <a:cs typeface="Carlito"/>
                  <a:sym typeface="Carlito"/>
                </a:rPr>
                <a:t> size to legacy code, fooling standard tools.</a:t>
              </a:r>
              <a:endParaRPr b="0" sz="950">
                <a:solidFill>
                  <a:srgbClr val="94A3B8"/>
                </a:solidFill>
                <a:latin typeface="Carlito"/>
                <a:ea typeface="Carlito"/>
                <a:cs typeface="Carlito"/>
                <a:sym typeface="Carlito"/>
              </a:endParaRPr>
            </a:p>
          </p:txBody>
        </p:sp>
      </p:grpSp>
      <p:grpSp>
        <p:nvGrpSpPr>
          <p:cNvPr id="1018" name="Google Shape;1018;p36"/>
          <p:cNvGrpSpPr/>
          <p:nvPr/>
        </p:nvGrpSpPr>
        <p:grpSpPr>
          <a:xfrm>
            <a:off x="6172200" y="1504950"/>
            <a:ext cx="2514600" cy="2238300"/>
            <a:chOff x="6172200" y="1504950"/>
            <a:chExt cx="2514600" cy="2238300"/>
          </a:xfrm>
        </p:grpSpPr>
        <p:sp>
          <p:nvSpPr>
            <p:cNvPr id="1019" name="Google Shape;1019;p36"/>
            <p:cNvSpPr/>
            <p:nvPr/>
          </p:nvSpPr>
          <p:spPr>
            <a:xfrm>
              <a:off x="6172200" y="1504950"/>
              <a:ext cx="2514600" cy="2238300"/>
            </a:xfrm>
            <a:prstGeom prst="roundRect">
              <a:avLst>
                <a:gd fmla="val 340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0" name="Google Shape;1020;p36"/>
            <p:cNvSpPr/>
            <p:nvPr/>
          </p:nvSpPr>
          <p:spPr>
            <a:xfrm>
              <a:off x="6172200" y="1504950"/>
              <a:ext cx="25146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1" name="Google Shape;1021;p36"/>
            <p:cNvSpPr txBox="1"/>
            <p:nvPr/>
          </p:nvSpPr>
          <p:spPr>
            <a:xfrm>
              <a:off x="6324600" y="1657350"/>
              <a:ext cx="2209800" cy="1952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03 / THE FIX</a:t>
              </a:r>
              <a:endParaRPr b="1" sz="1000">
                <a:solidFill>
                  <a:srgbClr val="F0B429"/>
                </a:solidFill>
                <a:latin typeface="Carlito"/>
                <a:ea typeface="Carlito"/>
                <a:cs typeface="Carlito"/>
                <a:sym typeface="Carlito"/>
              </a:endParaRPr>
            </a:p>
            <a:p>
              <a:pPr indent="0" lvl="0" marL="0" rtl="0" algn="l">
                <a:spcBef>
                  <a:spcPts val="600"/>
                </a:spcBef>
                <a:spcAft>
                  <a:spcPts val="0"/>
                </a:spcAft>
                <a:buNone/>
              </a:pPr>
              <a:r>
                <a:rPr b="1" lang="en-US" sz="1400">
                  <a:solidFill>
                    <a:srgbClr val="F5F1E6"/>
                  </a:solidFill>
                  <a:latin typeface="Courier New"/>
                  <a:ea typeface="Courier New"/>
                  <a:cs typeface="Courier New"/>
                  <a:sym typeface="Courier New"/>
                </a:rPr>
                <a:t>Direct Probe</a:t>
              </a:r>
              <a:endParaRPr b="1" sz="1000">
                <a:solidFill>
                  <a:srgbClr val="F0B429"/>
                </a:solidFill>
                <a:latin typeface="Carlito"/>
                <a:ea typeface="Carlito"/>
                <a:cs typeface="Carlito"/>
                <a:sym typeface="Carlito"/>
              </a:endParaRPr>
            </a:p>
            <a:p>
              <a:pPr indent="0" lvl="0" marL="0" rtl="0" algn="l">
                <a:spcBef>
                  <a:spcPts val="900"/>
                </a:spcBef>
                <a:spcAft>
                  <a:spcPts val="0"/>
                </a:spcAft>
                <a:buNone/>
              </a:pPr>
              <a:r>
                <a:rPr b="0" lang="en-US" sz="950">
                  <a:solidFill>
                    <a:srgbClr val="94A3B8"/>
                  </a:solidFill>
                  <a:latin typeface="Carlito"/>
                  <a:ea typeface="Carlito"/>
                  <a:cs typeface="Carlito"/>
                  <a:sym typeface="Carlito"/>
                </a:rPr>
                <a:t>Measure the actual underlying compressed storage tensors directly, rather than relying on high-level size-reporting APIs.</a:t>
              </a:r>
              <a:endParaRPr b="0" sz="950">
                <a:solidFill>
                  <a:srgbClr val="94A3B8"/>
                </a:solidFill>
                <a:latin typeface="Carlito"/>
                <a:ea typeface="Carlito"/>
                <a:cs typeface="Carlito"/>
                <a:sym typeface="Carlito"/>
              </a:endParaRPr>
            </a:p>
          </p:txBody>
        </p:sp>
      </p:grpSp>
      <p:grpSp>
        <p:nvGrpSpPr>
          <p:cNvPr id="1022" name="Google Shape;1022;p36"/>
          <p:cNvGrpSpPr/>
          <p:nvPr/>
        </p:nvGrpSpPr>
        <p:grpSpPr>
          <a:xfrm>
            <a:off x="457200" y="3962400"/>
            <a:ext cx="8229600" cy="609600"/>
            <a:chOff x="457200" y="3962400"/>
            <a:chExt cx="8229600" cy="609600"/>
          </a:xfrm>
        </p:grpSpPr>
        <p:sp>
          <p:nvSpPr>
            <p:cNvPr id="1023" name="Google Shape;1023;p36"/>
            <p:cNvSpPr/>
            <p:nvPr/>
          </p:nvSpPr>
          <p:spPr>
            <a:xfrm>
              <a:off x="457200" y="3962400"/>
              <a:ext cx="8229600" cy="609600"/>
            </a:xfrm>
            <a:prstGeom prst="roundRect">
              <a:avLst>
                <a:gd fmla="val 9375" name="adj"/>
              </a:avLst>
            </a:prstGeom>
            <a:solidFill>
              <a:srgbClr val="F0B429">
                <a:alpha val="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024" name="Google Shape;1024;p36"/>
            <p:cNvCxnSpPr/>
            <p:nvPr/>
          </p:nvCxnSpPr>
          <p:spPr>
            <a:xfrm>
              <a:off x="471488" y="3962400"/>
              <a:ext cx="0" cy="609600"/>
            </a:xfrm>
            <a:prstGeom prst="straightConnector1">
              <a:avLst/>
            </a:prstGeom>
            <a:solidFill>
              <a:srgbClr val="FFFFFF"/>
            </a:solidFill>
            <a:ln cap="flat" cmpd="sng" w="28575">
              <a:solidFill>
                <a:srgbClr val="F0B429"/>
              </a:solidFill>
              <a:prstDash val="solid"/>
              <a:round/>
              <a:headEnd len="sm" w="sm" type="none"/>
              <a:tailEnd len="sm" w="sm" type="none"/>
            </a:ln>
          </p:spPr>
        </p:cxnSp>
        <p:sp>
          <p:nvSpPr>
            <p:cNvPr id="1025" name="Google Shape;1025;p36"/>
            <p:cNvSpPr/>
            <p:nvPr/>
          </p:nvSpPr>
          <p:spPr>
            <a:xfrm>
              <a:off x="609600" y="4057650"/>
              <a:ext cx="1095300" cy="209700"/>
            </a:xfrm>
            <a:prstGeom prst="roundRect">
              <a:avLst>
                <a:gd fmla="val 13636"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6" name="Google Shape;1026;p36"/>
            <p:cNvSpPr txBox="1"/>
            <p:nvPr/>
          </p:nvSpPr>
          <p:spPr>
            <a:xfrm>
              <a:off x="609600" y="4057650"/>
              <a:ext cx="10953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0A1628"/>
                  </a:solidFill>
                  <a:latin typeface="Carlito"/>
                  <a:ea typeface="Carlito"/>
                  <a:cs typeface="Carlito"/>
                  <a:sym typeface="Carlito"/>
                </a:rPr>
                <a:t>TEACHING POINT</a:t>
              </a:r>
              <a:endParaRPr b="1" sz="800">
                <a:solidFill>
                  <a:srgbClr val="0A1628"/>
                </a:solidFill>
                <a:latin typeface="Carlito"/>
                <a:ea typeface="Carlito"/>
                <a:cs typeface="Carlito"/>
                <a:sym typeface="Carlito"/>
              </a:endParaRPr>
            </a:p>
          </p:txBody>
        </p:sp>
        <p:sp>
          <p:nvSpPr>
            <p:cNvPr id="1027" name="Google Shape;1027;p36"/>
            <p:cNvSpPr txBox="1"/>
            <p:nvPr/>
          </p:nvSpPr>
          <p:spPr>
            <a:xfrm>
              <a:off x="1857375" y="4019550"/>
              <a:ext cx="6677100" cy="495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1" lang="en-US" sz="950">
                  <a:solidFill>
                    <a:srgbClr val="F5F1E6"/>
                  </a:solidFill>
                  <a:latin typeface="Carlito"/>
                  <a:ea typeface="Carlito"/>
                  <a:cs typeface="Carlito"/>
                  <a:sym typeface="Carlito"/>
                </a:rPr>
                <a:t>A surprising benchmark result is a reason to double-check your measurement method before concluding a technique failed.</a:t>
              </a:r>
              <a:endParaRPr b="0" i="1" sz="950">
                <a:solidFill>
                  <a:srgbClr val="F5F1E6"/>
                </a:solidFill>
                <a:latin typeface="Carlito"/>
                <a:ea typeface="Carlito"/>
                <a:cs typeface="Carlito"/>
                <a:sym typeface="Carlito"/>
              </a:endParaRPr>
            </a:p>
          </p:txBody>
        </p:sp>
      </p:grpSp>
      <p:sp>
        <p:nvSpPr>
          <p:cNvPr id="1028" name="Google Shape;1028;p36"/>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029" name="Google Shape;1029;p36"/>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34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034" name="Shape 1034"/>
        <p:cNvGrpSpPr/>
        <p:nvPr/>
      </p:nvGrpSpPr>
      <p:grpSpPr>
        <a:xfrm>
          <a:off x="0" y="0"/>
          <a:ext cx="0" cy="0"/>
          <a:chOff x="0" y="0"/>
          <a:chExt cx="0" cy="0"/>
        </a:xfrm>
      </p:grpSpPr>
      <p:sp>
        <p:nvSpPr>
          <p:cNvPr id="1035" name="Google Shape;1035;p37"/>
          <p:cNvSpPr txBox="1"/>
          <p:nvPr/>
        </p:nvSpPr>
        <p:spPr>
          <a:xfrm>
            <a:off x="457200" y="333375"/>
            <a:ext cx="82296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F0B429"/>
                </a:solidFill>
                <a:latin typeface="Carlito"/>
                <a:ea typeface="Carlito"/>
                <a:cs typeface="Carlito"/>
                <a:sym typeface="Carlito"/>
              </a:rPr>
              <a:t>PART 05 · SECTION SUMMARY</a:t>
            </a:r>
            <a:endParaRPr b="1" sz="850">
              <a:solidFill>
                <a:srgbClr val="F0B429"/>
              </a:solidFill>
              <a:latin typeface="Carlito"/>
              <a:ea typeface="Carlito"/>
              <a:cs typeface="Carlito"/>
              <a:sym typeface="Carlito"/>
            </a:endParaRPr>
          </a:p>
          <a:p>
            <a:pPr indent="0" lvl="0" marL="0" rtl="0" algn="l">
              <a:spcBef>
                <a:spcPts val="300"/>
              </a:spcBef>
              <a:spcAft>
                <a:spcPts val="0"/>
              </a:spcAft>
              <a:buNone/>
            </a:pPr>
            <a:r>
              <a:rPr b="1" lang="en-US" sz="2200">
                <a:solidFill>
                  <a:srgbClr val="F5F1E6"/>
                </a:solidFill>
                <a:latin typeface="Carlito"/>
                <a:ea typeface="Carlito"/>
                <a:cs typeface="Carlito"/>
                <a:sym typeface="Carlito"/>
              </a:rPr>
              <a:t>Section Summary: Quantization</a:t>
            </a:r>
            <a:endParaRPr b="1" sz="2200">
              <a:solidFill>
                <a:srgbClr val="F5F1E6"/>
              </a:solidFill>
              <a:latin typeface="Carlito"/>
              <a:ea typeface="Carlito"/>
              <a:cs typeface="Carlito"/>
              <a:sym typeface="Carlito"/>
            </a:endParaRPr>
          </a:p>
        </p:txBody>
      </p:sp>
      <p:grpSp>
        <p:nvGrpSpPr>
          <p:cNvPr id="1036" name="Google Shape;1036;p37"/>
          <p:cNvGrpSpPr/>
          <p:nvPr/>
        </p:nvGrpSpPr>
        <p:grpSpPr>
          <a:xfrm>
            <a:off x="457200" y="1000125"/>
            <a:ext cx="8229600" cy="857400"/>
            <a:chOff x="457200" y="1000125"/>
            <a:chExt cx="8229600" cy="857400"/>
          </a:xfrm>
        </p:grpSpPr>
        <p:sp>
          <p:nvSpPr>
            <p:cNvPr id="1037" name="Google Shape;1037;p37"/>
            <p:cNvSpPr/>
            <p:nvPr/>
          </p:nvSpPr>
          <p:spPr>
            <a:xfrm>
              <a:off x="457200" y="1000125"/>
              <a:ext cx="8229600" cy="857400"/>
            </a:xfrm>
            <a:prstGeom prst="roundRect">
              <a:avLst>
                <a:gd fmla="val 8888"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8" name="Google Shape;1038;p37"/>
            <p:cNvSpPr txBox="1"/>
            <p:nvPr/>
          </p:nvSpPr>
          <p:spPr>
            <a:xfrm>
              <a:off x="647700" y="1095375"/>
              <a:ext cx="78486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100">
                  <a:solidFill>
                    <a:srgbClr val="F5F1E6"/>
                  </a:solidFill>
                  <a:latin typeface="Carlito"/>
                  <a:ea typeface="Carlito"/>
                  <a:cs typeface="Carlito"/>
                  <a:sym typeface="Carlito"/>
                </a:rPr>
                <a:t>Quantization compresses a trained model's numeric representation, trading a controlled amount of precision for </a:t>
              </a:r>
              <a:r>
                <a:rPr b="1" lang="en-US" sz="1100">
                  <a:solidFill>
                    <a:srgbClr val="F0B429"/>
                  </a:solidFill>
                  <a:latin typeface="Carlito"/>
                  <a:ea typeface="Carlito"/>
                  <a:cs typeface="Carlito"/>
                  <a:sym typeface="Carlito"/>
                </a:rPr>
                <a:t>gains in memory footprint and inference speed</a:t>
              </a:r>
              <a:r>
                <a:rPr lang="en-US" sz="1100">
                  <a:solidFill>
                    <a:srgbClr val="F5F1E6"/>
                  </a:solidFill>
                  <a:latin typeface="Carlito"/>
                  <a:ea typeface="Carlito"/>
                  <a:cs typeface="Carlito"/>
                  <a:sym typeface="Carlito"/>
                </a:rPr>
                <a:t> — but only if you verify it actually applied correctly and measure it correctly.</a:t>
              </a:r>
              <a:endParaRPr sz="1100">
                <a:solidFill>
                  <a:srgbClr val="F5F1E6"/>
                </a:solidFill>
                <a:latin typeface="Carlito"/>
                <a:ea typeface="Carlito"/>
                <a:cs typeface="Carlito"/>
                <a:sym typeface="Carlito"/>
              </a:endParaRPr>
            </a:p>
          </p:txBody>
        </p:sp>
      </p:grpSp>
      <p:grpSp>
        <p:nvGrpSpPr>
          <p:cNvPr id="1039" name="Google Shape;1039;p37"/>
          <p:cNvGrpSpPr/>
          <p:nvPr/>
        </p:nvGrpSpPr>
        <p:grpSpPr>
          <a:xfrm>
            <a:off x="457200" y="2000250"/>
            <a:ext cx="2590800" cy="1285800"/>
            <a:chOff x="457200" y="2000250"/>
            <a:chExt cx="2590800" cy="1285800"/>
          </a:xfrm>
        </p:grpSpPr>
        <p:sp>
          <p:nvSpPr>
            <p:cNvPr id="1040" name="Google Shape;1040;p37"/>
            <p:cNvSpPr/>
            <p:nvPr/>
          </p:nvSpPr>
          <p:spPr>
            <a:xfrm>
              <a:off x="457200" y="2000250"/>
              <a:ext cx="2590800" cy="1285800"/>
            </a:xfrm>
            <a:prstGeom prst="roundRect">
              <a:avLst>
                <a:gd fmla="val 5925" name="adj"/>
              </a:avLst>
            </a:prstGeom>
            <a:solidFill>
              <a:srgbClr val="0F1B30"/>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1" name="Google Shape;1041;p37"/>
            <p:cNvSpPr/>
            <p:nvPr/>
          </p:nvSpPr>
          <p:spPr>
            <a:xfrm>
              <a:off x="457200" y="2000250"/>
              <a:ext cx="25908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2" name="Google Shape;1042;p37"/>
            <p:cNvSpPr txBox="1"/>
            <p:nvPr/>
          </p:nvSpPr>
          <p:spPr>
            <a:xfrm>
              <a:off x="609600" y="2114550"/>
              <a:ext cx="2286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01 / MEMORY FOOTPRINT</a:t>
              </a:r>
              <a:endParaRPr b="1" sz="800">
                <a:solidFill>
                  <a:srgbClr val="94A3B8"/>
                </a:solidFill>
                <a:latin typeface="Carlito"/>
                <a:ea typeface="Carlito"/>
                <a:cs typeface="Carlito"/>
                <a:sym typeface="Carlito"/>
              </a:endParaRPr>
            </a:p>
            <a:p>
              <a:pPr indent="0" lvl="0" marL="0" rtl="0" algn="l">
                <a:spcBef>
                  <a:spcPts val="600"/>
                </a:spcBef>
                <a:spcAft>
                  <a:spcPts val="0"/>
                </a:spcAft>
                <a:buNone/>
              </a:pPr>
              <a:r>
                <a:rPr b="1" lang="en-US" sz="2600">
                  <a:solidFill>
                    <a:srgbClr val="F0B429"/>
                  </a:solidFill>
                  <a:latin typeface="Courier New"/>
                  <a:ea typeface="Courier New"/>
                  <a:cs typeface="Courier New"/>
                  <a:sym typeface="Courier New"/>
                </a:rPr>
                <a:t>~¼x</a:t>
              </a:r>
              <a:endParaRPr b="1" sz="2600">
                <a:solidFill>
                  <a:srgbClr val="F0B429"/>
                </a:solidFill>
                <a:latin typeface="Courier New"/>
                <a:ea typeface="Courier New"/>
                <a:cs typeface="Courier New"/>
                <a:sym typeface="Courier New"/>
              </a:endParaRPr>
            </a:p>
            <a:p>
              <a:pPr indent="0" lvl="0" marL="0" rtl="0" algn="l">
                <a:spcBef>
                  <a:spcPts val="600"/>
                </a:spcBef>
                <a:spcAft>
                  <a:spcPts val="0"/>
                </a:spcAft>
                <a:buNone/>
              </a:pPr>
              <a:r>
                <a:rPr b="1" lang="en-US" sz="950">
                  <a:solidFill>
                    <a:srgbClr val="F5F1E6"/>
                  </a:solidFill>
                  <a:latin typeface="Courier New"/>
                  <a:ea typeface="Courier New"/>
                  <a:cs typeface="Courier New"/>
                  <a:sym typeface="Courier New"/>
                </a:rPr>
                <a:t>INT8</a:t>
              </a:r>
              <a:r>
                <a:rPr lang="en-US" sz="950">
                  <a:solidFill>
                    <a:srgbClr val="94A3B8"/>
                  </a:solidFill>
                  <a:latin typeface="Carlito"/>
                  <a:ea typeface="Carlito"/>
                  <a:cs typeface="Carlito"/>
                  <a:sym typeface="Carlito"/>
                </a:rPr>
                <a:t> vs </a:t>
              </a:r>
              <a:r>
                <a:rPr b="1" lang="en-US" sz="950">
                  <a:solidFill>
                    <a:srgbClr val="F5F1E6"/>
                  </a:solidFill>
                  <a:latin typeface="Courier New"/>
                  <a:ea typeface="Courier New"/>
                  <a:cs typeface="Courier New"/>
                  <a:sym typeface="Courier New"/>
                </a:rPr>
                <a:t>FP32</a:t>
              </a:r>
              <a:r>
                <a:rPr lang="en-US" sz="950">
                  <a:solidFill>
                    <a:srgbClr val="94A3B8"/>
                  </a:solidFill>
                  <a:latin typeface="Carlito"/>
                  <a:ea typeface="Carlito"/>
                  <a:cs typeface="Carlito"/>
                  <a:sym typeface="Carlito"/>
                </a:rPr>
                <a:t> original</a:t>
              </a:r>
              <a:endParaRPr sz="950">
                <a:solidFill>
                  <a:srgbClr val="94A3B8"/>
                </a:solidFill>
                <a:latin typeface="Carlito"/>
                <a:ea typeface="Carlito"/>
                <a:cs typeface="Carlito"/>
                <a:sym typeface="Carlito"/>
              </a:endParaRPr>
            </a:p>
          </p:txBody>
        </p:sp>
      </p:grpSp>
      <p:grpSp>
        <p:nvGrpSpPr>
          <p:cNvPr id="1043" name="Google Shape;1043;p37"/>
          <p:cNvGrpSpPr/>
          <p:nvPr/>
        </p:nvGrpSpPr>
        <p:grpSpPr>
          <a:xfrm>
            <a:off x="3276600" y="2000250"/>
            <a:ext cx="2590800" cy="1285800"/>
            <a:chOff x="3276600" y="2000250"/>
            <a:chExt cx="2590800" cy="1285800"/>
          </a:xfrm>
        </p:grpSpPr>
        <p:sp>
          <p:nvSpPr>
            <p:cNvPr id="1044" name="Google Shape;1044;p37"/>
            <p:cNvSpPr/>
            <p:nvPr/>
          </p:nvSpPr>
          <p:spPr>
            <a:xfrm>
              <a:off x="3276600" y="2000250"/>
              <a:ext cx="2590800" cy="1285800"/>
            </a:xfrm>
            <a:prstGeom prst="roundRect">
              <a:avLst>
                <a:gd fmla="val 5925" name="adj"/>
              </a:avLst>
            </a:prstGeom>
            <a:solidFill>
              <a:srgbClr val="0F1B30"/>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5" name="Google Shape;1045;p37"/>
            <p:cNvSpPr/>
            <p:nvPr/>
          </p:nvSpPr>
          <p:spPr>
            <a:xfrm>
              <a:off x="3276600" y="2000250"/>
              <a:ext cx="25908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6" name="Google Shape;1046;p37"/>
            <p:cNvSpPr txBox="1"/>
            <p:nvPr/>
          </p:nvSpPr>
          <p:spPr>
            <a:xfrm>
              <a:off x="3429000" y="2114550"/>
              <a:ext cx="2286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02 / TWO STRATEGIES</a:t>
              </a:r>
              <a:endParaRPr b="1" sz="800">
                <a:solidFill>
                  <a:srgbClr val="94A3B8"/>
                </a:solidFill>
                <a:latin typeface="Carlito"/>
                <a:ea typeface="Carlito"/>
                <a:cs typeface="Carlito"/>
                <a:sym typeface="Carlito"/>
              </a:endParaRPr>
            </a:p>
            <a:p>
              <a:pPr indent="0" lvl="0" marL="0" rtl="0" algn="l">
                <a:spcBef>
                  <a:spcPts val="600"/>
                </a:spcBef>
                <a:spcAft>
                  <a:spcPts val="0"/>
                </a:spcAft>
                <a:buNone/>
              </a:pPr>
              <a:r>
                <a:rPr b="1" lang="en-US" sz="1800">
                  <a:solidFill>
                    <a:srgbClr val="F0B429"/>
                  </a:solidFill>
                  <a:latin typeface="Courier New"/>
                  <a:ea typeface="Courier New"/>
                  <a:cs typeface="Courier New"/>
                  <a:sym typeface="Courier New"/>
                </a:rPr>
                <a:t>PTQ</a:t>
              </a:r>
              <a:r>
                <a:rPr b="1" lang="en-US" sz="1800">
                  <a:solidFill>
                    <a:srgbClr val="F5F1E6"/>
                  </a:solidFill>
                  <a:latin typeface="Courier New"/>
                  <a:ea typeface="Courier New"/>
                  <a:cs typeface="Courier New"/>
                  <a:sym typeface="Courier New"/>
                </a:rPr>
                <a:t> · QAT</a:t>
              </a:r>
              <a:endParaRPr b="1" sz="1800">
                <a:solidFill>
                  <a:srgbClr val="F5F1E6"/>
                </a:solidFill>
                <a:latin typeface="Courier New"/>
                <a:ea typeface="Courier New"/>
                <a:cs typeface="Courier New"/>
                <a:sym typeface="Courier New"/>
              </a:endParaRPr>
            </a:p>
            <a:p>
              <a:pPr indent="0" lvl="0" marL="0" rtl="0" algn="l">
                <a:spcBef>
                  <a:spcPts val="1050"/>
                </a:spcBef>
                <a:spcAft>
                  <a:spcPts val="0"/>
                </a:spcAft>
                <a:buNone/>
              </a:pPr>
              <a:r>
                <a:rPr lang="en-US" sz="950">
                  <a:solidFill>
                    <a:srgbClr val="94A3B8"/>
                  </a:solidFill>
                  <a:latin typeface="Carlito"/>
                  <a:ea typeface="Carlito"/>
                  <a:cs typeface="Carlito"/>
                  <a:sym typeface="Carlito"/>
                </a:rPr>
                <a:t>Demo uses </a:t>
              </a:r>
              <a:r>
                <a:rPr b="1" lang="en-US" sz="950">
                  <a:solidFill>
                    <a:srgbClr val="F5F1E6"/>
                  </a:solidFill>
                  <a:latin typeface="Courier New"/>
                  <a:ea typeface="Courier New"/>
                  <a:cs typeface="Courier New"/>
                  <a:sym typeface="Courier New"/>
                </a:rPr>
                <a:t>PTQ</a:t>
              </a:r>
              <a:r>
                <a:rPr lang="en-US" sz="950">
                  <a:solidFill>
                    <a:srgbClr val="94A3B8"/>
                  </a:solidFill>
                  <a:latin typeface="Carlito"/>
                  <a:ea typeface="Carlito"/>
                  <a:cs typeface="Carlito"/>
                  <a:sym typeface="Carlito"/>
                </a:rPr>
                <a:t> — fast, calibration-driven</a:t>
              </a:r>
              <a:endParaRPr sz="950">
                <a:solidFill>
                  <a:srgbClr val="94A3B8"/>
                </a:solidFill>
                <a:latin typeface="Carlito"/>
                <a:ea typeface="Carlito"/>
                <a:cs typeface="Carlito"/>
                <a:sym typeface="Carlito"/>
              </a:endParaRPr>
            </a:p>
          </p:txBody>
        </p:sp>
      </p:grpSp>
      <p:grpSp>
        <p:nvGrpSpPr>
          <p:cNvPr id="1047" name="Google Shape;1047;p37"/>
          <p:cNvGrpSpPr/>
          <p:nvPr/>
        </p:nvGrpSpPr>
        <p:grpSpPr>
          <a:xfrm>
            <a:off x="6096000" y="2000250"/>
            <a:ext cx="2590800" cy="1285800"/>
            <a:chOff x="6096000" y="2000250"/>
            <a:chExt cx="2590800" cy="1285800"/>
          </a:xfrm>
        </p:grpSpPr>
        <p:sp>
          <p:nvSpPr>
            <p:cNvPr id="1048" name="Google Shape;1048;p37"/>
            <p:cNvSpPr/>
            <p:nvPr/>
          </p:nvSpPr>
          <p:spPr>
            <a:xfrm>
              <a:off x="6096000" y="2000250"/>
              <a:ext cx="2590800" cy="1285800"/>
            </a:xfrm>
            <a:prstGeom prst="roundRect">
              <a:avLst>
                <a:gd fmla="val 5925" name="adj"/>
              </a:avLst>
            </a:prstGeom>
            <a:solidFill>
              <a:srgbClr val="0F1B30"/>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9" name="Google Shape;1049;p37"/>
            <p:cNvSpPr/>
            <p:nvPr/>
          </p:nvSpPr>
          <p:spPr>
            <a:xfrm>
              <a:off x="6096000" y="2000250"/>
              <a:ext cx="25908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0" name="Google Shape;1050;p37"/>
            <p:cNvSpPr txBox="1"/>
            <p:nvPr/>
          </p:nvSpPr>
          <p:spPr>
            <a:xfrm>
              <a:off x="6248400" y="2114550"/>
              <a:ext cx="2286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03 / VERIFICATION</a:t>
              </a:r>
              <a:endParaRPr b="1" sz="800">
                <a:solidFill>
                  <a:srgbClr val="94A3B8"/>
                </a:solidFill>
                <a:latin typeface="Carlito"/>
                <a:ea typeface="Carlito"/>
                <a:cs typeface="Carlito"/>
                <a:sym typeface="Carlito"/>
              </a:endParaRPr>
            </a:p>
            <a:p>
              <a:pPr indent="0" lvl="0" marL="0" rtl="0" algn="l">
                <a:spcBef>
                  <a:spcPts val="600"/>
                </a:spcBef>
                <a:spcAft>
                  <a:spcPts val="0"/>
                </a:spcAft>
                <a:buNone/>
              </a:pPr>
              <a:r>
                <a:rPr b="1" lang="en-US" sz="1800">
                  <a:solidFill>
                    <a:srgbClr val="F0B429"/>
                  </a:solidFill>
                  <a:latin typeface="Courier New"/>
                  <a:ea typeface="Courier New"/>
                  <a:cs typeface="Courier New"/>
                  <a:sym typeface="Courier New"/>
                </a:rPr>
                <a:t>Mandatory</a:t>
              </a:r>
              <a:endParaRPr b="1" sz="1800">
                <a:solidFill>
                  <a:srgbClr val="F0B429"/>
                </a:solidFill>
                <a:latin typeface="Courier New"/>
                <a:ea typeface="Courier New"/>
                <a:cs typeface="Courier New"/>
                <a:sym typeface="Courier New"/>
              </a:endParaRPr>
            </a:p>
            <a:p>
              <a:pPr indent="0" lvl="0" marL="0" rtl="0" algn="l">
                <a:spcBef>
                  <a:spcPts val="1050"/>
                </a:spcBef>
                <a:spcAft>
                  <a:spcPts val="0"/>
                </a:spcAft>
                <a:buNone/>
              </a:pPr>
              <a:r>
                <a:rPr lang="en-US" sz="950">
                  <a:solidFill>
                    <a:srgbClr val="94A3B8"/>
                  </a:solidFill>
                  <a:latin typeface="Carlito"/>
                  <a:ea typeface="Carlito"/>
                  <a:cs typeface="Carlito"/>
                  <a:sym typeface="Carlito"/>
                </a:rPr>
                <a:t>“No errors” ≠ “it worked”</a:t>
              </a:r>
              <a:endParaRPr sz="950">
                <a:solidFill>
                  <a:srgbClr val="94A3B8"/>
                </a:solidFill>
                <a:latin typeface="Carlito"/>
                <a:ea typeface="Carlito"/>
                <a:cs typeface="Carlito"/>
                <a:sym typeface="Carlito"/>
              </a:endParaRPr>
            </a:p>
          </p:txBody>
        </p:sp>
      </p:grpSp>
      <p:grpSp>
        <p:nvGrpSpPr>
          <p:cNvPr id="1051" name="Google Shape;1051;p37"/>
          <p:cNvGrpSpPr/>
          <p:nvPr/>
        </p:nvGrpSpPr>
        <p:grpSpPr>
          <a:xfrm>
            <a:off x="452438" y="3424238"/>
            <a:ext cx="8239200" cy="695400"/>
            <a:chOff x="452438" y="3424238"/>
            <a:chExt cx="8239200" cy="695400"/>
          </a:xfrm>
        </p:grpSpPr>
        <p:pic>
          <p:nvPicPr>
            <p:cNvPr id="1052" name="Google Shape;1052;p37"/>
            <p:cNvPicPr preferRelativeResize="0"/>
            <p:nvPr/>
          </p:nvPicPr>
          <p:blipFill rotWithShape="1">
            <a:blip r:embed="rId3">
              <a:alphaModFix/>
            </a:blip>
            <a:srcRect b="0" l="0" r="0" t="0"/>
            <a:stretch/>
          </p:blipFill>
          <p:spPr>
            <a:xfrm>
              <a:off x="452438" y="3424238"/>
              <a:ext cx="8239200" cy="695400"/>
            </a:xfrm>
            <a:prstGeom prst="rect">
              <a:avLst/>
            </a:prstGeom>
            <a:noFill/>
            <a:ln>
              <a:noFill/>
            </a:ln>
          </p:spPr>
        </p:pic>
        <p:cxnSp>
          <p:nvCxnSpPr>
            <p:cNvPr id="1053" name="Google Shape;1053;p37"/>
            <p:cNvCxnSpPr/>
            <p:nvPr/>
          </p:nvCxnSpPr>
          <p:spPr>
            <a:xfrm>
              <a:off x="471488" y="3429000"/>
              <a:ext cx="0" cy="685800"/>
            </a:xfrm>
            <a:prstGeom prst="straightConnector1">
              <a:avLst/>
            </a:prstGeom>
            <a:solidFill>
              <a:srgbClr val="FFFFFF"/>
            </a:solidFill>
            <a:ln cap="flat" cmpd="sng" w="28575">
              <a:solidFill>
                <a:srgbClr val="F0B429"/>
              </a:solidFill>
              <a:prstDash val="solid"/>
              <a:round/>
              <a:headEnd len="sm" w="sm" type="none"/>
              <a:tailEnd len="sm" w="sm" type="none"/>
            </a:ln>
          </p:spPr>
        </p:cxnSp>
        <p:sp>
          <p:nvSpPr>
            <p:cNvPr id="1054" name="Google Shape;1054;p37"/>
            <p:cNvSpPr/>
            <p:nvPr/>
          </p:nvSpPr>
          <p:spPr>
            <a:xfrm>
              <a:off x="609600" y="3619500"/>
              <a:ext cx="952500" cy="3048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5" name="Google Shape;1055;p37"/>
            <p:cNvSpPr txBox="1"/>
            <p:nvPr/>
          </p:nvSpPr>
          <p:spPr>
            <a:xfrm>
              <a:off x="609600" y="3619500"/>
              <a:ext cx="952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0A1628"/>
                  </a:solidFill>
                  <a:latin typeface="Carlito"/>
                  <a:ea typeface="Carlito"/>
                  <a:cs typeface="Carlito"/>
                  <a:sym typeface="Carlito"/>
                </a:rPr>
                <a:t>TRANSITION</a:t>
              </a:r>
              <a:endParaRPr b="1" sz="850">
                <a:solidFill>
                  <a:srgbClr val="0A1628"/>
                </a:solidFill>
                <a:latin typeface="Carlito"/>
                <a:ea typeface="Carlito"/>
                <a:cs typeface="Carlito"/>
                <a:sym typeface="Carlito"/>
              </a:endParaRPr>
            </a:p>
          </p:txBody>
        </p:sp>
        <p:sp>
          <p:nvSpPr>
            <p:cNvPr id="1056" name="Google Shape;1056;p37"/>
            <p:cNvSpPr txBox="1"/>
            <p:nvPr/>
          </p:nvSpPr>
          <p:spPr>
            <a:xfrm>
              <a:off x="1714500" y="3533775"/>
              <a:ext cx="67818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US" sz="1050">
                  <a:solidFill>
                    <a:srgbClr val="F5F1E6"/>
                  </a:solidFill>
                  <a:latin typeface="Carlito"/>
                  <a:ea typeface="Carlito"/>
                  <a:cs typeface="Carlito"/>
                  <a:sym typeface="Carlito"/>
                </a:rPr>
                <a:t>A quantized model still needs a way to run efficiently across different hardware and deployment targets, which is what </a:t>
              </a:r>
              <a:r>
                <a:rPr b="1" i="0" lang="en-US" sz="1050">
                  <a:solidFill>
                    <a:srgbClr val="F0B429"/>
                  </a:solidFill>
                  <a:latin typeface="Courier New"/>
                  <a:ea typeface="Courier New"/>
                  <a:cs typeface="Courier New"/>
                  <a:sym typeface="Courier New"/>
                </a:rPr>
                <a:t>ONNX</a:t>
              </a:r>
              <a:r>
                <a:rPr i="1" lang="en-US" sz="1050">
                  <a:solidFill>
                    <a:srgbClr val="F5F1E6"/>
                  </a:solidFill>
                  <a:latin typeface="Carlito"/>
                  <a:ea typeface="Carlito"/>
                  <a:cs typeface="Carlito"/>
                  <a:sym typeface="Carlito"/>
                </a:rPr>
                <a:t> addresses next.</a:t>
              </a:r>
              <a:endParaRPr i="1" sz="1050">
                <a:solidFill>
                  <a:srgbClr val="F5F1E6"/>
                </a:solidFill>
                <a:latin typeface="Carlito"/>
                <a:ea typeface="Carlito"/>
                <a:cs typeface="Carlito"/>
                <a:sym typeface="Carlito"/>
              </a:endParaRPr>
            </a:p>
          </p:txBody>
        </p:sp>
      </p:grpSp>
      <p:sp>
        <p:nvSpPr>
          <p:cNvPr id="1057" name="Google Shape;1057;p37"/>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058" name="Google Shape;1058;p37"/>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35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3" name="Shape 1063"/>
        <p:cNvGrpSpPr/>
        <p:nvPr/>
      </p:nvGrpSpPr>
      <p:grpSpPr>
        <a:xfrm>
          <a:off x="0" y="0"/>
          <a:ext cx="0" cy="0"/>
          <a:chOff x="0" y="0"/>
          <a:chExt cx="0" cy="0"/>
        </a:xfrm>
      </p:grpSpPr>
      <p:grpSp>
        <p:nvGrpSpPr>
          <p:cNvPr id="1064" name="Google Shape;1064;p38"/>
          <p:cNvGrpSpPr/>
          <p:nvPr/>
        </p:nvGrpSpPr>
        <p:grpSpPr>
          <a:xfrm>
            <a:off x="4221842" y="-262765"/>
            <a:ext cx="7159141" cy="3949743"/>
            <a:chOff x="4221842" y="-262765"/>
            <a:chExt cx="7159141" cy="3949743"/>
          </a:xfrm>
        </p:grpSpPr>
        <p:sp>
          <p:nvSpPr>
            <p:cNvPr id="1065" name="Google Shape;1065;p38"/>
            <p:cNvSpPr/>
            <p:nvPr/>
          </p:nvSpPr>
          <p:spPr>
            <a:xfrm>
              <a:off x="4221842" y="1341577"/>
              <a:ext cx="4922100" cy="2345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6" name="Google Shape;1066;p38"/>
            <p:cNvSpPr txBox="1"/>
            <p:nvPr/>
          </p:nvSpPr>
          <p:spPr>
            <a:xfrm>
              <a:off x="6458883" y="-262765"/>
              <a:ext cx="4922100" cy="234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963">
                  <a:solidFill>
                    <a:srgbClr val="F0B429"/>
                  </a:solidFill>
                  <a:latin typeface="Arial"/>
                  <a:ea typeface="Arial"/>
                  <a:cs typeface="Arial"/>
                  <a:sym typeface="Arial"/>
                </a:rPr>
                <a:t>06</a:t>
              </a:r>
              <a:endParaRPr b="1" sz="14963">
                <a:solidFill>
                  <a:srgbClr val="F0B429"/>
                </a:solidFill>
                <a:latin typeface="Arial"/>
                <a:ea typeface="Arial"/>
                <a:cs typeface="Arial"/>
                <a:sym typeface="Arial"/>
              </a:endParaRPr>
            </a:p>
          </p:txBody>
        </p:sp>
      </p:grpSp>
      <p:sp>
        <p:nvSpPr>
          <p:cNvPr id="1067" name="Google Shape;1067;p38"/>
          <p:cNvSpPr txBox="1"/>
          <p:nvPr/>
        </p:nvSpPr>
        <p:spPr>
          <a:xfrm>
            <a:off x="457200" y="400050"/>
            <a:ext cx="63519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PART 06 · MODEL EXPORT &amp; ONNX</a:t>
            </a:r>
            <a:endParaRPr b="1" sz="800">
              <a:solidFill>
                <a:srgbClr val="F0B429"/>
              </a:solidFill>
              <a:latin typeface="Carlito"/>
              <a:ea typeface="Carlito"/>
              <a:cs typeface="Carlito"/>
              <a:sym typeface="Carlito"/>
            </a:endParaRPr>
          </a:p>
          <a:p>
            <a:pPr indent="0" lvl="0" marL="0" rtl="0" algn="l">
              <a:spcBef>
                <a:spcPts val="600"/>
              </a:spcBef>
              <a:spcAft>
                <a:spcPts val="0"/>
              </a:spcAft>
              <a:buNone/>
            </a:pPr>
            <a:r>
              <a:rPr b="1" lang="en-US" sz="2200">
                <a:solidFill>
                  <a:srgbClr val="F5F1E6"/>
                </a:solidFill>
                <a:latin typeface="Carlito"/>
                <a:ea typeface="Carlito"/>
                <a:cs typeface="Carlito"/>
                <a:sym typeface="Carlito"/>
              </a:rPr>
              <a:t>Model Export &amp; ONNX</a:t>
            </a:r>
            <a:endParaRPr b="1" sz="2200">
              <a:solidFill>
                <a:srgbClr val="F5F1E6"/>
              </a:solidFill>
              <a:latin typeface="Carlito"/>
              <a:ea typeface="Carlito"/>
              <a:cs typeface="Carlito"/>
              <a:sym typeface="Carlito"/>
            </a:endParaRPr>
          </a:p>
          <a:p>
            <a:pPr indent="0" lvl="0" marL="0" rtl="0" algn="l">
              <a:spcBef>
                <a:spcPts val="750"/>
              </a:spcBef>
              <a:spcAft>
                <a:spcPts val="0"/>
              </a:spcAft>
              <a:buNone/>
            </a:pPr>
            <a:r>
              <a:rPr b="0" lang="en-US" sz="1100">
                <a:solidFill>
                  <a:srgbClr val="94A3B8"/>
                </a:solidFill>
                <a:latin typeface="Carlito"/>
                <a:ea typeface="Carlito"/>
                <a:cs typeface="Carlito"/>
                <a:sym typeface="Carlito"/>
              </a:rPr>
              <a:t>Taking a trained model out of its training framework and into a portable, hardware-optimized format for deployment.</a:t>
            </a:r>
            <a:endParaRPr b="0" sz="1100">
              <a:solidFill>
                <a:srgbClr val="94A3B8"/>
              </a:solidFill>
              <a:latin typeface="Carlito"/>
              <a:ea typeface="Carlito"/>
              <a:cs typeface="Carlito"/>
              <a:sym typeface="Carlito"/>
            </a:endParaRPr>
          </a:p>
        </p:txBody>
      </p:sp>
      <p:grpSp>
        <p:nvGrpSpPr>
          <p:cNvPr id="1068" name="Google Shape;1068;p38"/>
          <p:cNvGrpSpPr/>
          <p:nvPr/>
        </p:nvGrpSpPr>
        <p:grpSpPr>
          <a:xfrm>
            <a:off x="457200" y="1809750"/>
            <a:ext cx="2514600" cy="2286000"/>
            <a:chOff x="457200" y="1809750"/>
            <a:chExt cx="2514600" cy="2286000"/>
          </a:xfrm>
        </p:grpSpPr>
        <p:sp>
          <p:nvSpPr>
            <p:cNvPr id="1069" name="Google Shape;1069;p38"/>
            <p:cNvSpPr/>
            <p:nvPr/>
          </p:nvSpPr>
          <p:spPr>
            <a:xfrm>
              <a:off x="457200" y="1809750"/>
              <a:ext cx="2514600" cy="2286000"/>
            </a:xfrm>
            <a:prstGeom prst="roundRect">
              <a:avLst>
                <a:gd fmla="val 3333"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0" name="Google Shape;1070;p38"/>
            <p:cNvSpPr/>
            <p:nvPr/>
          </p:nvSpPr>
          <p:spPr>
            <a:xfrm>
              <a:off x="457200" y="1809750"/>
              <a:ext cx="25146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1" name="Google Shape;1071;p38"/>
            <p:cNvSpPr txBox="1"/>
            <p:nvPr/>
          </p:nvSpPr>
          <p:spPr>
            <a:xfrm>
              <a:off x="647700" y="2000250"/>
              <a:ext cx="21336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01 / DEVELOPMENT</a:t>
              </a:r>
              <a:endParaRPr b="1" sz="800">
                <a:solidFill>
                  <a:srgbClr val="F0B429"/>
                </a:solidFill>
                <a:latin typeface="Carlito"/>
                <a:ea typeface="Carlito"/>
                <a:cs typeface="Carlito"/>
                <a:sym typeface="Carlito"/>
              </a:endParaRPr>
            </a:p>
            <a:p>
              <a:pPr indent="0" lvl="0" marL="0" rtl="0" algn="l">
                <a:spcBef>
                  <a:spcPts val="900"/>
                </a:spcBef>
                <a:spcAft>
                  <a:spcPts val="0"/>
                </a:spcAft>
                <a:buNone/>
              </a:pPr>
              <a:r>
                <a:rPr b="1" lang="en-US" sz="1600">
                  <a:solidFill>
                    <a:srgbClr val="F5F1E6"/>
                  </a:solidFill>
                  <a:latin typeface="Courier New"/>
                  <a:ea typeface="Courier New"/>
                  <a:cs typeface="Courier New"/>
                  <a:sym typeface="Courier New"/>
                </a:rPr>
                <a:t>✦ PyTorch</a:t>
              </a:r>
              <a:endParaRPr b="1" sz="1600">
                <a:solidFill>
                  <a:srgbClr val="F5F1E6"/>
                </a:solidFill>
                <a:latin typeface="Courier New"/>
                <a:ea typeface="Courier New"/>
                <a:cs typeface="Courier New"/>
                <a:sym typeface="Courier New"/>
              </a:endParaRPr>
            </a:p>
            <a:p>
              <a:pPr indent="0" lvl="0" marL="0" rtl="0" algn="l">
                <a:spcBef>
                  <a:spcPts val="900"/>
                </a:spcBef>
                <a:spcAft>
                  <a:spcPts val="0"/>
                </a:spcAft>
                <a:buNone/>
              </a:pPr>
              <a:r>
                <a:rPr b="0" lang="en-US" sz="950">
                  <a:solidFill>
                    <a:srgbClr val="94A3B8"/>
                  </a:solidFill>
                  <a:latin typeface="Carlito"/>
                  <a:ea typeface="Carlito"/>
                  <a:cs typeface="Carlito"/>
                  <a:sym typeface="Carlito"/>
                </a:rPr>
                <a:t>Train or fine-tune your model in PyTorch, establishing the primary weights and computation graph before porting.</a:t>
              </a:r>
              <a:endParaRPr b="0" sz="950">
                <a:solidFill>
                  <a:srgbClr val="94A3B8"/>
                </a:solidFill>
                <a:latin typeface="Carlito"/>
                <a:ea typeface="Carlito"/>
                <a:cs typeface="Carlito"/>
                <a:sym typeface="Carlito"/>
              </a:endParaRPr>
            </a:p>
          </p:txBody>
        </p:sp>
      </p:grpSp>
      <p:grpSp>
        <p:nvGrpSpPr>
          <p:cNvPr id="1072" name="Google Shape;1072;p38"/>
          <p:cNvGrpSpPr/>
          <p:nvPr/>
        </p:nvGrpSpPr>
        <p:grpSpPr>
          <a:xfrm>
            <a:off x="3314700" y="1809750"/>
            <a:ext cx="2514600" cy="2286000"/>
            <a:chOff x="3314700" y="1809750"/>
            <a:chExt cx="2514600" cy="2286000"/>
          </a:xfrm>
        </p:grpSpPr>
        <p:sp>
          <p:nvSpPr>
            <p:cNvPr id="1073" name="Google Shape;1073;p38"/>
            <p:cNvSpPr/>
            <p:nvPr/>
          </p:nvSpPr>
          <p:spPr>
            <a:xfrm>
              <a:off x="3314700" y="1809750"/>
              <a:ext cx="2514600" cy="2286000"/>
            </a:xfrm>
            <a:prstGeom prst="roundRect">
              <a:avLst>
                <a:gd fmla="val 3333"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4" name="Google Shape;1074;p38"/>
            <p:cNvSpPr/>
            <p:nvPr/>
          </p:nvSpPr>
          <p:spPr>
            <a:xfrm>
              <a:off x="3314700" y="1809750"/>
              <a:ext cx="25146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5" name="Google Shape;1075;p38"/>
            <p:cNvSpPr txBox="1"/>
            <p:nvPr/>
          </p:nvSpPr>
          <p:spPr>
            <a:xfrm>
              <a:off x="3505200" y="2000250"/>
              <a:ext cx="21336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02 / PORTABILITY</a:t>
              </a:r>
              <a:endParaRPr b="1" sz="800">
                <a:solidFill>
                  <a:srgbClr val="F0B429"/>
                </a:solidFill>
                <a:latin typeface="Carlito"/>
                <a:ea typeface="Carlito"/>
                <a:cs typeface="Carlito"/>
                <a:sym typeface="Carlito"/>
              </a:endParaRPr>
            </a:p>
            <a:p>
              <a:pPr indent="0" lvl="0" marL="0" rtl="0" algn="l">
                <a:spcBef>
                  <a:spcPts val="900"/>
                </a:spcBef>
                <a:spcAft>
                  <a:spcPts val="0"/>
                </a:spcAft>
                <a:buNone/>
              </a:pPr>
              <a:r>
                <a:rPr b="1" lang="en-US" sz="1600">
                  <a:solidFill>
                    <a:srgbClr val="F5F1E6"/>
                  </a:solidFill>
                  <a:latin typeface="Courier New"/>
                  <a:ea typeface="Courier New"/>
                  <a:cs typeface="Courier New"/>
                  <a:sym typeface="Courier New"/>
                </a:rPr>
                <a:t>▤ .onnx Export</a:t>
              </a:r>
              <a:endParaRPr b="1" sz="1600">
                <a:solidFill>
                  <a:srgbClr val="F5F1E6"/>
                </a:solidFill>
                <a:latin typeface="Courier New"/>
                <a:ea typeface="Courier New"/>
                <a:cs typeface="Courier New"/>
                <a:sym typeface="Courier New"/>
              </a:endParaRPr>
            </a:p>
            <a:p>
              <a:pPr indent="0" lvl="0" marL="0" rtl="0" algn="l">
                <a:spcBef>
                  <a:spcPts val="900"/>
                </a:spcBef>
                <a:spcAft>
                  <a:spcPts val="0"/>
                </a:spcAft>
                <a:buNone/>
              </a:pPr>
              <a:r>
                <a:rPr b="0" lang="en-US" sz="950">
                  <a:solidFill>
                    <a:srgbClr val="94A3B8"/>
                  </a:solidFill>
                  <a:latin typeface="Carlito"/>
                  <a:ea typeface="Carlito"/>
                  <a:cs typeface="Carlito"/>
                  <a:sym typeface="Carlito"/>
                </a:rPr>
                <a:t>Trace and serialize the computation graph into a standard, framework-independent file format.</a:t>
              </a:r>
              <a:endParaRPr b="0" sz="950">
                <a:solidFill>
                  <a:srgbClr val="94A3B8"/>
                </a:solidFill>
                <a:latin typeface="Carlito"/>
                <a:ea typeface="Carlito"/>
                <a:cs typeface="Carlito"/>
                <a:sym typeface="Carlito"/>
              </a:endParaRPr>
            </a:p>
          </p:txBody>
        </p:sp>
      </p:grpSp>
      <p:grpSp>
        <p:nvGrpSpPr>
          <p:cNvPr id="1076" name="Google Shape;1076;p38"/>
          <p:cNvGrpSpPr/>
          <p:nvPr/>
        </p:nvGrpSpPr>
        <p:grpSpPr>
          <a:xfrm>
            <a:off x="6172200" y="1809750"/>
            <a:ext cx="2514600" cy="2286000"/>
            <a:chOff x="6172200" y="1809750"/>
            <a:chExt cx="2514600" cy="2286000"/>
          </a:xfrm>
        </p:grpSpPr>
        <p:sp>
          <p:nvSpPr>
            <p:cNvPr id="1077" name="Google Shape;1077;p38"/>
            <p:cNvSpPr/>
            <p:nvPr/>
          </p:nvSpPr>
          <p:spPr>
            <a:xfrm>
              <a:off x="6172200" y="1809750"/>
              <a:ext cx="2514600" cy="2286000"/>
            </a:xfrm>
            <a:prstGeom prst="roundRect">
              <a:avLst>
                <a:gd fmla="val 3333"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8" name="Google Shape;1078;p38"/>
            <p:cNvSpPr/>
            <p:nvPr/>
          </p:nvSpPr>
          <p:spPr>
            <a:xfrm>
              <a:off x="6172200" y="1809750"/>
              <a:ext cx="25146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9" name="Google Shape;1079;p38"/>
            <p:cNvSpPr txBox="1"/>
            <p:nvPr/>
          </p:nvSpPr>
          <p:spPr>
            <a:xfrm>
              <a:off x="6362700" y="2000250"/>
              <a:ext cx="21336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03 / DEPLOYMENT</a:t>
              </a:r>
              <a:endParaRPr b="1" sz="800">
                <a:solidFill>
                  <a:srgbClr val="F0B429"/>
                </a:solidFill>
                <a:latin typeface="Carlito"/>
                <a:ea typeface="Carlito"/>
                <a:cs typeface="Carlito"/>
                <a:sym typeface="Carlito"/>
              </a:endParaRPr>
            </a:p>
            <a:p>
              <a:pPr indent="0" lvl="0" marL="0" rtl="0" algn="l">
                <a:spcBef>
                  <a:spcPts val="900"/>
                </a:spcBef>
                <a:spcAft>
                  <a:spcPts val="0"/>
                </a:spcAft>
                <a:buNone/>
              </a:pPr>
              <a:r>
                <a:rPr b="1" lang="en-US" sz="1600">
                  <a:solidFill>
                    <a:srgbClr val="F5F1E6"/>
                  </a:solidFill>
                  <a:latin typeface="Courier New"/>
                  <a:ea typeface="Courier New"/>
                  <a:cs typeface="Courier New"/>
                  <a:sym typeface="Courier New"/>
                </a:rPr>
                <a:t>➤ ONNX Runtime</a:t>
              </a:r>
              <a:endParaRPr b="1" sz="1600">
                <a:solidFill>
                  <a:srgbClr val="F5F1E6"/>
                </a:solidFill>
                <a:latin typeface="Courier New"/>
                <a:ea typeface="Courier New"/>
                <a:cs typeface="Courier New"/>
                <a:sym typeface="Courier New"/>
              </a:endParaRPr>
            </a:p>
            <a:p>
              <a:pPr indent="0" lvl="0" marL="0" rtl="0" algn="l">
                <a:spcBef>
                  <a:spcPts val="900"/>
                </a:spcBef>
                <a:spcAft>
                  <a:spcPts val="0"/>
                </a:spcAft>
                <a:buNone/>
              </a:pPr>
              <a:r>
                <a:rPr b="0" lang="en-US" sz="950">
                  <a:solidFill>
                    <a:srgbClr val="94A3B8"/>
                  </a:solidFill>
                  <a:latin typeface="Carlito"/>
                  <a:ea typeface="Carlito"/>
                  <a:cs typeface="Carlito"/>
                  <a:sym typeface="Carlito"/>
                </a:rPr>
                <a:t>Execute high-performance inference on optimized target runtimes without any legacy framework dependencies.</a:t>
              </a:r>
              <a:endParaRPr b="0" sz="950">
                <a:solidFill>
                  <a:srgbClr val="94A3B8"/>
                </a:solidFill>
                <a:latin typeface="Carlito"/>
                <a:ea typeface="Carlito"/>
                <a:cs typeface="Carlito"/>
                <a:sym typeface="Carlito"/>
              </a:endParaRPr>
            </a:p>
          </p:txBody>
        </p:sp>
      </p:grpSp>
      <p:grpSp>
        <p:nvGrpSpPr>
          <p:cNvPr id="1080" name="Google Shape;1080;p38"/>
          <p:cNvGrpSpPr/>
          <p:nvPr/>
        </p:nvGrpSpPr>
        <p:grpSpPr>
          <a:xfrm>
            <a:off x="457200" y="4857750"/>
            <a:ext cx="8372475" cy="190500"/>
            <a:chOff x="457200" y="4857750"/>
            <a:chExt cx="8372475" cy="190500"/>
          </a:xfrm>
        </p:grpSpPr>
        <p:sp>
          <p:nvSpPr>
            <p:cNvPr id="1081" name="Google Shape;1081;p38"/>
            <p:cNvSpPr txBox="1"/>
            <p:nvPr/>
          </p:nvSpPr>
          <p:spPr>
            <a:xfrm>
              <a:off x="457200" y="4857750"/>
              <a:ext cx="78678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800">
                  <a:solidFill>
                    <a:srgbClr val="64748B"/>
                  </a:solidFill>
                  <a:latin typeface="Carlito"/>
                  <a:ea typeface="Carlito"/>
                  <a:cs typeface="Carlito"/>
                  <a:sym typeface="Carlito"/>
                </a:rPr>
                <a:t>DEEP LEARNING FOR RESOURCE OPTIMIZATION</a:t>
              </a:r>
              <a:endParaRPr sz="800">
                <a:solidFill>
                  <a:srgbClr val="64748B"/>
                </a:solidFill>
                <a:latin typeface="Carlito"/>
                <a:ea typeface="Carlito"/>
                <a:cs typeface="Carlito"/>
                <a:sym typeface="Carlito"/>
              </a:endParaRPr>
            </a:p>
          </p:txBody>
        </p:sp>
        <p:sp>
          <p:nvSpPr>
            <p:cNvPr id="1082" name="Google Shape;1082;p38"/>
            <p:cNvSpPr txBox="1"/>
            <p:nvPr/>
          </p:nvSpPr>
          <p:spPr>
            <a:xfrm>
              <a:off x="8334375" y="4857750"/>
              <a:ext cx="4953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US" sz="800">
                  <a:solidFill>
                    <a:srgbClr val="94A3B8"/>
                  </a:solidFill>
                  <a:latin typeface="Arial"/>
                  <a:ea typeface="Arial"/>
                  <a:cs typeface="Arial"/>
                  <a:sym typeface="Arial"/>
                </a:rPr>
                <a:t>36 </a:t>
              </a:r>
              <a:r>
                <a:rPr lang="en-US" sz="800">
                  <a:solidFill>
                    <a:srgbClr val="64748B"/>
                  </a:solidFill>
                  <a:latin typeface="Arial"/>
                  <a:ea typeface="Arial"/>
                  <a:cs typeface="Arial"/>
                  <a:sym typeface="Arial"/>
                </a:rPr>
                <a:t>/ 58</a:t>
              </a:r>
              <a:endParaRPr sz="800">
                <a:solidFill>
                  <a:srgbClr val="94A3B8"/>
                </a:solidFill>
                <a:latin typeface="Arial"/>
                <a:ea typeface="Arial"/>
                <a:cs typeface="Arial"/>
                <a:sym typeface="Aria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087" name="Shape 1087"/>
        <p:cNvGrpSpPr/>
        <p:nvPr/>
      </p:nvGrpSpPr>
      <p:grpSpPr>
        <a:xfrm>
          <a:off x="0" y="0"/>
          <a:ext cx="0" cy="0"/>
          <a:chOff x="0" y="0"/>
          <a:chExt cx="0" cy="0"/>
        </a:xfrm>
      </p:grpSpPr>
      <p:sp>
        <p:nvSpPr>
          <p:cNvPr id="1088" name="Google Shape;1088;p39"/>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06 · MODEL EXPORT &amp; ONNX</a:t>
            </a:r>
            <a:endParaRPr b="0" i="0" sz="800" u="none" cap="none" strike="noStrike">
              <a:solidFill>
                <a:schemeClr val="dk1"/>
              </a:solidFill>
              <a:latin typeface="Calibri"/>
              <a:ea typeface="Calibri"/>
              <a:cs typeface="Calibri"/>
              <a:sym typeface="Calibri"/>
            </a:endParaRPr>
          </a:p>
        </p:txBody>
      </p:sp>
      <p:sp>
        <p:nvSpPr>
          <p:cNvPr id="1089" name="Google Shape;1089;p39"/>
          <p:cNvSpPr/>
          <p:nvPr/>
        </p:nvSpPr>
        <p:spPr>
          <a:xfrm>
            <a:off x="457200" y="603647"/>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The Deployment Problem ONNX Solves</a:t>
            </a:r>
            <a:endParaRPr b="0" i="0" sz="2250" u="none" cap="none" strike="noStrike">
              <a:solidFill>
                <a:schemeClr val="dk1"/>
              </a:solidFill>
              <a:latin typeface="Calibri"/>
              <a:ea typeface="Calibri"/>
              <a:cs typeface="Calibri"/>
              <a:sym typeface="Calibri"/>
            </a:endParaRPr>
          </a:p>
        </p:txBody>
      </p:sp>
      <p:grpSp>
        <p:nvGrpSpPr>
          <p:cNvPr id="1090" name="Google Shape;1090;p39"/>
          <p:cNvGrpSpPr/>
          <p:nvPr/>
        </p:nvGrpSpPr>
        <p:grpSpPr>
          <a:xfrm>
            <a:off x="457200" y="1095375"/>
            <a:ext cx="8229750" cy="1095300"/>
            <a:chOff x="457200" y="1095375"/>
            <a:chExt cx="8229750" cy="1095300"/>
          </a:xfrm>
        </p:grpSpPr>
        <p:sp>
          <p:nvSpPr>
            <p:cNvPr id="1091" name="Google Shape;1091;p39"/>
            <p:cNvSpPr txBox="1"/>
            <p:nvPr/>
          </p:nvSpPr>
          <p:spPr>
            <a:xfrm>
              <a:off x="457200" y="1095375"/>
              <a:ext cx="39054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01 / THE PYTHON DEPENDENCY PROBLEM</a:t>
              </a:r>
              <a:endParaRPr b="1" sz="800">
                <a:solidFill>
                  <a:srgbClr val="F0B429"/>
                </a:solidFill>
                <a:latin typeface="Carlito"/>
                <a:ea typeface="Carlito"/>
                <a:cs typeface="Carlito"/>
                <a:sym typeface="Carlito"/>
              </a:endParaRPr>
            </a:p>
            <a:p>
              <a:pPr indent="0" lvl="0" marL="0" rtl="0" algn="l">
                <a:spcBef>
                  <a:spcPts val="450"/>
                </a:spcBef>
                <a:spcAft>
                  <a:spcPts val="0"/>
                </a:spcAft>
                <a:buNone/>
              </a:pPr>
              <a:r>
                <a:rPr lang="en-US" sz="950">
                  <a:solidFill>
                    <a:srgbClr val="F5F1E6"/>
                  </a:solidFill>
                  <a:latin typeface="Carlito"/>
                  <a:ea typeface="Carlito"/>
                  <a:cs typeface="Carlito"/>
                  <a:sym typeface="Carlito"/>
                </a:rPr>
                <a:t>A model trained in </a:t>
              </a:r>
              <a:r>
                <a:rPr b="1" lang="en-US" sz="950">
                  <a:solidFill>
                    <a:srgbClr val="F0B429"/>
                  </a:solidFill>
                  <a:latin typeface="Courier New"/>
                  <a:ea typeface="Courier New"/>
                  <a:cs typeface="Courier New"/>
                  <a:sym typeface="Courier New"/>
                </a:rPr>
                <a:t>PyTorch</a:t>
              </a:r>
              <a:r>
                <a:rPr lang="en-US" sz="950">
                  <a:solidFill>
                    <a:srgbClr val="F5F1E6"/>
                  </a:solidFill>
                  <a:latin typeface="Carlito"/>
                  <a:ea typeface="Carlito"/>
                  <a:cs typeface="Carlito"/>
                  <a:sym typeface="Carlito"/>
                </a:rPr>
                <a:t> is, by default, tied to a Python process with PyTorch installed. Many real deployment targets — mobile apps, browsers, embedded devices, and production servers — cannot or should not carry that full dependency.</a:t>
              </a:r>
              <a:endParaRPr sz="950">
                <a:solidFill>
                  <a:srgbClr val="F5F1E6"/>
                </a:solidFill>
                <a:latin typeface="Carlito"/>
                <a:ea typeface="Carlito"/>
                <a:cs typeface="Carlito"/>
                <a:sym typeface="Carlito"/>
              </a:endParaRPr>
            </a:p>
          </p:txBody>
        </p:sp>
        <p:sp>
          <p:nvSpPr>
            <p:cNvPr id="1092" name="Google Shape;1092;p39"/>
            <p:cNvSpPr txBox="1"/>
            <p:nvPr/>
          </p:nvSpPr>
          <p:spPr>
            <a:xfrm>
              <a:off x="4781550" y="1095375"/>
              <a:ext cx="39054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02 / THE ONNX INTEROPERABILITY SOLUTION</a:t>
              </a:r>
              <a:endParaRPr b="1" sz="800">
                <a:solidFill>
                  <a:srgbClr val="F0B429"/>
                </a:solidFill>
                <a:latin typeface="Carlito"/>
                <a:ea typeface="Carlito"/>
                <a:cs typeface="Carlito"/>
                <a:sym typeface="Carlito"/>
              </a:endParaRPr>
            </a:p>
            <a:p>
              <a:pPr indent="0" lvl="0" marL="0" rtl="0" algn="l">
                <a:spcBef>
                  <a:spcPts val="450"/>
                </a:spcBef>
                <a:spcAft>
                  <a:spcPts val="0"/>
                </a:spcAft>
                <a:buNone/>
              </a:pPr>
              <a:r>
                <a:rPr b="1" lang="en-US" sz="950">
                  <a:solidFill>
                    <a:srgbClr val="F0B429"/>
                  </a:solidFill>
                  <a:latin typeface="Courier New"/>
                  <a:ea typeface="Courier New"/>
                  <a:cs typeface="Courier New"/>
                  <a:sym typeface="Courier New"/>
                </a:rPr>
                <a:t>ONNX</a:t>
              </a:r>
              <a:r>
                <a:rPr lang="en-US" sz="950">
                  <a:solidFill>
                    <a:srgbClr val="F5F1E6"/>
                  </a:solidFill>
                  <a:latin typeface="Carlito"/>
                  <a:ea typeface="Carlito"/>
                  <a:cs typeface="Carlito"/>
                  <a:sym typeface="Carlito"/>
                </a:rPr>
                <a:t> (Open Neural Network Exchange) is a standard, framework-independent file format for representing a trained model’s computation graph and weights. Once exported, it can be run by any compatible runtime.</a:t>
              </a:r>
              <a:endParaRPr sz="950">
                <a:solidFill>
                  <a:srgbClr val="F5F1E6"/>
                </a:solidFill>
                <a:latin typeface="Carlito"/>
                <a:ea typeface="Carlito"/>
                <a:cs typeface="Carlito"/>
                <a:sym typeface="Carlito"/>
              </a:endParaRPr>
            </a:p>
          </p:txBody>
        </p:sp>
      </p:grpSp>
      <p:grpSp>
        <p:nvGrpSpPr>
          <p:cNvPr id="1093" name="Google Shape;1093;p39"/>
          <p:cNvGrpSpPr/>
          <p:nvPr/>
        </p:nvGrpSpPr>
        <p:grpSpPr>
          <a:xfrm>
            <a:off x="457200" y="2333625"/>
            <a:ext cx="8229600" cy="2238300"/>
            <a:chOff x="457200" y="2333625"/>
            <a:chExt cx="8229600" cy="2238300"/>
          </a:xfrm>
        </p:grpSpPr>
        <p:sp>
          <p:nvSpPr>
            <p:cNvPr id="1094" name="Google Shape;1094;p39"/>
            <p:cNvSpPr/>
            <p:nvPr/>
          </p:nvSpPr>
          <p:spPr>
            <a:xfrm>
              <a:off x="457200" y="2333625"/>
              <a:ext cx="8229600" cy="2238300"/>
            </a:xfrm>
            <a:prstGeom prst="roundRect">
              <a:avLst>
                <a:gd fmla="val 4255"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5" name="Google Shape;1095;p39"/>
            <p:cNvSpPr txBox="1"/>
            <p:nvPr/>
          </p:nvSpPr>
          <p:spPr>
            <a:xfrm>
              <a:off x="457200" y="2476500"/>
              <a:ext cx="82296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0B429"/>
                  </a:solidFill>
                  <a:latin typeface="Carlito"/>
                  <a:ea typeface="Carlito"/>
                  <a:cs typeface="Carlito"/>
                  <a:sym typeface="Carlito"/>
                </a:rPr>
                <a:t>ONE EXPORT STEP → MANY DEPLOYMENT TARGETS</a:t>
              </a:r>
              <a:endParaRPr b="1" sz="800">
                <a:solidFill>
                  <a:srgbClr val="F0B429"/>
                </a:solidFill>
                <a:latin typeface="Carlito"/>
                <a:ea typeface="Carlito"/>
                <a:cs typeface="Carlito"/>
                <a:sym typeface="Carlito"/>
              </a:endParaRPr>
            </a:p>
          </p:txBody>
        </p:sp>
        <p:sp>
          <p:nvSpPr>
            <p:cNvPr id="1096" name="Google Shape;1096;p39"/>
            <p:cNvSpPr/>
            <p:nvPr/>
          </p:nvSpPr>
          <p:spPr>
            <a:xfrm>
              <a:off x="666750" y="2809875"/>
              <a:ext cx="1524000" cy="952500"/>
            </a:xfrm>
            <a:prstGeom prst="roundRect">
              <a:avLst>
                <a:gd fmla="val 8000" name="adj"/>
              </a:avLst>
            </a:prstGeom>
            <a:solidFill>
              <a:srgbClr val="0F1B30"/>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7" name="Google Shape;1097;p39"/>
            <p:cNvSpPr txBox="1"/>
            <p:nvPr/>
          </p:nvSpPr>
          <p:spPr>
            <a:xfrm>
              <a:off x="666750" y="2809875"/>
              <a:ext cx="15240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94A3B8"/>
                  </a:solidFill>
                  <a:latin typeface="Material Icons"/>
                  <a:ea typeface="Material Icons"/>
                  <a:cs typeface="Material Icons"/>
                  <a:sym typeface="Material Icons"/>
                </a:rPr>
                <a:t>lock</a:t>
              </a:r>
              <a:endParaRPr sz="1800">
                <a:solidFill>
                  <a:srgbClr val="94A3B8"/>
                </a:solidFill>
                <a:latin typeface="Material Icons"/>
                <a:ea typeface="Material Icons"/>
                <a:cs typeface="Material Icons"/>
                <a:sym typeface="Material Icons"/>
              </a:endParaRPr>
            </a:p>
            <a:p>
              <a:pPr indent="0" lvl="0" marL="0" rtl="0" algn="ctr">
                <a:spcBef>
                  <a:spcPts val="300"/>
                </a:spcBef>
                <a:spcAft>
                  <a:spcPts val="0"/>
                </a:spcAft>
                <a:buNone/>
              </a:pPr>
              <a:r>
                <a:rPr b="1" lang="en-US" sz="1000">
                  <a:solidFill>
                    <a:srgbClr val="F5F1E6"/>
                  </a:solidFill>
                  <a:latin typeface="Courier New"/>
                  <a:ea typeface="Courier New"/>
                  <a:cs typeface="Courier New"/>
                  <a:sym typeface="Courier New"/>
                </a:rPr>
                <a:t>PyTorch model</a:t>
              </a:r>
              <a:endParaRPr b="1" sz="1000">
                <a:solidFill>
                  <a:srgbClr val="F5F1E6"/>
                </a:solidFill>
                <a:latin typeface="Courier New"/>
                <a:ea typeface="Courier New"/>
                <a:cs typeface="Courier New"/>
                <a:sym typeface="Courier New"/>
              </a:endParaRPr>
            </a:p>
            <a:p>
              <a:pPr indent="0" lvl="0" marL="0" rtl="0" algn="ctr">
                <a:spcBef>
                  <a:spcPts val="0"/>
                </a:spcBef>
                <a:spcAft>
                  <a:spcPts val="0"/>
                </a:spcAft>
                <a:buNone/>
              </a:pPr>
              <a:r>
                <a:rPr i="1" lang="en-US" sz="750">
                  <a:solidFill>
                    <a:srgbClr val="94A3B8"/>
                  </a:solidFill>
                  <a:latin typeface="Carlito"/>
                  <a:ea typeface="Carlito"/>
                  <a:cs typeface="Carlito"/>
                  <a:sym typeface="Carlito"/>
                </a:rPr>
                <a:t>locked to Python runtime</a:t>
              </a:r>
              <a:endParaRPr i="1" sz="750">
                <a:solidFill>
                  <a:srgbClr val="94A3B8"/>
                </a:solidFill>
                <a:latin typeface="Carlito"/>
                <a:ea typeface="Carlito"/>
                <a:cs typeface="Carlito"/>
                <a:sym typeface="Carlito"/>
              </a:endParaRPr>
            </a:p>
          </p:txBody>
        </p:sp>
        <p:sp>
          <p:nvSpPr>
            <p:cNvPr id="1098" name="Google Shape;1098;p39"/>
            <p:cNvSpPr txBox="1"/>
            <p:nvPr/>
          </p:nvSpPr>
          <p:spPr>
            <a:xfrm>
              <a:off x="2238375" y="2809875"/>
              <a:ext cx="4764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600">
                  <a:solidFill>
                    <a:srgbClr val="F0B429"/>
                  </a:solidFill>
                  <a:latin typeface="Material Icons"/>
                  <a:ea typeface="Material Icons"/>
                  <a:cs typeface="Material Icons"/>
                  <a:sym typeface="Material Icons"/>
                </a:rPr>
                <a:t>arrow_forward</a:t>
              </a:r>
              <a:endParaRPr sz="1600">
                <a:solidFill>
                  <a:srgbClr val="F0B429"/>
                </a:solidFill>
                <a:latin typeface="Material Icons"/>
                <a:ea typeface="Material Icons"/>
                <a:cs typeface="Material Icons"/>
                <a:sym typeface="Material Icons"/>
              </a:endParaRPr>
            </a:p>
            <a:p>
              <a:pPr indent="0" lvl="0" marL="0" rtl="0" algn="ctr">
                <a:spcBef>
                  <a:spcPts val="0"/>
                </a:spcBef>
                <a:spcAft>
                  <a:spcPts val="0"/>
                </a:spcAft>
                <a:buNone/>
              </a:pPr>
              <a:r>
                <a:rPr b="1" lang="en-US" sz="650">
                  <a:solidFill>
                    <a:srgbClr val="F0B429"/>
                  </a:solidFill>
                  <a:latin typeface="Carlito"/>
                  <a:ea typeface="Carlito"/>
                  <a:cs typeface="Carlito"/>
                  <a:sym typeface="Carlito"/>
                </a:rPr>
                <a:t>EXPORT</a:t>
              </a:r>
              <a:endParaRPr b="1" sz="650">
                <a:solidFill>
                  <a:srgbClr val="F0B429"/>
                </a:solidFill>
                <a:latin typeface="Carlito"/>
                <a:ea typeface="Carlito"/>
                <a:cs typeface="Carlito"/>
                <a:sym typeface="Carlito"/>
              </a:endParaRPr>
            </a:p>
          </p:txBody>
        </p:sp>
        <p:sp>
          <p:nvSpPr>
            <p:cNvPr id="1099" name="Google Shape;1099;p39"/>
            <p:cNvSpPr/>
            <p:nvPr/>
          </p:nvSpPr>
          <p:spPr>
            <a:xfrm>
              <a:off x="2762250" y="2809875"/>
              <a:ext cx="1285800" cy="952500"/>
            </a:xfrm>
            <a:prstGeom prst="roundRect">
              <a:avLst>
                <a:gd fmla="val 8000" name="adj"/>
              </a:avLst>
            </a:prstGeom>
            <a:solidFill>
              <a:srgbClr val="F0B429">
                <a:alpha val="8000"/>
              </a:srgbClr>
            </a:solidFill>
            <a:ln cap="flat" cmpd="sng" w="14300">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0" name="Google Shape;1100;p39"/>
            <p:cNvSpPr txBox="1"/>
            <p:nvPr/>
          </p:nvSpPr>
          <p:spPr>
            <a:xfrm>
              <a:off x="2762250" y="2809875"/>
              <a:ext cx="12858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F0B429"/>
                  </a:solidFill>
                  <a:latin typeface="Material Icons"/>
                  <a:ea typeface="Material Icons"/>
                  <a:cs typeface="Material Icons"/>
                  <a:sym typeface="Material Icons"/>
                </a:rPr>
                <a:t>insert_drive_file</a:t>
              </a:r>
              <a:endParaRPr sz="1800">
                <a:solidFill>
                  <a:srgbClr val="F0B429"/>
                </a:solidFill>
                <a:latin typeface="Material Icons"/>
                <a:ea typeface="Material Icons"/>
                <a:cs typeface="Material Icons"/>
                <a:sym typeface="Material Icons"/>
              </a:endParaRPr>
            </a:p>
            <a:p>
              <a:pPr indent="0" lvl="0" marL="0" rtl="0" algn="ctr">
                <a:spcBef>
                  <a:spcPts val="300"/>
                </a:spcBef>
                <a:spcAft>
                  <a:spcPts val="0"/>
                </a:spcAft>
                <a:buNone/>
              </a:pPr>
              <a:r>
                <a:rPr b="1" lang="en-US" sz="1000">
                  <a:solidFill>
                    <a:srgbClr val="F0B429"/>
                  </a:solidFill>
                  <a:latin typeface="Courier New"/>
                  <a:ea typeface="Courier New"/>
                  <a:cs typeface="Courier New"/>
                  <a:sym typeface="Courier New"/>
                </a:rPr>
                <a:t>.onnx file</a:t>
              </a:r>
              <a:endParaRPr b="1" sz="1000">
                <a:solidFill>
                  <a:srgbClr val="F0B429"/>
                </a:solidFill>
                <a:latin typeface="Courier New"/>
                <a:ea typeface="Courier New"/>
                <a:cs typeface="Courier New"/>
                <a:sym typeface="Courier New"/>
              </a:endParaRPr>
            </a:p>
            <a:p>
              <a:pPr indent="0" lvl="0" marL="0" rtl="0" algn="ctr">
                <a:spcBef>
                  <a:spcPts val="0"/>
                </a:spcBef>
                <a:spcAft>
                  <a:spcPts val="0"/>
                </a:spcAft>
                <a:buNone/>
              </a:pPr>
              <a:r>
                <a:rPr lang="en-US" sz="750">
                  <a:solidFill>
                    <a:srgbClr val="94A3B8"/>
                  </a:solidFill>
                  <a:latin typeface="Carlito"/>
                  <a:ea typeface="Carlito"/>
                  <a:cs typeface="Carlito"/>
                  <a:sym typeface="Carlito"/>
                </a:rPr>
                <a:t>Serialized graph</a:t>
              </a:r>
              <a:endParaRPr sz="750">
                <a:solidFill>
                  <a:srgbClr val="94A3B8"/>
                </a:solidFill>
                <a:latin typeface="Carlito"/>
                <a:ea typeface="Carlito"/>
                <a:cs typeface="Carlito"/>
                <a:sym typeface="Carlito"/>
              </a:endParaRPr>
            </a:p>
          </p:txBody>
        </p:sp>
        <p:sp>
          <p:nvSpPr>
            <p:cNvPr id="1101" name="Google Shape;1101;p39"/>
            <p:cNvSpPr txBox="1"/>
            <p:nvPr/>
          </p:nvSpPr>
          <p:spPr>
            <a:xfrm>
              <a:off x="4095750" y="2833243"/>
              <a:ext cx="4287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600">
                  <a:solidFill>
                    <a:srgbClr val="F0B429"/>
                  </a:solidFill>
                  <a:latin typeface="Material Icons"/>
                  <a:ea typeface="Material Icons"/>
                  <a:cs typeface="Material Icons"/>
                  <a:sym typeface="Material Icons"/>
                </a:rPr>
                <a:t>arrow_forward</a:t>
              </a:r>
              <a:endParaRPr sz="1600">
                <a:solidFill>
                  <a:srgbClr val="F0B429"/>
                </a:solidFill>
                <a:latin typeface="Material Icons"/>
                <a:ea typeface="Material Icons"/>
                <a:cs typeface="Material Icons"/>
                <a:sym typeface="Material Icons"/>
              </a:endParaRPr>
            </a:p>
          </p:txBody>
        </p:sp>
        <p:sp>
          <p:nvSpPr>
            <p:cNvPr id="1102" name="Google Shape;1102;p39"/>
            <p:cNvSpPr/>
            <p:nvPr/>
          </p:nvSpPr>
          <p:spPr>
            <a:xfrm>
              <a:off x="4572000" y="2857500"/>
              <a:ext cx="857400" cy="857400"/>
            </a:xfrm>
            <a:prstGeom prst="roundRect">
              <a:avLst>
                <a:gd fmla="val 6666" name="adj"/>
              </a:avLst>
            </a:prstGeom>
            <a:solidFill>
              <a:srgbClr val="0F1B30"/>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3" name="Google Shape;1103;p39"/>
            <p:cNvSpPr txBox="1"/>
            <p:nvPr/>
          </p:nvSpPr>
          <p:spPr>
            <a:xfrm>
              <a:off x="4572000" y="285750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F0B429"/>
                  </a:solidFill>
                  <a:latin typeface="Material Icons"/>
                  <a:ea typeface="Material Icons"/>
                  <a:cs typeface="Material Icons"/>
                  <a:sym typeface="Material Icons"/>
                </a:rPr>
                <a:t>smartphone</a:t>
              </a:r>
              <a:endParaRPr sz="1800">
                <a:solidFill>
                  <a:srgbClr val="F0B429"/>
                </a:solidFill>
                <a:latin typeface="Material Icons"/>
                <a:ea typeface="Material Icons"/>
                <a:cs typeface="Material Icons"/>
                <a:sym typeface="Material Icons"/>
              </a:endParaRPr>
            </a:p>
            <a:p>
              <a:pPr indent="0" lvl="0" marL="0" rtl="0" algn="ctr">
                <a:spcBef>
                  <a:spcPts val="450"/>
                </a:spcBef>
                <a:spcAft>
                  <a:spcPts val="0"/>
                </a:spcAft>
                <a:buNone/>
              </a:pPr>
              <a:r>
                <a:rPr b="1" lang="en-US" sz="850">
                  <a:solidFill>
                    <a:srgbClr val="F5F1E6"/>
                  </a:solidFill>
                  <a:latin typeface="Carlito"/>
                  <a:ea typeface="Carlito"/>
                  <a:cs typeface="Carlito"/>
                  <a:sym typeface="Carlito"/>
                </a:rPr>
                <a:t>Mobile</a:t>
              </a:r>
              <a:endParaRPr b="1" sz="850">
                <a:solidFill>
                  <a:srgbClr val="F5F1E6"/>
                </a:solidFill>
                <a:latin typeface="Carlito"/>
                <a:ea typeface="Carlito"/>
                <a:cs typeface="Carlito"/>
                <a:sym typeface="Carlito"/>
              </a:endParaRPr>
            </a:p>
          </p:txBody>
        </p:sp>
        <p:sp>
          <p:nvSpPr>
            <p:cNvPr id="1104" name="Google Shape;1104;p39"/>
            <p:cNvSpPr/>
            <p:nvPr/>
          </p:nvSpPr>
          <p:spPr>
            <a:xfrm>
              <a:off x="5543550" y="2857500"/>
              <a:ext cx="857400" cy="857400"/>
            </a:xfrm>
            <a:prstGeom prst="roundRect">
              <a:avLst>
                <a:gd fmla="val 6666" name="adj"/>
              </a:avLst>
            </a:prstGeom>
            <a:solidFill>
              <a:srgbClr val="0F1B30"/>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5" name="Google Shape;1105;p39"/>
            <p:cNvSpPr txBox="1"/>
            <p:nvPr/>
          </p:nvSpPr>
          <p:spPr>
            <a:xfrm>
              <a:off x="5543550" y="285750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F0B429"/>
                  </a:solidFill>
                  <a:latin typeface="Material Icons"/>
                  <a:ea typeface="Material Icons"/>
                  <a:cs typeface="Material Icons"/>
                  <a:sym typeface="Material Icons"/>
                </a:rPr>
                <a:t>language</a:t>
              </a:r>
              <a:endParaRPr sz="1800">
                <a:solidFill>
                  <a:srgbClr val="F0B429"/>
                </a:solidFill>
                <a:latin typeface="Material Icons"/>
                <a:ea typeface="Material Icons"/>
                <a:cs typeface="Material Icons"/>
                <a:sym typeface="Material Icons"/>
              </a:endParaRPr>
            </a:p>
            <a:p>
              <a:pPr indent="0" lvl="0" marL="0" rtl="0" algn="ctr">
                <a:spcBef>
                  <a:spcPts val="450"/>
                </a:spcBef>
                <a:spcAft>
                  <a:spcPts val="0"/>
                </a:spcAft>
                <a:buNone/>
              </a:pPr>
              <a:r>
                <a:rPr b="1" lang="en-US" sz="850">
                  <a:solidFill>
                    <a:srgbClr val="F5F1E6"/>
                  </a:solidFill>
                  <a:latin typeface="Carlito"/>
                  <a:ea typeface="Carlito"/>
                  <a:cs typeface="Carlito"/>
                  <a:sym typeface="Carlito"/>
                </a:rPr>
                <a:t>Browser</a:t>
              </a:r>
              <a:endParaRPr b="1" sz="850">
                <a:solidFill>
                  <a:srgbClr val="F5F1E6"/>
                </a:solidFill>
                <a:latin typeface="Carlito"/>
                <a:ea typeface="Carlito"/>
                <a:cs typeface="Carlito"/>
                <a:sym typeface="Carlito"/>
              </a:endParaRPr>
            </a:p>
          </p:txBody>
        </p:sp>
        <p:sp>
          <p:nvSpPr>
            <p:cNvPr id="1106" name="Google Shape;1106;p39"/>
            <p:cNvSpPr/>
            <p:nvPr/>
          </p:nvSpPr>
          <p:spPr>
            <a:xfrm>
              <a:off x="6515100" y="2857500"/>
              <a:ext cx="857400" cy="857400"/>
            </a:xfrm>
            <a:prstGeom prst="roundRect">
              <a:avLst>
                <a:gd fmla="val 6666" name="adj"/>
              </a:avLst>
            </a:prstGeom>
            <a:solidFill>
              <a:srgbClr val="0F1B30"/>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7" name="Google Shape;1107;p39"/>
            <p:cNvSpPr txBox="1"/>
            <p:nvPr/>
          </p:nvSpPr>
          <p:spPr>
            <a:xfrm>
              <a:off x="6515100" y="285750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F0B429"/>
                  </a:solidFill>
                  <a:latin typeface="Material Icons"/>
                  <a:ea typeface="Material Icons"/>
                  <a:cs typeface="Material Icons"/>
                  <a:sym typeface="Material Icons"/>
                </a:rPr>
                <a:t>memory</a:t>
              </a:r>
              <a:endParaRPr sz="1800">
                <a:solidFill>
                  <a:srgbClr val="F0B429"/>
                </a:solidFill>
                <a:latin typeface="Material Icons"/>
                <a:ea typeface="Material Icons"/>
                <a:cs typeface="Material Icons"/>
                <a:sym typeface="Material Icons"/>
              </a:endParaRPr>
            </a:p>
            <a:p>
              <a:pPr indent="0" lvl="0" marL="0" rtl="0" algn="ctr">
                <a:spcBef>
                  <a:spcPts val="450"/>
                </a:spcBef>
                <a:spcAft>
                  <a:spcPts val="0"/>
                </a:spcAft>
                <a:buNone/>
              </a:pPr>
              <a:r>
                <a:rPr b="1" lang="en-US" sz="850">
                  <a:solidFill>
                    <a:srgbClr val="F5F1E6"/>
                  </a:solidFill>
                  <a:latin typeface="Carlito"/>
                  <a:ea typeface="Carlito"/>
                  <a:cs typeface="Carlito"/>
                  <a:sym typeface="Carlito"/>
                </a:rPr>
                <a:t>Embedded</a:t>
              </a:r>
              <a:endParaRPr b="1" sz="850">
                <a:solidFill>
                  <a:srgbClr val="F5F1E6"/>
                </a:solidFill>
                <a:latin typeface="Carlito"/>
                <a:ea typeface="Carlito"/>
                <a:cs typeface="Carlito"/>
                <a:sym typeface="Carlito"/>
              </a:endParaRPr>
            </a:p>
          </p:txBody>
        </p:sp>
        <p:sp>
          <p:nvSpPr>
            <p:cNvPr id="1108" name="Google Shape;1108;p39"/>
            <p:cNvSpPr/>
            <p:nvPr/>
          </p:nvSpPr>
          <p:spPr>
            <a:xfrm>
              <a:off x="7486650" y="2857500"/>
              <a:ext cx="857400" cy="857400"/>
            </a:xfrm>
            <a:prstGeom prst="roundRect">
              <a:avLst>
                <a:gd fmla="val 6666" name="adj"/>
              </a:avLst>
            </a:prstGeom>
            <a:solidFill>
              <a:srgbClr val="0F1B30"/>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9" name="Google Shape;1109;p39"/>
            <p:cNvSpPr txBox="1"/>
            <p:nvPr/>
          </p:nvSpPr>
          <p:spPr>
            <a:xfrm>
              <a:off x="7486650" y="285750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F0B429"/>
                  </a:solidFill>
                  <a:latin typeface="Material Icons"/>
                  <a:ea typeface="Material Icons"/>
                  <a:cs typeface="Material Icons"/>
                  <a:sym typeface="Material Icons"/>
                </a:rPr>
                <a:t>dns</a:t>
              </a:r>
              <a:endParaRPr sz="1800">
                <a:solidFill>
                  <a:srgbClr val="F0B429"/>
                </a:solidFill>
                <a:latin typeface="Material Icons"/>
                <a:ea typeface="Material Icons"/>
                <a:cs typeface="Material Icons"/>
                <a:sym typeface="Material Icons"/>
              </a:endParaRPr>
            </a:p>
            <a:p>
              <a:pPr indent="0" lvl="0" marL="0" rtl="0" algn="ctr">
                <a:spcBef>
                  <a:spcPts val="450"/>
                </a:spcBef>
                <a:spcAft>
                  <a:spcPts val="0"/>
                </a:spcAft>
                <a:buNone/>
              </a:pPr>
              <a:r>
                <a:rPr b="1" lang="en-US" sz="850">
                  <a:solidFill>
                    <a:srgbClr val="F5F1E6"/>
                  </a:solidFill>
                  <a:latin typeface="Carlito"/>
                  <a:ea typeface="Carlito"/>
                  <a:cs typeface="Carlito"/>
                  <a:sym typeface="Carlito"/>
                </a:rPr>
                <a:t>Prod Server</a:t>
              </a:r>
              <a:endParaRPr b="1" sz="850">
                <a:solidFill>
                  <a:srgbClr val="F5F1E6"/>
                </a:solidFill>
                <a:latin typeface="Carlito"/>
                <a:ea typeface="Carlito"/>
                <a:cs typeface="Carlito"/>
                <a:sym typeface="Carlito"/>
              </a:endParaRPr>
            </a:p>
          </p:txBody>
        </p:sp>
        <p:sp>
          <p:nvSpPr>
            <p:cNvPr id="1110" name="Google Shape;1110;p39"/>
            <p:cNvSpPr txBox="1"/>
            <p:nvPr/>
          </p:nvSpPr>
          <p:spPr>
            <a:xfrm>
              <a:off x="457200" y="4048125"/>
              <a:ext cx="8229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US" sz="900">
                  <a:solidFill>
                    <a:srgbClr val="94A3B8"/>
                  </a:solidFill>
                  <a:latin typeface="Carlito"/>
                  <a:ea typeface="Carlito"/>
                  <a:cs typeface="Carlito"/>
                  <a:sym typeface="Carlito"/>
                </a:rPr>
                <a:t>One export step → many deployment targets, none of which need PyTorch installed.</a:t>
              </a:r>
              <a:endParaRPr i="1" sz="900">
                <a:solidFill>
                  <a:srgbClr val="94A3B8"/>
                </a:solidFill>
                <a:latin typeface="Carlito"/>
                <a:ea typeface="Carlito"/>
                <a:cs typeface="Carlito"/>
                <a:sym typeface="Carlito"/>
              </a:endParaRPr>
            </a:p>
          </p:txBody>
        </p:sp>
      </p:grpSp>
      <p:sp>
        <p:nvSpPr>
          <p:cNvPr id="1111" name="Google Shape;1111;p39"/>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112" name="Google Shape;1112;p39"/>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37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117" name="Shape 1117"/>
        <p:cNvGrpSpPr/>
        <p:nvPr/>
      </p:nvGrpSpPr>
      <p:grpSpPr>
        <a:xfrm>
          <a:off x="0" y="0"/>
          <a:ext cx="0" cy="0"/>
          <a:chOff x="0" y="0"/>
          <a:chExt cx="0" cy="0"/>
        </a:xfrm>
      </p:grpSpPr>
      <p:sp>
        <p:nvSpPr>
          <p:cNvPr id="1118" name="Google Shape;1118;p40"/>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06 · MODEL EXPORT &amp; ONNX</a:t>
            </a:r>
            <a:endParaRPr b="0" i="0" sz="800" u="none" cap="none" strike="noStrike">
              <a:solidFill>
                <a:schemeClr val="dk1"/>
              </a:solidFill>
              <a:latin typeface="Calibri"/>
              <a:ea typeface="Calibri"/>
              <a:cs typeface="Calibri"/>
              <a:sym typeface="Calibri"/>
            </a:endParaRPr>
          </a:p>
        </p:txBody>
      </p:sp>
      <p:sp>
        <p:nvSpPr>
          <p:cNvPr id="1119" name="Google Shape;1119;p40"/>
          <p:cNvSpPr/>
          <p:nvPr/>
        </p:nvSpPr>
        <p:spPr>
          <a:xfrm>
            <a:off x="457200" y="603647"/>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The Export &amp; Deployment Pipeline</a:t>
            </a:r>
            <a:endParaRPr b="0" i="0" sz="2250" u="none" cap="none" strike="noStrike">
              <a:solidFill>
                <a:schemeClr val="dk1"/>
              </a:solidFill>
              <a:latin typeface="Calibri"/>
              <a:ea typeface="Calibri"/>
              <a:cs typeface="Calibri"/>
              <a:sym typeface="Calibri"/>
            </a:endParaRPr>
          </a:p>
        </p:txBody>
      </p:sp>
      <p:sp>
        <p:nvSpPr>
          <p:cNvPr id="1120" name="Google Shape;1120;p40"/>
          <p:cNvSpPr/>
          <p:nvPr/>
        </p:nvSpPr>
        <p:spPr>
          <a:xfrm>
            <a:off x="457200" y="1003697"/>
            <a:ext cx="8229600" cy="216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4A3B8"/>
              </a:buClr>
              <a:buSzPts val="1125"/>
              <a:buFont typeface="Carlito"/>
              <a:buNone/>
            </a:pPr>
            <a:r>
              <a:rPr b="0" i="0" lang="en-US" sz="1125" u="none" cap="none" strike="noStrike">
                <a:solidFill>
                  <a:srgbClr val="94A3B8"/>
                </a:solidFill>
                <a:latin typeface="Carlito"/>
                <a:ea typeface="Carlito"/>
                <a:cs typeface="Carlito"/>
                <a:sym typeface="Carlito"/>
              </a:rPr>
              <a:t>Three steps from “trained model” to “deployed, optimized inference.”</a:t>
            </a:r>
            <a:endParaRPr b="0" i="0" sz="1125" u="none" cap="none" strike="noStrike">
              <a:solidFill>
                <a:schemeClr val="dk1"/>
              </a:solidFill>
              <a:latin typeface="Calibri"/>
              <a:ea typeface="Calibri"/>
              <a:cs typeface="Calibri"/>
              <a:sym typeface="Calibri"/>
            </a:endParaRPr>
          </a:p>
        </p:txBody>
      </p:sp>
      <p:grpSp>
        <p:nvGrpSpPr>
          <p:cNvPr id="1121" name="Google Shape;1121;p40"/>
          <p:cNvGrpSpPr/>
          <p:nvPr/>
        </p:nvGrpSpPr>
        <p:grpSpPr>
          <a:xfrm>
            <a:off x="457200" y="1428750"/>
            <a:ext cx="8229600" cy="2952900"/>
            <a:chOff x="457200" y="1428750"/>
            <a:chExt cx="8229600" cy="2952900"/>
          </a:xfrm>
        </p:grpSpPr>
        <p:sp>
          <p:nvSpPr>
            <p:cNvPr id="1122" name="Google Shape;1122;p40"/>
            <p:cNvSpPr/>
            <p:nvPr/>
          </p:nvSpPr>
          <p:spPr>
            <a:xfrm>
              <a:off x="457200" y="1428750"/>
              <a:ext cx="2514600" cy="2952900"/>
            </a:xfrm>
            <a:prstGeom prst="roundRect">
              <a:avLst>
                <a:gd fmla="val 303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3" name="Google Shape;1123;p40"/>
            <p:cNvSpPr/>
            <p:nvPr/>
          </p:nvSpPr>
          <p:spPr>
            <a:xfrm>
              <a:off x="457200" y="1428750"/>
              <a:ext cx="25146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4" name="Google Shape;1124;p40"/>
            <p:cNvSpPr txBox="1"/>
            <p:nvPr/>
          </p:nvSpPr>
          <p:spPr>
            <a:xfrm>
              <a:off x="647700" y="1619250"/>
              <a:ext cx="2133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01 / DEVELOPMENT</a:t>
              </a:r>
              <a:endParaRPr b="1" sz="800">
                <a:solidFill>
                  <a:srgbClr val="F0B429"/>
                </a:solidFill>
                <a:latin typeface="Carlito"/>
                <a:ea typeface="Carlito"/>
                <a:cs typeface="Carlito"/>
                <a:sym typeface="Carlito"/>
              </a:endParaRPr>
            </a:p>
            <a:p>
              <a:pPr indent="0" lvl="0" marL="0" rtl="0" algn="l">
                <a:spcBef>
                  <a:spcPts val="900"/>
                </a:spcBef>
                <a:spcAft>
                  <a:spcPts val="0"/>
                </a:spcAft>
                <a:buNone/>
              </a:pPr>
              <a:r>
                <a:rPr b="1" lang="en-US" sz="1600">
                  <a:solidFill>
                    <a:srgbClr val="F5F1E6"/>
                  </a:solidFill>
                  <a:latin typeface="Courier New"/>
                  <a:ea typeface="Courier New"/>
                  <a:cs typeface="Courier New"/>
                  <a:sym typeface="Courier New"/>
                </a:rPr>
                <a:t>⊟ PyTorch</a:t>
              </a:r>
              <a:endParaRPr b="1" sz="1600">
                <a:solidFill>
                  <a:srgbClr val="F5F1E6"/>
                </a:solidFill>
                <a:latin typeface="Courier New"/>
                <a:ea typeface="Courier New"/>
                <a:cs typeface="Courier New"/>
                <a:sym typeface="Courier New"/>
              </a:endParaRPr>
            </a:p>
            <a:p>
              <a:pPr indent="0" lvl="0" marL="0" rtl="0" algn="l">
                <a:spcBef>
                  <a:spcPts val="900"/>
                </a:spcBef>
                <a:spcAft>
                  <a:spcPts val="0"/>
                </a:spcAft>
                <a:buNone/>
              </a:pPr>
              <a:r>
                <a:rPr b="0" lang="en-US" sz="950">
                  <a:solidFill>
                    <a:srgbClr val="94A3B8"/>
                  </a:solidFill>
                  <a:latin typeface="Carlito"/>
                  <a:ea typeface="Carlito"/>
                  <a:cs typeface="Carlito"/>
                  <a:sym typeface="Carlito"/>
                </a:rPr>
                <a:t>Train or fine-tune in your framework of choice (PyTorch, TensorFlow). Covers everything from training to parameter-efficient fine-tuning (</a:t>
              </a:r>
              <a:r>
                <a:rPr b="1" lang="en-US" sz="950">
                  <a:solidFill>
                    <a:srgbClr val="F0B429"/>
                  </a:solidFill>
                  <a:latin typeface="Carlito"/>
                  <a:ea typeface="Carlito"/>
                  <a:cs typeface="Carlito"/>
                  <a:sym typeface="Carlito"/>
                </a:rPr>
                <a:t>PEFT</a:t>
              </a:r>
              <a:r>
                <a:rPr b="0" lang="en-US" sz="950">
                  <a:solidFill>
                    <a:srgbClr val="94A3B8"/>
                  </a:solidFill>
                  <a:latin typeface="Carlito"/>
                  <a:ea typeface="Carlito"/>
                  <a:cs typeface="Carlito"/>
                  <a:sym typeface="Carlito"/>
                </a:rPr>
                <a:t>, </a:t>
              </a:r>
              <a:r>
                <a:rPr b="1" lang="en-US" sz="950">
                  <a:solidFill>
                    <a:srgbClr val="F0B429"/>
                  </a:solidFill>
                  <a:latin typeface="Carlito"/>
                  <a:ea typeface="Carlito"/>
                  <a:cs typeface="Carlito"/>
                  <a:sym typeface="Carlito"/>
                </a:rPr>
                <a:t>LoRA</a:t>
              </a:r>
              <a:r>
                <a:rPr b="0" lang="en-US" sz="950">
                  <a:solidFill>
                    <a:srgbClr val="94A3B8"/>
                  </a:solidFill>
                  <a:latin typeface="Carlito"/>
                  <a:ea typeface="Carlito"/>
                  <a:cs typeface="Carlito"/>
                  <a:sym typeface="Carlito"/>
                </a:rPr>
                <a:t>) and quantization.</a:t>
              </a:r>
              <a:endParaRPr b="0" sz="950">
                <a:solidFill>
                  <a:srgbClr val="94A3B8"/>
                </a:solidFill>
                <a:latin typeface="Carlito"/>
                <a:ea typeface="Carlito"/>
                <a:cs typeface="Carlito"/>
                <a:sym typeface="Carlito"/>
              </a:endParaRPr>
            </a:p>
          </p:txBody>
        </p:sp>
        <p:pic>
          <p:nvPicPr>
            <p:cNvPr id="1125" name="Google Shape;1125;p40"/>
            <p:cNvPicPr preferRelativeResize="0"/>
            <p:nvPr/>
          </p:nvPicPr>
          <p:blipFill rotWithShape="1">
            <a:blip r:embed="rId3">
              <a:alphaModFix/>
            </a:blip>
            <a:srcRect b="0" l="0" r="0" t="0"/>
            <a:stretch/>
          </p:blipFill>
          <p:spPr>
            <a:xfrm>
              <a:off x="3028950" y="2838450"/>
              <a:ext cx="243000" cy="133500"/>
            </a:xfrm>
            <a:prstGeom prst="rect">
              <a:avLst/>
            </a:prstGeom>
            <a:noFill/>
            <a:ln>
              <a:noFill/>
            </a:ln>
          </p:spPr>
        </p:pic>
        <p:sp>
          <p:nvSpPr>
            <p:cNvPr id="1126" name="Google Shape;1126;p40"/>
            <p:cNvSpPr/>
            <p:nvPr/>
          </p:nvSpPr>
          <p:spPr>
            <a:xfrm>
              <a:off x="3314700" y="1428750"/>
              <a:ext cx="2514600" cy="2952900"/>
            </a:xfrm>
            <a:prstGeom prst="roundRect">
              <a:avLst>
                <a:gd fmla="val 303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7" name="Google Shape;1127;p40"/>
            <p:cNvSpPr/>
            <p:nvPr/>
          </p:nvSpPr>
          <p:spPr>
            <a:xfrm>
              <a:off x="3314700" y="1428750"/>
              <a:ext cx="25146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8" name="Google Shape;1128;p40"/>
            <p:cNvSpPr txBox="1"/>
            <p:nvPr/>
          </p:nvSpPr>
          <p:spPr>
            <a:xfrm>
              <a:off x="3505200" y="1619250"/>
              <a:ext cx="2133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02 / PORTABILITY</a:t>
              </a:r>
              <a:endParaRPr b="1" sz="800">
                <a:solidFill>
                  <a:srgbClr val="F0B429"/>
                </a:solidFill>
                <a:latin typeface="Carlito"/>
                <a:ea typeface="Carlito"/>
                <a:cs typeface="Carlito"/>
                <a:sym typeface="Carlito"/>
              </a:endParaRPr>
            </a:p>
            <a:p>
              <a:pPr indent="0" lvl="0" marL="0" rtl="0" algn="l">
                <a:spcBef>
                  <a:spcPts val="900"/>
                </a:spcBef>
                <a:spcAft>
                  <a:spcPts val="0"/>
                </a:spcAft>
                <a:buNone/>
              </a:pPr>
              <a:r>
                <a:rPr b="1" lang="en-US" sz="1600">
                  <a:solidFill>
                    <a:srgbClr val="F5F1E6"/>
                  </a:solidFill>
                  <a:latin typeface="Courier New"/>
                  <a:ea typeface="Courier New"/>
                  <a:cs typeface="Courier New"/>
                  <a:sym typeface="Courier New"/>
                </a:rPr>
                <a:t>▤ .onnx Export</a:t>
              </a:r>
              <a:endParaRPr b="1" sz="1600">
                <a:solidFill>
                  <a:srgbClr val="F5F1E6"/>
                </a:solidFill>
                <a:latin typeface="Courier New"/>
                <a:ea typeface="Courier New"/>
                <a:cs typeface="Courier New"/>
                <a:sym typeface="Courier New"/>
              </a:endParaRPr>
            </a:p>
            <a:p>
              <a:pPr indent="0" lvl="0" marL="0" rtl="0" algn="l">
                <a:spcBef>
                  <a:spcPts val="900"/>
                </a:spcBef>
                <a:spcAft>
                  <a:spcPts val="0"/>
                </a:spcAft>
                <a:buNone/>
              </a:pPr>
              <a:r>
                <a:rPr b="0" lang="en-US" sz="950">
                  <a:solidFill>
                    <a:srgbClr val="94A3B8"/>
                  </a:solidFill>
                  <a:latin typeface="Carlito"/>
                  <a:ea typeface="Carlito"/>
                  <a:cs typeface="Carlito"/>
                  <a:sym typeface="Carlito"/>
                </a:rPr>
                <a:t>Trace and serialize the computation graph and weights into the standard, framework-independent </a:t>
              </a:r>
              <a:r>
                <a:rPr b="1" lang="en-US" sz="950">
                  <a:solidFill>
                    <a:srgbClr val="F0B429"/>
                  </a:solidFill>
                  <a:latin typeface="Courier New"/>
                  <a:ea typeface="Courier New"/>
                  <a:cs typeface="Courier New"/>
                  <a:sym typeface="Courier New"/>
                </a:rPr>
                <a:t>.onnx</a:t>
              </a:r>
              <a:r>
                <a:rPr b="0" lang="en-US" sz="950">
                  <a:solidFill>
                    <a:srgbClr val="94A3B8"/>
                  </a:solidFill>
                  <a:latin typeface="Carlito"/>
                  <a:ea typeface="Carlito"/>
                  <a:cs typeface="Carlito"/>
                  <a:sym typeface="Carlito"/>
                </a:rPr>
                <a:t> format. The model leaves its training framework behind.</a:t>
              </a:r>
              <a:endParaRPr b="0" sz="950">
                <a:solidFill>
                  <a:srgbClr val="94A3B8"/>
                </a:solidFill>
                <a:latin typeface="Carlito"/>
                <a:ea typeface="Carlito"/>
                <a:cs typeface="Carlito"/>
                <a:sym typeface="Carlito"/>
              </a:endParaRPr>
            </a:p>
          </p:txBody>
        </p:sp>
        <p:pic>
          <p:nvPicPr>
            <p:cNvPr id="1129" name="Google Shape;1129;p40"/>
            <p:cNvPicPr preferRelativeResize="0"/>
            <p:nvPr/>
          </p:nvPicPr>
          <p:blipFill rotWithShape="1">
            <a:blip r:embed="rId3">
              <a:alphaModFix/>
            </a:blip>
            <a:srcRect b="0" l="0" r="0" t="0"/>
            <a:stretch/>
          </p:blipFill>
          <p:spPr>
            <a:xfrm>
              <a:off x="5886450" y="2838450"/>
              <a:ext cx="243000" cy="133500"/>
            </a:xfrm>
            <a:prstGeom prst="rect">
              <a:avLst/>
            </a:prstGeom>
            <a:noFill/>
            <a:ln>
              <a:noFill/>
            </a:ln>
          </p:spPr>
        </p:pic>
        <p:sp>
          <p:nvSpPr>
            <p:cNvPr id="1130" name="Google Shape;1130;p40"/>
            <p:cNvSpPr/>
            <p:nvPr/>
          </p:nvSpPr>
          <p:spPr>
            <a:xfrm>
              <a:off x="6172200" y="1428750"/>
              <a:ext cx="2514600" cy="2952900"/>
            </a:xfrm>
            <a:prstGeom prst="roundRect">
              <a:avLst>
                <a:gd fmla="val 303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1" name="Google Shape;1131;p40"/>
            <p:cNvSpPr/>
            <p:nvPr/>
          </p:nvSpPr>
          <p:spPr>
            <a:xfrm>
              <a:off x="6172200" y="1428750"/>
              <a:ext cx="25146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2" name="Google Shape;1132;p40"/>
            <p:cNvSpPr txBox="1"/>
            <p:nvPr/>
          </p:nvSpPr>
          <p:spPr>
            <a:xfrm>
              <a:off x="6362700" y="1619250"/>
              <a:ext cx="2133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03 / DEPLOYMENT</a:t>
              </a:r>
              <a:endParaRPr b="1" sz="800">
                <a:solidFill>
                  <a:srgbClr val="F0B429"/>
                </a:solidFill>
                <a:latin typeface="Carlito"/>
                <a:ea typeface="Carlito"/>
                <a:cs typeface="Carlito"/>
                <a:sym typeface="Carlito"/>
              </a:endParaRPr>
            </a:p>
            <a:p>
              <a:pPr indent="0" lvl="0" marL="0" rtl="0" algn="l">
                <a:spcBef>
                  <a:spcPts val="900"/>
                </a:spcBef>
                <a:spcAft>
                  <a:spcPts val="0"/>
                </a:spcAft>
                <a:buNone/>
              </a:pPr>
              <a:r>
                <a:rPr b="1" lang="en-US" sz="1600">
                  <a:solidFill>
                    <a:srgbClr val="F5F1E6"/>
                  </a:solidFill>
                  <a:latin typeface="Courier New"/>
                  <a:ea typeface="Courier New"/>
                  <a:cs typeface="Courier New"/>
                  <a:sym typeface="Courier New"/>
                </a:rPr>
                <a:t>➤ ONNX Runtime</a:t>
              </a:r>
              <a:endParaRPr b="1" sz="1600">
                <a:solidFill>
                  <a:srgbClr val="F5F1E6"/>
                </a:solidFill>
                <a:latin typeface="Courier New"/>
                <a:ea typeface="Courier New"/>
                <a:cs typeface="Courier New"/>
                <a:sym typeface="Courier New"/>
              </a:endParaRPr>
            </a:p>
            <a:p>
              <a:pPr indent="0" lvl="0" marL="0" rtl="0" algn="l">
                <a:spcBef>
                  <a:spcPts val="900"/>
                </a:spcBef>
                <a:spcAft>
                  <a:spcPts val="0"/>
                </a:spcAft>
                <a:buNone/>
              </a:pPr>
              <a:r>
                <a:rPr b="0" lang="en-US" sz="950">
                  <a:solidFill>
                    <a:srgbClr val="94A3B8"/>
                  </a:solidFill>
                  <a:latin typeface="Carlito"/>
                  <a:ea typeface="Carlito"/>
                  <a:cs typeface="Carlito"/>
                  <a:sym typeface="Carlito"/>
                </a:rPr>
                <a:t>Execute high-performance inference using a lightweight, highly optimized engine. Often runs significantly faster and deploys without the training framework installed.</a:t>
              </a:r>
              <a:endParaRPr b="0" sz="950">
                <a:solidFill>
                  <a:srgbClr val="94A3B8"/>
                </a:solidFill>
                <a:latin typeface="Carlito"/>
                <a:ea typeface="Carlito"/>
                <a:cs typeface="Carlito"/>
                <a:sym typeface="Carlito"/>
              </a:endParaRPr>
            </a:p>
          </p:txBody>
        </p:sp>
      </p:grpSp>
      <p:sp>
        <p:nvSpPr>
          <p:cNvPr id="1133" name="Google Shape;1133;p40"/>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134" name="Google Shape;1134;p40"/>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38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139" name="Shape 1139"/>
        <p:cNvGrpSpPr/>
        <p:nvPr/>
      </p:nvGrpSpPr>
      <p:grpSpPr>
        <a:xfrm>
          <a:off x="0" y="0"/>
          <a:ext cx="0" cy="0"/>
          <a:chOff x="0" y="0"/>
          <a:chExt cx="0" cy="0"/>
        </a:xfrm>
      </p:grpSpPr>
      <p:sp>
        <p:nvSpPr>
          <p:cNvPr id="1140" name="Google Shape;1140;p41"/>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06 · MODEL EXPORT &amp; ONNX</a:t>
            </a:r>
            <a:endParaRPr b="0" i="0" sz="800" u="none" cap="none" strike="noStrike">
              <a:solidFill>
                <a:schemeClr val="dk1"/>
              </a:solidFill>
              <a:latin typeface="Calibri"/>
              <a:ea typeface="Calibri"/>
              <a:cs typeface="Calibri"/>
              <a:sym typeface="Calibri"/>
            </a:endParaRPr>
          </a:p>
        </p:txBody>
      </p:sp>
      <p:sp>
        <p:nvSpPr>
          <p:cNvPr id="1141" name="Google Shape;1141;p41"/>
          <p:cNvSpPr/>
          <p:nvPr/>
        </p:nvSpPr>
        <p:spPr>
          <a:xfrm>
            <a:off x="457200" y="603647"/>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Why ONNX Runtime Is Often Faster</a:t>
            </a:r>
            <a:endParaRPr b="0" i="0" sz="2250" u="none" cap="none" strike="noStrike">
              <a:solidFill>
                <a:schemeClr val="dk1"/>
              </a:solidFill>
              <a:latin typeface="Calibri"/>
              <a:ea typeface="Calibri"/>
              <a:cs typeface="Calibri"/>
              <a:sym typeface="Calibri"/>
            </a:endParaRPr>
          </a:p>
        </p:txBody>
      </p:sp>
      <p:sp>
        <p:nvSpPr>
          <p:cNvPr id="1142" name="Google Shape;1142;p41"/>
          <p:cNvSpPr/>
          <p:nvPr/>
        </p:nvSpPr>
        <p:spPr>
          <a:xfrm>
            <a:off x="457200" y="1003697"/>
            <a:ext cx="8229600" cy="216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4A3B8"/>
              </a:buClr>
              <a:buSzPts val="1125"/>
              <a:buFont typeface="Carlito"/>
              <a:buNone/>
            </a:pPr>
            <a:r>
              <a:rPr b="0" i="0" lang="en-US" sz="1125" u="none" cap="none" strike="noStrike">
                <a:solidFill>
                  <a:srgbClr val="94A3B8"/>
                </a:solidFill>
                <a:latin typeface="Carlito"/>
                <a:ea typeface="Carlito"/>
                <a:cs typeface="Carlito"/>
                <a:sym typeface="Carlito"/>
              </a:rPr>
              <a:t>Three independent optimization layers — they stack.</a:t>
            </a:r>
            <a:endParaRPr b="0" i="0" sz="1125" u="none" cap="none" strike="noStrike">
              <a:solidFill>
                <a:schemeClr val="dk1"/>
              </a:solidFill>
              <a:latin typeface="Calibri"/>
              <a:ea typeface="Calibri"/>
              <a:cs typeface="Calibri"/>
              <a:sym typeface="Calibri"/>
            </a:endParaRPr>
          </a:p>
        </p:txBody>
      </p:sp>
      <p:grpSp>
        <p:nvGrpSpPr>
          <p:cNvPr id="1143" name="Google Shape;1143;p41"/>
          <p:cNvGrpSpPr/>
          <p:nvPr/>
        </p:nvGrpSpPr>
        <p:grpSpPr>
          <a:xfrm>
            <a:off x="457200" y="1381125"/>
            <a:ext cx="2628900" cy="2809800"/>
            <a:chOff x="457200" y="1381125"/>
            <a:chExt cx="2628900" cy="2809800"/>
          </a:xfrm>
        </p:grpSpPr>
        <p:sp>
          <p:nvSpPr>
            <p:cNvPr id="1144" name="Google Shape;1144;p41"/>
            <p:cNvSpPr/>
            <p:nvPr/>
          </p:nvSpPr>
          <p:spPr>
            <a:xfrm>
              <a:off x="457200" y="1381125"/>
              <a:ext cx="2628900" cy="2809800"/>
            </a:xfrm>
            <a:prstGeom prst="roundRect">
              <a:avLst>
                <a:gd fmla="val 2898"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5" name="Google Shape;1145;p41"/>
            <p:cNvSpPr/>
            <p:nvPr/>
          </p:nvSpPr>
          <p:spPr>
            <a:xfrm>
              <a:off x="457200" y="1381125"/>
              <a:ext cx="26289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46" name="Google Shape;1146;p41"/>
            <p:cNvGrpSpPr/>
            <p:nvPr/>
          </p:nvGrpSpPr>
          <p:grpSpPr>
            <a:xfrm>
              <a:off x="647700" y="1571625"/>
              <a:ext cx="342900" cy="369189"/>
              <a:chOff x="0" y="0"/>
              <a:chExt cx="342900" cy="369189"/>
            </a:xfrm>
          </p:grpSpPr>
          <p:sp>
            <p:nvSpPr>
              <p:cNvPr id="1147" name="Google Shape;1147;p41"/>
              <p:cNvSpPr/>
              <p:nvPr/>
            </p:nvSpPr>
            <p:spPr>
              <a:xfrm>
                <a:off x="0" y="0"/>
                <a:ext cx="342900" cy="342900"/>
              </a:xfrm>
              <a:prstGeom prst="roundRect">
                <a:avLst>
                  <a:gd fmla="val 22222" name="adj"/>
                </a:avLst>
              </a:prstGeom>
              <a:solidFill>
                <a:srgbClr val="F0B429">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8" name="Google Shape;1148;p41"/>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F0B429"/>
                    </a:solidFill>
                    <a:latin typeface="Material Icons"/>
                    <a:ea typeface="Material Icons"/>
                    <a:cs typeface="Material Icons"/>
                    <a:sym typeface="Material Icons"/>
                  </a:rPr>
                  <a:t>schema</a:t>
                </a:r>
                <a:endParaRPr sz="1800">
                  <a:solidFill>
                    <a:srgbClr val="F0B429"/>
                  </a:solidFill>
                  <a:latin typeface="Material Icons"/>
                  <a:ea typeface="Material Icons"/>
                  <a:cs typeface="Material Icons"/>
                  <a:sym typeface="Material Icons"/>
                </a:endParaRPr>
              </a:p>
            </p:txBody>
          </p:sp>
        </p:grpSp>
        <p:sp>
          <p:nvSpPr>
            <p:cNvPr id="1149" name="Google Shape;1149;p41"/>
            <p:cNvSpPr txBox="1"/>
            <p:nvPr/>
          </p:nvSpPr>
          <p:spPr>
            <a:xfrm>
              <a:off x="647700" y="2047875"/>
              <a:ext cx="2247900" cy="20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94A3B8"/>
                  </a:solidFill>
                  <a:latin typeface="Carlito"/>
                  <a:ea typeface="Carlito"/>
                  <a:cs typeface="Carlito"/>
                  <a:sym typeface="Carlito"/>
                </a:rPr>
                <a:t>OPTIMIZATION 01</a:t>
              </a:r>
              <a:endParaRPr b="1" sz="850">
                <a:solidFill>
                  <a:srgbClr val="94A3B8"/>
                </a:solidFill>
                <a:latin typeface="Carlito"/>
                <a:ea typeface="Carlito"/>
                <a:cs typeface="Carlito"/>
                <a:sym typeface="Carlito"/>
              </a:endParaRPr>
            </a:p>
            <a:p>
              <a:pPr indent="0" lvl="0" marL="0" rtl="0" algn="l">
                <a:spcBef>
                  <a:spcPts val="450"/>
                </a:spcBef>
                <a:spcAft>
                  <a:spcPts val="0"/>
                </a:spcAft>
                <a:buNone/>
              </a:pPr>
              <a:r>
                <a:rPr b="1" lang="en-US" sz="1300">
                  <a:solidFill>
                    <a:srgbClr val="F5F1E6"/>
                  </a:solidFill>
                  <a:latin typeface="Carlito"/>
                  <a:ea typeface="Carlito"/>
                  <a:cs typeface="Carlito"/>
                  <a:sym typeface="Carlito"/>
                </a:rPr>
                <a:t>Graph Optimization</a:t>
              </a:r>
              <a:endParaRPr b="1" sz="1300">
                <a:solidFill>
                  <a:srgbClr val="F5F1E6"/>
                </a:solidFill>
                <a:latin typeface="Carlito"/>
                <a:ea typeface="Carlito"/>
                <a:cs typeface="Carlito"/>
                <a:sym typeface="Carlito"/>
              </a:endParaRPr>
            </a:p>
            <a:p>
              <a:pPr indent="0" lvl="0" marL="0" rtl="0" algn="l">
                <a:spcBef>
                  <a:spcPts val="900"/>
                </a:spcBef>
                <a:spcAft>
                  <a:spcPts val="0"/>
                </a:spcAft>
                <a:buNone/>
              </a:pPr>
              <a:r>
                <a:rPr b="0" lang="en-US" sz="950">
                  <a:solidFill>
                    <a:srgbClr val="94A3B8"/>
                  </a:solidFill>
                  <a:latin typeface="Carlito"/>
                  <a:ea typeface="Carlito"/>
                  <a:cs typeface="Carlito"/>
                  <a:sym typeface="Carlito"/>
                </a:rPr>
                <a:t>Redundant or fusable operations in the computation graph are automatically simplified or merged before execution.</a:t>
              </a:r>
              <a:endParaRPr b="0" sz="950">
                <a:solidFill>
                  <a:srgbClr val="94A3B8"/>
                </a:solidFill>
                <a:latin typeface="Carlito"/>
                <a:ea typeface="Carlito"/>
                <a:cs typeface="Carlito"/>
                <a:sym typeface="Carlito"/>
              </a:endParaRPr>
            </a:p>
            <a:p>
              <a:pPr indent="0" lvl="0" marL="0" rtl="0" algn="l">
                <a:spcBef>
                  <a:spcPts val="600"/>
                </a:spcBef>
                <a:spcAft>
                  <a:spcPts val="0"/>
                </a:spcAft>
                <a:buNone/>
              </a:pPr>
              <a:r>
                <a:rPr b="0" lang="en-US" sz="950">
                  <a:solidFill>
                    <a:srgbClr val="94A3B8"/>
                  </a:solidFill>
                  <a:latin typeface="Carlito"/>
                  <a:ea typeface="Carlito"/>
                  <a:cs typeface="Carlito"/>
                  <a:sym typeface="Carlito"/>
                </a:rPr>
                <a:t>Fewer kernel launches, less overhead, same outputs.</a:t>
              </a:r>
              <a:endParaRPr b="0" sz="950">
                <a:solidFill>
                  <a:srgbClr val="94A3B8"/>
                </a:solidFill>
                <a:latin typeface="Carlito"/>
                <a:ea typeface="Carlito"/>
                <a:cs typeface="Carlito"/>
                <a:sym typeface="Carlito"/>
              </a:endParaRPr>
            </a:p>
          </p:txBody>
        </p:sp>
      </p:grpSp>
      <p:grpSp>
        <p:nvGrpSpPr>
          <p:cNvPr id="1150" name="Google Shape;1150;p41"/>
          <p:cNvGrpSpPr/>
          <p:nvPr/>
        </p:nvGrpSpPr>
        <p:grpSpPr>
          <a:xfrm>
            <a:off x="3257550" y="1381125"/>
            <a:ext cx="2628900" cy="2809800"/>
            <a:chOff x="3257550" y="1381125"/>
            <a:chExt cx="2628900" cy="2809800"/>
          </a:xfrm>
        </p:grpSpPr>
        <p:sp>
          <p:nvSpPr>
            <p:cNvPr id="1151" name="Google Shape;1151;p41"/>
            <p:cNvSpPr/>
            <p:nvPr/>
          </p:nvSpPr>
          <p:spPr>
            <a:xfrm>
              <a:off x="3257550" y="1381125"/>
              <a:ext cx="2628900" cy="2809800"/>
            </a:xfrm>
            <a:prstGeom prst="roundRect">
              <a:avLst>
                <a:gd fmla="val 2898"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2" name="Google Shape;1152;p41"/>
            <p:cNvSpPr/>
            <p:nvPr/>
          </p:nvSpPr>
          <p:spPr>
            <a:xfrm>
              <a:off x="3257550" y="1381125"/>
              <a:ext cx="26289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53" name="Google Shape;1153;p41"/>
            <p:cNvGrpSpPr/>
            <p:nvPr/>
          </p:nvGrpSpPr>
          <p:grpSpPr>
            <a:xfrm>
              <a:off x="3448050" y="1571625"/>
              <a:ext cx="342900" cy="369189"/>
              <a:chOff x="0" y="0"/>
              <a:chExt cx="342900" cy="369189"/>
            </a:xfrm>
          </p:grpSpPr>
          <p:sp>
            <p:nvSpPr>
              <p:cNvPr id="1154" name="Google Shape;1154;p41"/>
              <p:cNvSpPr/>
              <p:nvPr/>
            </p:nvSpPr>
            <p:spPr>
              <a:xfrm>
                <a:off x="0" y="0"/>
                <a:ext cx="342900" cy="342900"/>
              </a:xfrm>
              <a:prstGeom prst="roundRect">
                <a:avLst>
                  <a:gd fmla="val 22222" name="adj"/>
                </a:avLst>
              </a:prstGeom>
              <a:solidFill>
                <a:srgbClr val="F0B429">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5" name="Google Shape;1155;p41"/>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F0B429"/>
                    </a:solidFill>
                    <a:latin typeface="Material Icons"/>
                    <a:ea typeface="Material Icons"/>
                    <a:cs typeface="Material Icons"/>
                    <a:sym typeface="Material Icons"/>
                  </a:rPr>
                  <a:t>memory</a:t>
                </a:r>
                <a:endParaRPr sz="1800">
                  <a:solidFill>
                    <a:srgbClr val="F0B429"/>
                  </a:solidFill>
                  <a:latin typeface="Material Icons"/>
                  <a:ea typeface="Material Icons"/>
                  <a:cs typeface="Material Icons"/>
                  <a:sym typeface="Material Icons"/>
                </a:endParaRPr>
              </a:p>
            </p:txBody>
          </p:sp>
        </p:grpSp>
        <p:sp>
          <p:nvSpPr>
            <p:cNvPr id="1156" name="Google Shape;1156;p41"/>
            <p:cNvSpPr txBox="1"/>
            <p:nvPr/>
          </p:nvSpPr>
          <p:spPr>
            <a:xfrm>
              <a:off x="3448050" y="2047875"/>
              <a:ext cx="2247900" cy="20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94A3B8"/>
                  </a:solidFill>
                  <a:latin typeface="Carlito"/>
                  <a:ea typeface="Carlito"/>
                  <a:cs typeface="Carlito"/>
                  <a:sym typeface="Carlito"/>
                </a:rPr>
                <a:t>OPTIMIZATION 02</a:t>
              </a:r>
              <a:endParaRPr b="1" sz="850">
                <a:solidFill>
                  <a:srgbClr val="94A3B8"/>
                </a:solidFill>
                <a:latin typeface="Carlito"/>
                <a:ea typeface="Carlito"/>
                <a:cs typeface="Carlito"/>
                <a:sym typeface="Carlito"/>
              </a:endParaRPr>
            </a:p>
            <a:p>
              <a:pPr indent="0" lvl="0" marL="0" rtl="0" algn="l">
                <a:spcBef>
                  <a:spcPts val="450"/>
                </a:spcBef>
                <a:spcAft>
                  <a:spcPts val="0"/>
                </a:spcAft>
                <a:buNone/>
              </a:pPr>
              <a:r>
                <a:rPr b="1" lang="en-US" sz="1300">
                  <a:solidFill>
                    <a:srgbClr val="F5F1E6"/>
                  </a:solidFill>
                  <a:latin typeface="Carlito"/>
                  <a:ea typeface="Carlito"/>
                  <a:cs typeface="Carlito"/>
                  <a:sym typeface="Carlito"/>
                </a:rPr>
                <a:t>Hardware-Specific Execution</a:t>
              </a:r>
              <a:endParaRPr b="1" sz="1300">
                <a:solidFill>
                  <a:srgbClr val="F5F1E6"/>
                </a:solidFill>
                <a:latin typeface="Carlito"/>
                <a:ea typeface="Carlito"/>
                <a:cs typeface="Carlito"/>
                <a:sym typeface="Carlito"/>
              </a:endParaRPr>
            </a:p>
            <a:p>
              <a:pPr indent="0" lvl="0" marL="0" rtl="0" algn="l">
                <a:spcBef>
                  <a:spcPts val="900"/>
                </a:spcBef>
                <a:spcAft>
                  <a:spcPts val="0"/>
                </a:spcAft>
                <a:buNone/>
              </a:pPr>
              <a:r>
                <a:rPr b="1" lang="en-US" sz="950">
                  <a:solidFill>
                    <a:srgbClr val="F0B429"/>
                  </a:solidFill>
                  <a:latin typeface="Courier New"/>
                  <a:ea typeface="Courier New"/>
                  <a:cs typeface="Courier New"/>
                  <a:sym typeface="Courier New"/>
                </a:rPr>
                <a:t>ONNX Runtime</a:t>
              </a:r>
              <a:r>
                <a:rPr b="0" lang="en-US" sz="950">
                  <a:solidFill>
                    <a:srgbClr val="94A3B8"/>
                  </a:solidFill>
                  <a:latin typeface="Carlito"/>
                  <a:ea typeface="Carlito"/>
                  <a:cs typeface="Carlito"/>
                  <a:sym typeface="Carlito"/>
                </a:rPr>
                <a:t> can dispatch operations to hardware-specific accelerators via execution providers — </a:t>
              </a:r>
              <a:r>
                <a:rPr b="1" lang="en-US" sz="950">
                  <a:solidFill>
                    <a:srgbClr val="F0B429"/>
                  </a:solidFill>
                  <a:latin typeface="Courier New"/>
                  <a:ea typeface="Courier New"/>
                  <a:cs typeface="Courier New"/>
                  <a:sym typeface="Courier New"/>
                </a:rPr>
                <a:t>CUDA</a:t>
              </a:r>
              <a:r>
                <a:rPr b="0" lang="en-US" sz="950">
                  <a:solidFill>
                    <a:srgbClr val="94A3B8"/>
                  </a:solidFill>
                  <a:latin typeface="Carlito"/>
                  <a:ea typeface="Carlito"/>
                  <a:cs typeface="Carlito"/>
                  <a:sym typeface="Carlito"/>
                </a:rPr>
                <a:t>, </a:t>
              </a:r>
              <a:r>
                <a:rPr b="1" lang="en-US" sz="950">
                  <a:solidFill>
                    <a:srgbClr val="F0B429"/>
                  </a:solidFill>
                  <a:latin typeface="Courier New"/>
                  <a:ea typeface="Courier New"/>
                  <a:cs typeface="Courier New"/>
                  <a:sym typeface="Courier New"/>
                </a:rPr>
                <a:t>TensorRT</a:t>
              </a:r>
              <a:r>
                <a:rPr b="0" lang="en-US" sz="950">
                  <a:solidFill>
                    <a:srgbClr val="94A3B8"/>
                  </a:solidFill>
                  <a:latin typeface="Carlito"/>
                  <a:ea typeface="Carlito"/>
                  <a:cs typeface="Carlito"/>
                  <a:sym typeface="Carlito"/>
                </a:rPr>
                <a:t>, </a:t>
              </a:r>
              <a:r>
                <a:rPr b="1" lang="en-US" sz="950">
                  <a:solidFill>
                    <a:srgbClr val="F0B429"/>
                  </a:solidFill>
                  <a:latin typeface="Courier New"/>
                  <a:ea typeface="Courier New"/>
                  <a:cs typeface="Courier New"/>
                  <a:sym typeface="Courier New"/>
                </a:rPr>
                <a:t>OpenVINO</a:t>
              </a:r>
              <a:r>
                <a:rPr b="0" lang="en-US" sz="950">
                  <a:solidFill>
                    <a:srgbClr val="94A3B8"/>
                  </a:solidFill>
                  <a:latin typeface="Carlito"/>
                  <a:ea typeface="Carlito"/>
                  <a:cs typeface="Carlito"/>
                  <a:sym typeface="Carlito"/>
                </a:rPr>
                <a:t>, </a:t>
              </a:r>
              <a:r>
                <a:rPr b="1" lang="en-US" sz="950">
                  <a:solidFill>
                    <a:srgbClr val="F0B429"/>
                  </a:solidFill>
                  <a:latin typeface="Courier New"/>
                  <a:ea typeface="Courier New"/>
                  <a:cs typeface="Courier New"/>
                  <a:sym typeface="Courier New"/>
                </a:rPr>
                <a:t>CoreML</a:t>
              </a:r>
              <a:r>
                <a:rPr b="0" lang="en-US" sz="950">
                  <a:solidFill>
                    <a:srgbClr val="94A3B8"/>
                  </a:solidFill>
                  <a:latin typeface="Carlito"/>
                  <a:ea typeface="Carlito"/>
                  <a:cs typeface="Carlito"/>
                  <a:sym typeface="Carlito"/>
                </a:rPr>
                <a:t>, and others — picking the fastest path.</a:t>
              </a:r>
              <a:endParaRPr b="0" sz="950">
                <a:solidFill>
                  <a:srgbClr val="94A3B8"/>
                </a:solidFill>
                <a:latin typeface="Carlito"/>
                <a:ea typeface="Carlito"/>
                <a:cs typeface="Carlito"/>
                <a:sym typeface="Carlito"/>
              </a:endParaRPr>
            </a:p>
          </p:txBody>
        </p:sp>
      </p:grpSp>
      <p:grpSp>
        <p:nvGrpSpPr>
          <p:cNvPr id="1157" name="Google Shape;1157;p41"/>
          <p:cNvGrpSpPr/>
          <p:nvPr/>
        </p:nvGrpSpPr>
        <p:grpSpPr>
          <a:xfrm>
            <a:off x="6057900" y="1381125"/>
            <a:ext cx="2628900" cy="2809800"/>
            <a:chOff x="6057900" y="1381125"/>
            <a:chExt cx="2628900" cy="2809800"/>
          </a:xfrm>
        </p:grpSpPr>
        <p:sp>
          <p:nvSpPr>
            <p:cNvPr id="1158" name="Google Shape;1158;p41"/>
            <p:cNvSpPr/>
            <p:nvPr/>
          </p:nvSpPr>
          <p:spPr>
            <a:xfrm>
              <a:off x="6057900" y="1381125"/>
              <a:ext cx="2628900" cy="2809800"/>
            </a:xfrm>
            <a:prstGeom prst="roundRect">
              <a:avLst>
                <a:gd fmla="val 2898"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9" name="Google Shape;1159;p41"/>
            <p:cNvSpPr/>
            <p:nvPr/>
          </p:nvSpPr>
          <p:spPr>
            <a:xfrm>
              <a:off x="6057900" y="1381125"/>
              <a:ext cx="26289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60" name="Google Shape;1160;p41"/>
            <p:cNvGrpSpPr/>
            <p:nvPr/>
          </p:nvGrpSpPr>
          <p:grpSpPr>
            <a:xfrm>
              <a:off x="6248400" y="1571625"/>
              <a:ext cx="342900" cy="369189"/>
              <a:chOff x="0" y="0"/>
              <a:chExt cx="342900" cy="369189"/>
            </a:xfrm>
          </p:grpSpPr>
          <p:sp>
            <p:nvSpPr>
              <p:cNvPr id="1161" name="Google Shape;1161;p41"/>
              <p:cNvSpPr/>
              <p:nvPr/>
            </p:nvSpPr>
            <p:spPr>
              <a:xfrm>
                <a:off x="0" y="0"/>
                <a:ext cx="342900" cy="342900"/>
              </a:xfrm>
              <a:prstGeom prst="roundRect">
                <a:avLst>
                  <a:gd fmla="val 22222" name="adj"/>
                </a:avLst>
              </a:prstGeom>
              <a:solidFill>
                <a:srgbClr val="F0B429">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2" name="Google Shape;1162;p41"/>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F0B429"/>
                    </a:solidFill>
                    <a:latin typeface="Material Icons"/>
                    <a:ea typeface="Material Icons"/>
                    <a:cs typeface="Material Icons"/>
                    <a:sym typeface="Material Icons"/>
                  </a:rPr>
                  <a:t>layers</a:t>
                </a:r>
                <a:endParaRPr sz="1800">
                  <a:solidFill>
                    <a:srgbClr val="F0B429"/>
                  </a:solidFill>
                  <a:latin typeface="Material Icons"/>
                  <a:ea typeface="Material Icons"/>
                  <a:cs typeface="Material Icons"/>
                  <a:sym typeface="Material Icons"/>
                </a:endParaRPr>
              </a:p>
            </p:txBody>
          </p:sp>
        </p:grpSp>
        <p:sp>
          <p:nvSpPr>
            <p:cNvPr id="1163" name="Google Shape;1163;p41"/>
            <p:cNvSpPr txBox="1"/>
            <p:nvPr/>
          </p:nvSpPr>
          <p:spPr>
            <a:xfrm>
              <a:off x="6248400" y="2047875"/>
              <a:ext cx="2247900" cy="20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94A3B8"/>
                  </a:solidFill>
                  <a:latin typeface="Carlito"/>
                  <a:ea typeface="Carlito"/>
                  <a:cs typeface="Carlito"/>
                  <a:sym typeface="Carlito"/>
                </a:rPr>
                <a:t>OPTIMIZATION 03</a:t>
              </a:r>
              <a:endParaRPr b="1" sz="850">
                <a:solidFill>
                  <a:srgbClr val="94A3B8"/>
                </a:solidFill>
                <a:latin typeface="Carlito"/>
                <a:ea typeface="Carlito"/>
                <a:cs typeface="Carlito"/>
                <a:sym typeface="Carlito"/>
              </a:endParaRPr>
            </a:p>
            <a:p>
              <a:pPr indent="0" lvl="0" marL="0" rtl="0" algn="l">
                <a:spcBef>
                  <a:spcPts val="450"/>
                </a:spcBef>
                <a:spcAft>
                  <a:spcPts val="0"/>
                </a:spcAft>
                <a:buNone/>
              </a:pPr>
              <a:r>
                <a:rPr b="1" lang="en-US" sz="1300">
                  <a:solidFill>
                    <a:srgbClr val="F5F1E6"/>
                  </a:solidFill>
                  <a:latin typeface="Carlito"/>
                  <a:ea typeface="Carlito"/>
                  <a:cs typeface="Carlito"/>
                  <a:sym typeface="Carlito"/>
                </a:rPr>
                <a:t>Combines With Quantization</a:t>
              </a:r>
              <a:endParaRPr b="1" sz="1300">
                <a:solidFill>
                  <a:srgbClr val="F5F1E6"/>
                </a:solidFill>
                <a:latin typeface="Carlito"/>
                <a:ea typeface="Carlito"/>
                <a:cs typeface="Carlito"/>
                <a:sym typeface="Carlito"/>
              </a:endParaRPr>
            </a:p>
            <a:p>
              <a:pPr indent="0" lvl="0" marL="0" rtl="0" algn="l">
                <a:spcBef>
                  <a:spcPts val="900"/>
                </a:spcBef>
                <a:spcAft>
                  <a:spcPts val="0"/>
                </a:spcAft>
                <a:buNone/>
              </a:pPr>
              <a:r>
                <a:rPr b="1" lang="en-US" sz="950">
                  <a:solidFill>
                    <a:srgbClr val="F0B429"/>
                  </a:solidFill>
                  <a:latin typeface="Courier New"/>
                  <a:ea typeface="Courier New"/>
                  <a:cs typeface="Courier New"/>
                  <a:sym typeface="Courier New"/>
                </a:rPr>
                <a:t>ONNX</a:t>
              </a:r>
              <a:r>
                <a:rPr b="0" lang="en-US" sz="950">
                  <a:solidFill>
                    <a:srgbClr val="94A3B8"/>
                  </a:solidFill>
                  <a:latin typeface="Carlito"/>
                  <a:ea typeface="Carlito"/>
                  <a:cs typeface="Carlito"/>
                  <a:sym typeface="Carlito"/>
                </a:rPr>
                <a:t> models can themselves be quantized, stacking graph optimization and reduced-precision inference. Size, speed, and portability gains compose multiplicatively.</a:t>
              </a:r>
              <a:endParaRPr b="0" sz="950">
                <a:solidFill>
                  <a:srgbClr val="94A3B8"/>
                </a:solidFill>
                <a:latin typeface="Carlito"/>
                <a:ea typeface="Carlito"/>
                <a:cs typeface="Carlito"/>
                <a:sym typeface="Carlito"/>
              </a:endParaRPr>
            </a:p>
          </p:txBody>
        </p:sp>
      </p:grpSp>
      <p:grpSp>
        <p:nvGrpSpPr>
          <p:cNvPr id="1164" name="Google Shape;1164;p41"/>
          <p:cNvGrpSpPr/>
          <p:nvPr/>
        </p:nvGrpSpPr>
        <p:grpSpPr>
          <a:xfrm>
            <a:off x="442913" y="4329113"/>
            <a:ext cx="8248725" cy="466800"/>
            <a:chOff x="442913" y="4329113"/>
            <a:chExt cx="8248725" cy="466800"/>
          </a:xfrm>
        </p:grpSpPr>
        <p:pic>
          <p:nvPicPr>
            <p:cNvPr id="1165" name="Google Shape;1165;p41"/>
            <p:cNvPicPr preferRelativeResize="0"/>
            <p:nvPr/>
          </p:nvPicPr>
          <p:blipFill rotWithShape="1">
            <a:blip r:embed="rId3">
              <a:alphaModFix/>
            </a:blip>
            <a:srcRect b="0" l="0" r="0" t="0"/>
            <a:stretch/>
          </p:blipFill>
          <p:spPr>
            <a:xfrm>
              <a:off x="452438" y="4338638"/>
              <a:ext cx="8239200" cy="447600"/>
            </a:xfrm>
            <a:prstGeom prst="rect">
              <a:avLst/>
            </a:prstGeom>
            <a:noFill/>
            <a:ln>
              <a:noFill/>
            </a:ln>
          </p:spPr>
        </p:pic>
        <p:pic>
          <p:nvPicPr>
            <p:cNvPr id="1166" name="Google Shape;1166;p41"/>
            <p:cNvPicPr preferRelativeResize="0"/>
            <p:nvPr/>
          </p:nvPicPr>
          <p:blipFill rotWithShape="1">
            <a:blip r:embed="rId4">
              <a:alphaModFix/>
            </a:blip>
            <a:srcRect b="0" l="0" r="0" t="0"/>
            <a:stretch/>
          </p:blipFill>
          <p:spPr>
            <a:xfrm>
              <a:off x="442913" y="4329113"/>
              <a:ext cx="28500" cy="466800"/>
            </a:xfrm>
            <a:prstGeom prst="rect">
              <a:avLst/>
            </a:prstGeom>
            <a:noFill/>
            <a:ln>
              <a:noFill/>
            </a:ln>
          </p:spPr>
        </p:pic>
        <p:grpSp>
          <p:nvGrpSpPr>
            <p:cNvPr id="1167" name="Google Shape;1167;p41"/>
            <p:cNvGrpSpPr/>
            <p:nvPr/>
          </p:nvGrpSpPr>
          <p:grpSpPr>
            <a:xfrm>
              <a:off x="609600" y="4457700"/>
              <a:ext cx="971700" cy="209700"/>
              <a:chOff x="0" y="0"/>
              <a:chExt cx="971700" cy="209700"/>
            </a:xfrm>
          </p:grpSpPr>
          <p:sp>
            <p:nvSpPr>
              <p:cNvPr id="1168" name="Google Shape;1168;p41"/>
              <p:cNvSpPr/>
              <p:nvPr/>
            </p:nvSpPr>
            <p:spPr>
              <a:xfrm>
                <a:off x="0" y="0"/>
                <a:ext cx="971700" cy="209700"/>
              </a:xfrm>
              <a:prstGeom prst="roundRect">
                <a:avLst>
                  <a:gd fmla="val 50000" name="adj"/>
                </a:avLst>
              </a:prstGeom>
              <a:solidFill>
                <a:srgbClr val="10B981">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9" name="Google Shape;1169;p41"/>
              <p:cNvSpPr txBox="1"/>
              <p:nvPr/>
            </p:nvSpPr>
            <p:spPr>
              <a:xfrm>
                <a:off x="0" y="0"/>
                <a:ext cx="9717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4ADE80"/>
                    </a:solidFill>
                    <a:latin typeface="Carlito"/>
                    <a:ea typeface="Carlito"/>
                    <a:cs typeface="Carlito"/>
                    <a:sym typeface="Carlito"/>
                  </a:rPr>
                  <a:t>✓ VERIFIED LIVE</a:t>
                </a:r>
                <a:endParaRPr b="1" sz="750">
                  <a:solidFill>
                    <a:srgbClr val="4ADE80"/>
                  </a:solidFill>
                  <a:latin typeface="Carlito"/>
                  <a:ea typeface="Carlito"/>
                  <a:cs typeface="Carlito"/>
                  <a:sym typeface="Carlito"/>
                </a:endParaRPr>
              </a:p>
            </p:txBody>
          </p:sp>
        </p:grpSp>
        <p:sp>
          <p:nvSpPr>
            <p:cNvPr id="1170" name="Google Shape;1170;p41"/>
            <p:cNvSpPr txBox="1"/>
            <p:nvPr/>
          </p:nvSpPr>
          <p:spPr>
            <a:xfrm>
              <a:off x="1733550" y="4343400"/>
              <a:ext cx="68010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950">
                  <a:solidFill>
                    <a:srgbClr val="F5F1E6"/>
                  </a:solidFill>
                  <a:latin typeface="Carlito"/>
                  <a:ea typeface="Carlito"/>
                  <a:cs typeface="Carlito"/>
                  <a:sym typeface="Carlito"/>
                </a:rPr>
                <a:t>In today’s live demo — </a:t>
              </a:r>
              <a:r>
                <a:rPr b="1" lang="en-US" sz="950">
                  <a:solidFill>
                    <a:srgbClr val="F0B429"/>
                  </a:solidFill>
                  <a:latin typeface="Courier New"/>
                  <a:ea typeface="Courier New"/>
                  <a:cs typeface="Courier New"/>
                  <a:sym typeface="Courier New"/>
                </a:rPr>
                <a:t>ONNX Runtime</a:t>
              </a:r>
              <a:r>
                <a:rPr lang="en-US" sz="950">
                  <a:solidFill>
                    <a:srgbClr val="F5F1E6"/>
                  </a:solidFill>
                  <a:latin typeface="Carlito"/>
                  <a:ea typeface="Carlito"/>
                  <a:cs typeface="Carlito"/>
                  <a:sym typeface="Carlito"/>
                </a:rPr>
                <a:t> was the fastest option tested, faster than </a:t>
              </a:r>
              <a:r>
                <a:rPr b="1" lang="en-US" sz="950">
                  <a:solidFill>
                    <a:srgbClr val="F0B429"/>
                  </a:solidFill>
                  <a:latin typeface="Courier New"/>
                  <a:ea typeface="Courier New"/>
                  <a:cs typeface="Courier New"/>
                  <a:sym typeface="Courier New"/>
                </a:rPr>
                <a:t>FP32 PyTorch</a:t>
              </a:r>
              <a:r>
                <a:rPr lang="en-US" sz="950">
                  <a:solidFill>
                    <a:srgbClr val="F5F1E6"/>
                  </a:solidFill>
                  <a:latin typeface="Carlito"/>
                  <a:ea typeface="Carlito"/>
                  <a:cs typeface="Carlito"/>
                  <a:sym typeface="Carlito"/>
                </a:rPr>
                <a:t> and faster than </a:t>
              </a:r>
              <a:r>
                <a:rPr b="1" lang="en-US" sz="950">
                  <a:solidFill>
                    <a:srgbClr val="F0B429"/>
                  </a:solidFill>
                  <a:latin typeface="Courier New"/>
                  <a:ea typeface="Courier New"/>
                  <a:cs typeface="Courier New"/>
                  <a:sym typeface="Courier New"/>
                </a:rPr>
                <a:t>INT8</a:t>
              </a:r>
              <a:r>
                <a:rPr lang="en-US" sz="950">
                  <a:solidFill>
                    <a:srgbClr val="F5F1E6"/>
                  </a:solidFill>
                  <a:latin typeface="Carlito"/>
                  <a:ea typeface="Carlito"/>
                  <a:cs typeface="Carlito"/>
                  <a:sym typeface="Carlito"/>
                </a:rPr>
                <a:t> quantized.</a:t>
              </a:r>
              <a:endParaRPr sz="950">
                <a:solidFill>
                  <a:srgbClr val="F5F1E6"/>
                </a:solidFill>
                <a:latin typeface="Carlito"/>
                <a:ea typeface="Carlito"/>
                <a:cs typeface="Carlito"/>
                <a:sym typeface="Carlito"/>
              </a:endParaRPr>
            </a:p>
          </p:txBody>
        </p:sp>
      </p:grpSp>
      <p:sp>
        <p:nvSpPr>
          <p:cNvPr id="1171" name="Google Shape;1171;p41"/>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172" name="Google Shape;1172;p41"/>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39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177" name="Shape 1177"/>
        <p:cNvGrpSpPr/>
        <p:nvPr/>
      </p:nvGrpSpPr>
      <p:grpSpPr>
        <a:xfrm>
          <a:off x="0" y="0"/>
          <a:ext cx="0" cy="0"/>
          <a:chOff x="0" y="0"/>
          <a:chExt cx="0" cy="0"/>
        </a:xfrm>
      </p:grpSpPr>
      <p:sp>
        <p:nvSpPr>
          <p:cNvPr id="1178" name="Google Shape;1178;p42"/>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Carlito"/>
              <a:buNone/>
            </a:pPr>
            <a:r>
              <a:rPr b="0" i="0" lang="en-US" sz="800" u="none" cap="none" strike="noStrike">
                <a:solidFill>
                  <a:srgbClr val="F0B429"/>
                </a:solidFill>
                <a:latin typeface="Carlito"/>
                <a:ea typeface="Carlito"/>
                <a:cs typeface="Carlito"/>
                <a:sym typeface="Carlito"/>
              </a:rPr>
              <a:t>PART 06 · MODEL EXPORT &amp; ONNX · ANTICIPATED Q&amp;A</a:t>
            </a:r>
            <a:endParaRPr b="0" i="0" sz="800" u="none" cap="none" strike="noStrike">
              <a:solidFill>
                <a:schemeClr val="dk1"/>
              </a:solidFill>
              <a:latin typeface="Calibri"/>
              <a:ea typeface="Calibri"/>
              <a:cs typeface="Calibri"/>
              <a:sym typeface="Calibri"/>
            </a:endParaRPr>
          </a:p>
        </p:txBody>
      </p:sp>
      <p:sp>
        <p:nvSpPr>
          <p:cNvPr id="1179" name="Google Shape;1179;p42"/>
          <p:cNvSpPr/>
          <p:nvPr/>
        </p:nvSpPr>
        <p:spPr>
          <a:xfrm>
            <a:off x="457200" y="603647"/>
            <a:ext cx="8636100" cy="277800"/>
          </a:xfrm>
          <a:prstGeom prst="rect">
            <a:avLst/>
          </a:prstGeom>
          <a:noFill/>
          <a:ln>
            <a:noFill/>
          </a:ln>
        </p:spPr>
        <p:txBody>
          <a:bodyPr anchorCtr="0" anchor="t" bIns="0" lIns="0" spcFirstLastPara="1" rIns="0" wrap="square" tIns="0">
            <a:noAutofit/>
          </a:bodyPr>
          <a:lstStyle/>
          <a:p>
            <a:pPr indent="0" lvl="0" marL="0" marR="0" rtl="0" algn="l">
              <a:lnSpc>
                <a:spcPct val="120035"/>
              </a:lnSpc>
              <a:spcBef>
                <a:spcPts val="0"/>
              </a:spcBef>
              <a:spcAft>
                <a:spcPts val="0"/>
              </a:spcAft>
              <a:buClr>
                <a:srgbClr val="F5F1E6"/>
              </a:buClr>
              <a:buSzPts val="1687"/>
              <a:buFont typeface="Carlito"/>
              <a:buNone/>
            </a:pPr>
            <a:r>
              <a:rPr b="0" i="0" lang="en-US" sz="1688" u="none" cap="none" strike="noStrike">
                <a:solidFill>
                  <a:srgbClr val="F5F1E6"/>
                </a:solidFill>
                <a:latin typeface="Carlito"/>
                <a:ea typeface="Carlito"/>
                <a:cs typeface="Carlito"/>
                <a:sym typeface="Carlito"/>
              </a:rPr>
              <a:t>Likely Faculty Question</a:t>
            </a:r>
            <a:endParaRPr b="0" i="0" sz="1688" u="none" cap="none" strike="noStrike">
              <a:solidFill>
                <a:schemeClr val="dk1"/>
              </a:solidFill>
              <a:latin typeface="Calibri"/>
              <a:ea typeface="Calibri"/>
              <a:cs typeface="Calibri"/>
              <a:sym typeface="Calibri"/>
            </a:endParaRPr>
          </a:p>
        </p:txBody>
      </p:sp>
      <p:grpSp>
        <p:nvGrpSpPr>
          <p:cNvPr id="1180" name="Google Shape;1180;p42"/>
          <p:cNvGrpSpPr/>
          <p:nvPr/>
        </p:nvGrpSpPr>
        <p:grpSpPr>
          <a:xfrm>
            <a:off x="457200" y="1000125"/>
            <a:ext cx="8229600" cy="3581550"/>
            <a:chOff x="457200" y="1000125"/>
            <a:chExt cx="8229600" cy="3581550"/>
          </a:xfrm>
        </p:grpSpPr>
        <p:sp>
          <p:nvSpPr>
            <p:cNvPr id="1181" name="Google Shape;1181;p42"/>
            <p:cNvSpPr/>
            <p:nvPr/>
          </p:nvSpPr>
          <p:spPr>
            <a:xfrm>
              <a:off x="457200" y="1000125"/>
              <a:ext cx="8229600" cy="705000"/>
            </a:xfrm>
            <a:prstGeom prst="roundRect">
              <a:avLst>
                <a:gd fmla="val 10810"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2" name="Google Shape;1182;p42"/>
            <p:cNvSpPr/>
            <p:nvPr/>
          </p:nvSpPr>
          <p:spPr>
            <a:xfrm>
              <a:off x="457200" y="1000125"/>
              <a:ext cx="38100" cy="7050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3" name="Google Shape;1183;p42"/>
            <p:cNvSpPr txBox="1"/>
            <p:nvPr/>
          </p:nvSpPr>
          <p:spPr>
            <a:xfrm>
              <a:off x="647700" y="1076325"/>
              <a:ext cx="7848600" cy="55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F0B429"/>
                  </a:solidFill>
                  <a:latin typeface="Carlito"/>
                  <a:ea typeface="Carlito"/>
                  <a:cs typeface="Carlito"/>
                  <a:sym typeface="Carlito"/>
                </a:rPr>
                <a:t>FACULTY QUESTION</a:t>
              </a:r>
              <a:endParaRPr b="1" sz="800">
                <a:solidFill>
                  <a:srgbClr val="F0B429"/>
                </a:solidFill>
                <a:latin typeface="Carlito"/>
                <a:ea typeface="Carlito"/>
                <a:cs typeface="Carlito"/>
                <a:sym typeface="Carlito"/>
              </a:endParaRPr>
            </a:p>
            <a:p>
              <a:pPr indent="0" lvl="0" marL="0" rtl="0" algn="l">
                <a:spcBef>
                  <a:spcPts val="300"/>
                </a:spcBef>
                <a:spcAft>
                  <a:spcPts val="0"/>
                </a:spcAft>
                <a:buNone/>
              </a:pPr>
              <a:r>
                <a:rPr b="0" lang="en-US" sz="1250">
                  <a:solidFill>
                    <a:srgbClr val="F5F1E6"/>
                  </a:solidFill>
                  <a:latin typeface="Carlito"/>
                  <a:ea typeface="Carlito"/>
                  <a:cs typeface="Carlito"/>
                  <a:sym typeface="Carlito"/>
                </a:rPr>
                <a:t>If a model already runs fine in </a:t>
              </a:r>
              <a:r>
                <a:rPr b="1" lang="en-US" sz="1250">
                  <a:solidFill>
                    <a:srgbClr val="F0B429"/>
                  </a:solidFill>
                  <a:latin typeface="Courier New"/>
                  <a:ea typeface="Courier New"/>
                  <a:cs typeface="Courier New"/>
                  <a:sym typeface="Courier New"/>
                </a:rPr>
                <a:t>PyTorch</a:t>
              </a:r>
              <a:r>
                <a:rPr b="0" lang="en-US" sz="1250">
                  <a:solidFill>
                    <a:srgbClr val="F5F1E6"/>
                  </a:solidFill>
                  <a:latin typeface="Carlito"/>
                  <a:ea typeface="Carlito"/>
                  <a:cs typeface="Carlito"/>
                  <a:sym typeface="Carlito"/>
                </a:rPr>
                <a:t>, what’s the concrete benefit of exporting to </a:t>
              </a:r>
              <a:r>
                <a:rPr b="1" lang="en-US" sz="1250">
                  <a:solidFill>
                    <a:srgbClr val="F0B429"/>
                  </a:solidFill>
                  <a:latin typeface="Courier New"/>
                  <a:ea typeface="Courier New"/>
                  <a:cs typeface="Courier New"/>
                  <a:sym typeface="Courier New"/>
                </a:rPr>
                <a:t>ONNX</a:t>
              </a:r>
              <a:r>
                <a:rPr b="0" lang="en-US" sz="1250">
                  <a:solidFill>
                    <a:srgbClr val="F5F1E6"/>
                  </a:solidFill>
                  <a:latin typeface="Carlito"/>
                  <a:ea typeface="Carlito"/>
                  <a:cs typeface="Carlito"/>
                  <a:sym typeface="Carlito"/>
                </a:rPr>
                <a:t>?</a:t>
              </a:r>
              <a:endParaRPr b="0" sz="1250">
                <a:solidFill>
                  <a:srgbClr val="F5F1E6"/>
                </a:solidFill>
                <a:latin typeface="Carlito"/>
                <a:ea typeface="Carlito"/>
                <a:cs typeface="Carlito"/>
                <a:sym typeface="Carlito"/>
              </a:endParaRPr>
            </a:p>
          </p:txBody>
        </p:sp>
        <p:sp>
          <p:nvSpPr>
            <p:cNvPr id="1184" name="Google Shape;1184;p42"/>
            <p:cNvSpPr/>
            <p:nvPr/>
          </p:nvSpPr>
          <p:spPr>
            <a:xfrm>
              <a:off x="457200" y="1857375"/>
              <a:ext cx="2628900" cy="2133600"/>
            </a:xfrm>
            <a:prstGeom prst="roundRect">
              <a:avLst>
                <a:gd fmla="val 357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5" name="Google Shape;1185;p42"/>
            <p:cNvSpPr/>
            <p:nvPr/>
          </p:nvSpPr>
          <p:spPr>
            <a:xfrm>
              <a:off x="457200" y="1857375"/>
              <a:ext cx="26289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6" name="Google Shape;1186;p42"/>
            <p:cNvSpPr txBox="1"/>
            <p:nvPr/>
          </p:nvSpPr>
          <p:spPr>
            <a:xfrm>
              <a:off x="647700" y="2009775"/>
              <a:ext cx="2247900" cy="18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94A3B8"/>
                  </a:solidFill>
                  <a:latin typeface="Carlito"/>
                  <a:ea typeface="Carlito"/>
                  <a:cs typeface="Carlito"/>
                  <a:sym typeface="Carlito"/>
                </a:rPr>
                <a:t>BENEFIT 01</a:t>
              </a:r>
              <a:endParaRPr b="1" sz="850">
                <a:solidFill>
                  <a:srgbClr val="94A3B8"/>
                </a:solidFill>
                <a:latin typeface="Carlito"/>
                <a:ea typeface="Carlito"/>
                <a:cs typeface="Carlito"/>
                <a:sym typeface="Carlito"/>
              </a:endParaRPr>
            </a:p>
            <a:p>
              <a:pPr indent="0" lvl="0" marL="0" rtl="0" algn="l">
                <a:spcBef>
                  <a:spcPts val="600"/>
                </a:spcBef>
                <a:spcAft>
                  <a:spcPts val="0"/>
                </a:spcAft>
                <a:buNone/>
              </a:pPr>
              <a:r>
                <a:rPr b="1" lang="en-US" sz="1400">
                  <a:solidFill>
                    <a:srgbClr val="F5F1E6"/>
                  </a:solidFill>
                  <a:latin typeface="Carlito"/>
                  <a:ea typeface="Carlito"/>
                  <a:cs typeface="Carlito"/>
                  <a:sym typeface="Carlito"/>
                </a:rPr>
                <a:t>Portability</a:t>
              </a:r>
              <a:endParaRPr b="1" sz="1400">
                <a:solidFill>
                  <a:srgbClr val="F5F1E6"/>
                </a:solidFill>
                <a:latin typeface="Carlito"/>
                <a:ea typeface="Carlito"/>
                <a:cs typeface="Carlito"/>
                <a:sym typeface="Carlito"/>
              </a:endParaRPr>
            </a:p>
            <a:p>
              <a:pPr indent="0" lvl="0" marL="0" rtl="0" algn="l">
                <a:spcBef>
                  <a:spcPts val="900"/>
                </a:spcBef>
                <a:spcAft>
                  <a:spcPts val="0"/>
                </a:spcAft>
                <a:buNone/>
              </a:pPr>
              <a:r>
                <a:rPr b="0" lang="en-US" sz="950">
                  <a:solidFill>
                    <a:srgbClr val="94A3B8"/>
                  </a:solidFill>
                  <a:latin typeface="Carlito"/>
                  <a:ea typeface="Carlito"/>
                  <a:cs typeface="Carlito"/>
                  <a:sym typeface="Carlito"/>
                </a:rPr>
                <a:t>Runs without </a:t>
              </a:r>
              <a:r>
                <a:rPr b="1" lang="en-US" sz="950">
                  <a:solidFill>
                    <a:srgbClr val="F0B429"/>
                  </a:solidFill>
                  <a:latin typeface="Courier New"/>
                  <a:ea typeface="Courier New"/>
                  <a:cs typeface="Courier New"/>
                  <a:sym typeface="Courier New"/>
                </a:rPr>
                <a:t>PyTorch</a:t>
              </a:r>
              <a:r>
                <a:rPr b="0" lang="en-US" sz="950">
                  <a:solidFill>
                    <a:srgbClr val="94A3B8"/>
                  </a:solidFill>
                  <a:latin typeface="Carlito"/>
                  <a:ea typeface="Carlito"/>
                  <a:cs typeface="Carlito"/>
                  <a:sym typeface="Carlito"/>
                </a:rPr>
                <a:t> installed, enabling cross-platform integration in other languages via native bindings.</a:t>
              </a:r>
              <a:endParaRPr b="0" sz="950">
                <a:solidFill>
                  <a:srgbClr val="94A3B8"/>
                </a:solidFill>
                <a:latin typeface="Carlito"/>
                <a:ea typeface="Carlito"/>
                <a:cs typeface="Carlito"/>
                <a:sym typeface="Carlito"/>
              </a:endParaRPr>
            </a:p>
          </p:txBody>
        </p:sp>
        <p:sp>
          <p:nvSpPr>
            <p:cNvPr id="1187" name="Google Shape;1187;p42"/>
            <p:cNvSpPr/>
            <p:nvPr/>
          </p:nvSpPr>
          <p:spPr>
            <a:xfrm>
              <a:off x="3257550" y="1857375"/>
              <a:ext cx="2628900" cy="2133600"/>
            </a:xfrm>
            <a:prstGeom prst="roundRect">
              <a:avLst>
                <a:gd fmla="val 357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8" name="Google Shape;1188;p42"/>
            <p:cNvSpPr/>
            <p:nvPr/>
          </p:nvSpPr>
          <p:spPr>
            <a:xfrm>
              <a:off x="3257550" y="1857375"/>
              <a:ext cx="26289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9" name="Google Shape;1189;p42"/>
            <p:cNvSpPr txBox="1"/>
            <p:nvPr/>
          </p:nvSpPr>
          <p:spPr>
            <a:xfrm>
              <a:off x="3448050" y="2009775"/>
              <a:ext cx="2247900" cy="18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94A3B8"/>
                  </a:solidFill>
                  <a:latin typeface="Carlito"/>
                  <a:ea typeface="Carlito"/>
                  <a:cs typeface="Carlito"/>
                  <a:sym typeface="Carlito"/>
                </a:rPr>
                <a:t>BENEFIT 02</a:t>
              </a:r>
              <a:endParaRPr b="1" sz="850">
                <a:solidFill>
                  <a:srgbClr val="94A3B8"/>
                </a:solidFill>
                <a:latin typeface="Carlito"/>
                <a:ea typeface="Carlito"/>
                <a:cs typeface="Carlito"/>
                <a:sym typeface="Carlito"/>
              </a:endParaRPr>
            </a:p>
            <a:p>
              <a:pPr indent="0" lvl="0" marL="0" rtl="0" algn="l">
                <a:spcBef>
                  <a:spcPts val="600"/>
                </a:spcBef>
                <a:spcAft>
                  <a:spcPts val="0"/>
                </a:spcAft>
                <a:buNone/>
              </a:pPr>
              <a:r>
                <a:rPr b="1" lang="en-US" sz="1400">
                  <a:solidFill>
                    <a:srgbClr val="F5F1E6"/>
                  </a:solidFill>
                  <a:latin typeface="Carlito"/>
                  <a:ea typeface="Carlito"/>
                  <a:cs typeface="Carlito"/>
                  <a:sym typeface="Carlito"/>
                </a:rPr>
                <a:t>Inference Speed</a:t>
              </a:r>
              <a:endParaRPr b="1" sz="1400">
                <a:solidFill>
                  <a:srgbClr val="F5F1E6"/>
                </a:solidFill>
                <a:latin typeface="Carlito"/>
                <a:ea typeface="Carlito"/>
                <a:cs typeface="Carlito"/>
                <a:sym typeface="Carlito"/>
              </a:endParaRPr>
            </a:p>
            <a:p>
              <a:pPr indent="0" lvl="0" marL="0" rtl="0" algn="l">
                <a:spcBef>
                  <a:spcPts val="900"/>
                </a:spcBef>
                <a:spcAft>
                  <a:spcPts val="0"/>
                </a:spcAft>
                <a:buNone/>
              </a:pPr>
              <a:r>
                <a:rPr b="1" lang="en-US" sz="950">
                  <a:solidFill>
                    <a:srgbClr val="F0B429"/>
                  </a:solidFill>
                  <a:latin typeface="Courier New"/>
                  <a:ea typeface="Courier New"/>
                  <a:cs typeface="Courier New"/>
                  <a:sym typeface="Courier New"/>
                </a:rPr>
                <a:t>ONNX Runtime</a:t>
              </a:r>
              <a:r>
                <a:rPr b="0" lang="en-US" sz="950">
                  <a:solidFill>
                    <a:srgbClr val="94A3B8"/>
                  </a:solidFill>
                  <a:latin typeface="Carlito"/>
                  <a:ea typeface="Carlito"/>
                  <a:cs typeface="Carlito"/>
                  <a:sym typeface="Carlito"/>
                </a:rPr>
                <a:t>’s graph optimizations frequently outperform native framework inference, with zero retraining required.</a:t>
              </a:r>
              <a:endParaRPr b="0" sz="950">
                <a:solidFill>
                  <a:srgbClr val="94A3B8"/>
                </a:solidFill>
                <a:latin typeface="Carlito"/>
                <a:ea typeface="Carlito"/>
                <a:cs typeface="Carlito"/>
                <a:sym typeface="Carlito"/>
              </a:endParaRPr>
            </a:p>
          </p:txBody>
        </p:sp>
        <p:sp>
          <p:nvSpPr>
            <p:cNvPr id="1190" name="Google Shape;1190;p42"/>
            <p:cNvSpPr/>
            <p:nvPr/>
          </p:nvSpPr>
          <p:spPr>
            <a:xfrm>
              <a:off x="6057900" y="1857375"/>
              <a:ext cx="2628900" cy="2133600"/>
            </a:xfrm>
            <a:prstGeom prst="roundRect">
              <a:avLst>
                <a:gd fmla="val 357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1" name="Google Shape;1191;p42"/>
            <p:cNvSpPr/>
            <p:nvPr/>
          </p:nvSpPr>
          <p:spPr>
            <a:xfrm>
              <a:off x="6057900" y="1857375"/>
              <a:ext cx="26289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2" name="Google Shape;1192;p42"/>
            <p:cNvSpPr txBox="1"/>
            <p:nvPr/>
          </p:nvSpPr>
          <p:spPr>
            <a:xfrm>
              <a:off x="6248400" y="2009775"/>
              <a:ext cx="2247900" cy="18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94A3B8"/>
                  </a:solidFill>
                  <a:latin typeface="Carlito"/>
                  <a:ea typeface="Carlito"/>
                  <a:cs typeface="Carlito"/>
                  <a:sym typeface="Carlito"/>
                </a:rPr>
                <a:t>BENEFIT 03</a:t>
              </a:r>
              <a:endParaRPr b="1" sz="850">
                <a:solidFill>
                  <a:srgbClr val="94A3B8"/>
                </a:solidFill>
                <a:latin typeface="Carlito"/>
                <a:ea typeface="Carlito"/>
                <a:cs typeface="Carlito"/>
                <a:sym typeface="Carlito"/>
              </a:endParaRPr>
            </a:p>
            <a:p>
              <a:pPr indent="0" lvl="0" marL="0" rtl="0" algn="l">
                <a:spcBef>
                  <a:spcPts val="600"/>
                </a:spcBef>
                <a:spcAft>
                  <a:spcPts val="0"/>
                </a:spcAft>
                <a:buNone/>
              </a:pPr>
              <a:r>
                <a:rPr b="1" lang="en-US" sz="1400">
                  <a:solidFill>
                    <a:srgbClr val="F5F1E6"/>
                  </a:solidFill>
                  <a:latin typeface="Carlito"/>
                  <a:ea typeface="Carlito"/>
                  <a:cs typeface="Carlito"/>
                  <a:sym typeface="Carlito"/>
                </a:rPr>
                <a:t>Standard Interface</a:t>
              </a:r>
              <a:endParaRPr b="1" sz="1400">
                <a:solidFill>
                  <a:srgbClr val="F5F1E6"/>
                </a:solidFill>
                <a:latin typeface="Carlito"/>
                <a:ea typeface="Carlito"/>
                <a:cs typeface="Carlito"/>
                <a:sym typeface="Carlito"/>
              </a:endParaRPr>
            </a:p>
            <a:p>
              <a:pPr indent="0" lvl="0" marL="0" rtl="0" algn="l">
                <a:spcBef>
                  <a:spcPts val="900"/>
                </a:spcBef>
                <a:spcAft>
                  <a:spcPts val="0"/>
                </a:spcAft>
                <a:buNone/>
              </a:pPr>
              <a:r>
                <a:rPr b="0" lang="en-US" sz="950">
                  <a:solidFill>
                    <a:srgbClr val="94A3B8"/>
                  </a:solidFill>
                  <a:latin typeface="Carlito"/>
                  <a:ea typeface="Carlito"/>
                  <a:cs typeface="Carlito"/>
                  <a:sym typeface="Carlito"/>
                </a:rPr>
                <a:t>The same </a:t>
              </a:r>
              <a:r>
                <a:rPr b="1" lang="en-US" sz="950">
                  <a:solidFill>
                    <a:srgbClr val="F0B429"/>
                  </a:solidFill>
                  <a:latin typeface="Courier New"/>
                  <a:ea typeface="Courier New"/>
                  <a:cs typeface="Courier New"/>
                  <a:sym typeface="Courier New"/>
                </a:rPr>
                <a:t>.onnx</a:t>
              </a:r>
              <a:r>
                <a:rPr b="0" lang="en-US" sz="950">
                  <a:solidFill>
                    <a:srgbClr val="94A3B8"/>
                  </a:solidFill>
                  <a:latin typeface="Carlito"/>
                  <a:ea typeface="Carlito"/>
                  <a:cs typeface="Carlito"/>
                  <a:sym typeface="Carlito"/>
                </a:rPr>
                <a:t> file can target very different hardware backends through various execution providers.</a:t>
              </a:r>
              <a:endParaRPr b="0" sz="950">
                <a:solidFill>
                  <a:srgbClr val="94A3B8"/>
                </a:solidFill>
                <a:latin typeface="Carlito"/>
                <a:ea typeface="Carlito"/>
                <a:cs typeface="Carlito"/>
                <a:sym typeface="Carlito"/>
              </a:endParaRPr>
            </a:p>
          </p:txBody>
        </p:sp>
        <p:sp>
          <p:nvSpPr>
            <p:cNvPr id="1193" name="Google Shape;1193;p42"/>
            <p:cNvSpPr/>
            <p:nvPr/>
          </p:nvSpPr>
          <p:spPr>
            <a:xfrm>
              <a:off x="457200" y="4143375"/>
              <a:ext cx="8229600" cy="438300"/>
            </a:xfrm>
            <a:prstGeom prst="roundRect">
              <a:avLst>
                <a:gd fmla="val 1739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4" name="Google Shape;1194;p42"/>
            <p:cNvSpPr/>
            <p:nvPr/>
          </p:nvSpPr>
          <p:spPr>
            <a:xfrm>
              <a:off x="457200" y="4143375"/>
              <a:ext cx="38100" cy="4383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5" name="Google Shape;1195;p42"/>
            <p:cNvSpPr/>
            <p:nvPr/>
          </p:nvSpPr>
          <p:spPr>
            <a:xfrm>
              <a:off x="609600" y="4257675"/>
              <a:ext cx="971700" cy="209700"/>
            </a:xfrm>
            <a:prstGeom prst="roundRect">
              <a:avLst>
                <a:gd fmla="val 50000" name="adj"/>
              </a:avLst>
            </a:prstGeom>
            <a:solidFill>
              <a:srgbClr val="10B981">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6" name="Google Shape;1196;p42"/>
            <p:cNvSpPr txBox="1"/>
            <p:nvPr/>
          </p:nvSpPr>
          <p:spPr>
            <a:xfrm>
              <a:off x="609600" y="4257675"/>
              <a:ext cx="9717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4ADE80"/>
                  </a:solidFill>
                  <a:latin typeface="Carlito"/>
                  <a:ea typeface="Carlito"/>
                  <a:cs typeface="Carlito"/>
                  <a:sym typeface="Carlito"/>
                </a:rPr>
                <a:t>✓ VERIFIED LIVE</a:t>
              </a:r>
              <a:endParaRPr b="1" sz="750">
                <a:solidFill>
                  <a:srgbClr val="4ADE80"/>
                </a:solidFill>
                <a:latin typeface="Carlito"/>
                <a:ea typeface="Carlito"/>
                <a:cs typeface="Carlito"/>
                <a:sym typeface="Carlito"/>
              </a:endParaRPr>
            </a:p>
          </p:txBody>
        </p:sp>
        <p:sp>
          <p:nvSpPr>
            <p:cNvPr id="1197" name="Google Shape;1197;p42"/>
            <p:cNvSpPr txBox="1"/>
            <p:nvPr/>
          </p:nvSpPr>
          <p:spPr>
            <a:xfrm>
              <a:off x="1733550" y="4143375"/>
              <a:ext cx="68010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F5F1E6"/>
                  </a:solidFill>
                  <a:latin typeface="Carlito"/>
                  <a:ea typeface="Carlito"/>
                  <a:cs typeface="Carlito"/>
                  <a:sym typeface="Carlito"/>
                </a:rPr>
                <a:t>Benefit #2 is verified live in Part Eight — </a:t>
              </a:r>
              <a:r>
                <a:rPr b="1" lang="en-US" sz="950">
                  <a:solidFill>
                    <a:srgbClr val="F0B429"/>
                  </a:solidFill>
                  <a:latin typeface="Courier New"/>
                  <a:ea typeface="Courier New"/>
                  <a:cs typeface="Courier New"/>
                  <a:sym typeface="Courier New"/>
                </a:rPr>
                <a:t>ONNX Runtime</a:t>
              </a:r>
              <a:r>
                <a:rPr b="0" lang="en-US" sz="950">
                  <a:solidFill>
                    <a:srgbClr val="F5F1E6"/>
                  </a:solidFill>
                  <a:latin typeface="Carlito"/>
                  <a:ea typeface="Carlito"/>
                  <a:cs typeface="Carlito"/>
                  <a:sym typeface="Carlito"/>
                </a:rPr>
                <a:t> beats both </a:t>
              </a:r>
              <a:r>
                <a:rPr b="1" lang="en-US" sz="950">
                  <a:solidFill>
                    <a:srgbClr val="F0B429"/>
                  </a:solidFill>
                  <a:latin typeface="Courier New"/>
                  <a:ea typeface="Courier New"/>
                  <a:cs typeface="Courier New"/>
                  <a:sym typeface="Courier New"/>
                </a:rPr>
                <a:t>FP32</a:t>
              </a:r>
              <a:r>
                <a:rPr b="0" lang="en-US" sz="950">
                  <a:solidFill>
                    <a:srgbClr val="F5F1E6"/>
                  </a:solidFill>
                  <a:latin typeface="Carlito"/>
                  <a:ea typeface="Carlito"/>
                  <a:cs typeface="Carlito"/>
                  <a:sym typeface="Carlito"/>
                </a:rPr>
                <a:t> and </a:t>
              </a:r>
              <a:r>
                <a:rPr b="1" lang="en-US" sz="950">
                  <a:solidFill>
                    <a:srgbClr val="F0B429"/>
                  </a:solidFill>
                  <a:latin typeface="Courier New"/>
                  <a:ea typeface="Courier New"/>
                  <a:cs typeface="Courier New"/>
                  <a:sym typeface="Courier New"/>
                </a:rPr>
                <a:t>INT8</a:t>
              </a:r>
              <a:r>
                <a:rPr b="0" lang="en-US" sz="950">
                  <a:solidFill>
                    <a:srgbClr val="F5F1E6"/>
                  </a:solidFill>
                  <a:latin typeface="Carlito"/>
                  <a:ea typeface="Carlito"/>
                  <a:cs typeface="Carlito"/>
                  <a:sym typeface="Carlito"/>
                </a:rPr>
                <a:t> on inference speed.</a:t>
              </a:r>
              <a:endParaRPr b="0" sz="950">
                <a:solidFill>
                  <a:srgbClr val="F5F1E6"/>
                </a:solidFill>
                <a:latin typeface="Carlito"/>
                <a:ea typeface="Carlito"/>
                <a:cs typeface="Carlito"/>
                <a:sym typeface="Carlito"/>
              </a:endParaRPr>
            </a:p>
          </p:txBody>
        </p:sp>
      </p:grpSp>
      <p:sp>
        <p:nvSpPr>
          <p:cNvPr id="1198" name="Google Shape;1198;p42"/>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199" name="Google Shape;1199;p42"/>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40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204" name="Shape 1204"/>
        <p:cNvGrpSpPr/>
        <p:nvPr/>
      </p:nvGrpSpPr>
      <p:grpSpPr>
        <a:xfrm>
          <a:off x="0" y="0"/>
          <a:ext cx="0" cy="0"/>
          <a:chOff x="0" y="0"/>
          <a:chExt cx="0" cy="0"/>
        </a:xfrm>
      </p:grpSpPr>
      <p:sp>
        <p:nvSpPr>
          <p:cNvPr id="1205" name="Google Shape;1205;p43"/>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06 · MODEL EXPORT &amp; ONNX</a:t>
            </a:r>
            <a:endParaRPr b="0" i="0" sz="800" u="none" cap="none" strike="noStrike">
              <a:solidFill>
                <a:schemeClr val="dk1"/>
              </a:solidFill>
              <a:latin typeface="Calibri"/>
              <a:ea typeface="Calibri"/>
              <a:cs typeface="Calibri"/>
              <a:sym typeface="Calibri"/>
            </a:endParaRPr>
          </a:p>
        </p:txBody>
      </p:sp>
      <p:sp>
        <p:nvSpPr>
          <p:cNvPr id="1206" name="Google Shape;1206;p43"/>
          <p:cNvSpPr/>
          <p:nvPr/>
        </p:nvSpPr>
        <p:spPr>
          <a:xfrm>
            <a:off x="457200" y="603647"/>
            <a:ext cx="8636100" cy="259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5F1E6"/>
              </a:buClr>
              <a:buSzPts val="1575"/>
              <a:buFont typeface="Carlito"/>
              <a:buNone/>
            </a:pPr>
            <a:r>
              <a:rPr b="1" i="0" lang="en-US" sz="1575" u="none" cap="none" strike="noStrike">
                <a:solidFill>
                  <a:srgbClr val="F5F1E6"/>
                </a:solidFill>
                <a:latin typeface="Carlito"/>
                <a:ea typeface="Carlito"/>
                <a:cs typeface="Carlito"/>
                <a:sym typeface="Carlito"/>
              </a:rPr>
              <a:t>Important Clarification: ONNX Export Does Not Shrink a Model by Itself</a:t>
            </a:r>
            <a:endParaRPr b="0" i="0" sz="1575" u="none" cap="none" strike="noStrike">
              <a:solidFill>
                <a:schemeClr val="dk1"/>
              </a:solidFill>
              <a:latin typeface="Calibri"/>
              <a:ea typeface="Calibri"/>
              <a:cs typeface="Calibri"/>
              <a:sym typeface="Calibri"/>
            </a:endParaRPr>
          </a:p>
        </p:txBody>
      </p:sp>
      <p:grpSp>
        <p:nvGrpSpPr>
          <p:cNvPr id="1207" name="Google Shape;1207;p43"/>
          <p:cNvGrpSpPr/>
          <p:nvPr/>
        </p:nvGrpSpPr>
        <p:grpSpPr>
          <a:xfrm>
            <a:off x="452438" y="1042988"/>
            <a:ext cx="8239200" cy="3257625"/>
            <a:chOff x="452438" y="1042988"/>
            <a:chExt cx="8239200" cy="3257625"/>
          </a:xfrm>
        </p:grpSpPr>
        <p:pic>
          <p:nvPicPr>
            <p:cNvPr id="1208" name="Google Shape;1208;p43"/>
            <p:cNvPicPr preferRelativeResize="0"/>
            <p:nvPr/>
          </p:nvPicPr>
          <p:blipFill rotWithShape="1">
            <a:blip r:embed="rId3">
              <a:alphaModFix/>
            </a:blip>
            <a:srcRect b="0" l="0" r="0" t="0"/>
            <a:stretch/>
          </p:blipFill>
          <p:spPr>
            <a:xfrm>
              <a:off x="452438" y="1042988"/>
              <a:ext cx="3972000" cy="1104900"/>
            </a:xfrm>
            <a:prstGeom prst="rect">
              <a:avLst/>
            </a:prstGeom>
            <a:noFill/>
            <a:ln>
              <a:noFill/>
            </a:ln>
          </p:spPr>
        </p:pic>
        <p:grpSp>
          <p:nvGrpSpPr>
            <p:cNvPr id="1209" name="Google Shape;1209;p43"/>
            <p:cNvGrpSpPr/>
            <p:nvPr/>
          </p:nvGrpSpPr>
          <p:grpSpPr>
            <a:xfrm>
              <a:off x="609600" y="1162050"/>
              <a:ext cx="1333500" cy="190500"/>
              <a:chOff x="609600" y="1162050"/>
              <a:chExt cx="1333500" cy="190500"/>
            </a:xfrm>
          </p:grpSpPr>
          <p:sp>
            <p:nvSpPr>
              <p:cNvPr id="1210" name="Google Shape;1210;p43"/>
              <p:cNvSpPr/>
              <p:nvPr/>
            </p:nvSpPr>
            <p:spPr>
              <a:xfrm>
                <a:off x="609600" y="1162050"/>
                <a:ext cx="1333500" cy="190500"/>
              </a:xfrm>
              <a:prstGeom prst="roundRect">
                <a:avLst>
                  <a:gd fmla="val 15000" name="adj"/>
                </a:avLst>
              </a:prstGeom>
              <a:solidFill>
                <a:srgbClr val="EF4444">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1" name="Google Shape;1211;p43"/>
              <p:cNvSpPr txBox="1"/>
              <p:nvPr/>
            </p:nvSpPr>
            <p:spPr>
              <a:xfrm>
                <a:off x="609600" y="1162050"/>
                <a:ext cx="1333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EF4444"/>
                    </a:solidFill>
                    <a:latin typeface="Carlito"/>
                    <a:ea typeface="Carlito"/>
                    <a:cs typeface="Carlito"/>
                    <a:sym typeface="Carlito"/>
                  </a:rPr>
                  <a:t>✕ COMMON MISCONCEPTION</a:t>
                </a:r>
                <a:endParaRPr b="1" sz="750">
                  <a:solidFill>
                    <a:srgbClr val="EF4444"/>
                  </a:solidFill>
                  <a:latin typeface="Carlito"/>
                  <a:ea typeface="Carlito"/>
                  <a:cs typeface="Carlito"/>
                  <a:sym typeface="Carlito"/>
                </a:endParaRPr>
              </a:p>
            </p:txBody>
          </p:sp>
        </p:grpSp>
        <p:sp>
          <p:nvSpPr>
            <p:cNvPr id="1212" name="Google Shape;1212;p43"/>
            <p:cNvSpPr txBox="1"/>
            <p:nvPr/>
          </p:nvSpPr>
          <p:spPr>
            <a:xfrm>
              <a:off x="609600" y="1447800"/>
              <a:ext cx="36576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000" strike="sngStrike">
                  <a:solidFill>
                    <a:srgbClr val="94A3B8"/>
                  </a:solidFill>
                  <a:latin typeface="Carlito"/>
                  <a:ea typeface="Carlito"/>
                  <a:cs typeface="Carlito"/>
                  <a:sym typeface="Carlito"/>
                </a:rPr>
                <a:t>Exporting to </a:t>
              </a:r>
              <a:r>
                <a:rPr b="1" lang="en-US" sz="1000" strike="sngStrike">
                  <a:solidFill>
                    <a:srgbClr val="F0B429"/>
                  </a:solidFill>
                  <a:latin typeface="Courier New"/>
                  <a:ea typeface="Courier New"/>
                  <a:cs typeface="Courier New"/>
                  <a:sym typeface="Courier New"/>
                </a:rPr>
                <a:t>ONNX</a:t>
              </a:r>
              <a:r>
                <a:rPr lang="en-US" sz="1000" strike="sngStrike">
                  <a:solidFill>
                    <a:srgbClr val="94A3B8"/>
                  </a:solidFill>
                  <a:latin typeface="Carlito"/>
                  <a:ea typeface="Carlito"/>
                  <a:cs typeface="Carlito"/>
                  <a:sym typeface="Carlito"/>
                </a:rPr>
                <a:t> reduces model size the way quantization does.</a:t>
              </a:r>
              <a:endParaRPr sz="1000" strike="sngStrike">
                <a:solidFill>
                  <a:srgbClr val="94A3B8"/>
                </a:solidFill>
                <a:latin typeface="Carlito"/>
                <a:ea typeface="Carlito"/>
                <a:cs typeface="Carlito"/>
                <a:sym typeface="Carlito"/>
              </a:endParaRPr>
            </a:p>
          </p:txBody>
        </p:sp>
        <p:pic>
          <p:nvPicPr>
            <p:cNvPr id="1213" name="Google Shape;1213;p43"/>
            <p:cNvPicPr preferRelativeResize="0"/>
            <p:nvPr/>
          </p:nvPicPr>
          <p:blipFill rotWithShape="1">
            <a:blip r:embed="rId4">
              <a:alphaModFix/>
            </a:blip>
            <a:srcRect b="0" l="0" r="0" t="0"/>
            <a:stretch/>
          </p:blipFill>
          <p:spPr>
            <a:xfrm>
              <a:off x="4719638" y="1042988"/>
              <a:ext cx="3972000" cy="1104900"/>
            </a:xfrm>
            <a:prstGeom prst="rect">
              <a:avLst/>
            </a:prstGeom>
            <a:noFill/>
            <a:ln>
              <a:noFill/>
            </a:ln>
          </p:spPr>
        </p:pic>
        <p:grpSp>
          <p:nvGrpSpPr>
            <p:cNvPr id="1214" name="Google Shape;1214;p43"/>
            <p:cNvGrpSpPr/>
            <p:nvPr/>
          </p:nvGrpSpPr>
          <p:grpSpPr>
            <a:xfrm>
              <a:off x="4876800" y="1162050"/>
              <a:ext cx="762000" cy="190500"/>
              <a:chOff x="4876800" y="1162050"/>
              <a:chExt cx="762000" cy="190500"/>
            </a:xfrm>
          </p:grpSpPr>
          <p:sp>
            <p:nvSpPr>
              <p:cNvPr id="1215" name="Google Shape;1215;p43"/>
              <p:cNvSpPr/>
              <p:nvPr/>
            </p:nvSpPr>
            <p:spPr>
              <a:xfrm>
                <a:off x="4876800" y="1162050"/>
                <a:ext cx="762000" cy="190500"/>
              </a:xfrm>
              <a:prstGeom prst="roundRect">
                <a:avLst>
                  <a:gd fmla="val 15000" name="adj"/>
                </a:avLst>
              </a:prstGeom>
              <a:solidFill>
                <a:srgbClr val="10B981">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6" name="Google Shape;1216;p43"/>
              <p:cNvSpPr txBox="1"/>
              <p:nvPr/>
            </p:nvSpPr>
            <p:spPr>
              <a:xfrm>
                <a:off x="4876800" y="1162050"/>
                <a:ext cx="762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10B981"/>
                    </a:solidFill>
                    <a:latin typeface="Carlito"/>
                    <a:ea typeface="Carlito"/>
                    <a:cs typeface="Carlito"/>
                    <a:sym typeface="Carlito"/>
                  </a:rPr>
                  <a:t>✓ REALITY</a:t>
                </a:r>
                <a:endParaRPr b="1" sz="750">
                  <a:solidFill>
                    <a:srgbClr val="10B981"/>
                  </a:solidFill>
                  <a:latin typeface="Carlito"/>
                  <a:ea typeface="Carlito"/>
                  <a:cs typeface="Carlito"/>
                  <a:sym typeface="Carlito"/>
                </a:endParaRPr>
              </a:p>
            </p:txBody>
          </p:sp>
        </p:grpSp>
        <p:sp>
          <p:nvSpPr>
            <p:cNvPr id="1217" name="Google Shape;1217;p43"/>
            <p:cNvSpPr txBox="1"/>
            <p:nvPr/>
          </p:nvSpPr>
          <p:spPr>
            <a:xfrm>
              <a:off x="4876800" y="1447800"/>
              <a:ext cx="36576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ourier New"/>
                  <a:ea typeface="Courier New"/>
                  <a:cs typeface="Courier New"/>
                  <a:sym typeface="Courier New"/>
                </a:rPr>
                <a:t>ONNX</a:t>
              </a:r>
              <a:r>
                <a:rPr lang="en-US" sz="1000">
                  <a:solidFill>
                    <a:srgbClr val="F5F1E6"/>
                  </a:solidFill>
                  <a:latin typeface="Carlito"/>
                  <a:ea typeface="Carlito"/>
                  <a:cs typeface="Carlito"/>
                  <a:sym typeface="Carlito"/>
                </a:rPr>
                <a:t> changes execution format &amp; runtime, not numeric precision or parameter count. Size stays identical to original </a:t>
              </a:r>
              <a:r>
                <a:rPr b="1" lang="en-US" sz="1000">
                  <a:solidFill>
                    <a:srgbClr val="F0B429"/>
                  </a:solidFill>
                  <a:latin typeface="Courier New"/>
                  <a:ea typeface="Courier New"/>
                  <a:cs typeface="Courier New"/>
                  <a:sym typeface="Courier New"/>
                </a:rPr>
                <a:t>FP32</a:t>
              </a:r>
              <a:r>
                <a:rPr lang="en-US" sz="1000">
                  <a:solidFill>
                    <a:srgbClr val="F5F1E6"/>
                  </a:solidFill>
                  <a:latin typeface="Carlito"/>
                  <a:ea typeface="Carlito"/>
                  <a:cs typeface="Carlito"/>
                  <a:sym typeface="Carlito"/>
                </a:rPr>
                <a:t> PyTorch model.</a:t>
              </a:r>
              <a:endParaRPr sz="1000">
                <a:solidFill>
                  <a:srgbClr val="F5F1E6"/>
                </a:solidFill>
                <a:latin typeface="Carlito"/>
                <a:ea typeface="Carlito"/>
                <a:cs typeface="Carlito"/>
                <a:sym typeface="Carlito"/>
              </a:endParaRPr>
            </a:p>
          </p:txBody>
        </p:sp>
        <p:sp>
          <p:nvSpPr>
            <p:cNvPr id="1218" name="Google Shape;1218;p43"/>
            <p:cNvSpPr/>
            <p:nvPr/>
          </p:nvSpPr>
          <p:spPr>
            <a:xfrm>
              <a:off x="457200" y="2333625"/>
              <a:ext cx="3962400" cy="1000200"/>
            </a:xfrm>
            <a:prstGeom prst="roundRect">
              <a:avLst>
                <a:gd fmla="val 5714"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9" name="Google Shape;1219;p43"/>
            <p:cNvSpPr txBox="1"/>
            <p:nvPr/>
          </p:nvSpPr>
          <p:spPr>
            <a:xfrm>
              <a:off x="609600" y="2428875"/>
              <a:ext cx="36576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EXPORTED ONNX MODEL</a:t>
              </a:r>
              <a:endParaRPr b="1" sz="800">
                <a:solidFill>
                  <a:srgbClr val="94A3B8"/>
                </a:solidFill>
                <a:latin typeface="Carlito"/>
                <a:ea typeface="Carlito"/>
                <a:cs typeface="Carlito"/>
                <a:sym typeface="Carlito"/>
              </a:endParaRPr>
            </a:p>
            <a:p>
              <a:pPr indent="0" lvl="0" marL="0" rtl="0" algn="l">
                <a:spcBef>
                  <a:spcPts val="150"/>
                </a:spcBef>
                <a:spcAft>
                  <a:spcPts val="0"/>
                </a:spcAft>
                <a:buNone/>
              </a:pPr>
              <a:r>
                <a:rPr b="1" lang="en-US" sz="2400">
                  <a:solidFill>
                    <a:srgbClr val="F0B429"/>
                  </a:solidFill>
                  <a:latin typeface="Arial"/>
                  <a:ea typeface="Arial"/>
                  <a:cs typeface="Arial"/>
                  <a:sym typeface="Arial"/>
                </a:rPr>
                <a:t>475 MB</a:t>
              </a:r>
              <a:endParaRPr b="1" sz="2400">
                <a:solidFill>
                  <a:srgbClr val="F0B429"/>
                </a:solidFill>
                <a:latin typeface="Arial"/>
                <a:ea typeface="Arial"/>
                <a:cs typeface="Arial"/>
                <a:sym typeface="Arial"/>
              </a:endParaRPr>
            </a:p>
            <a:p>
              <a:pPr indent="0" lvl="0" marL="0" rtl="0" algn="l">
                <a:spcBef>
                  <a:spcPts val="150"/>
                </a:spcBef>
                <a:spcAft>
                  <a:spcPts val="0"/>
                </a:spcAft>
                <a:buNone/>
              </a:pPr>
              <a:r>
                <a:rPr lang="en-US" sz="800">
                  <a:solidFill>
                    <a:srgbClr val="94A3B8"/>
                  </a:solidFill>
                  <a:latin typeface="Carlito"/>
                  <a:ea typeface="Carlito"/>
                  <a:cs typeface="Carlito"/>
                  <a:sym typeface="Carlito"/>
                </a:rPr>
                <a:t>Exported </a:t>
              </a:r>
              <a:r>
                <a:rPr b="1" lang="en-US" sz="800">
                  <a:solidFill>
                    <a:srgbClr val="F0B429"/>
                  </a:solidFill>
                  <a:latin typeface="Courier New"/>
                  <a:ea typeface="Courier New"/>
                  <a:cs typeface="Courier New"/>
                  <a:sym typeface="Courier New"/>
                </a:rPr>
                <a:t>ONNX</a:t>
              </a:r>
              <a:r>
                <a:rPr lang="en-US" sz="800">
                  <a:solidFill>
                    <a:srgbClr val="94A3B8"/>
                  </a:solidFill>
                  <a:latin typeface="Carlito"/>
                  <a:ea typeface="Carlito"/>
                  <a:cs typeface="Carlito"/>
                  <a:sym typeface="Carlito"/>
                </a:rPr>
                <a:t> model size (today’s live demo)</a:t>
              </a:r>
              <a:endParaRPr sz="800">
                <a:solidFill>
                  <a:srgbClr val="94A3B8"/>
                </a:solidFill>
                <a:latin typeface="Carlito"/>
                <a:ea typeface="Carlito"/>
                <a:cs typeface="Carlito"/>
                <a:sym typeface="Carlito"/>
              </a:endParaRPr>
            </a:p>
          </p:txBody>
        </p:sp>
        <p:sp>
          <p:nvSpPr>
            <p:cNvPr id="1220" name="Google Shape;1220;p43"/>
            <p:cNvSpPr/>
            <p:nvPr/>
          </p:nvSpPr>
          <p:spPr>
            <a:xfrm>
              <a:off x="4724400" y="2333625"/>
              <a:ext cx="3962400" cy="1000200"/>
            </a:xfrm>
            <a:prstGeom prst="roundRect">
              <a:avLst>
                <a:gd fmla="val 5714"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1" name="Google Shape;1221;p43"/>
            <p:cNvSpPr txBox="1"/>
            <p:nvPr/>
          </p:nvSpPr>
          <p:spPr>
            <a:xfrm>
              <a:off x="4876800" y="2428875"/>
              <a:ext cx="36576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ORIGINAL PYTORCH MODEL</a:t>
              </a:r>
              <a:endParaRPr b="1" sz="800">
                <a:solidFill>
                  <a:srgbClr val="94A3B8"/>
                </a:solidFill>
                <a:latin typeface="Carlito"/>
                <a:ea typeface="Carlito"/>
                <a:cs typeface="Carlito"/>
                <a:sym typeface="Carlito"/>
              </a:endParaRPr>
            </a:p>
            <a:p>
              <a:pPr indent="0" lvl="0" marL="0" rtl="0" algn="l">
                <a:spcBef>
                  <a:spcPts val="150"/>
                </a:spcBef>
                <a:spcAft>
                  <a:spcPts val="0"/>
                </a:spcAft>
                <a:buNone/>
              </a:pPr>
              <a:r>
                <a:rPr b="1" lang="en-US" sz="2400">
                  <a:solidFill>
                    <a:srgbClr val="F0B429"/>
                  </a:solidFill>
                  <a:latin typeface="Arial"/>
                  <a:ea typeface="Arial"/>
                  <a:cs typeface="Arial"/>
                  <a:sym typeface="Arial"/>
                </a:rPr>
                <a:t>474.7 MB</a:t>
              </a:r>
              <a:endParaRPr b="1" sz="2400">
                <a:solidFill>
                  <a:srgbClr val="F0B429"/>
                </a:solidFill>
                <a:latin typeface="Arial"/>
                <a:ea typeface="Arial"/>
                <a:cs typeface="Arial"/>
                <a:sym typeface="Arial"/>
              </a:endParaRPr>
            </a:p>
            <a:p>
              <a:pPr indent="0" lvl="0" marL="0" rtl="0" algn="l">
                <a:spcBef>
                  <a:spcPts val="150"/>
                </a:spcBef>
                <a:spcAft>
                  <a:spcPts val="0"/>
                </a:spcAft>
                <a:buNone/>
              </a:pPr>
              <a:r>
                <a:rPr lang="en-US" sz="800">
                  <a:solidFill>
                    <a:srgbClr val="94A3B8"/>
                  </a:solidFill>
                  <a:latin typeface="Carlito"/>
                  <a:ea typeface="Carlito"/>
                  <a:cs typeface="Carlito"/>
                  <a:sym typeface="Carlito"/>
                </a:rPr>
                <a:t>Original </a:t>
              </a:r>
              <a:r>
                <a:rPr b="1" lang="en-US" sz="800">
                  <a:solidFill>
                    <a:srgbClr val="F0B429"/>
                  </a:solidFill>
                  <a:latin typeface="Courier New"/>
                  <a:ea typeface="Courier New"/>
                  <a:cs typeface="Courier New"/>
                  <a:sym typeface="Courier New"/>
                </a:rPr>
                <a:t>FP32</a:t>
              </a:r>
              <a:r>
                <a:rPr lang="en-US" sz="800">
                  <a:solidFill>
                    <a:srgbClr val="94A3B8"/>
                  </a:solidFill>
                  <a:latin typeface="Carlito"/>
                  <a:ea typeface="Carlito"/>
                  <a:cs typeface="Carlito"/>
                  <a:sym typeface="Carlito"/>
                </a:rPr>
                <a:t> PyTorch model size (today’s live demo)</a:t>
              </a:r>
              <a:endParaRPr sz="800">
                <a:solidFill>
                  <a:srgbClr val="94A3B8"/>
                </a:solidFill>
                <a:latin typeface="Carlito"/>
                <a:ea typeface="Carlito"/>
                <a:cs typeface="Carlito"/>
                <a:sym typeface="Carlito"/>
              </a:endParaRPr>
            </a:p>
          </p:txBody>
        </p:sp>
        <p:sp>
          <p:nvSpPr>
            <p:cNvPr id="1222" name="Google Shape;1222;p43"/>
            <p:cNvSpPr txBox="1"/>
            <p:nvPr/>
          </p:nvSpPr>
          <p:spPr>
            <a:xfrm>
              <a:off x="457200" y="3448050"/>
              <a:ext cx="82296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US" sz="950">
                  <a:solidFill>
                    <a:srgbClr val="94A3B8"/>
                  </a:solidFill>
                  <a:latin typeface="Carlito"/>
                  <a:ea typeface="Carlito"/>
                  <a:cs typeface="Carlito"/>
                  <a:sym typeface="Carlito"/>
                </a:rPr>
                <a:t>Essentially the same size — but the </a:t>
              </a:r>
              <a:r>
                <a:rPr b="1" i="0" lang="en-US" sz="950">
                  <a:solidFill>
                    <a:srgbClr val="F0B429"/>
                  </a:solidFill>
                  <a:latin typeface="Courier New"/>
                  <a:ea typeface="Courier New"/>
                  <a:cs typeface="Courier New"/>
                  <a:sym typeface="Courier New"/>
                </a:rPr>
                <a:t>ONNX</a:t>
              </a:r>
              <a:r>
                <a:rPr i="1" lang="en-US" sz="950">
                  <a:solidFill>
                    <a:srgbClr val="94A3B8"/>
                  </a:solidFill>
                  <a:latin typeface="Carlito"/>
                  <a:ea typeface="Carlito"/>
                  <a:cs typeface="Carlito"/>
                  <a:sym typeface="Carlito"/>
                </a:rPr>
                <a:t> version was the fastest of every version tested.</a:t>
              </a:r>
              <a:endParaRPr i="1" sz="950">
                <a:solidFill>
                  <a:srgbClr val="94A3B8"/>
                </a:solidFill>
                <a:latin typeface="Carlito"/>
                <a:ea typeface="Carlito"/>
                <a:cs typeface="Carlito"/>
                <a:sym typeface="Carlito"/>
              </a:endParaRPr>
            </a:p>
          </p:txBody>
        </p:sp>
        <p:pic>
          <p:nvPicPr>
            <p:cNvPr id="1223" name="Google Shape;1223;p43"/>
            <p:cNvPicPr preferRelativeResize="0"/>
            <p:nvPr/>
          </p:nvPicPr>
          <p:blipFill rotWithShape="1">
            <a:blip r:embed="rId5">
              <a:alphaModFix/>
            </a:blip>
            <a:srcRect b="0" l="0" r="0" t="0"/>
            <a:stretch/>
          </p:blipFill>
          <p:spPr>
            <a:xfrm>
              <a:off x="452438" y="3757613"/>
              <a:ext cx="8239200" cy="543000"/>
            </a:xfrm>
            <a:prstGeom prst="rect">
              <a:avLst/>
            </a:prstGeom>
            <a:noFill/>
            <a:ln>
              <a:noFill/>
            </a:ln>
          </p:spPr>
        </p:pic>
        <p:sp>
          <p:nvSpPr>
            <p:cNvPr id="1224" name="Google Shape;1224;p43"/>
            <p:cNvSpPr/>
            <p:nvPr/>
          </p:nvSpPr>
          <p:spPr>
            <a:xfrm>
              <a:off x="457200" y="3762375"/>
              <a:ext cx="38100" cy="5334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25" name="Google Shape;1225;p43"/>
            <p:cNvGrpSpPr/>
            <p:nvPr/>
          </p:nvGrpSpPr>
          <p:grpSpPr>
            <a:xfrm>
              <a:off x="647700" y="3857625"/>
              <a:ext cx="7886700" cy="342900"/>
              <a:chOff x="647700" y="3857625"/>
              <a:chExt cx="7886700" cy="342900"/>
            </a:xfrm>
          </p:grpSpPr>
          <p:sp>
            <p:nvSpPr>
              <p:cNvPr id="1226" name="Google Shape;1226;p43"/>
              <p:cNvSpPr txBox="1"/>
              <p:nvPr/>
            </p:nvSpPr>
            <p:spPr>
              <a:xfrm>
                <a:off x="647700" y="3857625"/>
                <a:ext cx="1905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00">
                    <a:solidFill>
                      <a:srgbClr val="F0B429"/>
                    </a:solidFill>
                    <a:latin typeface="Quattrocento Sans"/>
                    <a:ea typeface="Quattrocento Sans"/>
                    <a:cs typeface="Quattrocento Sans"/>
                    <a:sym typeface="Quattrocento Sans"/>
                  </a:rPr>
                  <a:t>ⓘ</a:t>
                </a:r>
                <a:endParaRPr sz="1400">
                  <a:solidFill>
                    <a:srgbClr val="F0B429"/>
                  </a:solidFill>
                  <a:latin typeface="Quattrocento Sans"/>
                  <a:ea typeface="Quattrocento Sans"/>
                  <a:cs typeface="Quattrocento Sans"/>
                  <a:sym typeface="Quattrocento Sans"/>
                </a:endParaRPr>
              </a:p>
            </p:txBody>
          </p:sp>
          <p:sp>
            <p:nvSpPr>
              <p:cNvPr id="1227" name="Google Shape;1227;p43"/>
              <p:cNvSpPr txBox="1"/>
              <p:nvPr/>
            </p:nvSpPr>
            <p:spPr>
              <a:xfrm>
                <a:off x="914400" y="3857625"/>
                <a:ext cx="76200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900">
                    <a:solidFill>
                      <a:srgbClr val="F5F1E6"/>
                    </a:solidFill>
                    <a:latin typeface="Carlito"/>
                    <a:ea typeface="Carlito"/>
                    <a:cs typeface="Carlito"/>
                    <a:sym typeface="Carlito"/>
                  </a:rPr>
                  <a:t>Size reduction from </a:t>
                </a:r>
                <a:r>
                  <a:rPr b="1" lang="en-US" sz="900">
                    <a:solidFill>
                      <a:srgbClr val="F0B429"/>
                    </a:solidFill>
                    <a:latin typeface="Courier New"/>
                    <a:ea typeface="Courier New"/>
                    <a:cs typeface="Courier New"/>
                    <a:sym typeface="Courier New"/>
                  </a:rPr>
                  <a:t>ONNX</a:t>
                </a:r>
                <a:r>
                  <a:rPr lang="en-US" sz="900">
                    <a:solidFill>
                      <a:srgbClr val="F5F1E6"/>
                    </a:solidFill>
                    <a:latin typeface="Carlito"/>
                    <a:ea typeface="Carlito"/>
                    <a:cs typeface="Carlito"/>
                    <a:sym typeface="Carlito"/>
                  </a:rPr>
                  <a:t> only comes if you additionally quantize the </a:t>
                </a:r>
                <a:r>
                  <a:rPr b="1" lang="en-US" sz="900">
                    <a:solidFill>
                      <a:srgbClr val="F0B429"/>
                    </a:solidFill>
                    <a:latin typeface="Courier New"/>
                    <a:ea typeface="Courier New"/>
                    <a:cs typeface="Courier New"/>
                    <a:sym typeface="Courier New"/>
                  </a:rPr>
                  <a:t>ONNX</a:t>
                </a:r>
                <a:r>
                  <a:rPr lang="en-US" sz="900">
                    <a:solidFill>
                      <a:srgbClr val="F5F1E6"/>
                    </a:solidFill>
                    <a:latin typeface="Carlito"/>
                    <a:ea typeface="Carlito"/>
                    <a:cs typeface="Carlito"/>
                    <a:sym typeface="Carlito"/>
                  </a:rPr>
                  <a:t> model — a separate, optional step covered in today’s demo.</a:t>
                </a:r>
                <a:endParaRPr sz="900">
                  <a:solidFill>
                    <a:srgbClr val="F5F1E6"/>
                  </a:solidFill>
                  <a:latin typeface="Carlito"/>
                  <a:ea typeface="Carlito"/>
                  <a:cs typeface="Carlito"/>
                  <a:sym typeface="Carlito"/>
                </a:endParaRPr>
              </a:p>
            </p:txBody>
          </p:sp>
        </p:grpSp>
      </p:grpSp>
      <p:sp>
        <p:nvSpPr>
          <p:cNvPr id="1228" name="Google Shape;1228;p43"/>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229" name="Google Shape;1229;p43"/>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41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234" name="Shape 1234"/>
        <p:cNvGrpSpPr/>
        <p:nvPr/>
      </p:nvGrpSpPr>
      <p:grpSpPr>
        <a:xfrm>
          <a:off x="0" y="0"/>
          <a:ext cx="0" cy="0"/>
          <a:chOff x="0" y="0"/>
          <a:chExt cx="0" cy="0"/>
        </a:xfrm>
      </p:grpSpPr>
      <p:sp>
        <p:nvSpPr>
          <p:cNvPr id="1235" name="Google Shape;1235;p44"/>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06 · SECTION SUMMARY</a:t>
            </a:r>
            <a:endParaRPr b="0" i="0" sz="800" u="none" cap="none" strike="noStrike">
              <a:solidFill>
                <a:schemeClr val="dk1"/>
              </a:solidFill>
              <a:latin typeface="Calibri"/>
              <a:ea typeface="Calibri"/>
              <a:cs typeface="Calibri"/>
              <a:sym typeface="Calibri"/>
            </a:endParaRPr>
          </a:p>
        </p:txBody>
      </p:sp>
      <p:sp>
        <p:nvSpPr>
          <p:cNvPr id="1236" name="Google Shape;1236;p44"/>
          <p:cNvSpPr/>
          <p:nvPr/>
        </p:nvSpPr>
        <p:spPr>
          <a:xfrm>
            <a:off x="457200" y="603647"/>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Section Summary: Model Export &amp; ONNX</a:t>
            </a:r>
            <a:endParaRPr b="0" i="0" sz="2250" u="none" cap="none" strike="noStrike">
              <a:solidFill>
                <a:schemeClr val="dk1"/>
              </a:solidFill>
              <a:latin typeface="Calibri"/>
              <a:ea typeface="Calibri"/>
              <a:cs typeface="Calibri"/>
              <a:sym typeface="Calibri"/>
            </a:endParaRPr>
          </a:p>
        </p:txBody>
      </p:sp>
      <p:grpSp>
        <p:nvGrpSpPr>
          <p:cNvPr id="1237" name="Google Shape;1237;p44"/>
          <p:cNvGrpSpPr/>
          <p:nvPr/>
        </p:nvGrpSpPr>
        <p:grpSpPr>
          <a:xfrm>
            <a:off x="457200" y="1066800"/>
            <a:ext cx="8229600" cy="714300"/>
            <a:chOff x="457200" y="1066800"/>
            <a:chExt cx="8229600" cy="714300"/>
          </a:xfrm>
        </p:grpSpPr>
        <p:sp>
          <p:nvSpPr>
            <p:cNvPr id="1238" name="Google Shape;1238;p44"/>
            <p:cNvSpPr/>
            <p:nvPr/>
          </p:nvSpPr>
          <p:spPr>
            <a:xfrm>
              <a:off x="457200" y="1095375"/>
              <a:ext cx="38100" cy="6669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9" name="Google Shape;1239;p44"/>
            <p:cNvSpPr txBox="1"/>
            <p:nvPr/>
          </p:nvSpPr>
          <p:spPr>
            <a:xfrm>
              <a:off x="647700" y="1066800"/>
              <a:ext cx="80391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50">
                  <a:solidFill>
                    <a:srgbClr val="F0B429"/>
                  </a:solidFill>
                  <a:latin typeface="Courier New"/>
                  <a:ea typeface="Courier New"/>
                  <a:cs typeface="Courier New"/>
                  <a:sym typeface="Courier New"/>
                </a:rPr>
                <a:t>ONNX</a:t>
              </a:r>
              <a:r>
                <a:rPr lang="en-US" sz="1250">
                  <a:solidFill>
                    <a:srgbClr val="F5F1E6"/>
                  </a:solidFill>
                  <a:latin typeface="Carlito"/>
                  <a:ea typeface="Carlito"/>
                  <a:cs typeface="Carlito"/>
                  <a:sym typeface="Carlito"/>
                </a:rPr>
                <a:t> decouples a trained model from its original training framework, enabling </a:t>
              </a:r>
              <a:r>
                <a:rPr b="1" lang="en-US" sz="1250">
                  <a:solidFill>
                    <a:srgbClr val="F0B429"/>
                  </a:solidFill>
                  <a:latin typeface="Carlito"/>
                  <a:ea typeface="Carlito"/>
                  <a:cs typeface="Carlito"/>
                  <a:sym typeface="Carlito"/>
                </a:rPr>
                <a:t>portable, optimized, and often faster inference</a:t>
              </a:r>
              <a:r>
                <a:rPr lang="en-US" sz="1250">
                  <a:solidFill>
                    <a:srgbClr val="F5F1E6"/>
                  </a:solidFill>
                  <a:latin typeface="Carlito"/>
                  <a:ea typeface="Carlito"/>
                  <a:cs typeface="Carlito"/>
                  <a:sym typeface="Carlito"/>
                </a:rPr>
                <a:t> across deployment targets — independent of, and complementary to, quantization.</a:t>
              </a:r>
              <a:endParaRPr sz="1250">
                <a:solidFill>
                  <a:srgbClr val="F5F1E6"/>
                </a:solidFill>
                <a:latin typeface="Carlito"/>
                <a:ea typeface="Carlito"/>
                <a:cs typeface="Carlito"/>
                <a:sym typeface="Carlito"/>
              </a:endParaRPr>
            </a:p>
          </p:txBody>
        </p:sp>
      </p:grpSp>
      <p:grpSp>
        <p:nvGrpSpPr>
          <p:cNvPr id="1240" name="Google Shape;1240;p44"/>
          <p:cNvGrpSpPr/>
          <p:nvPr/>
        </p:nvGrpSpPr>
        <p:grpSpPr>
          <a:xfrm>
            <a:off x="457200" y="1952625"/>
            <a:ext cx="2628900" cy="1333500"/>
            <a:chOff x="457200" y="1952625"/>
            <a:chExt cx="2628900" cy="1333500"/>
          </a:xfrm>
        </p:grpSpPr>
        <p:sp>
          <p:nvSpPr>
            <p:cNvPr id="1241" name="Google Shape;1241;p44"/>
            <p:cNvSpPr/>
            <p:nvPr/>
          </p:nvSpPr>
          <p:spPr>
            <a:xfrm>
              <a:off x="457200" y="1952625"/>
              <a:ext cx="2628900" cy="1333500"/>
            </a:xfrm>
            <a:prstGeom prst="roundRect">
              <a:avLst>
                <a:gd fmla="val 571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2" name="Google Shape;1242;p44"/>
            <p:cNvSpPr/>
            <p:nvPr/>
          </p:nvSpPr>
          <p:spPr>
            <a:xfrm>
              <a:off x="457200" y="1952625"/>
              <a:ext cx="26289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3" name="Google Shape;1243;p44"/>
            <p:cNvSpPr txBox="1"/>
            <p:nvPr/>
          </p:nvSpPr>
          <p:spPr>
            <a:xfrm>
              <a:off x="647700" y="2105025"/>
              <a:ext cx="22479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94A3B8"/>
                  </a:solidFill>
                  <a:latin typeface="Carlito"/>
                  <a:ea typeface="Carlito"/>
                  <a:cs typeface="Carlito"/>
                  <a:sym typeface="Carlito"/>
                </a:rPr>
                <a:t>DECOUPLING</a:t>
              </a:r>
              <a:endParaRPr b="1" sz="850">
                <a:solidFill>
                  <a:srgbClr val="94A3B8"/>
                </a:solidFill>
                <a:latin typeface="Carlito"/>
                <a:ea typeface="Carlito"/>
                <a:cs typeface="Carlito"/>
                <a:sym typeface="Carlito"/>
              </a:endParaRPr>
            </a:p>
            <a:p>
              <a:pPr indent="0" lvl="0" marL="0" rtl="0" algn="l">
                <a:spcBef>
                  <a:spcPts val="450"/>
                </a:spcBef>
                <a:spcAft>
                  <a:spcPts val="0"/>
                </a:spcAft>
                <a:buNone/>
              </a:pPr>
              <a:r>
                <a:rPr b="1" lang="en-US" sz="1400">
                  <a:solidFill>
                    <a:srgbClr val="F5F1E6"/>
                  </a:solidFill>
                  <a:latin typeface="Carlito"/>
                  <a:ea typeface="Carlito"/>
                  <a:cs typeface="Carlito"/>
                  <a:sym typeface="Carlito"/>
                </a:rPr>
                <a:t>Framework-free</a:t>
              </a:r>
              <a:endParaRPr b="1" sz="1400">
                <a:solidFill>
                  <a:srgbClr val="F5F1E6"/>
                </a:solidFill>
                <a:latin typeface="Carlito"/>
                <a:ea typeface="Carlito"/>
                <a:cs typeface="Carlito"/>
                <a:sym typeface="Carlito"/>
              </a:endParaRPr>
            </a:p>
            <a:p>
              <a:pPr indent="0" lvl="0" marL="0" rtl="0" algn="l">
                <a:spcBef>
                  <a:spcPts val="675"/>
                </a:spcBef>
                <a:spcAft>
                  <a:spcPts val="0"/>
                </a:spcAft>
                <a:buNone/>
              </a:pPr>
              <a:r>
                <a:rPr b="1" lang="en-US" sz="950">
                  <a:solidFill>
                    <a:srgbClr val="F0B429"/>
                  </a:solidFill>
                  <a:latin typeface="Courier New"/>
                  <a:ea typeface="Courier New"/>
                  <a:cs typeface="Courier New"/>
                  <a:sym typeface="Courier New"/>
                </a:rPr>
                <a:t>.onnx</a:t>
              </a:r>
              <a:r>
                <a:rPr lang="en-US" sz="950">
                  <a:solidFill>
                    <a:srgbClr val="94A3B8"/>
                  </a:solidFill>
                  <a:latin typeface="Carlito"/>
                  <a:ea typeface="Carlito"/>
                  <a:cs typeface="Carlito"/>
                  <a:sym typeface="Carlito"/>
                </a:rPr>
                <a:t> runs entirely independent of </a:t>
              </a:r>
              <a:r>
                <a:rPr b="1" lang="en-US" sz="950">
                  <a:solidFill>
                    <a:srgbClr val="F0B429"/>
                  </a:solidFill>
                  <a:latin typeface="Courier New"/>
                  <a:ea typeface="Courier New"/>
                  <a:cs typeface="Courier New"/>
                  <a:sym typeface="Courier New"/>
                </a:rPr>
                <a:t>PyTorch</a:t>
              </a:r>
              <a:r>
                <a:rPr lang="en-US" sz="950">
                  <a:solidFill>
                    <a:srgbClr val="94A3B8"/>
                  </a:solidFill>
                  <a:latin typeface="Carlito"/>
                  <a:ea typeface="Carlito"/>
                  <a:cs typeface="Carlito"/>
                  <a:sym typeface="Carlito"/>
                </a:rPr>
                <a:t> or other training frameworks.</a:t>
              </a:r>
              <a:endParaRPr sz="950">
                <a:solidFill>
                  <a:srgbClr val="94A3B8"/>
                </a:solidFill>
                <a:latin typeface="Carlito"/>
                <a:ea typeface="Carlito"/>
                <a:cs typeface="Carlito"/>
                <a:sym typeface="Carlito"/>
              </a:endParaRPr>
            </a:p>
          </p:txBody>
        </p:sp>
      </p:grpSp>
      <p:grpSp>
        <p:nvGrpSpPr>
          <p:cNvPr id="1244" name="Google Shape;1244;p44"/>
          <p:cNvGrpSpPr/>
          <p:nvPr/>
        </p:nvGrpSpPr>
        <p:grpSpPr>
          <a:xfrm>
            <a:off x="3257550" y="1952625"/>
            <a:ext cx="2628900" cy="1333500"/>
            <a:chOff x="3257550" y="1952625"/>
            <a:chExt cx="2628900" cy="1333500"/>
          </a:xfrm>
        </p:grpSpPr>
        <p:sp>
          <p:nvSpPr>
            <p:cNvPr id="1245" name="Google Shape;1245;p44"/>
            <p:cNvSpPr/>
            <p:nvPr/>
          </p:nvSpPr>
          <p:spPr>
            <a:xfrm>
              <a:off x="3257550" y="1952625"/>
              <a:ext cx="2628900" cy="1333500"/>
            </a:xfrm>
            <a:prstGeom prst="roundRect">
              <a:avLst>
                <a:gd fmla="val 571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6" name="Google Shape;1246;p44"/>
            <p:cNvSpPr/>
            <p:nvPr/>
          </p:nvSpPr>
          <p:spPr>
            <a:xfrm>
              <a:off x="3257550" y="1952625"/>
              <a:ext cx="26289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7" name="Google Shape;1247;p44"/>
            <p:cNvSpPr txBox="1"/>
            <p:nvPr/>
          </p:nvSpPr>
          <p:spPr>
            <a:xfrm>
              <a:off x="3448050" y="2105025"/>
              <a:ext cx="22479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94A3B8"/>
                  </a:solidFill>
                  <a:latin typeface="Carlito"/>
                  <a:ea typeface="Carlito"/>
                  <a:cs typeface="Carlito"/>
                  <a:sym typeface="Carlito"/>
                </a:rPr>
                <a:t>SPEED</a:t>
              </a:r>
              <a:endParaRPr b="1" sz="850">
                <a:solidFill>
                  <a:srgbClr val="94A3B8"/>
                </a:solidFill>
                <a:latin typeface="Carlito"/>
                <a:ea typeface="Carlito"/>
                <a:cs typeface="Carlito"/>
                <a:sym typeface="Carlito"/>
              </a:endParaRPr>
            </a:p>
            <a:p>
              <a:pPr indent="0" lvl="0" marL="0" rtl="0" algn="l">
                <a:spcBef>
                  <a:spcPts val="450"/>
                </a:spcBef>
                <a:spcAft>
                  <a:spcPts val="0"/>
                </a:spcAft>
                <a:buNone/>
              </a:pPr>
              <a:r>
                <a:rPr b="1" lang="en-US" sz="1400">
                  <a:solidFill>
                    <a:srgbClr val="F5F1E6"/>
                  </a:solidFill>
                  <a:latin typeface="Carlito"/>
                  <a:ea typeface="Carlito"/>
                  <a:cs typeface="Carlito"/>
                  <a:sym typeface="Carlito"/>
                </a:rPr>
                <a:t>Faster</a:t>
              </a:r>
              <a:endParaRPr b="1" sz="1400">
                <a:solidFill>
                  <a:srgbClr val="F5F1E6"/>
                </a:solidFill>
                <a:latin typeface="Carlito"/>
                <a:ea typeface="Carlito"/>
                <a:cs typeface="Carlito"/>
                <a:sym typeface="Carlito"/>
              </a:endParaRPr>
            </a:p>
            <a:p>
              <a:pPr indent="0" lvl="0" marL="0" rtl="0" algn="l">
                <a:spcBef>
                  <a:spcPts val="675"/>
                </a:spcBef>
                <a:spcAft>
                  <a:spcPts val="0"/>
                </a:spcAft>
                <a:buNone/>
              </a:pPr>
              <a:r>
                <a:rPr lang="en-US" sz="950">
                  <a:solidFill>
                    <a:srgbClr val="94A3B8"/>
                  </a:solidFill>
                  <a:latin typeface="Carlito"/>
                  <a:ea typeface="Carlito"/>
                  <a:cs typeface="Carlito"/>
                  <a:sym typeface="Carlito"/>
                </a:rPr>
                <a:t>Leverages built-in graph optimizations and hardware execution providers.</a:t>
              </a:r>
              <a:endParaRPr sz="950">
                <a:solidFill>
                  <a:srgbClr val="94A3B8"/>
                </a:solidFill>
                <a:latin typeface="Carlito"/>
                <a:ea typeface="Carlito"/>
                <a:cs typeface="Carlito"/>
                <a:sym typeface="Carlito"/>
              </a:endParaRPr>
            </a:p>
          </p:txBody>
        </p:sp>
      </p:grpSp>
      <p:grpSp>
        <p:nvGrpSpPr>
          <p:cNvPr id="1248" name="Google Shape;1248;p44"/>
          <p:cNvGrpSpPr/>
          <p:nvPr/>
        </p:nvGrpSpPr>
        <p:grpSpPr>
          <a:xfrm>
            <a:off x="6057900" y="1952625"/>
            <a:ext cx="2628900" cy="1333500"/>
            <a:chOff x="6057900" y="1952625"/>
            <a:chExt cx="2628900" cy="1333500"/>
          </a:xfrm>
        </p:grpSpPr>
        <p:sp>
          <p:nvSpPr>
            <p:cNvPr id="1249" name="Google Shape;1249;p44"/>
            <p:cNvSpPr/>
            <p:nvPr/>
          </p:nvSpPr>
          <p:spPr>
            <a:xfrm>
              <a:off x="6057900" y="1952625"/>
              <a:ext cx="2628900" cy="1333500"/>
            </a:xfrm>
            <a:prstGeom prst="roundRect">
              <a:avLst>
                <a:gd fmla="val 571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0" name="Google Shape;1250;p44"/>
            <p:cNvSpPr/>
            <p:nvPr/>
          </p:nvSpPr>
          <p:spPr>
            <a:xfrm>
              <a:off x="6057900" y="1952625"/>
              <a:ext cx="26289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1" name="Google Shape;1251;p44"/>
            <p:cNvSpPr txBox="1"/>
            <p:nvPr/>
          </p:nvSpPr>
          <p:spPr>
            <a:xfrm>
              <a:off x="6248400" y="2105025"/>
              <a:ext cx="22479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94A3B8"/>
                  </a:solidFill>
                  <a:latin typeface="Carlito"/>
                  <a:ea typeface="Carlito"/>
                  <a:cs typeface="Carlito"/>
                  <a:sym typeface="Carlito"/>
                </a:rPr>
                <a:t>COMPOSABLE</a:t>
              </a:r>
              <a:endParaRPr b="1" sz="850">
                <a:solidFill>
                  <a:srgbClr val="94A3B8"/>
                </a:solidFill>
                <a:latin typeface="Carlito"/>
                <a:ea typeface="Carlito"/>
                <a:cs typeface="Carlito"/>
                <a:sym typeface="Carlito"/>
              </a:endParaRPr>
            </a:p>
            <a:p>
              <a:pPr indent="0" lvl="0" marL="0" rtl="0" algn="l">
                <a:spcBef>
                  <a:spcPts val="450"/>
                </a:spcBef>
                <a:spcAft>
                  <a:spcPts val="0"/>
                </a:spcAft>
                <a:buNone/>
              </a:pPr>
              <a:r>
                <a:rPr b="1" lang="en-US" sz="1400">
                  <a:solidFill>
                    <a:srgbClr val="F5F1E6"/>
                  </a:solidFill>
                  <a:latin typeface="Carlito"/>
                  <a:ea typeface="Carlito"/>
                  <a:cs typeface="Carlito"/>
                  <a:sym typeface="Carlito"/>
                </a:rPr>
                <a:t>+ Quantization</a:t>
              </a:r>
              <a:endParaRPr b="1" sz="1400">
                <a:solidFill>
                  <a:srgbClr val="F5F1E6"/>
                </a:solidFill>
                <a:latin typeface="Carlito"/>
                <a:ea typeface="Carlito"/>
                <a:cs typeface="Carlito"/>
                <a:sym typeface="Carlito"/>
              </a:endParaRPr>
            </a:p>
            <a:p>
              <a:pPr indent="0" lvl="0" marL="0" rtl="0" algn="l">
                <a:spcBef>
                  <a:spcPts val="675"/>
                </a:spcBef>
                <a:spcAft>
                  <a:spcPts val="0"/>
                </a:spcAft>
                <a:buNone/>
              </a:pPr>
              <a:r>
                <a:rPr lang="en-US" sz="950">
                  <a:solidFill>
                    <a:srgbClr val="94A3B8"/>
                  </a:solidFill>
                  <a:latin typeface="Carlito"/>
                  <a:ea typeface="Carlito"/>
                  <a:cs typeface="Carlito"/>
                  <a:sym typeface="Carlito"/>
                </a:rPr>
                <a:t>Acts as an independent, complementary performance lever alongside quantization.</a:t>
              </a:r>
              <a:endParaRPr sz="950">
                <a:solidFill>
                  <a:srgbClr val="94A3B8"/>
                </a:solidFill>
                <a:latin typeface="Carlito"/>
                <a:ea typeface="Carlito"/>
                <a:cs typeface="Carlito"/>
                <a:sym typeface="Carlito"/>
              </a:endParaRPr>
            </a:p>
          </p:txBody>
        </p:sp>
      </p:grpSp>
      <p:grpSp>
        <p:nvGrpSpPr>
          <p:cNvPr id="1252" name="Google Shape;1252;p44"/>
          <p:cNvGrpSpPr/>
          <p:nvPr/>
        </p:nvGrpSpPr>
        <p:grpSpPr>
          <a:xfrm>
            <a:off x="457200" y="3476625"/>
            <a:ext cx="8229600" cy="809700"/>
            <a:chOff x="457200" y="3476625"/>
            <a:chExt cx="8229600" cy="809700"/>
          </a:xfrm>
        </p:grpSpPr>
        <p:sp>
          <p:nvSpPr>
            <p:cNvPr id="1253" name="Google Shape;1253;p44"/>
            <p:cNvSpPr/>
            <p:nvPr/>
          </p:nvSpPr>
          <p:spPr>
            <a:xfrm>
              <a:off x="457200" y="3476625"/>
              <a:ext cx="8229600" cy="809700"/>
            </a:xfrm>
            <a:prstGeom prst="roundRect">
              <a:avLst>
                <a:gd fmla="val 941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4" name="Google Shape;1254;p44"/>
            <p:cNvSpPr/>
            <p:nvPr/>
          </p:nvSpPr>
          <p:spPr>
            <a:xfrm>
              <a:off x="457200" y="3476625"/>
              <a:ext cx="38100" cy="8097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5" name="Google Shape;1255;p44"/>
            <p:cNvSpPr/>
            <p:nvPr/>
          </p:nvSpPr>
          <p:spPr>
            <a:xfrm>
              <a:off x="647700" y="3762375"/>
              <a:ext cx="971700" cy="228600"/>
            </a:xfrm>
            <a:prstGeom prst="roundRect">
              <a:avLst>
                <a:gd fmla="val 50000" name="adj"/>
              </a:avLst>
            </a:prstGeom>
            <a:solidFill>
              <a:srgbClr val="F0B429">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6" name="Google Shape;1256;p44"/>
            <p:cNvSpPr txBox="1"/>
            <p:nvPr/>
          </p:nvSpPr>
          <p:spPr>
            <a:xfrm>
              <a:off x="647700" y="3762375"/>
              <a:ext cx="9717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F0B429"/>
                  </a:solidFill>
                  <a:latin typeface="Carlito"/>
                  <a:ea typeface="Carlito"/>
                  <a:cs typeface="Carlito"/>
                  <a:sym typeface="Carlito"/>
                </a:rPr>
                <a:t>TRANSITION</a:t>
              </a:r>
              <a:endParaRPr b="1" sz="750">
                <a:solidFill>
                  <a:srgbClr val="F0B429"/>
                </a:solidFill>
                <a:latin typeface="Carlito"/>
                <a:ea typeface="Carlito"/>
                <a:cs typeface="Carlito"/>
                <a:sym typeface="Carlito"/>
              </a:endParaRPr>
            </a:p>
          </p:txBody>
        </p:sp>
        <p:sp>
          <p:nvSpPr>
            <p:cNvPr id="1257" name="Google Shape;1257;p44"/>
            <p:cNvSpPr txBox="1"/>
            <p:nvPr/>
          </p:nvSpPr>
          <p:spPr>
            <a:xfrm>
              <a:off x="1771650" y="3476625"/>
              <a:ext cx="67629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US" sz="950">
                  <a:solidFill>
                    <a:srgbClr val="F5F1E6"/>
                  </a:solidFill>
                  <a:latin typeface="Carlito"/>
                  <a:ea typeface="Carlito"/>
                  <a:cs typeface="Carlito"/>
                  <a:sym typeface="Carlito"/>
                </a:rPr>
                <a:t>We’ve now covered the full resource-optimization stack: </a:t>
              </a:r>
              <a:r>
                <a:rPr b="1" i="0" lang="en-US" sz="950">
                  <a:solidFill>
                    <a:srgbClr val="F0B429"/>
                  </a:solidFill>
                  <a:latin typeface="Courier New"/>
                  <a:ea typeface="Courier New"/>
                  <a:cs typeface="Courier New"/>
                  <a:sym typeface="Courier New"/>
                </a:rPr>
                <a:t>PEFT</a:t>
              </a:r>
              <a:r>
                <a:rPr i="1" lang="en-US" sz="950">
                  <a:solidFill>
                    <a:srgbClr val="F5F1E6"/>
                  </a:solidFill>
                  <a:latin typeface="Carlito"/>
                  <a:ea typeface="Carlito"/>
                  <a:cs typeface="Carlito"/>
                  <a:sym typeface="Carlito"/>
                </a:rPr>
                <a:t> and </a:t>
              </a:r>
              <a:r>
                <a:rPr b="1" i="0" lang="en-US" sz="950">
                  <a:solidFill>
                    <a:srgbClr val="F0B429"/>
                  </a:solidFill>
                  <a:latin typeface="Courier New"/>
                  <a:ea typeface="Courier New"/>
                  <a:cs typeface="Courier New"/>
                  <a:sym typeface="Courier New"/>
                </a:rPr>
                <a:t>LoRA</a:t>
              </a:r>
              <a:r>
                <a:rPr i="1" lang="en-US" sz="950">
                  <a:solidFill>
                    <a:srgbClr val="F5F1E6"/>
                  </a:solidFill>
                  <a:latin typeface="Carlito"/>
                  <a:ea typeface="Carlito"/>
                  <a:cs typeface="Carlito"/>
                  <a:sym typeface="Carlito"/>
                </a:rPr>
                <a:t> for efficient training, precision formats and quantization for efficient storage and compute, and </a:t>
              </a:r>
              <a:r>
                <a:rPr b="1" i="0" lang="en-US" sz="950">
                  <a:solidFill>
                    <a:srgbClr val="F0B429"/>
                  </a:solidFill>
                  <a:latin typeface="Courier New"/>
                  <a:ea typeface="Courier New"/>
                  <a:cs typeface="Courier New"/>
                  <a:sym typeface="Courier New"/>
                </a:rPr>
                <a:t>ONNX</a:t>
              </a:r>
              <a:r>
                <a:rPr i="1" lang="en-US" sz="950">
                  <a:solidFill>
                    <a:srgbClr val="F5F1E6"/>
                  </a:solidFill>
                  <a:latin typeface="Carlito"/>
                  <a:ea typeface="Carlito"/>
                  <a:cs typeface="Carlito"/>
                  <a:sym typeface="Carlito"/>
                </a:rPr>
                <a:t> for efficient deployment. Time to see all of it applied together, live.</a:t>
              </a:r>
              <a:endParaRPr i="1" sz="950">
                <a:solidFill>
                  <a:srgbClr val="F5F1E6"/>
                </a:solidFill>
                <a:latin typeface="Carlito"/>
                <a:ea typeface="Carlito"/>
                <a:cs typeface="Carlito"/>
                <a:sym typeface="Carlito"/>
              </a:endParaRPr>
            </a:p>
          </p:txBody>
        </p:sp>
      </p:grpSp>
      <p:sp>
        <p:nvSpPr>
          <p:cNvPr id="1258" name="Google Shape;1258;p44"/>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259" name="Google Shape;1259;p44"/>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42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4" name="Shape 1264"/>
        <p:cNvGrpSpPr/>
        <p:nvPr/>
      </p:nvGrpSpPr>
      <p:grpSpPr>
        <a:xfrm>
          <a:off x="0" y="0"/>
          <a:ext cx="0" cy="0"/>
          <a:chOff x="0" y="0"/>
          <a:chExt cx="0" cy="0"/>
        </a:xfrm>
      </p:grpSpPr>
      <p:sp>
        <p:nvSpPr>
          <p:cNvPr id="1265" name="Google Shape;1265;p45"/>
          <p:cNvSpPr txBox="1"/>
          <p:nvPr/>
        </p:nvSpPr>
        <p:spPr>
          <a:xfrm>
            <a:off x="457200" y="400050"/>
            <a:ext cx="71439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94A3B8"/>
                </a:solidFill>
                <a:latin typeface="Carlito"/>
                <a:ea typeface="Carlito"/>
                <a:cs typeface="Carlito"/>
                <a:sym typeface="Carlito"/>
              </a:rPr>
              <a:t>PART 07 · FROM LECTURE TO HANDS-ON</a:t>
            </a:r>
            <a:endParaRPr b="1" sz="800">
              <a:solidFill>
                <a:srgbClr val="94A3B8"/>
              </a:solidFill>
              <a:latin typeface="Carlito"/>
              <a:ea typeface="Carlito"/>
              <a:cs typeface="Carlito"/>
              <a:sym typeface="Carlito"/>
            </a:endParaRPr>
          </a:p>
          <a:p>
            <a:pPr indent="0" lvl="0" marL="0" rtl="0" algn="l">
              <a:spcBef>
                <a:spcPts val="600"/>
              </a:spcBef>
              <a:spcAft>
                <a:spcPts val="0"/>
              </a:spcAft>
              <a:buNone/>
            </a:pPr>
            <a:r>
              <a:rPr b="1" lang="en-US" sz="2400">
                <a:solidFill>
                  <a:srgbClr val="F5F1E6"/>
                </a:solidFill>
                <a:latin typeface="Carlito"/>
                <a:ea typeface="Carlito"/>
                <a:cs typeface="Carlito"/>
                <a:sym typeface="Carlito"/>
              </a:rPr>
              <a:t>Live Demo: </a:t>
            </a:r>
            <a:r>
              <a:rPr b="1" lang="en-US" sz="2400">
                <a:solidFill>
                  <a:srgbClr val="F0B429"/>
                </a:solidFill>
                <a:latin typeface="Carlito"/>
                <a:ea typeface="Carlito"/>
                <a:cs typeface="Carlito"/>
                <a:sym typeface="Carlito"/>
              </a:rPr>
              <a:t>Two Models, One Journey</a:t>
            </a:r>
            <a:endParaRPr b="1" sz="2400">
              <a:solidFill>
                <a:srgbClr val="F5F1E6"/>
              </a:solidFill>
              <a:latin typeface="Carlito"/>
              <a:ea typeface="Carlito"/>
              <a:cs typeface="Carlito"/>
              <a:sym typeface="Carlito"/>
            </a:endParaRPr>
          </a:p>
          <a:p>
            <a:pPr indent="0" lvl="0" marL="0" rtl="0" algn="l">
              <a:spcBef>
                <a:spcPts val="600"/>
              </a:spcBef>
              <a:spcAft>
                <a:spcPts val="0"/>
              </a:spcAft>
              <a:buNone/>
            </a:pPr>
            <a:r>
              <a:rPr b="0" lang="en-US" sz="1100">
                <a:solidFill>
                  <a:srgbClr val="94A3B8"/>
                </a:solidFill>
                <a:latin typeface="Carlito"/>
                <a:ea typeface="Carlito"/>
                <a:cs typeface="Carlito"/>
                <a:sym typeface="Carlito"/>
              </a:rPr>
              <a:t>From a tiny transformer trained from scratch, to a real pretrained model fine-tuned with LoRA, quantized, and exported.</a:t>
            </a:r>
            <a:endParaRPr b="0" sz="1100">
              <a:solidFill>
                <a:srgbClr val="94A3B8"/>
              </a:solidFill>
              <a:latin typeface="Carlito"/>
              <a:ea typeface="Carlito"/>
              <a:cs typeface="Carlito"/>
              <a:sym typeface="Carlito"/>
            </a:endParaRPr>
          </a:p>
        </p:txBody>
      </p:sp>
      <p:grpSp>
        <p:nvGrpSpPr>
          <p:cNvPr id="1266" name="Google Shape;1266;p45"/>
          <p:cNvGrpSpPr/>
          <p:nvPr/>
        </p:nvGrpSpPr>
        <p:grpSpPr>
          <a:xfrm>
            <a:off x="7715250" y="361950"/>
            <a:ext cx="971700" cy="209700"/>
            <a:chOff x="7715250" y="361950"/>
            <a:chExt cx="971700" cy="209700"/>
          </a:xfrm>
        </p:grpSpPr>
        <p:sp>
          <p:nvSpPr>
            <p:cNvPr id="1267" name="Google Shape;1267;p45"/>
            <p:cNvSpPr/>
            <p:nvPr/>
          </p:nvSpPr>
          <p:spPr>
            <a:xfrm>
              <a:off x="7715250" y="361950"/>
              <a:ext cx="971700" cy="209700"/>
            </a:xfrm>
            <a:prstGeom prst="roundRect">
              <a:avLst>
                <a:gd fmla="val 50000" name="adj"/>
              </a:avLst>
            </a:prstGeom>
            <a:solidFill>
              <a:srgbClr val="F0B429">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8" name="Google Shape;1268;p45"/>
            <p:cNvSpPr txBox="1"/>
            <p:nvPr/>
          </p:nvSpPr>
          <p:spPr>
            <a:xfrm>
              <a:off x="7715250" y="361950"/>
              <a:ext cx="9717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33">
                  <a:solidFill>
                    <a:srgbClr val="F0B429"/>
                  </a:solidFill>
                  <a:latin typeface="Material Icons"/>
                  <a:ea typeface="Material Icons"/>
                  <a:cs typeface="Material Icons"/>
                  <a:sym typeface="Material Icons"/>
                </a:rPr>
                <a:t>grade </a:t>
              </a:r>
              <a:r>
                <a:rPr b="1" lang="en-US" sz="694">
                  <a:solidFill>
                    <a:srgbClr val="F0B429"/>
                  </a:solidFill>
                  <a:latin typeface="Carlito"/>
                  <a:ea typeface="Carlito"/>
                  <a:cs typeface="Carlito"/>
                  <a:sym typeface="Carlito"/>
                </a:rPr>
                <a:t>LIVE CODING</a:t>
              </a:r>
              <a:endParaRPr b="1" sz="694">
                <a:solidFill>
                  <a:srgbClr val="F0B429"/>
                </a:solidFill>
                <a:latin typeface="Carlito"/>
                <a:ea typeface="Carlito"/>
                <a:cs typeface="Carlito"/>
                <a:sym typeface="Carlito"/>
              </a:endParaRPr>
            </a:p>
          </p:txBody>
        </p:sp>
      </p:grpSp>
      <p:grpSp>
        <p:nvGrpSpPr>
          <p:cNvPr id="1269" name="Google Shape;1269;p45"/>
          <p:cNvGrpSpPr/>
          <p:nvPr/>
        </p:nvGrpSpPr>
        <p:grpSpPr>
          <a:xfrm>
            <a:off x="457200" y="1714500"/>
            <a:ext cx="3962400" cy="2476500"/>
            <a:chOff x="457200" y="1714500"/>
            <a:chExt cx="3962400" cy="2476500"/>
          </a:xfrm>
        </p:grpSpPr>
        <p:sp>
          <p:nvSpPr>
            <p:cNvPr id="1270" name="Google Shape;1270;p45"/>
            <p:cNvSpPr/>
            <p:nvPr/>
          </p:nvSpPr>
          <p:spPr>
            <a:xfrm>
              <a:off x="457200" y="1714500"/>
              <a:ext cx="3962400" cy="2476500"/>
            </a:xfrm>
            <a:prstGeom prst="roundRect">
              <a:avLst>
                <a:gd fmla="val 3076"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1" name="Google Shape;1271;p45"/>
            <p:cNvSpPr/>
            <p:nvPr/>
          </p:nvSpPr>
          <p:spPr>
            <a:xfrm>
              <a:off x="457200" y="1714500"/>
              <a:ext cx="38100" cy="2476500"/>
            </a:xfrm>
            <a:prstGeom prst="roundRect">
              <a:avLst>
                <a:gd fmla="val 50000" name="adj"/>
              </a:avLst>
            </a:prstGeom>
            <a:solidFill>
              <a:srgbClr val="F0B429">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2" name="Google Shape;1272;p45"/>
            <p:cNvSpPr txBox="1"/>
            <p:nvPr/>
          </p:nvSpPr>
          <p:spPr>
            <a:xfrm>
              <a:off x="685800" y="1905000"/>
              <a:ext cx="35052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400">
                  <a:solidFill>
                    <a:srgbClr val="94A3B8"/>
                  </a:solidFill>
                  <a:latin typeface="Material Icons"/>
                  <a:ea typeface="Material Icons"/>
                  <a:cs typeface="Material Icons"/>
                  <a:sym typeface="Material Icons"/>
                </a:rPr>
                <a:t>grid_on </a:t>
              </a:r>
              <a:r>
                <a:rPr b="1" lang="en-US" sz="900">
                  <a:solidFill>
                    <a:srgbClr val="94A3B8"/>
                  </a:solidFill>
                  <a:latin typeface="Carlito"/>
                  <a:ea typeface="Carlito"/>
                  <a:cs typeface="Carlito"/>
                  <a:sym typeface="Carlito"/>
                </a:rPr>
                <a:t>MODEL 01 · ~28K PARAMS</a:t>
              </a:r>
              <a:endParaRPr>
                <a:latin typeface="Carlito"/>
                <a:ea typeface="Carlito"/>
                <a:cs typeface="Carlito"/>
                <a:sym typeface="Carlito"/>
              </a:endParaRPr>
            </a:p>
            <a:p>
              <a:pPr indent="0" lvl="0" marL="0" rtl="0" algn="l">
                <a:spcBef>
                  <a:spcPts val="900"/>
                </a:spcBef>
                <a:spcAft>
                  <a:spcPts val="0"/>
                </a:spcAft>
                <a:buNone/>
              </a:pPr>
              <a:r>
                <a:rPr b="1" lang="en-US" sz="1600">
                  <a:solidFill>
                    <a:srgbClr val="F5F1E6"/>
                  </a:solidFill>
                  <a:latin typeface="Carlito"/>
                  <a:ea typeface="Carlito"/>
                  <a:cs typeface="Carlito"/>
                  <a:sym typeface="Carlito"/>
                </a:rPr>
                <a:t>Tiny Scratch Transformer</a:t>
              </a:r>
              <a:endParaRPr b="1" sz="1600">
                <a:solidFill>
                  <a:srgbClr val="F5F1E6"/>
                </a:solidFill>
                <a:latin typeface="Carlito"/>
                <a:ea typeface="Carlito"/>
                <a:cs typeface="Carlito"/>
                <a:sym typeface="Carlito"/>
              </a:endParaRPr>
            </a:p>
            <a:p>
              <a:pPr indent="0" lvl="0" marL="0" rtl="0" algn="l">
                <a:spcBef>
                  <a:spcPts val="900"/>
                </a:spcBef>
                <a:spcAft>
                  <a:spcPts val="0"/>
                </a:spcAft>
                <a:buNone/>
              </a:pPr>
              <a:r>
                <a:rPr lang="en-US" sz="1050">
                  <a:solidFill>
                    <a:srgbClr val="94A3B8"/>
                  </a:solidFill>
                  <a:latin typeface="Carlito"/>
                  <a:ea typeface="Carlito"/>
                  <a:cs typeface="Carlito"/>
                  <a:sym typeface="Carlito"/>
                </a:rPr>
                <a:t>A character-level transformer trained live on toy data to make deep learning mechanics transparent.</a:t>
              </a:r>
              <a:endParaRPr sz="1050">
                <a:solidFill>
                  <a:srgbClr val="94A3B8"/>
                </a:solidFill>
                <a:latin typeface="Carlito"/>
                <a:ea typeface="Carlito"/>
                <a:cs typeface="Carlito"/>
                <a:sym typeface="Carlito"/>
              </a:endParaRPr>
            </a:p>
            <a:p>
              <a:pPr indent="-288925" lvl="0" marL="457200" rtl="0" algn="l">
                <a:spcBef>
                  <a:spcPts val="1200"/>
                </a:spcBef>
                <a:spcAft>
                  <a:spcPts val="0"/>
                </a:spcAft>
                <a:buClr>
                  <a:srgbClr val="F5F1E6"/>
                </a:buClr>
                <a:buSzPts val="950"/>
                <a:buFont typeface="Carlito"/>
                <a:buChar char="●"/>
              </a:pPr>
              <a:r>
                <a:rPr lang="en-US" sz="950">
                  <a:solidFill>
                    <a:srgbClr val="F5F1E6"/>
                  </a:solidFill>
                  <a:latin typeface="Carlito"/>
                  <a:ea typeface="Carlito"/>
                  <a:cs typeface="Carlito"/>
                  <a:sym typeface="Carlito"/>
                </a:rPr>
                <a:t>Watch loss convergence in real time</a:t>
              </a:r>
              <a:endParaRPr sz="950">
                <a:solidFill>
                  <a:srgbClr val="F5F1E6"/>
                </a:solidFill>
                <a:latin typeface="Carlito"/>
                <a:ea typeface="Carlito"/>
                <a:cs typeface="Carlito"/>
                <a:sym typeface="Carlito"/>
              </a:endParaRPr>
            </a:p>
            <a:p>
              <a:pPr indent="-288925" lvl="0" marL="457200" rtl="0" algn="l">
                <a:spcBef>
                  <a:spcPts val="450"/>
                </a:spcBef>
                <a:spcAft>
                  <a:spcPts val="0"/>
                </a:spcAft>
                <a:buClr>
                  <a:srgbClr val="F5F1E6"/>
                </a:buClr>
                <a:buSzPts val="950"/>
                <a:buFont typeface="Carlito"/>
                <a:buChar char="●"/>
              </a:pPr>
              <a:r>
                <a:rPr lang="en-US" sz="950">
                  <a:solidFill>
                    <a:srgbClr val="F5F1E6"/>
                  </a:solidFill>
                  <a:latin typeface="Carlito"/>
                  <a:ea typeface="Carlito"/>
                  <a:cs typeface="Carlito"/>
                  <a:sym typeface="Carlito"/>
                </a:rPr>
                <a:t>Inspect full training loop mechanics</a:t>
              </a:r>
              <a:endParaRPr sz="950">
                <a:solidFill>
                  <a:srgbClr val="F5F1E6"/>
                </a:solidFill>
                <a:latin typeface="Carlito"/>
                <a:ea typeface="Carlito"/>
                <a:cs typeface="Carlito"/>
                <a:sym typeface="Carlito"/>
              </a:endParaRPr>
            </a:p>
            <a:p>
              <a:pPr indent="-288925" lvl="0" marL="457200" rtl="0" algn="l">
                <a:spcBef>
                  <a:spcPts val="450"/>
                </a:spcBef>
                <a:spcAft>
                  <a:spcPts val="0"/>
                </a:spcAft>
                <a:buClr>
                  <a:srgbClr val="F5F1E6"/>
                </a:buClr>
                <a:buSzPts val="950"/>
                <a:buFont typeface="Carlito"/>
                <a:buChar char="●"/>
              </a:pPr>
              <a:r>
                <a:rPr lang="en-US" sz="950">
                  <a:solidFill>
                    <a:srgbClr val="F5F1E6"/>
                  </a:solidFill>
                  <a:latin typeface="Carlito"/>
                  <a:ea typeface="Carlito"/>
                  <a:cs typeface="Carlito"/>
                  <a:sym typeface="Carlito"/>
                </a:rPr>
                <a:t>Ideal for understanding the math end-to-end</a:t>
              </a:r>
              <a:endParaRPr sz="950">
                <a:solidFill>
                  <a:srgbClr val="F5F1E6"/>
                </a:solidFill>
                <a:latin typeface="Carlito"/>
                <a:ea typeface="Carlito"/>
                <a:cs typeface="Carlito"/>
                <a:sym typeface="Carlito"/>
              </a:endParaRPr>
            </a:p>
          </p:txBody>
        </p:sp>
      </p:grpSp>
      <p:grpSp>
        <p:nvGrpSpPr>
          <p:cNvPr id="1273" name="Google Shape;1273;p45"/>
          <p:cNvGrpSpPr/>
          <p:nvPr/>
        </p:nvGrpSpPr>
        <p:grpSpPr>
          <a:xfrm>
            <a:off x="4724400" y="1714500"/>
            <a:ext cx="3962400" cy="2476500"/>
            <a:chOff x="4724400" y="1714500"/>
            <a:chExt cx="3962400" cy="2476500"/>
          </a:xfrm>
        </p:grpSpPr>
        <p:sp>
          <p:nvSpPr>
            <p:cNvPr id="1274" name="Google Shape;1274;p45"/>
            <p:cNvSpPr/>
            <p:nvPr/>
          </p:nvSpPr>
          <p:spPr>
            <a:xfrm>
              <a:off x="4724400" y="1714500"/>
              <a:ext cx="3962400" cy="2476500"/>
            </a:xfrm>
            <a:prstGeom prst="roundRect">
              <a:avLst>
                <a:gd fmla="val 3076"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5" name="Google Shape;1275;p45"/>
            <p:cNvSpPr/>
            <p:nvPr/>
          </p:nvSpPr>
          <p:spPr>
            <a:xfrm>
              <a:off x="4724400" y="1714500"/>
              <a:ext cx="38100" cy="24765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6" name="Google Shape;1276;p45"/>
            <p:cNvSpPr txBox="1"/>
            <p:nvPr/>
          </p:nvSpPr>
          <p:spPr>
            <a:xfrm>
              <a:off x="4953000" y="1905000"/>
              <a:ext cx="35052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400">
                  <a:solidFill>
                    <a:srgbClr val="F0B429"/>
                  </a:solidFill>
                  <a:latin typeface="Material Icons"/>
                  <a:ea typeface="Material Icons"/>
                  <a:cs typeface="Material Icons"/>
                  <a:sym typeface="Material Icons"/>
                </a:rPr>
                <a:t>grade </a:t>
              </a:r>
              <a:r>
                <a:rPr b="1" lang="en-US" sz="900">
                  <a:solidFill>
                    <a:srgbClr val="F0B429"/>
                  </a:solidFill>
                  <a:latin typeface="Carlito"/>
                  <a:ea typeface="Carlito"/>
                  <a:cs typeface="Carlito"/>
                  <a:sym typeface="Carlito"/>
                </a:rPr>
                <a:t>MODEL 02 · GPT-2 · 124M PARAMS</a:t>
              </a:r>
              <a:endParaRPr>
                <a:latin typeface="Carlito"/>
                <a:ea typeface="Carlito"/>
                <a:cs typeface="Carlito"/>
                <a:sym typeface="Carlito"/>
              </a:endParaRPr>
            </a:p>
            <a:p>
              <a:pPr indent="0" lvl="0" marL="0" rtl="0" algn="l">
                <a:spcBef>
                  <a:spcPts val="900"/>
                </a:spcBef>
                <a:spcAft>
                  <a:spcPts val="0"/>
                </a:spcAft>
                <a:buNone/>
              </a:pPr>
              <a:r>
                <a:rPr b="1" lang="en-US" sz="1600">
                  <a:solidFill>
                    <a:srgbClr val="F5F1E6"/>
                  </a:solidFill>
                  <a:latin typeface="Carlito"/>
                  <a:ea typeface="Carlito"/>
                  <a:cs typeface="Carlito"/>
                  <a:sym typeface="Carlito"/>
                </a:rPr>
                <a:t>Pretrained GPT-2 Small</a:t>
              </a:r>
              <a:endParaRPr b="1" sz="1600">
                <a:solidFill>
                  <a:srgbClr val="F5F1E6"/>
                </a:solidFill>
                <a:latin typeface="Carlito"/>
                <a:ea typeface="Carlito"/>
                <a:cs typeface="Carlito"/>
                <a:sym typeface="Carlito"/>
              </a:endParaRPr>
            </a:p>
            <a:p>
              <a:pPr indent="0" lvl="0" marL="0" rtl="0" algn="l">
                <a:spcBef>
                  <a:spcPts val="900"/>
                </a:spcBef>
                <a:spcAft>
                  <a:spcPts val="0"/>
                </a:spcAft>
                <a:buNone/>
              </a:pPr>
              <a:r>
                <a:rPr lang="en-US" sz="1050">
                  <a:solidFill>
                    <a:srgbClr val="94A3B8"/>
                  </a:solidFill>
                  <a:latin typeface="Carlito"/>
                  <a:ea typeface="Carlito"/>
                  <a:cs typeface="Carlito"/>
                  <a:sym typeface="Carlito"/>
                </a:rPr>
                <a:t>A production-grade model optimized using the full state-of-the-art resource stack.</a:t>
              </a:r>
              <a:endParaRPr sz="1050">
                <a:solidFill>
                  <a:srgbClr val="94A3B8"/>
                </a:solidFill>
                <a:latin typeface="Carlito"/>
                <a:ea typeface="Carlito"/>
                <a:cs typeface="Carlito"/>
                <a:sym typeface="Carlito"/>
              </a:endParaRPr>
            </a:p>
            <a:p>
              <a:pPr indent="-288925" lvl="0" marL="457200" rtl="0" algn="l">
                <a:spcBef>
                  <a:spcPts val="1200"/>
                </a:spcBef>
                <a:spcAft>
                  <a:spcPts val="0"/>
                </a:spcAft>
                <a:buClr>
                  <a:srgbClr val="F5F1E6"/>
                </a:buClr>
                <a:buSzPts val="950"/>
                <a:buFont typeface="Carlito"/>
                <a:buChar char="●"/>
              </a:pPr>
              <a:r>
                <a:rPr lang="en-US" sz="950">
                  <a:solidFill>
                    <a:srgbClr val="F5F1E6"/>
                  </a:solidFill>
                  <a:latin typeface="Carlito"/>
                  <a:ea typeface="Carlito"/>
                  <a:cs typeface="Carlito"/>
                  <a:sym typeface="Carlito"/>
                </a:rPr>
                <a:t>Fine-tune with parameter-efficient </a:t>
              </a:r>
              <a:r>
                <a:rPr b="1" lang="en-US" sz="950">
                  <a:solidFill>
                    <a:srgbClr val="F0B429"/>
                  </a:solidFill>
                  <a:latin typeface="Carlito"/>
                  <a:ea typeface="Carlito"/>
                  <a:cs typeface="Carlito"/>
                  <a:sym typeface="Carlito"/>
                </a:rPr>
                <a:t>LoRA</a:t>
              </a:r>
              <a:endParaRPr sz="950">
                <a:solidFill>
                  <a:srgbClr val="F5F1E6"/>
                </a:solidFill>
                <a:latin typeface="Carlito"/>
                <a:ea typeface="Carlito"/>
                <a:cs typeface="Carlito"/>
                <a:sym typeface="Carlito"/>
              </a:endParaRPr>
            </a:p>
            <a:p>
              <a:pPr indent="-288925" lvl="0" marL="457200" rtl="0" algn="l">
                <a:spcBef>
                  <a:spcPts val="450"/>
                </a:spcBef>
                <a:spcAft>
                  <a:spcPts val="0"/>
                </a:spcAft>
                <a:buClr>
                  <a:srgbClr val="F5F1E6"/>
                </a:buClr>
                <a:buSzPts val="950"/>
                <a:buFont typeface="Carlito"/>
                <a:buChar char="●"/>
              </a:pPr>
              <a:r>
                <a:rPr lang="en-US" sz="950">
                  <a:solidFill>
                    <a:srgbClr val="F5F1E6"/>
                  </a:solidFill>
                  <a:latin typeface="Carlito"/>
                  <a:ea typeface="Carlito"/>
                  <a:cs typeface="Carlito"/>
                  <a:sym typeface="Carlito"/>
                </a:rPr>
                <a:t>Compress weights using </a:t>
              </a:r>
              <a:r>
                <a:rPr b="1" lang="en-US" sz="950">
                  <a:solidFill>
                    <a:srgbClr val="F0B429"/>
                  </a:solidFill>
                  <a:latin typeface="Carlito"/>
                  <a:ea typeface="Carlito"/>
                  <a:cs typeface="Carlito"/>
                  <a:sym typeface="Carlito"/>
                </a:rPr>
                <a:t>INT8 Quantization</a:t>
              </a:r>
              <a:endParaRPr sz="950">
                <a:solidFill>
                  <a:srgbClr val="F5F1E6"/>
                </a:solidFill>
                <a:latin typeface="Carlito"/>
                <a:ea typeface="Carlito"/>
                <a:cs typeface="Carlito"/>
                <a:sym typeface="Carlito"/>
              </a:endParaRPr>
            </a:p>
            <a:p>
              <a:pPr indent="-288925" lvl="0" marL="457200" rtl="0" algn="l">
                <a:spcBef>
                  <a:spcPts val="450"/>
                </a:spcBef>
                <a:spcAft>
                  <a:spcPts val="0"/>
                </a:spcAft>
                <a:buClr>
                  <a:srgbClr val="F5F1E6"/>
                </a:buClr>
                <a:buSzPts val="950"/>
                <a:buFont typeface="Carlito"/>
                <a:buChar char="●"/>
              </a:pPr>
              <a:r>
                <a:rPr lang="en-US" sz="950">
                  <a:solidFill>
                    <a:srgbClr val="F5F1E6"/>
                  </a:solidFill>
                  <a:latin typeface="Carlito"/>
                  <a:ea typeface="Carlito"/>
                  <a:cs typeface="Carlito"/>
                  <a:sym typeface="Carlito"/>
                </a:rPr>
                <a:t>Export to high-performance </a:t>
              </a:r>
              <a:r>
                <a:rPr b="1" lang="en-US" sz="950">
                  <a:solidFill>
                    <a:srgbClr val="F0B429"/>
                  </a:solidFill>
                  <a:latin typeface="Carlito"/>
                  <a:ea typeface="Carlito"/>
                  <a:cs typeface="Carlito"/>
                  <a:sym typeface="Carlito"/>
                </a:rPr>
                <a:t>ONNX Runtime</a:t>
              </a:r>
              <a:endParaRPr sz="950">
                <a:solidFill>
                  <a:srgbClr val="F5F1E6"/>
                </a:solidFill>
                <a:latin typeface="Carlito"/>
                <a:ea typeface="Carlito"/>
                <a:cs typeface="Carlito"/>
                <a:sym typeface="Carlito"/>
              </a:endParaRPr>
            </a:p>
          </p:txBody>
        </p:sp>
      </p:grpSp>
      <p:grpSp>
        <p:nvGrpSpPr>
          <p:cNvPr id="1277" name="Google Shape;1277;p45"/>
          <p:cNvGrpSpPr/>
          <p:nvPr/>
        </p:nvGrpSpPr>
        <p:grpSpPr>
          <a:xfrm>
            <a:off x="457200" y="4857750"/>
            <a:ext cx="7858200" cy="171600"/>
            <a:chOff x="457200" y="4857750"/>
            <a:chExt cx="7858200" cy="171600"/>
          </a:xfrm>
        </p:grpSpPr>
        <p:sp>
          <p:nvSpPr>
            <p:cNvPr id="1278" name="Google Shape;1278;p45"/>
            <p:cNvSpPr/>
            <p:nvPr/>
          </p:nvSpPr>
          <p:spPr>
            <a:xfrm>
              <a:off x="457200" y="4857750"/>
              <a:ext cx="78582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9" name="Google Shape;1279;p45"/>
            <p:cNvSpPr txBox="1"/>
            <p:nvPr/>
          </p:nvSpPr>
          <p:spPr>
            <a:xfrm>
              <a:off x="457200" y="4857750"/>
              <a:ext cx="78582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00">
                  <a:solidFill>
                    <a:srgbClr val="64748B"/>
                  </a:solidFill>
                  <a:latin typeface="Carlito"/>
                  <a:ea typeface="Carlito"/>
                  <a:cs typeface="Carlito"/>
                  <a:sym typeface="Carlito"/>
                </a:rPr>
                <a:t>DEEP LEARNING FOR RESOURCE OPTIMIZATION</a:t>
              </a:r>
              <a:endParaRPr b="0" sz="800">
                <a:solidFill>
                  <a:srgbClr val="64748B"/>
                </a:solidFill>
                <a:latin typeface="Carlito"/>
                <a:ea typeface="Carlito"/>
                <a:cs typeface="Carlito"/>
                <a:sym typeface="Carlito"/>
              </a:endParaRPr>
            </a:p>
          </p:txBody>
        </p:sp>
      </p:grpSp>
      <p:grpSp>
        <p:nvGrpSpPr>
          <p:cNvPr id="1280" name="Google Shape;1280;p45"/>
          <p:cNvGrpSpPr/>
          <p:nvPr/>
        </p:nvGrpSpPr>
        <p:grpSpPr>
          <a:xfrm>
            <a:off x="8334375" y="4857750"/>
            <a:ext cx="495300" cy="171600"/>
            <a:chOff x="8334375" y="4857750"/>
            <a:chExt cx="495300" cy="171600"/>
          </a:xfrm>
        </p:grpSpPr>
        <p:sp>
          <p:nvSpPr>
            <p:cNvPr id="1281" name="Google Shape;1281;p45"/>
            <p:cNvSpPr/>
            <p:nvPr/>
          </p:nvSpPr>
          <p:spPr>
            <a:xfrm>
              <a:off x="8334375" y="4857750"/>
              <a:ext cx="4953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2" name="Google Shape;1282;p45"/>
            <p:cNvSpPr txBox="1"/>
            <p:nvPr/>
          </p:nvSpPr>
          <p:spPr>
            <a:xfrm>
              <a:off x="8334375" y="4857750"/>
              <a:ext cx="495300" cy="171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US" sz="800">
                  <a:solidFill>
                    <a:srgbClr val="94A3B8"/>
                  </a:solidFill>
                  <a:latin typeface="Arial"/>
                  <a:ea typeface="Arial"/>
                  <a:cs typeface="Arial"/>
                  <a:sym typeface="Arial"/>
                </a:rPr>
                <a:t>43 </a:t>
              </a:r>
              <a:r>
                <a:rPr b="0" lang="en-US" sz="800">
                  <a:solidFill>
                    <a:srgbClr val="64748B"/>
                  </a:solidFill>
                  <a:latin typeface="Arial"/>
                  <a:ea typeface="Arial"/>
                  <a:cs typeface="Arial"/>
                  <a:sym typeface="Arial"/>
                </a:rPr>
                <a:t>/ 58</a:t>
              </a:r>
              <a:endParaRPr b="0" sz="800">
                <a:solidFill>
                  <a:srgbClr val="94A3B8"/>
                </a:solidFill>
                <a:latin typeface="Arial"/>
                <a:ea typeface="Arial"/>
                <a:cs typeface="Arial"/>
                <a:sym typeface="Arial"/>
              </a:endParaRPr>
            </a:p>
          </p:txBody>
        </p:sp>
      </p:grpSp>
      <p:sp>
        <p:nvSpPr>
          <p:cNvPr id="1283" name="Google Shape;1283;p45"/>
          <p:cNvSpPr txBox="1"/>
          <p:nvPr/>
        </p:nvSpPr>
        <p:spPr>
          <a:xfrm>
            <a:off x="7486937" y="369073"/>
            <a:ext cx="3879000" cy="184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200">
                <a:solidFill>
                  <a:srgbClr val="F0B429"/>
                </a:solidFill>
                <a:latin typeface="Arial"/>
                <a:ea typeface="Arial"/>
                <a:cs typeface="Arial"/>
                <a:sym typeface="Arial"/>
              </a:rPr>
              <a:t>07</a:t>
            </a:r>
            <a:endParaRPr b="1" sz="10200">
              <a:solidFill>
                <a:srgbClr val="F0B429"/>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288" name="Shape 1288"/>
        <p:cNvGrpSpPr/>
        <p:nvPr/>
      </p:nvGrpSpPr>
      <p:grpSpPr>
        <a:xfrm>
          <a:off x="0" y="0"/>
          <a:ext cx="0" cy="0"/>
          <a:chOff x="0" y="0"/>
          <a:chExt cx="0" cy="0"/>
        </a:xfrm>
      </p:grpSpPr>
      <p:sp>
        <p:nvSpPr>
          <p:cNvPr id="1289" name="Google Shape;1289;p46"/>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07 · LIVE DEMO</a:t>
            </a:r>
            <a:endParaRPr b="0" i="0" sz="800" u="none" cap="none" strike="noStrike">
              <a:solidFill>
                <a:schemeClr val="dk1"/>
              </a:solidFill>
              <a:latin typeface="Calibri"/>
              <a:ea typeface="Calibri"/>
              <a:cs typeface="Calibri"/>
              <a:sym typeface="Calibri"/>
            </a:endParaRPr>
          </a:p>
        </p:txBody>
      </p:sp>
      <p:sp>
        <p:nvSpPr>
          <p:cNvPr id="1290" name="Google Shape;1290;p46"/>
          <p:cNvSpPr/>
          <p:nvPr/>
        </p:nvSpPr>
        <p:spPr>
          <a:xfrm>
            <a:off x="457200" y="603647"/>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What We're About to Build</a:t>
            </a:r>
            <a:endParaRPr b="0" i="0" sz="2250" u="none" cap="none" strike="noStrike">
              <a:solidFill>
                <a:schemeClr val="dk1"/>
              </a:solidFill>
              <a:latin typeface="Calibri"/>
              <a:ea typeface="Calibri"/>
              <a:cs typeface="Calibri"/>
              <a:sym typeface="Calibri"/>
            </a:endParaRPr>
          </a:p>
        </p:txBody>
      </p:sp>
      <p:sp>
        <p:nvSpPr>
          <p:cNvPr id="1291" name="Google Shape;1291;p46"/>
          <p:cNvSpPr/>
          <p:nvPr/>
        </p:nvSpPr>
        <p:spPr>
          <a:xfrm>
            <a:off x="457200" y="989409"/>
            <a:ext cx="8229600" cy="216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4A3B8"/>
              </a:buClr>
              <a:buSzPts val="1125"/>
              <a:buFont typeface="Carlito"/>
              <a:buNone/>
            </a:pPr>
            <a:r>
              <a:rPr b="0" i="0" lang="en-US" sz="1125" u="none" cap="none" strike="noStrike">
                <a:solidFill>
                  <a:srgbClr val="94A3B8"/>
                </a:solidFill>
                <a:latin typeface="Carlito"/>
                <a:ea typeface="Carlito"/>
                <a:cs typeface="Carlito"/>
                <a:sym typeface="Carlito"/>
              </a:rPr>
              <a:t>Two models, in sequence, demonstrating the full optimization stack end to end.</a:t>
            </a:r>
            <a:endParaRPr b="0" i="0" sz="1125" u="none" cap="none" strike="noStrike">
              <a:solidFill>
                <a:schemeClr val="dk1"/>
              </a:solidFill>
              <a:latin typeface="Calibri"/>
              <a:ea typeface="Calibri"/>
              <a:cs typeface="Calibri"/>
              <a:sym typeface="Calibri"/>
            </a:endParaRPr>
          </a:p>
        </p:txBody>
      </p:sp>
      <p:grpSp>
        <p:nvGrpSpPr>
          <p:cNvPr id="1292" name="Google Shape;1292;p46"/>
          <p:cNvGrpSpPr/>
          <p:nvPr/>
        </p:nvGrpSpPr>
        <p:grpSpPr>
          <a:xfrm>
            <a:off x="457200" y="1381125"/>
            <a:ext cx="3962400" cy="3143400"/>
            <a:chOff x="457200" y="1381125"/>
            <a:chExt cx="3962400" cy="3143400"/>
          </a:xfrm>
        </p:grpSpPr>
        <p:sp>
          <p:nvSpPr>
            <p:cNvPr id="1293" name="Google Shape;1293;p46"/>
            <p:cNvSpPr/>
            <p:nvPr/>
          </p:nvSpPr>
          <p:spPr>
            <a:xfrm>
              <a:off x="457200" y="1381125"/>
              <a:ext cx="3962400" cy="3143400"/>
            </a:xfrm>
            <a:prstGeom prst="roundRect">
              <a:avLst>
                <a:gd fmla="val 242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4" name="Google Shape;1294;p46"/>
            <p:cNvSpPr/>
            <p:nvPr/>
          </p:nvSpPr>
          <p:spPr>
            <a:xfrm>
              <a:off x="457200" y="1381125"/>
              <a:ext cx="38100" cy="3143400"/>
            </a:xfrm>
            <a:prstGeom prst="roundRect">
              <a:avLst>
                <a:gd fmla="val 50000" name="adj"/>
              </a:avLst>
            </a:prstGeom>
            <a:solidFill>
              <a:srgbClr val="F0B429">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5" name="Google Shape;1295;p46"/>
            <p:cNvSpPr txBox="1"/>
            <p:nvPr/>
          </p:nvSpPr>
          <p:spPr>
            <a:xfrm>
              <a:off x="685800" y="1571625"/>
              <a:ext cx="35052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94A3B8"/>
                  </a:solidFill>
                  <a:latin typeface="Carlito"/>
                  <a:ea typeface="Carlito"/>
                  <a:cs typeface="Carlito"/>
                  <a:sym typeface="Carlito"/>
                </a:rPr>
                <a:t>MODEL 01 · ~28K PARAMETERS</a:t>
              </a:r>
              <a:endParaRPr b="1" sz="850">
                <a:solidFill>
                  <a:srgbClr val="94A3B8"/>
                </a:solidFill>
                <a:latin typeface="Carlito"/>
                <a:ea typeface="Carlito"/>
                <a:cs typeface="Carlito"/>
                <a:sym typeface="Carlito"/>
              </a:endParaRPr>
            </a:p>
            <a:p>
              <a:pPr indent="0" lvl="0" marL="0" rtl="0" algn="l">
                <a:spcBef>
                  <a:spcPts val="750"/>
                </a:spcBef>
                <a:spcAft>
                  <a:spcPts val="0"/>
                </a:spcAft>
                <a:buNone/>
              </a:pPr>
              <a:r>
                <a:rPr b="1" lang="en-US" sz="1800">
                  <a:solidFill>
                    <a:srgbClr val="F5F1E6"/>
                  </a:solidFill>
                  <a:latin typeface="Carlito"/>
                  <a:ea typeface="Carlito"/>
                  <a:cs typeface="Carlito"/>
                  <a:sym typeface="Carlito"/>
                </a:rPr>
                <a:t>Tiny Scratch Transformer</a:t>
              </a:r>
              <a:endParaRPr b="1" sz="1800">
                <a:solidFill>
                  <a:srgbClr val="F5F1E6"/>
                </a:solidFill>
                <a:latin typeface="Carlito"/>
                <a:ea typeface="Carlito"/>
                <a:cs typeface="Carlito"/>
                <a:sym typeface="Carlito"/>
              </a:endParaRPr>
            </a:p>
            <a:p>
              <a:pPr indent="0" lvl="0" marL="0" rtl="0" algn="l">
                <a:spcBef>
                  <a:spcPts val="900"/>
                </a:spcBef>
                <a:spcAft>
                  <a:spcPts val="0"/>
                </a:spcAft>
                <a:buNone/>
              </a:pPr>
              <a:r>
                <a:rPr b="0" lang="en-US" sz="1050">
                  <a:solidFill>
                    <a:srgbClr val="94A3B8"/>
                  </a:solidFill>
                  <a:latin typeface="Carlito"/>
                  <a:ea typeface="Carlito"/>
                  <a:cs typeface="Carlito"/>
                  <a:sym typeface="Carlito"/>
                </a:rPr>
                <a:t>Trained live on toy text data. Designed to make the full training loop mechanics completely transparent and watchable in real time.</a:t>
              </a:r>
              <a:endParaRPr b="0" sz="1050">
                <a:solidFill>
                  <a:srgbClr val="94A3B8"/>
                </a:solidFill>
                <a:latin typeface="Carlito"/>
                <a:ea typeface="Carlito"/>
                <a:cs typeface="Carlito"/>
                <a:sym typeface="Carlito"/>
              </a:endParaRPr>
            </a:p>
            <a:p>
              <a:pPr indent="0" lvl="0" marL="0" rtl="0" algn="l">
                <a:spcBef>
                  <a:spcPts val="1500"/>
                </a:spcBef>
                <a:spcAft>
                  <a:spcPts val="750"/>
                </a:spcAft>
                <a:buNone/>
              </a:pPr>
              <a:r>
                <a:rPr b="1" lang="en-US" sz="900">
                  <a:solidFill>
                    <a:srgbClr val="4ADE80"/>
                  </a:solidFill>
                  <a:latin typeface="Carlito"/>
                  <a:ea typeface="Carlito"/>
                  <a:cs typeface="Carlito"/>
                  <a:sym typeface="Carlito"/>
                </a:rPr>
                <a:t>✓ WATCHED CONVERGE</a:t>
              </a:r>
              <a:endParaRPr b="1" sz="900">
                <a:solidFill>
                  <a:srgbClr val="4ADE80"/>
                </a:solidFill>
                <a:latin typeface="Carlito"/>
                <a:ea typeface="Carlito"/>
                <a:cs typeface="Carlito"/>
                <a:sym typeface="Carlito"/>
              </a:endParaRPr>
            </a:p>
          </p:txBody>
        </p:sp>
      </p:grpSp>
      <p:grpSp>
        <p:nvGrpSpPr>
          <p:cNvPr id="1296" name="Google Shape;1296;p46"/>
          <p:cNvGrpSpPr/>
          <p:nvPr/>
        </p:nvGrpSpPr>
        <p:grpSpPr>
          <a:xfrm>
            <a:off x="4724400" y="1381125"/>
            <a:ext cx="3962400" cy="3143400"/>
            <a:chOff x="4724400" y="1381125"/>
            <a:chExt cx="3962400" cy="3143400"/>
          </a:xfrm>
        </p:grpSpPr>
        <p:sp>
          <p:nvSpPr>
            <p:cNvPr id="1297" name="Google Shape;1297;p46"/>
            <p:cNvSpPr/>
            <p:nvPr/>
          </p:nvSpPr>
          <p:spPr>
            <a:xfrm>
              <a:off x="4724400" y="1381125"/>
              <a:ext cx="3962400" cy="3143400"/>
            </a:xfrm>
            <a:prstGeom prst="roundRect">
              <a:avLst>
                <a:gd fmla="val 2424"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8" name="Google Shape;1298;p46"/>
            <p:cNvSpPr/>
            <p:nvPr/>
          </p:nvSpPr>
          <p:spPr>
            <a:xfrm>
              <a:off x="4724400" y="1381125"/>
              <a:ext cx="38100" cy="31434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9" name="Google Shape;1299;p46"/>
            <p:cNvSpPr txBox="1"/>
            <p:nvPr/>
          </p:nvSpPr>
          <p:spPr>
            <a:xfrm>
              <a:off x="4953000" y="1571625"/>
              <a:ext cx="35052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F0B429"/>
                  </a:solidFill>
                  <a:latin typeface="Carlito"/>
                  <a:ea typeface="Carlito"/>
                  <a:cs typeface="Carlito"/>
                  <a:sym typeface="Carlito"/>
                </a:rPr>
                <a:t>MODEL 02 · 124M PARAMETERS</a:t>
              </a:r>
              <a:endParaRPr b="1" sz="850">
                <a:solidFill>
                  <a:srgbClr val="F0B429"/>
                </a:solidFill>
                <a:latin typeface="Carlito"/>
                <a:ea typeface="Carlito"/>
                <a:cs typeface="Carlito"/>
                <a:sym typeface="Carlito"/>
              </a:endParaRPr>
            </a:p>
            <a:p>
              <a:pPr indent="0" lvl="0" marL="0" rtl="0" algn="l">
                <a:spcBef>
                  <a:spcPts val="750"/>
                </a:spcBef>
                <a:spcAft>
                  <a:spcPts val="0"/>
                </a:spcAft>
                <a:buNone/>
              </a:pPr>
              <a:r>
                <a:rPr b="1" lang="en-US" sz="1800">
                  <a:solidFill>
                    <a:srgbClr val="F5F1E6"/>
                  </a:solidFill>
                  <a:latin typeface="Carlito"/>
                  <a:ea typeface="Carlito"/>
                  <a:cs typeface="Carlito"/>
                  <a:sym typeface="Carlito"/>
                </a:rPr>
                <a:t>Pretrained GPT-2 Small</a:t>
              </a:r>
              <a:endParaRPr b="1" sz="1800">
                <a:solidFill>
                  <a:srgbClr val="F5F1E6"/>
                </a:solidFill>
                <a:latin typeface="Carlito"/>
                <a:ea typeface="Carlito"/>
                <a:cs typeface="Carlito"/>
                <a:sym typeface="Carlito"/>
              </a:endParaRPr>
            </a:p>
            <a:p>
              <a:pPr indent="0" lvl="0" marL="0" rtl="0" algn="l">
                <a:spcBef>
                  <a:spcPts val="900"/>
                </a:spcBef>
                <a:spcAft>
                  <a:spcPts val="0"/>
                </a:spcAft>
                <a:buNone/>
              </a:pPr>
              <a:r>
                <a:rPr b="0" lang="en-US" sz="1050">
                  <a:solidFill>
                    <a:srgbClr val="94A3B8"/>
                  </a:solidFill>
                  <a:latin typeface="Carlito"/>
                  <a:ea typeface="Carlito"/>
                  <a:cs typeface="Carlito"/>
                  <a:sym typeface="Carlito"/>
                </a:rPr>
                <a:t>A real, production-grade model optimized using the full state-of-the-art resource stack.</a:t>
              </a:r>
              <a:endParaRPr b="0" sz="1050">
                <a:solidFill>
                  <a:srgbClr val="94A3B8"/>
                </a:solidFill>
                <a:latin typeface="Carlito"/>
                <a:ea typeface="Carlito"/>
                <a:cs typeface="Carlito"/>
                <a:sym typeface="Carlito"/>
              </a:endParaRPr>
            </a:p>
            <a:p>
              <a:pPr indent="-292100" lvl="0" marL="457200" rtl="0" algn="l">
                <a:spcBef>
                  <a:spcPts val="1125"/>
                </a:spcBef>
                <a:spcAft>
                  <a:spcPts val="0"/>
                </a:spcAft>
                <a:buClr>
                  <a:srgbClr val="F5F1E6"/>
                </a:buClr>
                <a:buSzPts val="1000"/>
                <a:buFont typeface="Carlito"/>
                <a:buChar char="●"/>
              </a:pPr>
              <a:r>
                <a:rPr lang="en-US" sz="1000">
                  <a:solidFill>
                    <a:srgbClr val="F5F1E6"/>
                  </a:solidFill>
                  <a:latin typeface="Carlito"/>
                  <a:ea typeface="Carlito"/>
                  <a:cs typeface="Carlito"/>
                  <a:sym typeface="Carlito"/>
                </a:rPr>
                <a:t>Fine-tune with parameter-efficient </a:t>
              </a:r>
              <a:r>
                <a:rPr b="1" lang="en-US" sz="1000">
                  <a:solidFill>
                    <a:srgbClr val="F0B429"/>
                  </a:solidFill>
                  <a:latin typeface="Carlito"/>
                  <a:ea typeface="Carlito"/>
                  <a:cs typeface="Carlito"/>
                  <a:sym typeface="Carlito"/>
                </a:rPr>
                <a:t>LoRA</a:t>
              </a:r>
              <a:endParaRPr sz="1000">
                <a:solidFill>
                  <a:srgbClr val="F5F1E6"/>
                </a:solidFill>
                <a:latin typeface="Carlito"/>
                <a:ea typeface="Carlito"/>
                <a:cs typeface="Carlito"/>
                <a:sym typeface="Carlito"/>
              </a:endParaRPr>
            </a:p>
            <a:p>
              <a:pPr indent="-292100" lvl="0" marL="457200" rtl="0" algn="l">
                <a:spcBef>
                  <a:spcPts val="450"/>
                </a:spcBef>
                <a:spcAft>
                  <a:spcPts val="0"/>
                </a:spcAft>
                <a:buClr>
                  <a:srgbClr val="F5F1E6"/>
                </a:buClr>
                <a:buSzPts val="1000"/>
                <a:buFont typeface="Carlito"/>
                <a:buChar char="●"/>
              </a:pPr>
              <a:r>
                <a:rPr lang="en-US" sz="1000">
                  <a:solidFill>
                    <a:srgbClr val="F5F1E6"/>
                  </a:solidFill>
                  <a:latin typeface="Carlito"/>
                  <a:ea typeface="Carlito"/>
                  <a:cs typeface="Carlito"/>
                  <a:sym typeface="Carlito"/>
                </a:rPr>
                <a:t>Compress weights using </a:t>
              </a:r>
              <a:r>
                <a:rPr b="1" lang="en-US" sz="1000">
                  <a:solidFill>
                    <a:srgbClr val="F0B429"/>
                  </a:solidFill>
                  <a:latin typeface="Carlito"/>
                  <a:ea typeface="Carlito"/>
                  <a:cs typeface="Carlito"/>
                  <a:sym typeface="Carlito"/>
                </a:rPr>
                <a:t>INT8 Quantization</a:t>
              </a:r>
              <a:endParaRPr sz="1000">
                <a:solidFill>
                  <a:srgbClr val="F5F1E6"/>
                </a:solidFill>
                <a:latin typeface="Carlito"/>
                <a:ea typeface="Carlito"/>
                <a:cs typeface="Carlito"/>
                <a:sym typeface="Carlito"/>
              </a:endParaRPr>
            </a:p>
            <a:p>
              <a:pPr indent="-292100" lvl="0" marL="457200" rtl="0" algn="l">
                <a:spcBef>
                  <a:spcPts val="450"/>
                </a:spcBef>
                <a:spcAft>
                  <a:spcPts val="0"/>
                </a:spcAft>
                <a:buClr>
                  <a:srgbClr val="F5F1E6"/>
                </a:buClr>
                <a:buSzPts val="1000"/>
                <a:buFont typeface="Carlito"/>
                <a:buChar char="●"/>
              </a:pPr>
              <a:r>
                <a:rPr lang="en-US" sz="1000">
                  <a:solidFill>
                    <a:srgbClr val="F5F1E6"/>
                  </a:solidFill>
                  <a:latin typeface="Carlito"/>
                  <a:ea typeface="Carlito"/>
                  <a:cs typeface="Carlito"/>
                  <a:sym typeface="Carlito"/>
                </a:rPr>
                <a:t>Export to high-performance </a:t>
              </a:r>
              <a:r>
                <a:rPr b="1" lang="en-US" sz="1000">
                  <a:solidFill>
                    <a:srgbClr val="F0B429"/>
                  </a:solidFill>
                  <a:latin typeface="Carlito"/>
                  <a:ea typeface="Carlito"/>
                  <a:cs typeface="Carlito"/>
                  <a:sym typeface="Carlito"/>
                </a:rPr>
                <a:t>ONNX Runtime</a:t>
              </a:r>
              <a:endParaRPr sz="1000">
                <a:solidFill>
                  <a:srgbClr val="F5F1E6"/>
                </a:solidFill>
                <a:latin typeface="Carlito"/>
                <a:ea typeface="Carlito"/>
                <a:cs typeface="Carlito"/>
                <a:sym typeface="Carlito"/>
              </a:endParaRPr>
            </a:p>
            <a:p>
              <a:pPr indent="-292100" lvl="0" marL="457200" rtl="0" algn="l">
                <a:spcBef>
                  <a:spcPts val="450"/>
                </a:spcBef>
                <a:spcAft>
                  <a:spcPts val="0"/>
                </a:spcAft>
                <a:buClr>
                  <a:srgbClr val="F5F1E6"/>
                </a:buClr>
                <a:buSzPts val="1000"/>
                <a:buFont typeface="Carlito"/>
                <a:buChar char="●"/>
              </a:pPr>
              <a:r>
                <a:rPr lang="en-US" sz="1000">
                  <a:solidFill>
                    <a:srgbClr val="F5F1E6"/>
                  </a:solidFill>
                  <a:latin typeface="Carlito"/>
                  <a:ea typeface="Carlito"/>
                  <a:cs typeface="Carlito"/>
                  <a:sym typeface="Carlito"/>
                </a:rPr>
                <a:t>Conduct direct head-to-head </a:t>
              </a:r>
              <a:r>
                <a:rPr b="1" lang="en-US" sz="1000">
                  <a:solidFill>
                    <a:srgbClr val="F0B429"/>
                  </a:solidFill>
                  <a:latin typeface="Carlito"/>
                  <a:ea typeface="Carlito"/>
                  <a:cs typeface="Carlito"/>
                  <a:sym typeface="Carlito"/>
                </a:rPr>
                <a:t>Benchmark</a:t>
              </a:r>
              <a:endParaRPr sz="1000">
                <a:solidFill>
                  <a:srgbClr val="F5F1E6"/>
                </a:solidFill>
                <a:latin typeface="Carlito"/>
                <a:ea typeface="Carlito"/>
                <a:cs typeface="Carlito"/>
                <a:sym typeface="Carlito"/>
              </a:endParaRPr>
            </a:p>
            <a:p>
              <a:pPr indent="0" lvl="0" marL="0" rtl="0" algn="l">
                <a:spcBef>
                  <a:spcPts val="0"/>
                </a:spcBef>
                <a:spcAft>
                  <a:spcPts val="750"/>
                </a:spcAft>
                <a:buNone/>
              </a:pPr>
              <a:r>
                <a:rPr i="1" lang="en-US" sz="950">
                  <a:solidFill>
                    <a:srgbClr val="94A3B8"/>
                  </a:solidFill>
                  <a:latin typeface="Carlito"/>
                  <a:ea typeface="Carlito"/>
                  <a:cs typeface="Carlito"/>
                  <a:sym typeface="Carlito"/>
                </a:rPr>
                <a:t>Same model. Four versions. </a:t>
              </a:r>
              <a:r>
                <a:rPr b="1" i="0" lang="en-US" sz="950">
                  <a:solidFill>
                    <a:srgbClr val="F0B429"/>
                  </a:solidFill>
                  <a:latin typeface="Carlito"/>
                  <a:ea typeface="Carlito"/>
                  <a:cs typeface="Carlito"/>
                  <a:sym typeface="Carlito"/>
                </a:rPr>
                <a:t>Direct head-to-head comparison.</a:t>
              </a:r>
              <a:endParaRPr i="1" sz="950">
                <a:solidFill>
                  <a:srgbClr val="94A3B8"/>
                </a:solidFill>
                <a:latin typeface="Carlito"/>
                <a:ea typeface="Carlito"/>
                <a:cs typeface="Carlito"/>
                <a:sym typeface="Carlito"/>
              </a:endParaRPr>
            </a:p>
          </p:txBody>
        </p:sp>
      </p:grpSp>
      <p:sp>
        <p:nvSpPr>
          <p:cNvPr id="1300" name="Google Shape;1300;p46"/>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301" name="Google Shape;1301;p46"/>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44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306" name="Shape 1306"/>
        <p:cNvGrpSpPr/>
        <p:nvPr/>
      </p:nvGrpSpPr>
      <p:grpSpPr>
        <a:xfrm>
          <a:off x="0" y="0"/>
          <a:ext cx="0" cy="0"/>
          <a:chOff x="0" y="0"/>
          <a:chExt cx="0" cy="0"/>
        </a:xfrm>
      </p:grpSpPr>
      <p:sp>
        <p:nvSpPr>
          <p:cNvPr id="1307" name="Google Shape;1307;p47"/>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07 · LIVE DEMO</a:t>
            </a:r>
            <a:endParaRPr b="0" i="0" sz="800" u="none" cap="none" strike="noStrike">
              <a:solidFill>
                <a:schemeClr val="dk1"/>
              </a:solidFill>
              <a:latin typeface="Calibri"/>
              <a:ea typeface="Calibri"/>
              <a:cs typeface="Calibri"/>
              <a:sym typeface="Calibri"/>
            </a:endParaRPr>
          </a:p>
        </p:txBody>
      </p:sp>
      <p:sp>
        <p:nvSpPr>
          <p:cNvPr id="1308" name="Google Shape;1308;p47"/>
          <p:cNvSpPr/>
          <p:nvPr/>
        </p:nvSpPr>
        <p:spPr>
          <a:xfrm>
            <a:off x="457200" y="603647"/>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What Each Segment Demonstrates</a:t>
            </a:r>
            <a:endParaRPr b="0" i="0" sz="2250" u="none" cap="none" strike="noStrike">
              <a:solidFill>
                <a:schemeClr val="dk1"/>
              </a:solidFill>
              <a:latin typeface="Calibri"/>
              <a:ea typeface="Calibri"/>
              <a:cs typeface="Calibri"/>
              <a:sym typeface="Calibri"/>
            </a:endParaRPr>
          </a:p>
        </p:txBody>
      </p:sp>
      <p:sp>
        <p:nvSpPr>
          <p:cNvPr id="1309" name="Google Shape;1309;p47"/>
          <p:cNvSpPr/>
          <p:nvPr/>
        </p:nvSpPr>
        <p:spPr>
          <a:xfrm>
            <a:off x="457200" y="989409"/>
            <a:ext cx="8229600" cy="216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4A3B8"/>
              </a:buClr>
              <a:buSzPts val="1125"/>
              <a:buFont typeface="Carlito"/>
              <a:buNone/>
            </a:pPr>
            <a:r>
              <a:rPr b="0" i="0" lang="en-US" sz="1125" u="none" cap="none" strike="noStrike">
                <a:solidFill>
                  <a:srgbClr val="94A3B8"/>
                </a:solidFill>
                <a:latin typeface="Carlito"/>
                <a:ea typeface="Carlito"/>
                <a:cs typeface="Carlito"/>
                <a:sym typeface="Carlito"/>
              </a:rPr>
              <a:t>Each segment of the demo maps back to a specific concept from Part A.</a:t>
            </a:r>
            <a:endParaRPr b="0" i="0" sz="1125" u="none" cap="none" strike="noStrike">
              <a:solidFill>
                <a:schemeClr val="dk1"/>
              </a:solidFill>
              <a:latin typeface="Calibri"/>
              <a:ea typeface="Calibri"/>
              <a:cs typeface="Calibri"/>
              <a:sym typeface="Calibri"/>
            </a:endParaRPr>
          </a:p>
        </p:txBody>
      </p:sp>
      <p:grpSp>
        <p:nvGrpSpPr>
          <p:cNvPr id="1310" name="Google Shape;1310;p47"/>
          <p:cNvGrpSpPr/>
          <p:nvPr/>
        </p:nvGrpSpPr>
        <p:grpSpPr>
          <a:xfrm>
            <a:off x="457200" y="1381125"/>
            <a:ext cx="8229600" cy="3095700"/>
            <a:chOff x="457200" y="1381125"/>
            <a:chExt cx="8229600" cy="3095700"/>
          </a:xfrm>
        </p:grpSpPr>
        <p:sp>
          <p:nvSpPr>
            <p:cNvPr id="1311" name="Google Shape;1311;p47"/>
            <p:cNvSpPr/>
            <p:nvPr/>
          </p:nvSpPr>
          <p:spPr>
            <a:xfrm>
              <a:off x="457200" y="1381125"/>
              <a:ext cx="2590800" cy="3095700"/>
            </a:xfrm>
            <a:prstGeom prst="roundRect">
              <a:avLst>
                <a:gd fmla="val 294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2" name="Google Shape;1312;p47"/>
            <p:cNvSpPr/>
            <p:nvPr/>
          </p:nvSpPr>
          <p:spPr>
            <a:xfrm>
              <a:off x="457200" y="1381125"/>
              <a:ext cx="38100" cy="3095700"/>
            </a:xfrm>
            <a:prstGeom prst="roundRect">
              <a:avLst>
                <a:gd fmla="val 50000" name="adj"/>
              </a:avLst>
            </a:prstGeom>
            <a:solidFill>
              <a:srgbClr val="F0B429">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3" name="Google Shape;1313;p47"/>
            <p:cNvSpPr txBox="1"/>
            <p:nvPr/>
          </p:nvSpPr>
          <p:spPr>
            <a:xfrm>
              <a:off x="609600" y="1533525"/>
              <a:ext cx="2286000" cy="2790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0B429"/>
                  </a:solidFill>
                  <a:latin typeface="Carlito"/>
                  <a:ea typeface="Carlito"/>
                  <a:cs typeface="Carlito"/>
                  <a:sym typeface="Carlito"/>
                </a:rPr>
                <a:t>SEGMENT 01</a:t>
              </a:r>
              <a:endParaRPr b="1" sz="900">
                <a:solidFill>
                  <a:srgbClr val="F0B429"/>
                </a:solidFill>
                <a:latin typeface="Carlito"/>
                <a:ea typeface="Carlito"/>
                <a:cs typeface="Carlito"/>
                <a:sym typeface="Carlito"/>
              </a:endParaRPr>
            </a:p>
            <a:p>
              <a:pPr indent="0" lvl="0" marL="0" rtl="0" algn="l">
                <a:spcBef>
                  <a:spcPts val="450"/>
                </a:spcBef>
                <a:spcAft>
                  <a:spcPts val="0"/>
                </a:spcAft>
                <a:buNone/>
              </a:pPr>
              <a:r>
                <a:rPr b="1" lang="en-US" sz="1600">
                  <a:solidFill>
                    <a:srgbClr val="F5F1E6"/>
                  </a:solidFill>
                  <a:latin typeface="Carlito"/>
                  <a:ea typeface="Carlito"/>
                  <a:cs typeface="Carlito"/>
                  <a:sym typeface="Carlito"/>
                </a:rPr>
                <a:t>Training Loop Mechanics</a:t>
              </a:r>
              <a:endParaRPr b="1" sz="1600">
                <a:solidFill>
                  <a:srgbClr val="F5F1E6"/>
                </a:solidFill>
                <a:latin typeface="Carlito"/>
                <a:ea typeface="Carlito"/>
                <a:cs typeface="Carlito"/>
                <a:sym typeface="Carlito"/>
              </a:endParaRPr>
            </a:p>
            <a:p>
              <a:pPr indent="0" lvl="0" marL="0" rtl="0" algn="l">
                <a:spcBef>
                  <a:spcPts val="900"/>
                </a:spcBef>
                <a:spcAft>
                  <a:spcPts val="0"/>
                </a:spcAft>
                <a:buNone/>
              </a:pPr>
              <a:r>
                <a:rPr b="0" lang="en-US" sz="1050">
                  <a:solidFill>
                    <a:srgbClr val="94A3B8"/>
                  </a:solidFill>
                  <a:latin typeface="Carlito"/>
                  <a:ea typeface="Carlito"/>
                  <a:cs typeface="Carlito"/>
                  <a:sym typeface="Carlito"/>
                </a:rPr>
                <a:t>Forward pass, loss computation, backward pass, optimizer step — the fundamental loop underneath every model in this session, made visible on something small enough to inspect directly.</a:t>
              </a:r>
              <a:endParaRPr b="0" sz="1050">
                <a:solidFill>
                  <a:srgbClr val="94A3B8"/>
                </a:solidFill>
                <a:latin typeface="Carlito"/>
                <a:ea typeface="Carlito"/>
                <a:cs typeface="Carlito"/>
                <a:sym typeface="Carlito"/>
              </a:endParaRPr>
            </a:p>
            <a:p>
              <a:pPr indent="0" lvl="0" marL="0" rtl="0" algn="l">
                <a:spcBef>
                  <a:spcPts val="900"/>
                </a:spcBef>
                <a:spcAft>
                  <a:spcPts val="0"/>
                </a:spcAft>
                <a:buNone/>
              </a:pPr>
              <a:r>
                <a:rPr b="1" lang="en-US" sz="850">
                  <a:solidFill>
                    <a:srgbClr val="F0B429"/>
                  </a:solidFill>
                  <a:latin typeface="Carlito"/>
                  <a:ea typeface="Carlito"/>
                  <a:cs typeface="Carlito"/>
                  <a:sym typeface="Carlito"/>
                </a:rPr>
                <a:t>→ </a:t>
              </a:r>
              <a:r>
                <a:rPr b="1" lang="en-US" sz="850">
                  <a:solidFill>
                    <a:srgbClr val="94A3B8"/>
                  </a:solidFill>
                  <a:latin typeface="Carlito"/>
                  <a:ea typeface="Carlito"/>
                  <a:cs typeface="Carlito"/>
                  <a:sym typeface="Carlito"/>
                </a:rPr>
                <a:t>MAPS TO → PART 02 · COST OF SCALE</a:t>
              </a:r>
              <a:endParaRPr b="1" sz="850">
                <a:solidFill>
                  <a:srgbClr val="F0B429"/>
                </a:solidFill>
                <a:latin typeface="Carlito"/>
                <a:ea typeface="Carlito"/>
                <a:cs typeface="Carlito"/>
                <a:sym typeface="Carlito"/>
              </a:endParaRPr>
            </a:p>
          </p:txBody>
        </p:sp>
        <p:sp>
          <p:nvSpPr>
            <p:cNvPr id="1314" name="Google Shape;1314;p47"/>
            <p:cNvSpPr/>
            <p:nvPr/>
          </p:nvSpPr>
          <p:spPr>
            <a:xfrm>
              <a:off x="3276600" y="1381125"/>
              <a:ext cx="2590800" cy="3095700"/>
            </a:xfrm>
            <a:prstGeom prst="roundRect">
              <a:avLst>
                <a:gd fmla="val 294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5" name="Google Shape;1315;p47"/>
            <p:cNvSpPr/>
            <p:nvPr/>
          </p:nvSpPr>
          <p:spPr>
            <a:xfrm>
              <a:off x="3276600" y="1381125"/>
              <a:ext cx="38100" cy="30957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6" name="Google Shape;1316;p47"/>
            <p:cNvSpPr txBox="1"/>
            <p:nvPr/>
          </p:nvSpPr>
          <p:spPr>
            <a:xfrm>
              <a:off x="3429000" y="1533525"/>
              <a:ext cx="2286000" cy="2790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0B429"/>
                  </a:solidFill>
                  <a:latin typeface="Carlito"/>
                  <a:ea typeface="Carlito"/>
                  <a:cs typeface="Carlito"/>
                  <a:sym typeface="Carlito"/>
                </a:rPr>
                <a:t>SEGMENT 02</a:t>
              </a:r>
              <a:endParaRPr b="1" sz="900">
                <a:solidFill>
                  <a:srgbClr val="F0B429"/>
                </a:solidFill>
                <a:latin typeface="Carlito"/>
                <a:ea typeface="Carlito"/>
                <a:cs typeface="Carlito"/>
                <a:sym typeface="Carlito"/>
              </a:endParaRPr>
            </a:p>
            <a:p>
              <a:pPr indent="0" lvl="0" marL="0" rtl="0" algn="l">
                <a:spcBef>
                  <a:spcPts val="450"/>
                </a:spcBef>
                <a:spcAft>
                  <a:spcPts val="0"/>
                </a:spcAft>
                <a:buNone/>
              </a:pPr>
              <a:r>
                <a:rPr b="1" lang="en-US" sz="1600">
                  <a:solidFill>
                    <a:srgbClr val="F5F1E6"/>
                  </a:solidFill>
                  <a:latin typeface="Carlito"/>
                  <a:ea typeface="Carlito"/>
                  <a:cs typeface="Carlito"/>
                  <a:sym typeface="Carlito"/>
                </a:rPr>
                <a:t>PEFT and </a:t>
              </a:r>
              <a:r>
                <a:rPr b="1" lang="en-US" sz="1600">
                  <a:solidFill>
                    <a:srgbClr val="F0B429"/>
                  </a:solidFill>
                  <a:latin typeface="Carlito"/>
                  <a:ea typeface="Carlito"/>
                  <a:cs typeface="Carlito"/>
                  <a:sym typeface="Carlito"/>
                </a:rPr>
                <a:t>LoRA</a:t>
              </a:r>
              <a:r>
                <a:rPr b="1" lang="en-US" sz="1600">
                  <a:solidFill>
                    <a:srgbClr val="F5F1E6"/>
                  </a:solidFill>
                  <a:latin typeface="Carlito"/>
                  <a:ea typeface="Carlito"/>
                  <a:cs typeface="Carlito"/>
                  <a:sym typeface="Carlito"/>
                </a:rPr>
                <a:t> in Practice</a:t>
              </a:r>
              <a:endParaRPr b="1" sz="1600">
                <a:solidFill>
                  <a:srgbClr val="F5F1E6"/>
                </a:solidFill>
                <a:latin typeface="Carlito"/>
                <a:ea typeface="Carlito"/>
                <a:cs typeface="Carlito"/>
                <a:sym typeface="Carlito"/>
              </a:endParaRPr>
            </a:p>
            <a:p>
              <a:pPr indent="0" lvl="0" marL="0" rtl="0" algn="l">
                <a:spcBef>
                  <a:spcPts val="900"/>
                </a:spcBef>
                <a:spcAft>
                  <a:spcPts val="0"/>
                </a:spcAft>
                <a:buNone/>
              </a:pPr>
              <a:r>
                <a:rPr b="0" lang="en-US" sz="1050">
                  <a:solidFill>
                    <a:srgbClr val="94A3B8"/>
                  </a:solidFill>
                  <a:latin typeface="Carlito"/>
                  <a:ea typeface="Carlito"/>
                  <a:cs typeface="Carlito"/>
                  <a:sym typeface="Carlito"/>
                </a:rPr>
                <a:t>Loading a frozen pretrained model, attaching small trainable </a:t>
              </a:r>
              <a:r>
                <a:rPr b="1" lang="en-US" sz="1050">
                  <a:solidFill>
                    <a:srgbClr val="F0B429"/>
                  </a:solidFill>
                  <a:latin typeface="Carlito"/>
                  <a:ea typeface="Carlito"/>
                  <a:cs typeface="Carlito"/>
                  <a:sym typeface="Carlito"/>
                </a:rPr>
                <a:t>LoRA</a:t>
              </a:r>
              <a:r>
                <a:rPr b="0" lang="en-US" sz="1050">
                  <a:solidFill>
                    <a:srgbClr val="94A3B8"/>
                  </a:solidFill>
                  <a:latin typeface="Carlito"/>
                  <a:ea typeface="Carlito"/>
                  <a:cs typeface="Carlito"/>
                  <a:sym typeface="Carlito"/>
                </a:rPr>
                <a:t> layers, and fine-tuning only those — with a live parameter-count comparison showing </a:t>
              </a:r>
              <a:r>
                <a:rPr b="1" lang="en-US" sz="1050">
                  <a:solidFill>
                    <a:srgbClr val="F0B429"/>
                  </a:solidFill>
                  <a:latin typeface="Carlito"/>
                  <a:ea typeface="Carlito"/>
                  <a:cs typeface="Carlito"/>
                  <a:sym typeface="Carlito"/>
                </a:rPr>
                <a:t>0.24%</a:t>
              </a:r>
              <a:r>
                <a:rPr b="0" lang="en-US" sz="1050">
                  <a:solidFill>
                    <a:srgbClr val="94A3B8"/>
                  </a:solidFill>
                  <a:latin typeface="Carlito"/>
                  <a:ea typeface="Carlito"/>
                  <a:cs typeface="Carlito"/>
                  <a:sym typeface="Carlito"/>
                </a:rPr>
                <a:t> trainable.</a:t>
              </a:r>
              <a:endParaRPr b="0" sz="1050">
                <a:solidFill>
                  <a:srgbClr val="94A3B8"/>
                </a:solidFill>
                <a:latin typeface="Carlito"/>
                <a:ea typeface="Carlito"/>
                <a:cs typeface="Carlito"/>
                <a:sym typeface="Carlito"/>
              </a:endParaRPr>
            </a:p>
            <a:p>
              <a:pPr indent="0" lvl="0" marL="0" rtl="0" algn="l">
                <a:spcBef>
                  <a:spcPts val="900"/>
                </a:spcBef>
                <a:spcAft>
                  <a:spcPts val="0"/>
                </a:spcAft>
                <a:buNone/>
              </a:pPr>
              <a:r>
                <a:rPr b="1" lang="en-US" sz="850">
                  <a:solidFill>
                    <a:srgbClr val="F0B429"/>
                  </a:solidFill>
                  <a:latin typeface="Carlito"/>
                  <a:ea typeface="Carlito"/>
                  <a:cs typeface="Carlito"/>
                  <a:sym typeface="Carlito"/>
                </a:rPr>
                <a:t>→ </a:t>
              </a:r>
              <a:r>
                <a:rPr b="1" lang="en-US" sz="850">
                  <a:solidFill>
                    <a:srgbClr val="94A3B8"/>
                  </a:solidFill>
                  <a:latin typeface="Carlito"/>
                  <a:ea typeface="Carlito"/>
                  <a:cs typeface="Carlito"/>
                  <a:sym typeface="Carlito"/>
                </a:rPr>
                <a:t>MAPS TO → PART 03 · PEFT &amp; LORA</a:t>
              </a:r>
              <a:endParaRPr b="1" sz="850">
                <a:solidFill>
                  <a:srgbClr val="F0B429"/>
                </a:solidFill>
                <a:latin typeface="Carlito"/>
                <a:ea typeface="Carlito"/>
                <a:cs typeface="Carlito"/>
                <a:sym typeface="Carlito"/>
              </a:endParaRPr>
            </a:p>
          </p:txBody>
        </p:sp>
        <p:sp>
          <p:nvSpPr>
            <p:cNvPr id="1317" name="Google Shape;1317;p47"/>
            <p:cNvSpPr/>
            <p:nvPr/>
          </p:nvSpPr>
          <p:spPr>
            <a:xfrm>
              <a:off x="6096000" y="1381125"/>
              <a:ext cx="2590800" cy="3095700"/>
            </a:xfrm>
            <a:prstGeom prst="roundRect">
              <a:avLst>
                <a:gd fmla="val 2941"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8" name="Google Shape;1318;p47"/>
            <p:cNvSpPr/>
            <p:nvPr/>
          </p:nvSpPr>
          <p:spPr>
            <a:xfrm>
              <a:off x="6096000" y="1381125"/>
              <a:ext cx="38100" cy="30957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9" name="Google Shape;1319;p47"/>
            <p:cNvSpPr txBox="1"/>
            <p:nvPr/>
          </p:nvSpPr>
          <p:spPr>
            <a:xfrm>
              <a:off x="6248400" y="1533525"/>
              <a:ext cx="2286000" cy="2790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0B429"/>
                  </a:solidFill>
                  <a:latin typeface="Carlito"/>
                  <a:ea typeface="Carlito"/>
                  <a:cs typeface="Carlito"/>
                  <a:sym typeface="Carlito"/>
                </a:rPr>
                <a:t>SEGMENT 03</a:t>
              </a:r>
              <a:endParaRPr b="1" sz="900">
                <a:solidFill>
                  <a:srgbClr val="F0B429"/>
                </a:solidFill>
                <a:latin typeface="Carlito"/>
                <a:ea typeface="Carlito"/>
                <a:cs typeface="Carlito"/>
                <a:sym typeface="Carlito"/>
              </a:endParaRPr>
            </a:p>
            <a:p>
              <a:pPr indent="0" lvl="0" marL="0" rtl="0" algn="l">
                <a:spcBef>
                  <a:spcPts val="450"/>
                </a:spcBef>
                <a:spcAft>
                  <a:spcPts val="0"/>
                </a:spcAft>
                <a:buNone/>
              </a:pPr>
              <a:r>
                <a:rPr b="1" lang="en-US" sz="1600">
                  <a:solidFill>
                    <a:srgbClr val="F5F1E6"/>
                  </a:solidFill>
                  <a:latin typeface="Carlito"/>
                  <a:ea typeface="Carlito"/>
                  <a:cs typeface="Carlito"/>
                  <a:sym typeface="Carlito"/>
                </a:rPr>
                <a:t>Quantization &amp; Export</a:t>
              </a:r>
              <a:endParaRPr b="1" sz="1600">
                <a:solidFill>
                  <a:srgbClr val="F5F1E6"/>
                </a:solidFill>
                <a:latin typeface="Carlito"/>
                <a:ea typeface="Carlito"/>
                <a:cs typeface="Carlito"/>
                <a:sym typeface="Carlito"/>
              </a:endParaRPr>
            </a:p>
            <a:p>
              <a:pPr indent="0" lvl="0" marL="0" rtl="0" algn="l">
                <a:spcBef>
                  <a:spcPts val="900"/>
                </a:spcBef>
                <a:spcAft>
                  <a:spcPts val="0"/>
                </a:spcAft>
                <a:buNone/>
              </a:pPr>
              <a:r>
                <a:rPr b="0" lang="en-US" sz="1050">
                  <a:solidFill>
                    <a:srgbClr val="94A3B8"/>
                  </a:solidFill>
                  <a:latin typeface="Carlito"/>
                  <a:ea typeface="Carlito"/>
                  <a:cs typeface="Carlito"/>
                  <a:sym typeface="Carlito"/>
                </a:rPr>
                <a:t>Taking the fine-tuned model through </a:t>
              </a:r>
              <a:r>
                <a:rPr b="1" lang="en-US" sz="1050">
                  <a:solidFill>
                    <a:srgbClr val="F0B429"/>
                  </a:solidFill>
                  <a:latin typeface="Carlito"/>
                  <a:ea typeface="Carlito"/>
                  <a:cs typeface="Carlito"/>
                  <a:sym typeface="Carlito"/>
                </a:rPr>
                <a:t>INT8</a:t>
              </a:r>
              <a:r>
                <a:rPr b="0" lang="en-US" sz="1050">
                  <a:solidFill>
                    <a:srgbClr val="94A3B8"/>
                  </a:solidFill>
                  <a:latin typeface="Carlito"/>
                  <a:ea typeface="Carlito"/>
                  <a:cs typeface="Carlito"/>
                  <a:sym typeface="Carlito"/>
                </a:rPr>
                <a:t> quantization and </a:t>
              </a:r>
              <a:r>
                <a:rPr b="1" lang="en-US" sz="1050">
                  <a:solidFill>
                    <a:srgbClr val="F0B429"/>
                  </a:solidFill>
                  <a:latin typeface="Carlito"/>
                  <a:ea typeface="Carlito"/>
                  <a:cs typeface="Carlito"/>
                  <a:sym typeface="Carlito"/>
                </a:rPr>
                <a:t>ONNX</a:t>
              </a:r>
              <a:r>
                <a:rPr b="0" lang="en-US" sz="1050">
                  <a:solidFill>
                    <a:srgbClr val="94A3B8"/>
                  </a:solidFill>
                  <a:latin typeface="Carlito"/>
                  <a:ea typeface="Carlito"/>
                  <a:cs typeface="Carlito"/>
                  <a:sym typeface="Carlito"/>
                </a:rPr>
                <a:t> export, then directly comparing file size and inference speed before and after — with the two gotchas from Part 05 fixed along the way.</a:t>
              </a:r>
              <a:endParaRPr b="0" sz="1050">
                <a:solidFill>
                  <a:srgbClr val="94A3B8"/>
                </a:solidFill>
                <a:latin typeface="Carlito"/>
                <a:ea typeface="Carlito"/>
                <a:cs typeface="Carlito"/>
                <a:sym typeface="Carlito"/>
              </a:endParaRPr>
            </a:p>
            <a:p>
              <a:pPr indent="0" lvl="0" marL="0" rtl="0" algn="l">
                <a:spcBef>
                  <a:spcPts val="900"/>
                </a:spcBef>
                <a:spcAft>
                  <a:spcPts val="0"/>
                </a:spcAft>
                <a:buNone/>
              </a:pPr>
              <a:r>
                <a:rPr b="1" lang="en-US" sz="850">
                  <a:solidFill>
                    <a:srgbClr val="F0B429"/>
                  </a:solidFill>
                  <a:latin typeface="Carlito"/>
                  <a:ea typeface="Carlito"/>
                  <a:cs typeface="Carlito"/>
                  <a:sym typeface="Carlito"/>
                </a:rPr>
                <a:t>→ </a:t>
              </a:r>
              <a:r>
                <a:rPr b="1" lang="en-US" sz="850">
                  <a:solidFill>
                    <a:srgbClr val="94A3B8"/>
                  </a:solidFill>
                  <a:latin typeface="Carlito"/>
                  <a:ea typeface="Carlito"/>
                  <a:cs typeface="Carlito"/>
                  <a:sym typeface="Carlito"/>
                </a:rPr>
                <a:t>MAPS TO → PART 05 &amp; PART 06</a:t>
              </a:r>
              <a:endParaRPr b="1" sz="850">
                <a:solidFill>
                  <a:srgbClr val="F0B429"/>
                </a:solidFill>
                <a:latin typeface="Carlito"/>
                <a:ea typeface="Carlito"/>
                <a:cs typeface="Carlito"/>
                <a:sym typeface="Carlito"/>
              </a:endParaRPr>
            </a:p>
          </p:txBody>
        </p:sp>
      </p:grpSp>
      <p:sp>
        <p:nvSpPr>
          <p:cNvPr id="1320" name="Google Shape;1320;p47"/>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321" name="Google Shape;1321;p47"/>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45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326" name="Shape 1326"/>
        <p:cNvGrpSpPr/>
        <p:nvPr/>
      </p:nvGrpSpPr>
      <p:grpSpPr>
        <a:xfrm>
          <a:off x="0" y="0"/>
          <a:ext cx="0" cy="0"/>
          <a:chOff x="0" y="0"/>
          <a:chExt cx="0" cy="0"/>
        </a:xfrm>
      </p:grpSpPr>
      <p:sp>
        <p:nvSpPr>
          <p:cNvPr id="1327" name="Google Shape;1327;p48"/>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07 · LIVE DEMO</a:t>
            </a:r>
            <a:endParaRPr b="0" i="0" sz="800" u="none" cap="none" strike="noStrike">
              <a:solidFill>
                <a:schemeClr val="dk1"/>
              </a:solidFill>
              <a:latin typeface="Calibri"/>
              <a:ea typeface="Calibri"/>
              <a:cs typeface="Calibri"/>
              <a:sym typeface="Calibri"/>
            </a:endParaRPr>
          </a:p>
        </p:txBody>
      </p:sp>
      <p:sp>
        <p:nvSpPr>
          <p:cNvPr id="1328" name="Google Shape;1328;p48"/>
          <p:cNvSpPr/>
          <p:nvPr/>
        </p:nvSpPr>
        <p:spPr>
          <a:xfrm>
            <a:off x="457200" y="603647"/>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A Note on Framework Choice</a:t>
            </a:r>
            <a:endParaRPr b="0" i="0" sz="2250" u="none" cap="none" strike="noStrike">
              <a:solidFill>
                <a:schemeClr val="dk1"/>
              </a:solidFill>
              <a:latin typeface="Calibri"/>
              <a:ea typeface="Calibri"/>
              <a:cs typeface="Calibri"/>
              <a:sym typeface="Calibri"/>
            </a:endParaRPr>
          </a:p>
        </p:txBody>
      </p:sp>
      <p:sp>
        <p:nvSpPr>
          <p:cNvPr id="1329" name="Google Shape;1329;p48"/>
          <p:cNvSpPr/>
          <p:nvPr/>
        </p:nvSpPr>
        <p:spPr>
          <a:xfrm>
            <a:off x="457200" y="1143000"/>
            <a:ext cx="3962400" cy="1143000"/>
          </a:xfrm>
          <a:prstGeom prst="roundRect">
            <a:avLst>
              <a:gd fmla="val 6666" name="adj"/>
            </a:avLst>
          </a:prstGeom>
          <a:solidFill>
            <a:srgbClr val="142339"/>
          </a:solidFill>
          <a:ln cap="flat" cmpd="sng" w="14300">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0" name="Google Shape;1330;p48"/>
          <p:cNvSpPr/>
          <p:nvPr/>
        </p:nvSpPr>
        <p:spPr>
          <a:xfrm>
            <a:off x="457200" y="1143000"/>
            <a:ext cx="38100" cy="11430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1" name="Google Shape;1331;p48"/>
          <p:cNvSpPr txBox="1"/>
          <p:nvPr/>
        </p:nvSpPr>
        <p:spPr>
          <a:xfrm>
            <a:off x="647700" y="1238250"/>
            <a:ext cx="35814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F0B429"/>
                </a:solidFill>
                <a:latin typeface="Carlito"/>
                <a:ea typeface="Carlito"/>
                <a:cs typeface="Carlito"/>
                <a:sym typeface="Carlito"/>
              </a:rPr>
              <a:t>¶ 01 — TODAY'S STACK</a:t>
            </a:r>
            <a:endParaRPr b="1" sz="850">
              <a:solidFill>
                <a:srgbClr val="F0B429"/>
              </a:solidFill>
              <a:latin typeface="Carlito"/>
              <a:ea typeface="Carlito"/>
              <a:cs typeface="Carlito"/>
              <a:sym typeface="Carlito"/>
            </a:endParaRPr>
          </a:p>
          <a:p>
            <a:pPr indent="0" lvl="0" marL="0" rtl="0" algn="l">
              <a:spcBef>
                <a:spcPts val="450"/>
              </a:spcBef>
              <a:spcAft>
                <a:spcPts val="0"/>
              </a:spcAft>
              <a:buNone/>
            </a:pPr>
            <a:r>
              <a:rPr b="0" lang="en-US" sz="1050">
                <a:solidFill>
                  <a:srgbClr val="F5F1E6"/>
                </a:solidFill>
                <a:latin typeface="Carlito"/>
                <a:ea typeface="Carlito"/>
                <a:cs typeface="Carlito"/>
                <a:sym typeface="Carlito"/>
              </a:rPr>
              <a:t>Today's hands-on notebook uses </a:t>
            </a:r>
            <a:r>
              <a:rPr b="1" lang="en-US" sz="1050">
                <a:solidFill>
                  <a:srgbClr val="F0B429"/>
                </a:solidFill>
                <a:latin typeface="Carlito"/>
                <a:ea typeface="Carlito"/>
                <a:cs typeface="Carlito"/>
                <a:sym typeface="Carlito"/>
              </a:rPr>
              <a:t>PyTorch</a:t>
            </a:r>
            <a:r>
              <a:rPr b="0" lang="en-US" sz="1050">
                <a:solidFill>
                  <a:srgbClr val="F5F1E6"/>
                </a:solidFill>
                <a:latin typeface="Carlito"/>
                <a:ea typeface="Carlito"/>
                <a:cs typeface="Carlito"/>
                <a:sym typeface="Carlito"/>
              </a:rPr>
              <a:t>, alongside the </a:t>
            </a:r>
            <a:r>
              <a:rPr b="1" lang="en-US" sz="1050">
                <a:solidFill>
                  <a:srgbClr val="F0B429"/>
                </a:solidFill>
                <a:latin typeface="Carlito"/>
                <a:ea typeface="Carlito"/>
                <a:cs typeface="Carlito"/>
                <a:sym typeface="Carlito"/>
              </a:rPr>
              <a:t>Hugging Face</a:t>
            </a:r>
            <a:r>
              <a:rPr b="0" lang="en-US" sz="1050">
                <a:solidFill>
                  <a:srgbClr val="F5F1E6"/>
                </a:solidFill>
                <a:latin typeface="Carlito"/>
                <a:ea typeface="Carlito"/>
                <a:cs typeface="Carlito"/>
                <a:sym typeface="Carlito"/>
              </a:rPr>
              <a:t> ecosystem: </a:t>
            </a:r>
            <a:r>
              <a:rPr b="1" lang="en-US" sz="1050">
                <a:solidFill>
                  <a:srgbClr val="F0B429"/>
                </a:solidFill>
                <a:latin typeface="Courier New"/>
                <a:ea typeface="Courier New"/>
                <a:cs typeface="Courier New"/>
                <a:sym typeface="Courier New"/>
              </a:rPr>
              <a:t>transformers</a:t>
            </a:r>
            <a:r>
              <a:rPr b="0" lang="en-US" sz="1050">
                <a:solidFill>
                  <a:srgbClr val="F5F1E6"/>
                </a:solidFill>
                <a:latin typeface="Carlito"/>
                <a:ea typeface="Carlito"/>
                <a:cs typeface="Carlito"/>
                <a:sym typeface="Carlito"/>
              </a:rPr>
              <a:t>, </a:t>
            </a:r>
            <a:r>
              <a:rPr b="1" lang="en-US" sz="1050">
                <a:solidFill>
                  <a:srgbClr val="F0B429"/>
                </a:solidFill>
                <a:latin typeface="Courier New"/>
                <a:ea typeface="Courier New"/>
                <a:cs typeface="Courier New"/>
                <a:sym typeface="Courier New"/>
              </a:rPr>
              <a:t>peft</a:t>
            </a:r>
            <a:r>
              <a:rPr b="0" lang="en-US" sz="1050">
                <a:solidFill>
                  <a:srgbClr val="F5F1E6"/>
                </a:solidFill>
                <a:latin typeface="Carlito"/>
                <a:ea typeface="Carlito"/>
                <a:cs typeface="Carlito"/>
                <a:sym typeface="Carlito"/>
              </a:rPr>
              <a:t>, and </a:t>
            </a:r>
            <a:r>
              <a:rPr b="1" lang="en-US" sz="1050">
                <a:solidFill>
                  <a:srgbClr val="F0B429"/>
                </a:solidFill>
                <a:latin typeface="Courier New"/>
                <a:ea typeface="Courier New"/>
                <a:cs typeface="Courier New"/>
                <a:sym typeface="Courier New"/>
              </a:rPr>
              <a:t>ONNX</a:t>
            </a:r>
            <a:r>
              <a:rPr b="0" lang="en-US" sz="1050">
                <a:solidFill>
                  <a:srgbClr val="F5F1E6"/>
                </a:solidFill>
                <a:latin typeface="Carlito"/>
                <a:ea typeface="Carlito"/>
                <a:cs typeface="Carlito"/>
                <a:sym typeface="Carlito"/>
              </a:rPr>
              <a:t> export tooling.</a:t>
            </a:r>
            <a:endParaRPr b="0" sz="1050">
              <a:solidFill>
                <a:srgbClr val="F5F1E6"/>
              </a:solidFill>
              <a:latin typeface="Carlito"/>
              <a:ea typeface="Carlito"/>
              <a:cs typeface="Carlito"/>
              <a:sym typeface="Carlito"/>
            </a:endParaRPr>
          </a:p>
        </p:txBody>
      </p:sp>
      <p:sp>
        <p:nvSpPr>
          <p:cNvPr id="1332" name="Google Shape;1332;p48"/>
          <p:cNvSpPr/>
          <p:nvPr/>
        </p:nvSpPr>
        <p:spPr>
          <a:xfrm>
            <a:off x="4724400" y="1143000"/>
            <a:ext cx="3962400" cy="1143000"/>
          </a:xfrm>
          <a:prstGeom prst="roundRect">
            <a:avLst>
              <a:gd fmla="val 6666" name="adj"/>
            </a:avLst>
          </a:prstGeom>
          <a:solidFill>
            <a:srgbClr val="142339"/>
          </a:solidFill>
          <a:ln cap="flat" cmpd="sng" w="9525">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3" name="Google Shape;1333;p48"/>
          <p:cNvSpPr/>
          <p:nvPr/>
        </p:nvSpPr>
        <p:spPr>
          <a:xfrm>
            <a:off x="4724400" y="1143000"/>
            <a:ext cx="38100" cy="1143000"/>
          </a:xfrm>
          <a:prstGeom prst="roundRect">
            <a:avLst>
              <a:gd fmla="val 50000" name="adj"/>
            </a:avLst>
          </a:prstGeom>
          <a:solidFill>
            <a:srgbClr val="2A3B5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4" name="Google Shape;1334;p48"/>
          <p:cNvSpPr txBox="1"/>
          <p:nvPr/>
        </p:nvSpPr>
        <p:spPr>
          <a:xfrm>
            <a:off x="4914900" y="1238250"/>
            <a:ext cx="35814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94A3B8"/>
                </a:solidFill>
                <a:latin typeface="Carlito"/>
                <a:ea typeface="Carlito"/>
                <a:cs typeface="Carlito"/>
                <a:sym typeface="Carlito"/>
              </a:rPr>
              <a:t>¶ 02 — WHY THIS STACK, NOT A STATEMENT</a:t>
            </a:r>
            <a:endParaRPr b="1" sz="850">
              <a:solidFill>
                <a:srgbClr val="94A3B8"/>
              </a:solidFill>
              <a:latin typeface="Carlito"/>
              <a:ea typeface="Carlito"/>
              <a:cs typeface="Carlito"/>
              <a:sym typeface="Carlito"/>
            </a:endParaRPr>
          </a:p>
          <a:p>
            <a:pPr indent="0" lvl="0" marL="0" rtl="0" algn="l">
              <a:spcBef>
                <a:spcPts val="450"/>
              </a:spcBef>
              <a:spcAft>
                <a:spcPts val="0"/>
              </a:spcAft>
              <a:buNone/>
            </a:pPr>
            <a:r>
              <a:rPr b="0" lang="en-US" sz="1000">
                <a:solidFill>
                  <a:srgbClr val="94A3B8"/>
                </a:solidFill>
                <a:latin typeface="Carlito"/>
                <a:ea typeface="Carlito"/>
                <a:cs typeface="Carlito"/>
                <a:sym typeface="Carlito"/>
              </a:rPr>
              <a:t>This isn't a statement that </a:t>
            </a:r>
            <a:r>
              <a:rPr b="1" lang="en-US" sz="1000">
                <a:solidFill>
                  <a:srgbClr val="F5F1E6"/>
                </a:solidFill>
                <a:latin typeface="Carlito"/>
                <a:ea typeface="Carlito"/>
                <a:cs typeface="Carlito"/>
                <a:sym typeface="Carlito"/>
              </a:rPr>
              <a:t>PyTorch</a:t>
            </a:r>
            <a:r>
              <a:rPr b="0" lang="en-US" sz="1000">
                <a:solidFill>
                  <a:srgbClr val="94A3B8"/>
                </a:solidFill>
                <a:latin typeface="Carlito"/>
                <a:ea typeface="Carlito"/>
                <a:cs typeface="Carlito"/>
                <a:sym typeface="Carlito"/>
              </a:rPr>
              <a:t> is categorically better; </a:t>
            </a:r>
            <a:r>
              <a:rPr b="0" lang="en-US" sz="1000">
                <a:solidFill>
                  <a:srgbClr val="F5F1E6"/>
                </a:solidFill>
                <a:latin typeface="Carlito"/>
                <a:ea typeface="Carlito"/>
                <a:cs typeface="Carlito"/>
                <a:sym typeface="Carlito"/>
              </a:rPr>
              <a:t>Keras</a:t>
            </a:r>
            <a:r>
              <a:rPr b="0" lang="en-US" sz="1000">
                <a:solidFill>
                  <a:srgbClr val="94A3B8"/>
                </a:solidFill>
                <a:latin typeface="Carlito"/>
                <a:ea typeface="Carlito"/>
                <a:cs typeface="Carlito"/>
                <a:sym typeface="Carlito"/>
              </a:rPr>
              <a:t> and </a:t>
            </a:r>
            <a:r>
              <a:rPr b="0" lang="en-US" sz="1000">
                <a:solidFill>
                  <a:srgbClr val="F5F1E6"/>
                </a:solidFill>
                <a:latin typeface="Carlito"/>
                <a:ea typeface="Carlito"/>
                <a:cs typeface="Carlito"/>
                <a:sym typeface="Carlito"/>
              </a:rPr>
              <a:t>TensorFlow</a:t>
            </a:r>
            <a:r>
              <a:rPr b="0" lang="en-US" sz="1000">
                <a:solidFill>
                  <a:srgbClr val="94A3B8"/>
                </a:solidFill>
                <a:latin typeface="Carlito"/>
                <a:ea typeface="Carlito"/>
                <a:cs typeface="Carlito"/>
                <a:sym typeface="Carlito"/>
              </a:rPr>
              <a:t> have their own robust tooling. PyTorch is used here because PEFT, LoRA, and ONNX tooling is overwhelmingly built </a:t>
            </a:r>
            <a:r>
              <a:rPr b="1" lang="en-US" sz="1000">
                <a:solidFill>
                  <a:srgbClr val="F0B429"/>
                </a:solidFill>
                <a:latin typeface="Carlito"/>
                <a:ea typeface="Carlito"/>
                <a:cs typeface="Carlito"/>
                <a:sym typeface="Carlito"/>
              </a:rPr>
              <a:t>PyTorch-first</a:t>
            </a:r>
            <a:r>
              <a:rPr b="0" lang="en-US" sz="1000">
                <a:solidFill>
                  <a:srgbClr val="94A3B8"/>
                </a:solidFill>
                <a:latin typeface="Carlito"/>
                <a:ea typeface="Carlito"/>
                <a:cs typeface="Carlito"/>
                <a:sym typeface="Carlito"/>
              </a:rPr>
              <a:t>.</a:t>
            </a:r>
            <a:endParaRPr b="0" sz="1000">
              <a:solidFill>
                <a:srgbClr val="94A3B8"/>
              </a:solidFill>
              <a:latin typeface="Carlito"/>
              <a:ea typeface="Carlito"/>
              <a:cs typeface="Carlito"/>
              <a:sym typeface="Carlito"/>
            </a:endParaRPr>
          </a:p>
        </p:txBody>
      </p:sp>
      <p:sp>
        <p:nvSpPr>
          <p:cNvPr id="1335" name="Google Shape;1335;p48"/>
          <p:cNvSpPr/>
          <p:nvPr/>
        </p:nvSpPr>
        <p:spPr>
          <a:xfrm>
            <a:off x="457200" y="2428875"/>
            <a:ext cx="3962400" cy="1619100"/>
          </a:xfrm>
          <a:prstGeom prst="roundRect">
            <a:avLst>
              <a:gd fmla="val 5882" name="adj"/>
            </a:avLst>
          </a:prstGeom>
          <a:solidFill>
            <a:srgbClr val="1B2D47"/>
          </a:solidFill>
          <a:ln cap="flat" cmpd="sng" w="19050">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6" name="Google Shape;1336;p48"/>
          <p:cNvSpPr txBox="1"/>
          <p:nvPr/>
        </p:nvSpPr>
        <p:spPr>
          <a:xfrm>
            <a:off x="647700" y="2524125"/>
            <a:ext cx="35814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275">
                <a:solidFill>
                  <a:srgbClr val="F5F1E6"/>
                </a:solidFill>
                <a:latin typeface="Carlito"/>
                <a:ea typeface="Carlito"/>
                <a:cs typeface="Carlito"/>
                <a:sym typeface="Carlito"/>
              </a:rPr>
              <a:t>PyTorch + Hugging Face</a:t>
            </a:r>
            <a:endParaRPr b="1" sz="1275">
              <a:solidFill>
                <a:srgbClr val="F5F1E6"/>
              </a:solidFill>
              <a:latin typeface="Carlito"/>
              <a:ea typeface="Carlito"/>
              <a:cs typeface="Carlito"/>
              <a:sym typeface="Carlito"/>
            </a:endParaRPr>
          </a:p>
          <a:p>
            <a:pPr indent="0" lvl="0" marL="0" rtl="0" algn="l">
              <a:spcBef>
                <a:spcPts val="150"/>
              </a:spcBef>
              <a:spcAft>
                <a:spcPts val="0"/>
              </a:spcAft>
              <a:buNone/>
            </a:pPr>
            <a:r>
              <a:rPr b="1" lang="en-US" sz="680">
                <a:solidFill>
                  <a:srgbClr val="4ADE80"/>
                </a:solidFill>
                <a:latin typeface="Courier New"/>
                <a:ea typeface="Courier New"/>
                <a:cs typeface="Courier New"/>
                <a:sym typeface="Courier New"/>
              </a:rPr>
              <a:t>✓ USED TODAY</a:t>
            </a:r>
            <a:endParaRPr b="1" sz="680">
              <a:solidFill>
                <a:srgbClr val="4ADE80"/>
              </a:solidFill>
              <a:latin typeface="Courier New"/>
              <a:ea typeface="Courier New"/>
              <a:cs typeface="Courier New"/>
              <a:sym typeface="Courier New"/>
            </a:endParaRPr>
          </a:p>
          <a:p>
            <a:pPr indent="-309563" lvl="0" marL="457200" rtl="0" algn="l">
              <a:spcBef>
                <a:spcPts val="900"/>
              </a:spcBef>
              <a:spcAft>
                <a:spcPts val="0"/>
              </a:spcAft>
              <a:buClr>
                <a:srgbClr val="F0B429"/>
              </a:buClr>
              <a:buSzPts val="1275"/>
              <a:buFont typeface="Carlito"/>
              <a:buChar char="●"/>
            </a:pPr>
            <a:r>
              <a:rPr b="1" lang="en-US" sz="850">
                <a:solidFill>
                  <a:srgbClr val="F0B429"/>
                </a:solidFill>
                <a:latin typeface="Courier New"/>
                <a:ea typeface="Courier New"/>
                <a:cs typeface="Courier New"/>
                <a:sym typeface="Courier New"/>
              </a:rPr>
              <a:t>transformers</a:t>
            </a:r>
            <a:r>
              <a:rPr b="1" lang="en-US" sz="1275">
                <a:solidFill>
                  <a:srgbClr val="F0B429"/>
                </a:solidFill>
                <a:latin typeface="Carlito"/>
                <a:ea typeface="Carlito"/>
                <a:cs typeface="Carlito"/>
                <a:sym typeface="Carlito"/>
              </a:rPr>
              <a:t> </a:t>
            </a:r>
            <a:r>
              <a:rPr b="0" lang="en-US" sz="808">
                <a:solidFill>
                  <a:srgbClr val="94A3B8"/>
                </a:solidFill>
                <a:latin typeface="Carlito"/>
                <a:ea typeface="Carlito"/>
                <a:cs typeface="Carlito"/>
                <a:sym typeface="Carlito"/>
              </a:rPr>
              <a:t>— State-of-the-art NLP models</a:t>
            </a:r>
            <a:endParaRPr b="1" sz="1275">
              <a:solidFill>
                <a:srgbClr val="F0B429"/>
              </a:solidFill>
              <a:latin typeface="Carlito"/>
              <a:ea typeface="Carlito"/>
              <a:cs typeface="Carlito"/>
              <a:sym typeface="Carlito"/>
            </a:endParaRPr>
          </a:p>
          <a:p>
            <a:pPr indent="-309563" lvl="0" marL="457200" rtl="0" algn="l">
              <a:spcBef>
                <a:spcPts val="375"/>
              </a:spcBef>
              <a:spcAft>
                <a:spcPts val="0"/>
              </a:spcAft>
              <a:buClr>
                <a:srgbClr val="F0B429"/>
              </a:buClr>
              <a:buSzPts val="1275"/>
              <a:buFont typeface="Carlito"/>
              <a:buChar char="●"/>
            </a:pPr>
            <a:r>
              <a:rPr b="1" lang="en-US" sz="850">
                <a:solidFill>
                  <a:srgbClr val="F0B429"/>
                </a:solidFill>
                <a:latin typeface="Courier New"/>
                <a:ea typeface="Courier New"/>
                <a:cs typeface="Courier New"/>
                <a:sym typeface="Courier New"/>
              </a:rPr>
              <a:t>peft</a:t>
            </a:r>
            <a:r>
              <a:rPr b="1" lang="en-US" sz="1275">
                <a:solidFill>
                  <a:srgbClr val="F0B429"/>
                </a:solidFill>
                <a:latin typeface="Carlito"/>
                <a:ea typeface="Carlito"/>
                <a:cs typeface="Carlito"/>
                <a:sym typeface="Carlito"/>
              </a:rPr>
              <a:t> </a:t>
            </a:r>
            <a:r>
              <a:rPr b="0" lang="en-US" sz="808">
                <a:solidFill>
                  <a:srgbClr val="94A3B8"/>
                </a:solidFill>
                <a:latin typeface="Carlito"/>
                <a:ea typeface="Carlito"/>
                <a:cs typeface="Carlito"/>
                <a:sym typeface="Carlito"/>
              </a:rPr>
              <a:t>— Parameter-Efficient Fine-Tuning</a:t>
            </a:r>
            <a:endParaRPr b="1" sz="1275">
              <a:solidFill>
                <a:srgbClr val="F0B429"/>
              </a:solidFill>
              <a:latin typeface="Carlito"/>
              <a:ea typeface="Carlito"/>
              <a:cs typeface="Carlito"/>
              <a:sym typeface="Carlito"/>
            </a:endParaRPr>
          </a:p>
          <a:p>
            <a:pPr indent="-309563" lvl="0" marL="457200" rtl="0" algn="l">
              <a:spcBef>
                <a:spcPts val="375"/>
              </a:spcBef>
              <a:spcAft>
                <a:spcPts val="0"/>
              </a:spcAft>
              <a:buClr>
                <a:srgbClr val="F0B429"/>
              </a:buClr>
              <a:buSzPts val="1275"/>
              <a:buFont typeface="Carlito"/>
              <a:buChar char="●"/>
            </a:pPr>
            <a:r>
              <a:rPr b="1" lang="en-US" sz="850">
                <a:solidFill>
                  <a:srgbClr val="F0B429"/>
                </a:solidFill>
                <a:latin typeface="Courier New"/>
                <a:ea typeface="Courier New"/>
                <a:cs typeface="Courier New"/>
                <a:sym typeface="Courier New"/>
              </a:rPr>
              <a:t>bitsandbytes</a:t>
            </a:r>
            <a:r>
              <a:rPr b="1" lang="en-US" sz="1275">
                <a:solidFill>
                  <a:srgbClr val="F0B429"/>
                </a:solidFill>
                <a:latin typeface="Carlito"/>
                <a:ea typeface="Carlito"/>
                <a:cs typeface="Carlito"/>
                <a:sym typeface="Carlito"/>
              </a:rPr>
              <a:t> </a:t>
            </a:r>
            <a:r>
              <a:rPr b="0" lang="en-US" sz="808">
                <a:solidFill>
                  <a:srgbClr val="94A3B8"/>
                </a:solidFill>
                <a:latin typeface="Carlito"/>
                <a:ea typeface="Carlito"/>
                <a:cs typeface="Carlito"/>
                <a:sym typeface="Carlito"/>
              </a:rPr>
              <a:t>— 8-bit &amp; 4-bit quantization</a:t>
            </a:r>
            <a:endParaRPr b="1" sz="1275">
              <a:solidFill>
                <a:srgbClr val="F0B429"/>
              </a:solidFill>
              <a:latin typeface="Carlito"/>
              <a:ea typeface="Carlito"/>
              <a:cs typeface="Carlito"/>
              <a:sym typeface="Carlito"/>
            </a:endParaRPr>
          </a:p>
          <a:p>
            <a:pPr indent="-309563" lvl="0" marL="457200" rtl="0" algn="l">
              <a:spcBef>
                <a:spcPts val="375"/>
              </a:spcBef>
              <a:spcAft>
                <a:spcPts val="0"/>
              </a:spcAft>
              <a:buClr>
                <a:srgbClr val="F0B429"/>
              </a:buClr>
              <a:buSzPts val="1275"/>
              <a:buFont typeface="Carlito"/>
              <a:buChar char="●"/>
            </a:pPr>
            <a:r>
              <a:rPr b="1" lang="en-US" sz="850">
                <a:solidFill>
                  <a:srgbClr val="F0B429"/>
                </a:solidFill>
                <a:latin typeface="Courier New"/>
                <a:ea typeface="Courier New"/>
                <a:cs typeface="Courier New"/>
                <a:sym typeface="Courier New"/>
              </a:rPr>
              <a:t>onnxruntime</a:t>
            </a:r>
            <a:r>
              <a:rPr b="1" lang="en-US" sz="1275">
                <a:solidFill>
                  <a:srgbClr val="F0B429"/>
                </a:solidFill>
                <a:latin typeface="Carlito"/>
                <a:ea typeface="Carlito"/>
                <a:cs typeface="Carlito"/>
                <a:sym typeface="Carlito"/>
              </a:rPr>
              <a:t> </a:t>
            </a:r>
            <a:r>
              <a:rPr b="0" lang="en-US" sz="808">
                <a:solidFill>
                  <a:srgbClr val="94A3B8"/>
                </a:solidFill>
                <a:latin typeface="Carlito"/>
                <a:ea typeface="Carlito"/>
                <a:cs typeface="Carlito"/>
                <a:sym typeface="Carlito"/>
              </a:rPr>
              <a:t>— High-performance inference</a:t>
            </a:r>
            <a:endParaRPr b="1" sz="1275">
              <a:solidFill>
                <a:srgbClr val="F0B429"/>
              </a:solidFill>
              <a:latin typeface="Carlito"/>
              <a:ea typeface="Carlito"/>
              <a:cs typeface="Carlito"/>
              <a:sym typeface="Carlito"/>
            </a:endParaRPr>
          </a:p>
        </p:txBody>
      </p:sp>
      <p:sp>
        <p:nvSpPr>
          <p:cNvPr id="1337" name="Google Shape;1337;p48"/>
          <p:cNvSpPr/>
          <p:nvPr/>
        </p:nvSpPr>
        <p:spPr>
          <a:xfrm>
            <a:off x="4724400" y="2428875"/>
            <a:ext cx="3962400" cy="1619100"/>
          </a:xfrm>
          <a:prstGeom prst="roundRect">
            <a:avLst>
              <a:gd fmla="val 5882" name="adj"/>
            </a:avLst>
          </a:prstGeom>
          <a:solidFill>
            <a:srgbClr val="0F1B30"/>
          </a:solidFill>
          <a:ln cap="flat" cmpd="sng" w="14300">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8" name="Google Shape;1338;p48"/>
          <p:cNvSpPr txBox="1"/>
          <p:nvPr/>
        </p:nvSpPr>
        <p:spPr>
          <a:xfrm>
            <a:off x="4914900" y="2524125"/>
            <a:ext cx="35814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500">
                <a:solidFill>
                  <a:srgbClr val="94A3B8"/>
                </a:solidFill>
                <a:latin typeface="Carlito"/>
                <a:ea typeface="Carlito"/>
                <a:cs typeface="Carlito"/>
                <a:sym typeface="Carlito"/>
              </a:rPr>
              <a:t>TensorFlow + Keras</a:t>
            </a:r>
            <a:endParaRPr b="1" sz="1500">
              <a:solidFill>
                <a:srgbClr val="94A3B8"/>
              </a:solidFill>
              <a:latin typeface="Carlito"/>
              <a:ea typeface="Carlito"/>
              <a:cs typeface="Carlito"/>
              <a:sym typeface="Carlito"/>
            </a:endParaRPr>
          </a:p>
          <a:p>
            <a:pPr indent="0" lvl="0" marL="0" rtl="0" algn="l">
              <a:spcBef>
                <a:spcPts val="150"/>
              </a:spcBef>
              <a:spcAft>
                <a:spcPts val="0"/>
              </a:spcAft>
              <a:buNone/>
            </a:pPr>
            <a:r>
              <a:rPr b="1" lang="en-US" sz="800">
                <a:solidFill>
                  <a:srgbClr val="64748B"/>
                </a:solidFill>
                <a:latin typeface="Courier New"/>
                <a:ea typeface="Courier New"/>
                <a:cs typeface="Courier New"/>
                <a:sym typeface="Courier New"/>
              </a:rPr>
              <a:t>✦ EQUALLY CAPABLE</a:t>
            </a:r>
            <a:endParaRPr b="1" sz="800">
              <a:solidFill>
                <a:srgbClr val="64748B"/>
              </a:solidFill>
              <a:latin typeface="Courier New"/>
              <a:ea typeface="Courier New"/>
              <a:cs typeface="Courier New"/>
              <a:sym typeface="Courier New"/>
            </a:endParaRPr>
          </a:p>
          <a:p>
            <a:pPr indent="-323850" lvl="0" marL="457200" rtl="0" algn="l">
              <a:spcBef>
                <a:spcPts val="900"/>
              </a:spcBef>
              <a:spcAft>
                <a:spcPts val="0"/>
              </a:spcAft>
              <a:buClr>
                <a:srgbClr val="CBD5E1"/>
              </a:buClr>
              <a:buSzPts val="1500"/>
              <a:buFont typeface="Carlito"/>
              <a:buChar char="●"/>
            </a:pPr>
            <a:r>
              <a:rPr b="1" lang="en-US" sz="1000">
                <a:solidFill>
                  <a:srgbClr val="CBD5E1"/>
                </a:solidFill>
                <a:latin typeface="Courier New"/>
                <a:ea typeface="Courier New"/>
                <a:cs typeface="Courier New"/>
                <a:sym typeface="Courier New"/>
              </a:rPr>
              <a:t>Keras Mixed Precision</a:t>
            </a:r>
            <a:r>
              <a:rPr b="1" lang="en-US" sz="1500">
                <a:solidFill>
                  <a:srgbClr val="CBD5E1"/>
                </a:solidFill>
                <a:latin typeface="Carlito"/>
                <a:ea typeface="Carlito"/>
                <a:cs typeface="Carlito"/>
                <a:sym typeface="Carlito"/>
              </a:rPr>
              <a:t> </a:t>
            </a:r>
            <a:r>
              <a:rPr b="0" lang="en-US" sz="950">
                <a:solidFill>
                  <a:srgbClr val="64748B"/>
                </a:solidFill>
                <a:latin typeface="Carlito"/>
                <a:ea typeface="Carlito"/>
                <a:cs typeface="Carlito"/>
                <a:sym typeface="Carlito"/>
              </a:rPr>
              <a:t>— Float16 optimization</a:t>
            </a:r>
            <a:endParaRPr b="1" sz="1500">
              <a:solidFill>
                <a:srgbClr val="CBD5E1"/>
              </a:solidFill>
              <a:latin typeface="Carlito"/>
              <a:ea typeface="Carlito"/>
              <a:cs typeface="Carlito"/>
              <a:sym typeface="Carlito"/>
            </a:endParaRPr>
          </a:p>
          <a:p>
            <a:pPr indent="-323850" lvl="0" marL="457200" rtl="0" algn="l">
              <a:spcBef>
                <a:spcPts val="450"/>
              </a:spcBef>
              <a:spcAft>
                <a:spcPts val="0"/>
              </a:spcAft>
              <a:buClr>
                <a:srgbClr val="CBD5E1"/>
              </a:buClr>
              <a:buSzPts val="1500"/>
              <a:buFont typeface="Carlito"/>
              <a:buChar char="●"/>
            </a:pPr>
            <a:r>
              <a:rPr b="1" lang="en-US" sz="1000">
                <a:solidFill>
                  <a:srgbClr val="CBD5E1"/>
                </a:solidFill>
                <a:latin typeface="Courier New"/>
                <a:ea typeface="Courier New"/>
                <a:cs typeface="Courier New"/>
                <a:sym typeface="Courier New"/>
              </a:rPr>
              <a:t>TFLite</a:t>
            </a:r>
            <a:r>
              <a:rPr b="1" lang="en-US" sz="1500">
                <a:solidFill>
                  <a:srgbClr val="CBD5E1"/>
                </a:solidFill>
                <a:latin typeface="Carlito"/>
                <a:ea typeface="Carlito"/>
                <a:cs typeface="Carlito"/>
                <a:sym typeface="Carlito"/>
              </a:rPr>
              <a:t> </a:t>
            </a:r>
            <a:r>
              <a:rPr b="0" lang="en-US" sz="950">
                <a:solidFill>
                  <a:srgbClr val="64748B"/>
                </a:solidFill>
                <a:latin typeface="Carlito"/>
                <a:ea typeface="Carlito"/>
                <a:cs typeface="Carlito"/>
                <a:sym typeface="Carlito"/>
              </a:rPr>
              <a:t>— Mobile &amp; edge deployment</a:t>
            </a:r>
            <a:endParaRPr b="1" sz="1500">
              <a:solidFill>
                <a:srgbClr val="CBD5E1"/>
              </a:solidFill>
              <a:latin typeface="Carlito"/>
              <a:ea typeface="Carlito"/>
              <a:cs typeface="Carlito"/>
              <a:sym typeface="Carlito"/>
            </a:endParaRPr>
          </a:p>
          <a:p>
            <a:pPr indent="-323850" lvl="0" marL="457200" rtl="0" algn="l">
              <a:spcBef>
                <a:spcPts val="450"/>
              </a:spcBef>
              <a:spcAft>
                <a:spcPts val="0"/>
              </a:spcAft>
              <a:buClr>
                <a:srgbClr val="CBD5E1"/>
              </a:buClr>
              <a:buSzPts val="1500"/>
              <a:buFont typeface="Carlito"/>
              <a:buChar char="●"/>
            </a:pPr>
            <a:r>
              <a:rPr b="1" lang="en-US" sz="1000">
                <a:solidFill>
                  <a:srgbClr val="CBD5E1"/>
                </a:solidFill>
                <a:latin typeface="Courier New"/>
                <a:ea typeface="Courier New"/>
                <a:cs typeface="Courier New"/>
                <a:sym typeface="Courier New"/>
              </a:rPr>
              <a:t>TF-TRT</a:t>
            </a:r>
            <a:r>
              <a:rPr b="1" lang="en-US" sz="1500">
                <a:solidFill>
                  <a:srgbClr val="CBD5E1"/>
                </a:solidFill>
                <a:latin typeface="Carlito"/>
                <a:ea typeface="Carlito"/>
                <a:cs typeface="Carlito"/>
                <a:sym typeface="Carlito"/>
              </a:rPr>
              <a:t> </a:t>
            </a:r>
            <a:r>
              <a:rPr b="0" lang="en-US" sz="950">
                <a:solidFill>
                  <a:srgbClr val="64748B"/>
                </a:solidFill>
                <a:latin typeface="Carlito"/>
                <a:ea typeface="Carlito"/>
                <a:cs typeface="Carlito"/>
                <a:sym typeface="Carlito"/>
              </a:rPr>
              <a:t>— TensorRT integration</a:t>
            </a:r>
            <a:endParaRPr b="1" sz="1500">
              <a:solidFill>
                <a:srgbClr val="CBD5E1"/>
              </a:solidFill>
              <a:latin typeface="Carlito"/>
              <a:ea typeface="Carlito"/>
              <a:cs typeface="Carlito"/>
              <a:sym typeface="Carlito"/>
            </a:endParaRPr>
          </a:p>
        </p:txBody>
      </p:sp>
      <p:pic>
        <p:nvPicPr>
          <p:cNvPr id="1339" name="Google Shape;1339;p48"/>
          <p:cNvPicPr preferRelativeResize="0"/>
          <p:nvPr/>
        </p:nvPicPr>
        <p:blipFill rotWithShape="1">
          <a:blip r:embed="rId3">
            <a:alphaModFix/>
          </a:blip>
          <a:srcRect b="0" l="0" r="0" t="0"/>
          <a:stretch/>
        </p:blipFill>
        <p:spPr>
          <a:xfrm>
            <a:off x="452438" y="4205288"/>
            <a:ext cx="8239200" cy="352500"/>
          </a:xfrm>
          <a:prstGeom prst="rect">
            <a:avLst/>
          </a:prstGeom>
          <a:noFill/>
          <a:ln>
            <a:noFill/>
          </a:ln>
        </p:spPr>
      </p:pic>
      <p:sp>
        <p:nvSpPr>
          <p:cNvPr id="1340" name="Google Shape;1340;p48"/>
          <p:cNvSpPr txBox="1"/>
          <p:nvPr/>
        </p:nvSpPr>
        <p:spPr>
          <a:xfrm>
            <a:off x="457200" y="4210050"/>
            <a:ext cx="82296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1" lang="en-US" sz="1000">
                <a:solidFill>
                  <a:srgbClr val="F0B429"/>
                </a:solidFill>
                <a:latin typeface="Carlito"/>
                <a:ea typeface="Carlito"/>
                <a:cs typeface="Carlito"/>
                <a:sym typeface="Carlito"/>
              </a:rPr>
              <a:t>Choose the ecosystem with the strongest community documentation for your specific task.</a:t>
            </a:r>
            <a:endParaRPr b="0" i="1" sz="1000">
              <a:solidFill>
                <a:srgbClr val="F0B429"/>
              </a:solidFill>
              <a:latin typeface="Carlito"/>
              <a:ea typeface="Carlito"/>
              <a:cs typeface="Carlito"/>
              <a:sym typeface="Carlito"/>
            </a:endParaRPr>
          </a:p>
        </p:txBody>
      </p:sp>
      <p:sp>
        <p:nvSpPr>
          <p:cNvPr id="1341" name="Google Shape;1341;p48"/>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342" name="Google Shape;1342;p48"/>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46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347" name="Shape 1347"/>
        <p:cNvGrpSpPr/>
        <p:nvPr/>
      </p:nvGrpSpPr>
      <p:grpSpPr>
        <a:xfrm>
          <a:off x="0" y="0"/>
          <a:ext cx="0" cy="0"/>
          <a:chOff x="0" y="0"/>
          <a:chExt cx="0" cy="0"/>
        </a:xfrm>
      </p:grpSpPr>
      <p:sp>
        <p:nvSpPr>
          <p:cNvPr id="1348" name="Google Shape;1348;p49"/>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Carlito"/>
              <a:buNone/>
            </a:pPr>
            <a:r>
              <a:rPr b="0" i="0" lang="en-US" sz="800" u="none" cap="none" strike="noStrike">
                <a:solidFill>
                  <a:srgbClr val="F0B429"/>
                </a:solidFill>
                <a:latin typeface="Carlito"/>
                <a:ea typeface="Carlito"/>
                <a:cs typeface="Carlito"/>
                <a:sym typeface="Carlito"/>
              </a:rPr>
              <a:t>PART 07 · LIVE DEMO · CONFIRMED IN SESSION</a:t>
            </a:r>
            <a:endParaRPr b="0" i="0" sz="800" u="none" cap="none" strike="noStrike">
              <a:solidFill>
                <a:schemeClr val="dk1"/>
              </a:solidFill>
              <a:latin typeface="Calibri"/>
              <a:ea typeface="Calibri"/>
              <a:cs typeface="Calibri"/>
              <a:sym typeface="Calibri"/>
            </a:endParaRPr>
          </a:p>
        </p:txBody>
      </p:sp>
      <p:sp>
        <p:nvSpPr>
          <p:cNvPr id="1349" name="Google Shape;1349;p49"/>
          <p:cNvSpPr/>
          <p:nvPr/>
        </p:nvSpPr>
        <p:spPr>
          <a:xfrm>
            <a:off x="457200" y="610791"/>
            <a:ext cx="943200" cy="350100"/>
          </a:xfrm>
          <a:prstGeom prst="roundRect">
            <a:avLst>
              <a:gd fmla="val 8163" name="adj"/>
            </a:avLst>
          </a:prstGeom>
          <a:solidFill>
            <a:srgbClr val="F0B429">
              <a:alpha val="784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50" name="Google Shape;1350;p49"/>
          <p:cNvSpPr/>
          <p:nvPr/>
        </p:nvSpPr>
        <p:spPr>
          <a:xfrm>
            <a:off x="457200" y="603647"/>
            <a:ext cx="8636100" cy="3780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0B429"/>
              </a:buClr>
              <a:buSzPts val="2250"/>
              <a:buFont typeface="Arial"/>
              <a:buNone/>
            </a:pPr>
            <a:r>
              <a:rPr b="1" i="0" lang="en-US" sz="2250" u="none" cap="none" strike="noStrike">
                <a:solidFill>
                  <a:srgbClr val="FF0000"/>
                </a:solidFill>
                <a:highlight>
                  <a:srgbClr val="F0B429"/>
                </a:highlight>
                <a:latin typeface="Arial"/>
                <a:ea typeface="Arial"/>
                <a:cs typeface="Arial"/>
                <a:sym typeface="Arial"/>
              </a:rPr>
              <a:t>GPT-2</a:t>
            </a:r>
            <a:r>
              <a:rPr b="1" i="0" lang="en-US" sz="2250" u="none" cap="none" strike="noStrike">
                <a:solidFill>
                  <a:srgbClr val="F5F1E6"/>
                </a:solidFill>
                <a:latin typeface="Carlito"/>
                <a:ea typeface="Carlito"/>
                <a:cs typeface="Carlito"/>
                <a:sym typeface="Carlito"/>
              </a:rPr>
              <a:t>'s Actual Scale, Confirmed Live</a:t>
            </a:r>
            <a:endParaRPr b="0" i="0" sz="2250" u="none" cap="none" strike="noStrike">
              <a:solidFill>
                <a:schemeClr val="dk1"/>
              </a:solidFill>
              <a:latin typeface="Calibri"/>
              <a:ea typeface="Calibri"/>
              <a:cs typeface="Calibri"/>
              <a:sym typeface="Calibri"/>
            </a:endParaRPr>
          </a:p>
        </p:txBody>
      </p:sp>
      <p:sp>
        <p:nvSpPr>
          <p:cNvPr id="1351" name="Google Shape;1351;p49"/>
          <p:cNvSpPr/>
          <p:nvPr/>
        </p:nvSpPr>
        <p:spPr>
          <a:xfrm>
            <a:off x="460772" y="1071563"/>
            <a:ext cx="2519400" cy="207300"/>
          </a:xfrm>
          <a:prstGeom prst="roundRect">
            <a:avLst>
              <a:gd fmla="val 4593098" name="adj"/>
            </a:avLst>
          </a:prstGeom>
          <a:solidFill>
            <a:srgbClr val="4ADE80">
              <a:alpha val="10196"/>
            </a:srgbClr>
          </a:solidFill>
          <a:ln cap="flat" cmpd="sng" w="9525">
            <a:solidFill>
              <a:srgbClr val="4ADE8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52" name="Google Shape;1352;p49"/>
          <p:cNvSpPr/>
          <p:nvPr/>
        </p:nvSpPr>
        <p:spPr>
          <a:xfrm>
            <a:off x="721519" y="1117997"/>
            <a:ext cx="2155200" cy="146400"/>
          </a:xfrm>
          <a:prstGeom prst="rect">
            <a:avLst/>
          </a:prstGeom>
          <a:noFill/>
          <a:ln>
            <a:noFill/>
          </a:ln>
        </p:spPr>
        <p:txBody>
          <a:bodyPr anchorCtr="0" anchor="t" bIns="35700" lIns="100000" spcFirstLastPara="1" rIns="100000" wrap="square" tIns="35700">
            <a:noAutofit/>
          </a:bodyPr>
          <a:lstStyle/>
          <a:p>
            <a:pPr indent="0" lvl="0" marL="0" marR="0" rtl="0" algn="l">
              <a:lnSpc>
                <a:spcPct val="150074"/>
              </a:lnSpc>
              <a:spcBef>
                <a:spcPts val="0"/>
              </a:spcBef>
              <a:spcAft>
                <a:spcPts val="0"/>
              </a:spcAft>
              <a:buClr>
                <a:srgbClr val="4ADE80"/>
              </a:buClr>
              <a:buSzPts val="675"/>
              <a:buFont typeface="Carlito"/>
              <a:buNone/>
            </a:pPr>
            <a:r>
              <a:rPr b="0" i="0" lang="en-US" sz="675" u="none" cap="none" strike="noStrike">
                <a:solidFill>
                  <a:srgbClr val="4ADE80"/>
                </a:solidFill>
                <a:latin typeface="Carlito"/>
                <a:ea typeface="Carlito"/>
                <a:cs typeface="Carlito"/>
                <a:sym typeface="Carlito"/>
              </a:rPr>
              <a:t>VERIFIED LIVE · COUNTED IN TODAY'S SESSION</a:t>
            </a:r>
            <a:endParaRPr b="0" i="0" sz="675" u="none" cap="none" strike="noStrike">
              <a:solidFill>
                <a:schemeClr val="dk1"/>
              </a:solidFill>
              <a:latin typeface="Calibri"/>
              <a:ea typeface="Calibri"/>
              <a:cs typeface="Calibri"/>
              <a:sym typeface="Calibri"/>
            </a:endParaRPr>
          </a:p>
        </p:txBody>
      </p:sp>
      <p:sp>
        <p:nvSpPr>
          <p:cNvPr id="1353" name="Google Shape;1353;p49"/>
          <p:cNvSpPr/>
          <p:nvPr/>
        </p:nvSpPr>
        <p:spPr>
          <a:xfrm>
            <a:off x="564356" y="1125141"/>
            <a:ext cx="99900" cy="99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DE80"/>
              </a:buClr>
              <a:buSzPts val="984"/>
              <a:buFont typeface="Quattrocento Sans"/>
              <a:buNone/>
            </a:pPr>
            <a:r>
              <a:rPr b="0" i="0" lang="en-US" sz="984" u="none" cap="none" strike="noStrike">
                <a:solidFill>
                  <a:srgbClr val="4ADE80"/>
                </a:solidFill>
                <a:latin typeface="Quattrocento Sans"/>
                <a:ea typeface="Quattrocento Sans"/>
                <a:cs typeface="Quattrocento Sans"/>
                <a:sym typeface="Quattrocento Sans"/>
              </a:rPr>
              <a:t>✓</a:t>
            </a:r>
            <a:endParaRPr b="0" i="0" sz="984" u="none" cap="none" strike="noStrike">
              <a:solidFill>
                <a:schemeClr val="dk1"/>
              </a:solidFill>
              <a:latin typeface="Calibri"/>
              <a:ea typeface="Calibri"/>
              <a:cs typeface="Calibri"/>
              <a:sym typeface="Calibri"/>
            </a:endParaRPr>
          </a:p>
        </p:txBody>
      </p:sp>
      <p:grpSp>
        <p:nvGrpSpPr>
          <p:cNvPr id="1354" name="Google Shape;1354;p49"/>
          <p:cNvGrpSpPr/>
          <p:nvPr/>
        </p:nvGrpSpPr>
        <p:grpSpPr>
          <a:xfrm>
            <a:off x="447675" y="1428750"/>
            <a:ext cx="8248800" cy="2857575"/>
            <a:chOff x="447675" y="1428750"/>
            <a:chExt cx="8248800" cy="2857575"/>
          </a:xfrm>
        </p:grpSpPr>
        <p:sp>
          <p:nvSpPr>
            <p:cNvPr id="1355" name="Google Shape;1355;p49"/>
            <p:cNvSpPr/>
            <p:nvPr/>
          </p:nvSpPr>
          <p:spPr>
            <a:xfrm>
              <a:off x="457200" y="1428750"/>
              <a:ext cx="3962400" cy="1809600"/>
            </a:xfrm>
            <a:prstGeom prst="roundRect">
              <a:avLst>
                <a:gd fmla="val 4210" name="adj"/>
              </a:avLst>
            </a:prstGeom>
            <a:solidFill>
              <a:srgbClr val="142339"/>
            </a:solidFill>
            <a:ln cap="flat" cmpd="sng" w="14300">
              <a:solidFill>
                <a:srgbClr val="2234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6" name="Google Shape;1356;p49"/>
            <p:cNvSpPr/>
            <p:nvPr/>
          </p:nvSpPr>
          <p:spPr>
            <a:xfrm>
              <a:off x="457200" y="1428750"/>
              <a:ext cx="38100" cy="1809600"/>
            </a:xfrm>
            <a:prstGeom prst="roundRect">
              <a:avLst>
                <a:gd fmla="val 50000" name="adj"/>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7" name="Google Shape;1357;p49"/>
            <p:cNvSpPr txBox="1"/>
            <p:nvPr/>
          </p:nvSpPr>
          <p:spPr>
            <a:xfrm>
              <a:off x="2476500" y="1619250"/>
              <a:ext cx="1809600" cy="1428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US" sz="7200">
                  <a:solidFill>
                    <a:srgbClr val="1B2D45"/>
                  </a:solidFill>
                  <a:latin typeface="Arial"/>
                  <a:ea typeface="Arial"/>
                  <a:cs typeface="Arial"/>
                  <a:sym typeface="Arial"/>
                </a:rPr>
                <a:t>28K</a:t>
              </a:r>
              <a:endParaRPr b="1" sz="7200">
                <a:solidFill>
                  <a:srgbClr val="1B2D45"/>
                </a:solidFill>
                <a:latin typeface="Arial"/>
                <a:ea typeface="Arial"/>
                <a:cs typeface="Arial"/>
                <a:sym typeface="Arial"/>
              </a:endParaRPr>
            </a:p>
          </p:txBody>
        </p:sp>
        <p:sp>
          <p:nvSpPr>
            <p:cNvPr id="1358" name="Google Shape;1358;p49"/>
            <p:cNvSpPr txBox="1"/>
            <p:nvPr/>
          </p:nvSpPr>
          <p:spPr>
            <a:xfrm>
              <a:off x="647700" y="1543050"/>
              <a:ext cx="3581400" cy="1581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94A3B8"/>
                  </a:solidFill>
                  <a:latin typeface="Carlito"/>
                  <a:ea typeface="Carlito"/>
                  <a:cs typeface="Carlito"/>
                  <a:sym typeface="Carlito"/>
                </a:rPr>
                <a:t>▦ TINY FROM-SCRATCH MODEL</a:t>
              </a:r>
              <a:endParaRPr b="1" sz="900">
                <a:solidFill>
                  <a:srgbClr val="94A3B8"/>
                </a:solidFill>
                <a:latin typeface="Carlito"/>
                <a:ea typeface="Carlito"/>
                <a:cs typeface="Carlito"/>
                <a:sym typeface="Carlito"/>
              </a:endParaRPr>
            </a:p>
            <a:p>
              <a:pPr indent="0" lvl="0" marL="0" rtl="0" algn="l">
                <a:spcBef>
                  <a:spcPts val="600"/>
                </a:spcBef>
                <a:spcAft>
                  <a:spcPts val="0"/>
                </a:spcAft>
                <a:buNone/>
              </a:pPr>
              <a:r>
                <a:rPr b="1" lang="en-US" sz="3200">
                  <a:solidFill>
                    <a:srgbClr val="F5F1E6"/>
                  </a:solidFill>
                  <a:latin typeface="Arial"/>
                  <a:ea typeface="Arial"/>
                  <a:cs typeface="Arial"/>
                  <a:sym typeface="Arial"/>
                </a:rPr>
                <a:t>~28,000</a:t>
              </a:r>
              <a:endParaRPr b="1" sz="3200">
                <a:solidFill>
                  <a:srgbClr val="F5F1E6"/>
                </a:solidFill>
                <a:latin typeface="Arial"/>
                <a:ea typeface="Arial"/>
                <a:cs typeface="Arial"/>
                <a:sym typeface="Arial"/>
              </a:endParaRPr>
            </a:p>
            <a:p>
              <a:pPr indent="0" lvl="0" marL="0" rtl="0" algn="l">
                <a:spcBef>
                  <a:spcPts val="0"/>
                </a:spcBef>
                <a:spcAft>
                  <a:spcPts val="0"/>
                </a:spcAft>
                <a:buNone/>
              </a:pPr>
              <a:r>
                <a:rPr b="1" lang="en-US" sz="950">
                  <a:solidFill>
                    <a:srgbClr val="94A3B8"/>
                  </a:solidFill>
                  <a:latin typeface="Carlito"/>
                  <a:ea typeface="Carlito"/>
                  <a:cs typeface="Carlito"/>
                  <a:sym typeface="Carlito"/>
                </a:rPr>
                <a:t>parameters</a:t>
              </a:r>
              <a:endParaRPr b="1" sz="950">
                <a:solidFill>
                  <a:srgbClr val="94A3B8"/>
                </a:solidFill>
                <a:latin typeface="Carlito"/>
                <a:ea typeface="Carlito"/>
                <a:cs typeface="Carlito"/>
                <a:sym typeface="Carlito"/>
              </a:endParaRPr>
            </a:p>
            <a:p>
              <a:pPr indent="0" lvl="0" marL="0" rtl="0" algn="l">
                <a:spcBef>
                  <a:spcPts val="0"/>
                </a:spcBef>
                <a:spcAft>
                  <a:spcPts val="0"/>
                </a:spcAft>
                <a:buNone/>
              </a:pPr>
              <a:r>
                <a:rPr i="1" lang="en-US" sz="1000">
                  <a:solidFill>
                    <a:srgbClr val="94A3B8"/>
                  </a:solidFill>
                  <a:latin typeface="Carlito"/>
                  <a:ea typeface="Carlito"/>
                  <a:cs typeface="Carlito"/>
                  <a:sym typeface="Carlito"/>
                </a:rPr>
                <a:t>Character-level transformer trained live in Segment 01.</a:t>
              </a:r>
              <a:endParaRPr i="1" sz="1000">
                <a:solidFill>
                  <a:srgbClr val="94A3B8"/>
                </a:solidFill>
                <a:latin typeface="Carlito"/>
                <a:ea typeface="Carlito"/>
                <a:cs typeface="Carlito"/>
                <a:sym typeface="Carlito"/>
              </a:endParaRPr>
            </a:p>
          </p:txBody>
        </p:sp>
        <p:sp>
          <p:nvSpPr>
            <p:cNvPr id="1359" name="Google Shape;1359;p49"/>
            <p:cNvSpPr/>
            <p:nvPr/>
          </p:nvSpPr>
          <p:spPr>
            <a:xfrm>
              <a:off x="4724400" y="1428750"/>
              <a:ext cx="3962400" cy="1809600"/>
            </a:xfrm>
            <a:prstGeom prst="roundRect">
              <a:avLst>
                <a:gd fmla="val 4210" name="adj"/>
              </a:avLst>
            </a:prstGeom>
            <a:solidFill>
              <a:srgbClr val="1B2D47"/>
            </a:solidFill>
            <a:ln cap="flat" cmpd="sng" w="19050">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0" name="Google Shape;1360;p49"/>
            <p:cNvSpPr/>
            <p:nvPr/>
          </p:nvSpPr>
          <p:spPr>
            <a:xfrm>
              <a:off x="4724400" y="1428750"/>
              <a:ext cx="38100" cy="18096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1" name="Google Shape;1361;p49"/>
            <p:cNvSpPr txBox="1"/>
            <p:nvPr/>
          </p:nvSpPr>
          <p:spPr>
            <a:xfrm>
              <a:off x="6667500" y="1619250"/>
              <a:ext cx="1809600" cy="1428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US" sz="5580">
                  <a:solidFill>
                    <a:srgbClr val="223859"/>
                  </a:solidFill>
                  <a:latin typeface="Arial"/>
                  <a:ea typeface="Arial"/>
                  <a:cs typeface="Arial"/>
                  <a:sym typeface="Arial"/>
                </a:rPr>
                <a:t>124M</a:t>
              </a:r>
              <a:endParaRPr b="1" sz="5580">
                <a:solidFill>
                  <a:srgbClr val="223859"/>
                </a:solidFill>
                <a:latin typeface="Arial"/>
                <a:ea typeface="Arial"/>
                <a:cs typeface="Arial"/>
                <a:sym typeface="Arial"/>
              </a:endParaRPr>
            </a:p>
          </p:txBody>
        </p:sp>
        <p:sp>
          <p:nvSpPr>
            <p:cNvPr id="1362" name="Google Shape;1362;p49"/>
            <p:cNvSpPr txBox="1"/>
            <p:nvPr/>
          </p:nvSpPr>
          <p:spPr>
            <a:xfrm>
              <a:off x="4914900" y="1543050"/>
              <a:ext cx="3581400" cy="1581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0B429"/>
                  </a:solidFill>
                  <a:latin typeface="Carlito"/>
                  <a:ea typeface="Carlito"/>
                  <a:cs typeface="Carlito"/>
                  <a:sym typeface="Carlito"/>
                </a:rPr>
                <a:t>✦ GPT-2 (SMALL)</a:t>
              </a:r>
              <a:endParaRPr b="1" sz="900">
                <a:solidFill>
                  <a:srgbClr val="F0B429"/>
                </a:solidFill>
                <a:latin typeface="Carlito"/>
                <a:ea typeface="Carlito"/>
                <a:cs typeface="Carlito"/>
                <a:sym typeface="Carlito"/>
              </a:endParaRPr>
            </a:p>
            <a:p>
              <a:pPr indent="0" lvl="0" marL="0" rtl="0" algn="l">
                <a:spcBef>
                  <a:spcPts val="600"/>
                </a:spcBef>
                <a:spcAft>
                  <a:spcPts val="0"/>
                </a:spcAft>
                <a:buNone/>
              </a:pPr>
              <a:r>
                <a:rPr b="1" lang="en-US" sz="3200">
                  <a:solidFill>
                    <a:srgbClr val="F0B429"/>
                  </a:solidFill>
                  <a:latin typeface="Arial"/>
                  <a:ea typeface="Arial"/>
                  <a:cs typeface="Arial"/>
                  <a:sym typeface="Arial"/>
                </a:rPr>
                <a:t>124,439,808</a:t>
              </a:r>
              <a:endParaRPr b="1" sz="3200">
                <a:solidFill>
                  <a:srgbClr val="F0B429"/>
                </a:solidFill>
                <a:latin typeface="Arial"/>
                <a:ea typeface="Arial"/>
                <a:cs typeface="Arial"/>
                <a:sym typeface="Arial"/>
              </a:endParaRPr>
            </a:p>
            <a:p>
              <a:pPr indent="0" lvl="0" marL="0" rtl="0" algn="l">
                <a:spcBef>
                  <a:spcPts val="0"/>
                </a:spcBef>
                <a:spcAft>
                  <a:spcPts val="0"/>
                </a:spcAft>
                <a:buNone/>
              </a:pPr>
              <a:r>
                <a:rPr b="1" lang="en-US" sz="950">
                  <a:solidFill>
                    <a:srgbClr val="94A3B8"/>
                  </a:solidFill>
                  <a:latin typeface="Carlito"/>
                  <a:ea typeface="Carlito"/>
                  <a:cs typeface="Carlito"/>
                  <a:sym typeface="Carlito"/>
                </a:rPr>
                <a:t>parameters · confirmed by count</a:t>
              </a:r>
              <a:endParaRPr b="1" sz="950">
                <a:solidFill>
                  <a:srgbClr val="94A3B8"/>
                </a:solidFill>
                <a:latin typeface="Carlito"/>
                <a:ea typeface="Carlito"/>
                <a:cs typeface="Carlito"/>
                <a:sym typeface="Carlito"/>
              </a:endParaRPr>
            </a:p>
            <a:p>
              <a:pPr indent="0" lvl="0" marL="0" rtl="0" algn="l">
                <a:spcBef>
                  <a:spcPts val="0"/>
                </a:spcBef>
                <a:spcAft>
                  <a:spcPts val="0"/>
                </a:spcAft>
                <a:buNone/>
              </a:pPr>
              <a:r>
                <a:rPr lang="en-US" sz="1000">
                  <a:solidFill>
                    <a:srgbClr val="F5F1E6"/>
                  </a:solidFill>
                  <a:latin typeface="Carlito"/>
                  <a:ea typeface="Carlito"/>
                  <a:cs typeface="Carlito"/>
                  <a:sym typeface="Carlito"/>
                </a:rPr>
                <a:t>Not an approximation — counted in today's live session via </a:t>
              </a:r>
              <a:r>
                <a:rPr lang="en-US" sz="1000">
                  <a:solidFill>
                    <a:srgbClr val="F0B429"/>
                  </a:solidFill>
                  <a:highlight>
                    <a:srgbClr val="142339"/>
                  </a:highlight>
                  <a:latin typeface="Courier New"/>
                  <a:ea typeface="Courier New"/>
                  <a:cs typeface="Courier New"/>
                  <a:sym typeface="Courier New"/>
                </a:rPr>
                <a:t>model.parameters()</a:t>
              </a:r>
              <a:r>
                <a:rPr lang="en-US" sz="1000">
                  <a:solidFill>
                    <a:srgbClr val="F5F1E6"/>
                  </a:solidFill>
                  <a:latin typeface="Carlito"/>
                  <a:ea typeface="Carlito"/>
                  <a:cs typeface="Carlito"/>
                  <a:sym typeface="Carlito"/>
                </a:rPr>
                <a:t>.</a:t>
              </a:r>
              <a:endParaRPr sz="1000">
                <a:solidFill>
                  <a:srgbClr val="F5F1E6"/>
                </a:solidFill>
                <a:latin typeface="Carlito"/>
                <a:ea typeface="Carlito"/>
                <a:cs typeface="Carlito"/>
                <a:sym typeface="Carlito"/>
              </a:endParaRPr>
            </a:p>
          </p:txBody>
        </p:sp>
        <p:pic>
          <p:nvPicPr>
            <p:cNvPr id="1363" name="Google Shape;1363;p49"/>
            <p:cNvPicPr preferRelativeResize="0"/>
            <p:nvPr/>
          </p:nvPicPr>
          <p:blipFill rotWithShape="1">
            <a:blip r:embed="rId3">
              <a:alphaModFix/>
            </a:blip>
            <a:srcRect b="0" l="0" r="0" t="0"/>
            <a:stretch/>
          </p:blipFill>
          <p:spPr>
            <a:xfrm>
              <a:off x="447675" y="3467100"/>
              <a:ext cx="8248800" cy="495300"/>
            </a:xfrm>
            <a:prstGeom prst="rect">
              <a:avLst/>
            </a:prstGeom>
            <a:noFill/>
            <a:ln>
              <a:noFill/>
            </a:ln>
          </p:spPr>
        </p:pic>
        <p:sp>
          <p:nvSpPr>
            <p:cNvPr id="1364" name="Google Shape;1364;p49"/>
            <p:cNvSpPr txBox="1"/>
            <p:nvPr/>
          </p:nvSpPr>
          <p:spPr>
            <a:xfrm>
              <a:off x="457200" y="3476625"/>
              <a:ext cx="82296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300">
                  <a:solidFill>
                    <a:srgbClr val="F5F1E6"/>
                  </a:solidFill>
                  <a:latin typeface="Carlito"/>
                  <a:ea typeface="Carlito"/>
                  <a:cs typeface="Carlito"/>
                  <a:sym typeface="Carlito"/>
                </a:rPr>
                <a:t>124,439,808 </a:t>
              </a:r>
              <a:r>
                <a:rPr b="0" lang="en-US" sz="1300">
                  <a:solidFill>
                    <a:srgbClr val="94A3B8"/>
                  </a:solidFill>
                  <a:latin typeface="Courier New"/>
                  <a:ea typeface="Courier New"/>
                  <a:cs typeface="Courier New"/>
                  <a:sym typeface="Courier New"/>
                </a:rPr>
                <a:t>/</a:t>
              </a:r>
              <a:r>
                <a:rPr b="1" lang="en-US" sz="1300">
                  <a:solidFill>
                    <a:srgbClr val="F5F1E6"/>
                  </a:solidFill>
                  <a:latin typeface="Carlito"/>
                  <a:ea typeface="Carlito"/>
                  <a:cs typeface="Carlito"/>
                  <a:sym typeface="Carlito"/>
                </a:rPr>
                <a:t> 28,000 </a:t>
              </a:r>
              <a:r>
                <a:rPr b="1" lang="en-US" sz="1300">
                  <a:solidFill>
                    <a:srgbClr val="F0B429"/>
                  </a:solidFill>
                  <a:latin typeface="Carlito"/>
                  <a:ea typeface="Carlito"/>
                  <a:cs typeface="Carlito"/>
                  <a:sym typeface="Carlito"/>
                </a:rPr>
                <a:t>≈ ~4,400×</a:t>
              </a:r>
              <a:r>
                <a:rPr b="1" lang="en-US" sz="1300">
                  <a:solidFill>
                    <a:srgbClr val="F5F1E6"/>
                  </a:solidFill>
                  <a:latin typeface="Carlito"/>
                  <a:ea typeface="Carlito"/>
                  <a:cs typeface="Carlito"/>
                  <a:sym typeface="Carlito"/>
                </a:rPr>
                <a:t> more parameters</a:t>
              </a:r>
              <a:endParaRPr b="1" sz="1300">
                <a:solidFill>
                  <a:srgbClr val="F5F1E6"/>
                </a:solidFill>
                <a:latin typeface="Carlito"/>
                <a:ea typeface="Carlito"/>
                <a:cs typeface="Carlito"/>
                <a:sym typeface="Carlito"/>
              </a:endParaRPr>
            </a:p>
          </p:txBody>
        </p:sp>
        <p:sp>
          <p:nvSpPr>
            <p:cNvPr id="1365" name="Google Shape;1365;p49"/>
            <p:cNvSpPr txBox="1"/>
            <p:nvPr/>
          </p:nvSpPr>
          <p:spPr>
            <a:xfrm>
              <a:off x="457200" y="4048125"/>
              <a:ext cx="82296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US" sz="950">
                  <a:solidFill>
                    <a:srgbClr val="94A3B8"/>
                  </a:solidFill>
                  <a:latin typeface="Carlito"/>
                  <a:ea typeface="Carlito"/>
                  <a:cs typeface="Carlito"/>
                  <a:sym typeface="Carlito"/>
                </a:rPr>
                <a:t>A concrete sense of scale between "toy model" and "real pretrained model."</a:t>
              </a:r>
              <a:endParaRPr i="1" sz="950">
                <a:solidFill>
                  <a:srgbClr val="94A3B8"/>
                </a:solidFill>
                <a:latin typeface="Carlito"/>
                <a:ea typeface="Carlito"/>
                <a:cs typeface="Carlito"/>
                <a:sym typeface="Carlito"/>
              </a:endParaRPr>
            </a:p>
          </p:txBody>
        </p:sp>
      </p:grpSp>
      <p:sp>
        <p:nvSpPr>
          <p:cNvPr id="1366" name="Google Shape;1366;p49"/>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367" name="Google Shape;1367;p49"/>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47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pic>
        <p:nvPicPr>
          <p:cNvPr descr="preencoded.png" id="1373" name="Google Shape;1373;p50"/>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1374" name="Google Shape;1374;p50"/>
          <p:cNvPicPr preferRelativeResize="0"/>
          <p:nvPr/>
        </p:nvPicPr>
        <p:blipFill rotWithShape="1">
          <a:blip r:embed="rId4">
            <a:alphaModFix/>
          </a:blip>
          <a:srcRect b="0" l="0" r="0" t="0"/>
          <a:stretch/>
        </p:blipFill>
        <p:spPr>
          <a:xfrm>
            <a:off x="0" y="0"/>
            <a:ext cx="9144000" cy="4051176"/>
          </a:xfrm>
          <a:prstGeom prst="rect">
            <a:avLst/>
          </a:prstGeom>
          <a:noFill/>
          <a:ln>
            <a:noFill/>
          </a:ln>
        </p:spPr>
      </p:pic>
      <p:sp>
        <p:nvSpPr>
          <p:cNvPr id="1375" name="Google Shape;1375;p50"/>
          <p:cNvSpPr/>
          <p:nvPr/>
        </p:nvSpPr>
        <p:spPr>
          <a:xfrm>
            <a:off x="5679232" y="2007145"/>
            <a:ext cx="3630600" cy="394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DE80"/>
              </a:buClr>
              <a:buSzPts val="29250"/>
              <a:buFont typeface="Arial"/>
              <a:buNone/>
            </a:pPr>
            <a:r>
              <a:rPr b="0" i="0" lang="en-US" sz="25000" u="none" cap="none" strike="noStrike">
                <a:solidFill>
                  <a:srgbClr val="F0B429"/>
                </a:solidFill>
                <a:latin typeface="Arial"/>
                <a:ea typeface="Arial"/>
                <a:cs typeface="Arial"/>
                <a:sym typeface="Arial"/>
              </a:rPr>
              <a:t>08</a:t>
            </a:r>
            <a:endParaRPr b="0" i="0" sz="25000" u="none" cap="none" strike="noStrike">
              <a:solidFill>
                <a:srgbClr val="F0B429"/>
              </a:solidFill>
              <a:latin typeface="Calibri"/>
              <a:ea typeface="Calibri"/>
              <a:cs typeface="Calibri"/>
              <a:sym typeface="Calibri"/>
            </a:endParaRPr>
          </a:p>
        </p:txBody>
      </p:sp>
      <p:pic>
        <p:nvPicPr>
          <p:cNvPr descr="preencoded.png" id="1376" name="Google Shape;1376;p50"/>
          <p:cNvPicPr preferRelativeResize="0"/>
          <p:nvPr/>
        </p:nvPicPr>
        <p:blipFill rotWithShape="1">
          <a:blip r:embed="rId5">
            <a:alphaModFix/>
          </a:blip>
          <a:srcRect b="0" l="0" r="0" t="0"/>
          <a:stretch/>
        </p:blipFill>
        <p:spPr>
          <a:xfrm>
            <a:off x="457200" y="400050"/>
            <a:ext cx="7144" cy="3251076"/>
          </a:xfrm>
          <a:prstGeom prst="rect">
            <a:avLst/>
          </a:prstGeom>
          <a:noFill/>
          <a:ln>
            <a:noFill/>
          </a:ln>
        </p:spPr>
      </p:pic>
      <p:sp>
        <p:nvSpPr>
          <p:cNvPr id="1377" name="Google Shape;1377;p50"/>
          <p:cNvSpPr/>
          <p:nvPr/>
        </p:nvSpPr>
        <p:spPr>
          <a:xfrm>
            <a:off x="685800" y="457200"/>
            <a:ext cx="7772400" cy="208312"/>
          </a:xfrm>
          <a:prstGeom prst="rect">
            <a:avLst/>
          </a:prstGeom>
          <a:noFill/>
          <a:ln>
            <a:noFill/>
          </a:ln>
        </p:spPr>
        <p:txBody>
          <a:bodyPr anchorCtr="0" anchor="t" bIns="0" lIns="0" spcFirstLastPara="1" rIns="0" wrap="square" tIns="0">
            <a:noAutofit/>
          </a:bodyPr>
          <a:lstStyle/>
          <a:p>
            <a:pPr indent="0" lvl="0" marL="0" marR="0" rtl="0" algn="l">
              <a:lnSpc>
                <a:spcPct val="149950"/>
              </a:lnSpc>
              <a:spcBef>
                <a:spcPts val="0"/>
              </a:spcBef>
              <a:spcAft>
                <a:spcPts val="0"/>
              </a:spcAft>
              <a:buClr>
                <a:srgbClr val="F0B429"/>
              </a:buClr>
              <a:buSzPts val="1013"/>
              <a:buFont typeface="Arial"/>
              <a:buNone/>
            </a:pPr>
            <a:r>
              <a:rPr b="0" i="0" lang="en-US" sz="1013" u="none" cap="none" strike="noStrike">
                <a:solidFill>
                  <a:srgbClr val="F0B429"/>
                </a:solidFill>
                <a:latin typeface="Arial"/>
                <a:ea typeface="Arial"/>
                <a:cs typeface="Arial"/>
                <a:sym typeface="Arial"/>
              </a:rPr>
              <a:t>PART 08 / 08</a:t>
            </a:r>
            <a:endParaRPr b="0" i="0" sz="1013" u="none" cap="none" strike="noStrike">
              <a:solidFill>
                <a:schemeClr val="dk1"/>
              </a:solidFill>
              <a:latin typeface="Calibri"/>
              <a:ea typeface="Calibri"/>
              <a:cs typeface="Calibri"/>
              <a:sym typeface="Calibri"/>
            </a:endParaRPr>
          </a:p>
        </p:txBody>
      </p:sp>
      <p:sp>
        <p:nvSpPr>
          <p:cNvPr id="1378" name="Google Shape;1378;p50"/>
          <p:cNvSpPr/>
          <p:nvPr/>
        </p:nvSpPr>
        <p:spPr>
          <a:xfrm>
            <a:off x="689372" y="882253"/>
            <a:ext cx="7765256" cy="210741"/>
          </a:xfrm>
          <a:prstGeom prst="roundRect">
            <a:avLst>
              <a:gd fmla="val 18079" name="adj"/>
            </a:avLst>
          </a:prstGeom>
          <a:solidFill>
            <a:srgbClr val="4ADE80">
              <a:alpha val="10196"/>
            </a:srgbClr>
          </a:solidFill>
          <a:ln cap="flat" cmpd="sng" w="9525">
            <a:solidFill>
              <a:srgbClr val="4ADE8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79" name="Google Shape;1379;p50"/>
          <p:cNvSpPr/>
          <p:nvPr/>
        </p:nvSpPr>
        <p:spPr>
          <a:xfrm>
            <a:off x="792956" y="959048"/>
            <a:ext cx="57150" cy="57150"/>
          </a:xfrm>
          <a:prstGeom prst="ellipse">
            <a:avLst/>
          </a:prstGeom>
          <a:solidFill>
            <a:srgbClr val="4ADE80"/>
          </a:solidFill>
          <a:ln>
            <a:noFill/>
          </a:ln>
          <a:effectLst>
            <a:outerShdw blurRad="101600" rotWithShape="0" algn="bl" dir="16200000" dist="50800">
              <a:srgbClr val="4ADE80">
                <a:alpha val="16078"/>
              </a:srgbClr>
            </a:outerShdw>
          </a:effectLst>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80" name="Google Shape;1380;p50"/>
          <p:cNvSpPr/>
          <p:nvPr/>
        </p:nvSpPr>
        <p:spPr>
          <a:xfrm>
            <a:off x="907256" y="937617"/>
            <a:ext cx="100013" cy="1000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DE80"/>
              </a:buClr>
              <a:buSzPts val="984"/>
              <a:buFont typeface="Quattrocento Sans"/>
              <a:buNone/>
            </a:pPr>
            <a:r>
              <a:rPr b="0" i="0" lang="en-US" sz="984" u="none" cap="none" strike="noStrike">
                <a:solidFill>
                  <a:srgbClr val="4ADE80"/>
                </a:solidFill>
                <a:latin typeface="Quattrocento Sans"/>
                <a:ea typeface="Quattrocento Sans"/>
                <a:cs typeface="Quattrocento Sans"/>
                <a:sym typeface="Quattrocento Sans"/>
              </a:rPr>
              <a:t>▦</a:t>
            </a:r>
            <a:endParaRPr b="0" i="0" sz="984" u="none" cap="none" strike="noStrike">
              <a:solidFill>
                <a:schemeClr val="dk1"/>
              </a:solidFill>
              <a:latin typeface="Calibri"/>
              <a:ea typeface="Calibri"/>
              <a:cs typeface="Calibri"/>
              <a:sym typeface="Calibri"/>
            </a:endParaRPr>
          </a:p>
        </p:txBody>
      </p:sp>
      <p:sp>
        <p:nvSpPr>
          <p:cNvPr id="1381" name="Google Shape;1381;p50"/>
          <p:cNvSpPr/>
          <p:nvPr/>
        </p:nvSpPr>
        <p:spPr>
          <a:xfrm>
            <a:off x="1064419" y="928688"/>
            <a:ext cx="7286625" cy="117872"/>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4ADE80"/>
              </a:buClr>
              <a:buSzPts val="800"/>
              <a:buFont typeface="Carlito"/>
              <a:buNone/>
            </a:pPr>
            <a:r>
              <a:rPr b="1" i="0" lang="en-US" sz="800" u="none" cap="none" strike="noStrike">
                <a:solidFill>
                  <a:srgbClr val="4ADE80"/>
                </a:solidFill>
                <a:latin typeface="Carlito"/>
                <a:ea typeface="Carlito"/>
                <a:cs typeface="Carlito"/>
                <a:sym typeface="Carlito"/>
              </a:rPr>
              <a:t>REAL DATA</a:t>
            </a:r>
            <a:endParaRPr b="0" i="0" sz="800" u="none" cap="none" strike="noStrike">
              <a:solidFill>
                <a:schemeClr val="dk1"/>
              </a:solidFill>
              <a:latin typeface="Calibri"/>
              <a:ea typeface="Calibri"/>
              <a:cs typeface="Calibri"/>
              <a:sym typeface="Calibri"/>
            </a:endParaRPr>
          </a:p>
        </p:txBody>
      </p:sp>
      <p:sp>
        <p:nvSpPr>
          <p:cNvPr id="1382" name="Google Shape;1382;p50"/>
          <p:cNvSpPr/>
          <p:nvPr/>
        </p:nvSpPr>
        <p:spPr>
          <a:xfrm>
            <a:off x="685800" y="1382316"/>
            <a:ext cx="571500" cy="28575"/>
          </a:xfrm>
          <a:prstGeom prst="rect">
            <a:avLst/>
          </a:prstGeom>
          <a:solidFill>
            <a:srgbClr val="4ADE8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83" name="Google Shape;1383;p50"/>
          <p:cNvSpPr/>
          <p:nvPr/>
        </p:nvSpPr>
        <p:spPr>
          <a:xfrm>
            <a:off x="685800" y="1639491"/>
            <a:ext cx="7072313" cy="81468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5F1E6"/>
              </a:buClr>
              <a:buSzPts val="2700"/>
              <a:buFont typeface="Carlito"/>
              <a:buNone/>
            </a:pPr>
            <a:r>
              <a:rPr b="1" i="0" lang="en-US" sz="2700" u="none" cap="none" strike="noStrike">
                <a:solidFill>
                  <a:srgbClr val="F5F1E6"/>
                </a:solidFill>
                <a:latin typeface="Carlito"/>
                <a:ea typeface="Carlito"/>
                <a:cs typeface="Carlito"/>
                <a:sym typeface="Carlito"/>
              </a:rPr>
              <a:t>Live Results,</a:t>
            </a:r>
            <a:endParaRPr b="0" i="0" sz="27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5F1E6"/>
              </a:buClr>
              <a:buSzPts val="2700"/>
              <a:buFont typeface="Carlito"/>
              <a:buNone/>
            </a:pPr>
            <a:r>
              <a:rPr b="1" i="0" lang="en-US" sz="2700" u="none" cap="none" strike="noStrike">
                <a:solidFill>
                  <a:srgbClr val="F5F1E6"/>
                </a:solidFill>
                <a:latin typeface="Carlito"/>
                <a:ea typeface="Carlito"/>
                <a:cs typeface="Carlito"/>
                <a:sym typeface="Carlito"/>
              </a:rPr>
              <a:t>Benchmarking &amp; </a:t>
            </a:r>
            <a:r>
              <a:rPr b="1" i="0" lang="en-US" sz="2700" u="none" cap="none" strike="noStrike">
                <a:solidFill>
                  <a:srgbClr val="F0B429"/>
                </a:solidFill>
                <a:latin typeface="Carlito"/>
                <a:ea typeface="Carlito"/>
                <a:cs typeface="Carlito"/>
                <a:sym typeface="Carlito"/>
              </a:rPr>
              <a:t>Takeaways</a:t>
            </a:r>
            <a:endParaRPr b="0" i="0" sz="2700" u="none" cap="none" strike="noStrike">
              <a:solidFill>
                <a:schemeClr val="dk1"/>
              </a:solidFill>
              <a:latin typeface="Calibri"/>
              <a:ea typeface="Calibri"/>
              <a:cs typeface="Calibri"/>
              <a:sym typeface="Calibri"/>
            </a:endParaRPr>
          </a:p>
        </p:txBody>
      </p:sp>
      <p:sp>
        <p:nvSpPr>
          <p:cNvPr id="1384" name="Google Shape;1384;p50"/>
          <p:cNvSpPr/>
          <p:nvPr/>
        </p:nvSpPr>
        <p:spPr>
          <a:xfrm>
            <a:off x="685800" y="2736726"/>
            <a:ext cx="5857875" cy="462915"/>
          </a:xfrm>
          <a:prstGeom prst="rect">
            <a:avLst/>
          </a:prstGeom>
          <a:noFill/>
          <a:ln>
            <a:noFill/>
          </a:ln>
        </p:spPr>
        <p:txBody>
          <a:bodyPr anchorCtr="0" anchor="t" bIns="0" lIns="0" spcFirstLastPara="1" rIns="0" wrap="square" tIns="0">
            <a:noAutofit/>
          </a:bodyPr>
          <a:lstStyle/>
          <a:p>
            <a:pPr indent="0" lvl="0" marL="0" marR="0" rtl="0" algn="l">
              <a:lnSpc>
                <a:spcPct val="150044"/>
              </a:lnSpc>
              <a:spcBef>
                <a:spcPts val="0"/>
              </a:spcBef>
              <a:spcAft>
                <a:spcPts val="0"/>
              </a:spcAft>
              <a:buClr>
                <a:srgbClr val="94A3B8"/>
              </a:buClr>
              <a:buSzPts val="1125"/>
              <a:buFont typeface="Carlito"/>
              <a:buNone/>
            </a:pPr>
            <a:r>
              <a:rPr b="0" i="0" lang="en-US" sz="1125" u="none" cap="none" strike="noStrike">
                <a:solidFill>
                  <a:srgbClr val="94A3B8"/>
                </a:solidFill>
                <a:latin typeface="Carlito"/>
                <a:ea typeface="Carlito"/>
                <a:cs typeface="Carlito"/>
                <a:sym typeface="Carlito"/>
              </a:rPr>
              <a:t>Every number below is a real, measured result from this exact session's live demo run, not an illustrative estimate.</a:t>
            </a:r>
            <a:endParaRPr b="0" i="0" sz="1125" u="none" cap="none" strike="noStrike">
              <a:solidFill>
                <a:schemeClr val="dk1"/>
              </a:solidFill>
              <a:latin typeface="Calibri"/>
              <a:ea typeface="Calibri"/>
              <a:cs typeface="Calibri"/>
              <a:sym typeface="Calibri"/>
            </a:endParaRPr>
          </a:p>
        </p:txBody>
      </p:sp>
      <p:sp>
        <p:nvSpPr>
          <p:cNvPr id="1385" name="Google Shape;1385;p50"/>
          <p:cNvSpPr/>
          <p:nvPr/>
        </p:nvSpPr>
        <p:spPr>
          <a:xfrm>
            <a:off x="685800" y="3458245"/>
            <a:ext cx="100013" cy="1000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DE80"/>
              </a:buClr>
              <a:buSzPts val="984"/>
              <a:buFont typeface="Quattrocento Sans"/>
              <a:buNone/>
            </a:pPr>
            <a:r>
              <a:rPr b="0" i="0" lang="en-US" sz="984" u="none" cap="none" strike="noStrike">
                <a:solidFill>
                  <a:srgbClr val="4ADE80"/>
                </a:solidFill>
                <a:latin typeface="Quattrocento Sans"/>
                <a:ea typeface="Quattrocento Sans"/>
                <a:cs typeface="Quattrocento Sans"/>
                <a:sym typeface="Quattrocento Sans"/>
              </a:rPr>
              <a:t>✓</a:t>
            </a:r>
            <a:endParaRPr b="0" i="0" sz="984" u="none" cap="none" strike="noStrike">
              <a:solidFill>
                <a:schemeClr val="dk1"/>
              </a:solidFill>
              <a:latin typeface="Calibri"/>
              <a:ea typeface="Calibri"/>
              <a:cs typeface="Calibri"/>
              <a:sym typeface="Calibri"/>
            </a:endParaRPr>
          </a:p>
        </p:txBody>
      </p:sp>
      <p:sp>
        <p:nvSpPr>
          <p:cNvPr id="1386" name="Google Shape;1386;p50"/>
          <p:cNvSpPr/>
          <p:nvPr/>
        </p:nvSpPr>
        <p:spPr>
          <a:xfrm>
            <a:off x="828675" y="3449315"/>
            <a:ext cx="765877" cy="164592"/>
          </a:xfrm>
          <a:prstGeom prst="rect">
            <a:avLst/>
          </a:prstGeom>
          <a:noFill/>
          <a:ln>
            <a:noFill/>
          </a:ln>
        </p:spPr>
        <p:txBody>
          <a:bodyPr anchorCtr="0" anchor="t" bIns="0" lIns="0" spcFirstLastPara="1" rIns="0" wrap="square" tIns="0">
            <a:noAutofit/>
          </a:bodyPr>
          <a:lstStyle/>
          <a:p>
            <a:pPr indent="0" lvl="0" marL="0" marR="0" rtl="0" algn="l">
              <a:lnSpc>
                <a:spcPct val="149919"/>
              </a:lnSpc>
              <a:spcBef>
                <a:spcPts val="0"/>
              </a:spcBef>
              <a:spcAft>
                <a:spcPts val="0"/>
              </a:spcAft>
              <a:buClr>
                <a:srgbClr val="94A3B8"/>
              </a:buClr>
              <a:buSzPts val="619"/>
              <a:buFont typeface="Courier New"/>
              <a:buNone/>
            </a:pPr>
            <a:r>
              <a:rPr b="0" i="0" lang="en-US" sz="619" u="none" cap="none" strike="noStrike">
                <a:solidFill>
                  <a:srgbClr val="94A3B8"/>
                </a:solidFill>
                <a:latin typeface="Courier New"/>
                <a:ea typeface="Courier New"/>
                <a:cs typeface="Courier New"/>
                <a:sym typeface="Courier New"/>
              </a:rPr>
              <a:t>VERIFIED LIVE</a:t>
            </a:r>
            <a:endParaRPr b="0" i="0" sz="619" u="none" cap="none" strike="noStrike">
              <a:solidFill>
                <a:schemeClr val="dk1"/>
              </a:solidFill>
              <a:latin typeface="Calibri"/>
              <a:ea typeface="Calibri"/>
              <a:cs typeface="Calibri"/>
              <a:sym typeface="Calibri"/>
            </a:endParaRPr>
          </a:p>
        </p:txBody>
      </p:sp>
      <p:sp>
        <p:nvSpPr>
          <p:cNvPr id="1387" name="Google Shape;1387;p50"/>
          <p:cNvSpPr/>
          <p:nvPr/>
        </p:nvSpPr>
        <p:spPr>
          <a:xfrm>
            <a:off x="1555998" y="3422526"/>
            <a:ext cx="116532" cy="185166"/>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5F1E6"/>
              </a:buClr>
              <a:buSzPts val="900"/>
              <a:buFont typeface="Carlito"/>
              <a:buNone/>
            </a:pPr>
            <a:r>
              <a:rPr b="0" i="0" lang="en-US" sz="900" u="none" cap="none" strike="noStrike">
                <a:solidFill>
                  <a:srgbClr val="F5F1E6"/>
                </a:solidFill>
                <a:latin typeface="Carlito"/>
                <a:ea typeface="Carlito"/>
                <a:cs typeface="Carlito"/>
                <a:sym typeface="Carlito"/>
              </a:rPr>
              <a:t>/</a:t>
            </a:r>
            <a:endParaRPr b="0" i="0" sz="900" u="none" cap="none" strike="noStrike">
              <a:solidFill>
                <a:schemeClr val="dk1"/>
              </a:solidFill>
              <a:latin typeface="Calibri"/>
              <a:ea typeface="Calibri"/>
              <a:cs typeface="Calibri"/>
              <a:sym typeface="Calibri"/>
            </a:endParaRPr>
          </a:p>
        </p:txBody>
      </p:sp>
      <p:sp>
        <p:nvSpPr>
          <p:cNvPr id="1388" name="Google Shape;1388;p50"/>
          <p:cNvSpPr/>
          <p:nvPr/>
        </p:nvSpPr>
        <p:spPr>
          <a:xfrm>
            <a:off x="1729680" y="3458245"/>
            <a:ext cx="100013" cy="1000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DE80"/>
              </a:buClr>
              <a:buSzPts val="984"/>
              <a:buFont typeface="Quattrocento Sans"/>
              <a:buNone/>
            </a:pPr>
            <a:r>
              <a:rPr b="0" i="0" lang="en-US" sz="984" u="none" cap="none" strike="noStrike">
                <a:solidFill>
                  <a:srgbClr val="4ADE80"/>
                </a:solidFill>
                <a:latin typeface="Quattrocento Sans"/>
                <a:ea typeface="Quattrocento Sans"/>
                <a:cs typeface="Quattrocento Sans"/>
                <a:sym typeface="Quattrocento Sans"/>
              </a:rPr>
              <a:t>✦</a:t>
            </a:r>
            <a:endParaRPr b="0" i="0" sz="984" u="none" cap="none" strike="noStrike">
              <a:solidFill>
                <a:schemeClr val="dk1"/>
              </a:solidFill>
              <a:latin typeface="Calibri"/>
              <a:ea typeface="Calibri"/>
              <a:cs typeface="Calibri"/>
              <a:sym typeface="Calibri"/>
            </a:endParaRPr>
          </a:p>
        </p:txBody>
      </p:sp>
      <p:sp>
        <p:nvSpPr>
          <p:cNvPr id="1389" name="Google Shape;1389;p50"/>
          <p:cNvSpPr/>
          <p:nvPr/>
        </p:nvSpPr>
        <p:spPr>
          <a:xfrm>
            <a:off x="1872555" y="3449315"/>
            <a:ext cx="1173023" cy="164592"/>
          </a:xfrm>
          <a:prstGeom prst="rect">
            <a:avLst/>
          </a:prstGeom>
          <a:noFill/>
          <a:ln>
            <a:noFill/>
          </a:ln>
        </p:spPr>
        <p:txBody>
          <a:bodyPr anchorCtr="0" anchor="t" bIns="0" lIns="0" spcFirstLastPara="1" rIns="0" wrap="square" tIns="0">
            <a:noAutofit/>
          </a:bodyPr>
          <a:lstStyle/>
          <a:p>
            <a:pPr indent="0" lvl="0" marL="0" marR="0" rtl="0" algn="l">
              <a:lnSpc>
                <a:spcPct val="149919"/>
              </a:lnSpc>
              <a:spcBef>
                <a:spcPts val="0"/>
              </a:spcBef>
              <a:spcAft>
                <a:spcPts val="0"/>
              </a:spcAft>
              <a:buClr>
                <a:srgbClr val="94A3B8"/>
              </a:buClr>
              <a:buSzPts val="619"/>
              <a:buFont typeface="Courier New"/>
              <a:buNone/>
            </a:pPr>
            <a:r>
              <a:rPr b="0" i="0" lang="en-US" sz="619" u="none" cap="none" strike="noStrike">
                <a:solidFill>
                  <a:srgbClr val="94A3B8"/>
                </a:solidFill>
                <a:latin typeface="Courier New"/>
                <a:ea typeface="Courier New"/>
                <a:cs typeface="Courier New"/>
                <a:sym typeface="Courier New"/>
              </a:rPr>
              <a:t>SIZE · SPEED · QUALITY</a:t>
            </a:r>
            <a:endParaRPr b="0" i="0" sz="619" u="none" cap="none" strike="noStrike">
              <a:solidFill>
                <a:schemeClr val="dk1"/>
              </a:solidFill>
              <a:latin typeface="Calibri"/>
              <a:ea typeface="Calibri"/>
              <a:cs typeface="Calibri"/>
              <a:sym typeface="Calibri"/>
            </a:endParaRPr>
          </a:p>
        </p:txBody>
      </p:sp>
      <p:sp>
        <p:nvSpPr>
          <p:cNvPr id="1390" name="Google Shape;1390;p50"/>
          <p:cNvSpPr/>
          <p:nvPr/>
        </p:nvSpPr>
        <p:spPr>
          <a:xfrm>
            <a:off x="2983185" y="3422526"/>
            <a:ext cx="116532" cy="185166"/>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5F1E6"/>
              </a:buClr>
              <a:buSzPts val="900"/>
              <a:buFont typeface="Carlito"/>
              <a:buNone/>
            </a:pPr>
            <a:r>
              <a:rPr b="0" i="0" lang="en-US" sz="900" u="none" cap="none" strike="noStrike">
                <a:solidFill>
                  <a:srgbClr val="F5F1E6"/>
                </a:solidFill>
                <a:latin typeface="Carlito"/>
                <a:ea typeface="Carlito"/>
                <a:cs typeface="Carlito"/>
                <a:sym typeface="Carlito"/>
              </a:rPr>
              <a:t>/</a:t>
            </a:r>
            <a:endParaRPr b="0" i="0" sz="900" u="none" cap="none" strike="noStrike">
              <a:solidFill>
                <a:schemeClr val="dk1"/>
              </a:solidFill>
              <a:latin typeface="Calibri"/>
              <a:ea typeface="Calibri"/>
              <a:cs typeface="Calibri"/>
              <a:sym typeface="Calibri"/>
            </a:endParaRPr>
          </a:p>
        </p:txBody>
      </p:sp>
      <p:sp>
        <p:nvSpPr>
          <p:cNvPr id="1391" name="Google Shape;1391;p50"/>
          <p:cNvSpPr/>
          <p:nvPr/>
        </p:nvSpPr>
        <p:spPr>
          <a:xfrm>
            <a:off x="3156868" y="3458245"/>
            <a:ext cx="100013" cy="1000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DE80"/>
              </a:buClr>
              <a:buSzPts val="984"/>
              <a:buFont typeface="Quattrocento Sans"/>
              <a:buNone/>
            </a:pPr>
            <a:r>
              <a:rPr b="0" i="0" lang="en-US" sz="984" u="none" cap="none" strike="noStrike">
                <a:solidFill>
                  <a:srgbClr val="4ADE80"/>
                </a:solidFill>
                <a:latin typeface="Quattrocento Sans"/>
                <a:ea typeface="Quattrocento Sans"/>
                <a:cs typeface="Quattrocento Sans"/>
                <a:sym typeface="Quattrocento Sans"/>
              </a:rPr>
              <a:t>◆</a:t>
            </a:r>
            <a:endParaRPr b="0" i="0" sz="984" u="none" cap="none" strike="noStrike">
              <a:solidFill>
                <a:schemeClr val="dk1"/>
              </a:solidFill>
              <a:latin typeface="Calibri"/>
              <a:ea typeface="Calibri"/>
              <a:cs typeface="Calibri"/>
              <a:sym typeface="Calibri"/>
            </a:endParaRPr>
          </a:p>
        </p:txBody>
      </p:sp>
      <p:sp>
        <p:nvSpPr>
          <p:cNvPr id="1392" name="Google Shape;1392;p50"/>
          <p:cNvSpPr/>
          <p:nvPr/>
        </p:nvSpPr>
        <p:spPr>
          <a:xfrm>
            <a:off x="3299743" y="3449315"/>
            <a:ext cx="1001413" cy="164592"/>
          </a:xfrm>
          <a:prstGeom prst="rect">
            <a:avLst/>
          </a:prstGeom>
          <a:noFill/>
          <a:ln>
            <a:noFill/>
          </a:ln>
        </p:spPr>
        <p:txBody>
          <a:bodyPr anchorCtr="0" anchor="t" bIns="0" lIns="0" spcFirstLastPara="1" rIns="0" wrap="square" tIns="0">
            <a:noAutofit/>
          </a:bodyPr>
          <a:lstStyle/>
          <a:p>
            <a:pPr indent="0" lvl="0" marL="0" marR="0" rtl="0" algn="l">
              <a:lnSpc>
                <a:spcPct val="149919"/>
              </a:lnSpc>
              <a:spcBef>
                <a:spcPts val="0"/>
              </a:spcBef>
              <a:spcAft>
                <a:spcPts val="0"/>
              </a:spcAft>
              <a:buClr>
                <a:srgbClr val="94A3B8"/>
              </a:buClr>
              <a:buSzPts val="619"/>
              <a:buFont typeface="Courier New"/>
              <a:buNone/>
            </a:pPr>
            <a:r>
              <a:rPr b="0" i="0" lang="en-US" sz="619" u="none" cap="none" strike="noStrike">
                <a:solidFill>
                  <a:srgbClr val="94A3B8"/>
                </a:solidFill>
                <a:latin typeface="Courier New"/>
                <a:ea typeface="Courier New"/>
                <a:cs typeface="Courier New"/>
                <a:sym typeface="Courier New"/>
              </a:rPr>
              <a:t>MEASURED TOGETHER</a:t>
            </a:r>
            <a:endParaRPr b="0" i="0" sz="619"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397" name="Shape 1397"/>
        <p:cNvGrpSpPr/>
        <p:nvPr/>
      </p:nvGrpSpPr>
      <p:grpSpPr>
        <a:xfrm>
          <a:off x="0" y="0"/>
          <a:ext cx="0" cy="0"/>
          <a:chOff x="0" y="0"/>
          <a:chExt cx="0" cy="0"/>
        </a:xfrm>
      </p:grpSpPr>
      <p:sp>
        <p:nvSpPr>
          <p:cNvPr id="1398" name="Google Shape;1398;p51"/>
          <p:cNvSpPr/>
          <p:nvPr/>
        </p:nvSpPr>
        <p:spPr>
          <a:xfrm>
            <a:off x="457200" y="400050"/>
            <a:ext cx="8636000" cy="164592"/>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Carlito"/>
              <a:buNone/>
            </a:pPr>
            <a:r>
              <a:rPr b="0" i="0" lang="en-US" sz="800" u="none" cap="none" strike="noStrike">
                <a:solidFill>
                  <a:srgbClr val="F0B429"/>
                </a:solidFill>
                <a:latin typeface="Carlito"/>
                <a:ea typeface="Carlito"/>
                <a:cs typeface="Carlito"/>
                <a:sym typeface="Carlito"/>
              </a:rPr>
              <a:t>PART 08 · LIVE RESULTS · LORA FINE-TUNING</a:t>
            </a:r>
            <a:endParaRPr b="0" i="0" sz="800" u="none" cap="none" strike="noStrike">
              <a:solidFill>
                <a:schemeClr val="dk1"/>
              </a:solidFill>
              <a:latin typeface="Calibri"/>
              <a:ea typeface="Calibri"/>
              <a:cs typeface="Calibri"/>
              <a:sym typeface="Calibri"/>
            </a:endParaRPr>
          </a:p>
        </p:txBody>
      </p:sp>
      <p:sp>
        <p:nvSpPr>
          <p:cNvPr id="1399" name="Google Shape;1399;p51"/>
          <p:cNvSpPr/>
          <p:nvPr/>
        </p:nvSpPr>
        <p:spPr>
          <a:xfrm>
            <a:off x="2389584" y="653653"/>
            <a:ext cx="665931" cy="292894"/>
          </a:xfrm>
          <a:prstGeom prst="roundRect">
            <a:avLst>
              <a:gd fmla="val 13008" name="adj"/>
            </a:avLst>
          </a:prstGeom>
          <a:solidFill>
            <a:srgbClr val="F0B429">
              <a:alpha val="180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00" name="Google Shape;1400;p51"/>
          <p:cNvSpPr/>
          <p:nvPr/>
        </p:nvSpPr>
        <p:spPr>
          <a:xfrm>
            <a:off x="457200" y="603647"/>
            <a:ext cx="8636000" cy="36105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Live Results — </a:t>
            </a:r>
            <a:r>
              <a:rPr b="1" i="0" lang="en-US" sz="1800" u="none" cap="none" strike="noStrike">
                <a:solidFill>
                  <a:srgbClr val="FF0000"/>
                </a:solidFill>
                <a:highlight>
                  <a:srgbClr val="F0B429"/>
                </a:highlight>
                <a:latin typeface="Courier New"/>
                <a:ea typeface="Courier New"/>
                <a:cs typeface="Courier New"/>
                <a:sym typeface="Courier New"/>
              </a:rPr>
              <a:t>LoRA</a:t>
            </a:r>
            <a:r>
              <a:rPr b="1" lang="en-US" sz="2250">
                <a:solidFill>
                  <a:srgbClr val="F5F1E6"/>
                </a:solidFill>
                <a:latin typeface="Carlito"/>
                <a:ea typeface="Carlito"/>
                <a:cs typeface="Carlito"/>
                <a:sym typeface="Carlito"/>
              </a:rPr>
              <a:t> </a:t>
            </a:r>
            <a:r>
              <a:rPr b="1" i="0" lang="en-US" sz="2250" u="none" cap="none" strike="noStrike">
                <a:solidFill>
                  <a:srgbClr val="F5F1E6"/>
                </a:solidFill>
                <a:latin typeface="Carlito"/>
                <a:ea typeface="Carlito"/>
                <a:cs typeface="Carlito"/>
                <a:sym typeface="Carlito"/>
              </a:rPr>
              <a:t>Fine-Tuning</a:t>
            </a:r>
            <a:endParaRPr b="0" i="0" sz="2250" u="none" cap="none" strike="noStrike">
              <a:solidFill>
                <a:schemeClr val="dk1"/>
              </a:solidFill>
              <a:latin typeface="Calibri"/>
              <a:ea typeface="Calibri"/>
              <a:cs typeface="Calibri"/>
              <a:sym typeface="Calibri"/>
            </a:endParaRPr>
          </a:p>
        </p:txBody>
      </p:sp>
      <p:pic>
        <p:nvPicPr>
          <p:cNvPr descr="preencoded.png" id="1401" name="Google Shape;1401;p51"/>
          <p:cNvPicPr preferRelativeResize="0"/>
          <p:nvPr/>
        </p:nvPicPr>
        <p:blipFill rotWithShape="1">
          <a:blip r:embed="rId3">
            <a:alphaModFix/>
          </a:blip>
          <a:srcRect b="0" l="0" r="0" t="0"/>
          <a:stretch/>
        </p:blipFill>
        <p:spPr>
          <a:xfrm>
            <a:off x="457200" y="1052252"/>
            <a:ext cx="8229600" cy="357188"/>
          </a:xfrm>
          <a:prstGeom prst="rect">
            <a:avLst/>
          </a:prstGeom>
          <a:noFill/>
          <a:ln>
            <a:noFill/>
          </a:ln>
        </p:spPr>
      </p:pic>
      <p:cxnSp>
        <p:nvCxnSpPr>
          <p:cNvPr id="1402" name="Google Shape;1402;p51"/>
          <p:cNvCxnSpPr/>
          <p:nvPr/>
        </p:nvCxnSpPr>
        <p:spPr>
          <a:xfrm>
            <a:off x="467916" y="1052252"/>
            <a:ext cx="0" cy="357188"/>
          </a:xfrm>
          <a:prstGeom prst="straightConnector1">
            <a:avLst/>
          </a:prstGeom>
          <a:noFill/>
          <a:ln cap="flat" cmpd="sng" w="21425">
            <a:solidFill>
              <a:srgbClr val="4ADE80"/>
            </a:solidFill>
            <a:prstDash val="solid"/>
            <a:round/>
            <a:headEnd len="sm" w="sm" type="none"/>
            <a:tailEnd len="sm" w="sm" type="none"/>
          </a:ln>
        </p:spPr>
      </p:cxnSp>
      <p:sp>
        <p:nvSpPr>
          <p:cNvPr id="1403" name="Google Shape;1403;p51"/>
          <p:cNvSpPr/>
          <p:nvPr/>
        </p:nvSpPr>
        <p:spPr>
          <a:xfrm>
            <a:off x="596503" y="1127261"/>
            <a:ext cx="2591395" cy="207169"/>
          </a:xfrm>
          <a:prstGeom prst="roundRect">
            <a:avLst>
              <a:gd fmla="val 4593098" name="adj"/>
            </a:avLst>
          </a:prstGeom>
          <a:solidFill>
            <a:srgbClr val="4ADE80">
              <a:alpha val="10196"/>
            </a:srgbClr>
          </a:solidFill>
          <a:ln cap="flat" cmpd="sng" w="9525">
            <a:solidFill>
              <a:srgbClr val="4ADE8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04" name="Google Shape;1404;p51"/>
          <p:cNvSpPr/>
          <p:nvPr/>
        </p:nvSpPr>
        <p:spPr>
          <a:xfrm>
            <a:off x="857250" y="1173696"/>
            <a:ext cx="7715250" cy="146304"/>
          </a:xfrm>
          <a:prstGeom prst="rect">
            <a:avLst/>
          </a:prstGeom>
          <a:noFill/>
          <a:ln>
            <a:noFill/>
          </a:ln>
        </p:spPr>
        <p:txBody>
          <a:bodyPr anchorCtr="0" anchor="t" bIns="35700" lIns="100000" spcFirstLastPara="1" rIns="100000" wrap="square" tIns="35700">
            <a:noAutofit/>
          </a:bodyPr>
          <a:lstStyle/>
          <a:p>
            <a:pPr indent="0" lvl="0" marL="0" marR="0" rtl="0" algn="l">
              <a:lnSpc>
                <a:spcPct val="126625"/>
              </a:lnSpc>
              <a:spcBef>
                <a:spcPts val="0"/>
              </a:spcBef>
              <a:spcAft>
                <a:spcPts val="0"/>
              </a:spcAft>
              <a:buClr>
                <a:srgbClr val="4ADE80"/>
              </a:buClr>
              <a:buSzPts val="800"/>
              <a:buFont typeface="Carlito"/>
              <a:buNone/>
            </a:pPr>
            <a:r>
              <a:rPr b="0" i="0" lang="en-US" sz="800" u="none" cap="none" strike="noStrike">
                <a:solidFill>
                  <a:srgbClr val="4ADE80"/>
                </a:solidFill>
                <a:latin typeface="Carlito"/>
                <a:ea typeface="Carlito"/>
                <a:cs typeface="Carlito"/>
                <a:sym typeface="Carlito"/>
              </a:rPr>
              <a:t>VERIFIED LIVE · MEASURED IN TODAY'S SESSION</a:t>
            </a:r>
            <a:endParaRPr b="0" i="0" sz="800" u="none" cap="none" strike="noStrike">
              <a:solidFill>
                <a:schemeClr val="dk1"/>
              </a:solidFill>
              <a:latin typeface="Calibri"/>
              <a:ea typeface="Calibri"/>
              <a:cs typeface="Calibri"/>
              <a:sym typeface="Calibri"/>
            </a:endParaRPr>
          </a:p>
        </p:txBody>
      </p:sp>
      <p:sp>
        <p:nvSpPr>
          <p:cNvPr id="1405" name="Google Shape;1405;p51"/>
          <p:cNvSpPr/>
          <p:nvPr/>
        </p:nvSpPr>
        <p:spPr>
          <a:xfrm>
            <a:off x="700088" y="1180840"/>
            <a:ext cx="100013" cy="1000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DE80"/>
              </a:buClr>
              <a:buSzPts val="984"/>
              <a:buFont typeface="Quattrocento Sans"/>
              <a:buNone/>
            </a:pPr>
            <a:r>
              <a:rPr b="0" i="0" lang="en-US" sz="984" u="none" cap="none" strike="noStrike">
                <a:solidFill>
                  <a:srgbClr val="4ADE80"/>
                </a:solidFill>
                <a:latin typeface="Quattrocento Sans"/>
                <a:ea typeface="Quattrocento Sans"/>
                <a:cs typeface="Quattrocento Sans"/>
                <a:sym typeface="Quattrocento Sans"/>
              </a:rPr>
              <a:t>✓</a:t>
            </a:r>
            <a:endParaRPr b="0" i="0" sz="984" u="none" cap="none" strike="noStrike">
              <a:solidFill>
                <a:schemeClr val="dk1"/>
              </a:solidFill>
              <a:latin typeface="Calibri"/>
              <a:ea typeface="Calibri"/>
              <a:cs typeface="Calibri"/>
              <a:sym typeface="Calibri"/>
            </a:endParaRPr>
          </a:p>
        </p:txBody>
      </p:sp>
      <p:graphicFrame>
        <p:nvGraphicFramePr>
          <p:cNvPr id="1406" name="Google Shape;1406;p51"/>
          <p:cNvGraphicFramePr/>
          <p:nvPr/>
        </p:nvGraphicFramePr>
        <p:xfrm>
          <a:off x="457200" y="1523740"/>
          <a:ext cx="3000000" cy="3000000"/>
        </p:xfrm>
        <a:graphic>
          <a:graphicData uri="http://schemas.openxmlformats.org/drawingml/2006/table">
            <a:tbl>
              <a:tblPr>
                <a:noFill/>
                <a:tableStyleId>{032C9997-6F46-4A23-839E-9CD501ED875D}</a:tableStyleId>
              </a:tblPr>
              <a:tblGrid>
                <a:gridCol w="4526225"/>
                <a:gridCol w="3703375"/>
              </a:tblGrid>
              <a:tr h="101600">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Metric</a:t>
                      </a:r>
                      <a:endParaRPr sz="800" u="none" cap="none" strike="noStrike">
                        <a:latin typeface="Carlito"/>
                        <a:ea typeface="Carlito"/>
                        <a:cs typeface="Carlito"/>
                        <a:sym typeface="Carlito"/>
                      </a:endParaRPr>
                    </a:p>
                  </a:txBody>
                  <a:tcPr marT="114300" marB="85725" marR="114300" marL="8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Value</a:t>
                      </a:r>
                      <a:endParaRPr sz="800" u="none" cap="none" strike="noStrike">
                        <a:latin typeface="Carlito"/>
                        <a:ea typeface="Carlito"/>
                        <a:cs typeface="Carlito"/>
                        <a:sym typeface="Carlito"/>
                      </a:endParaRPr>
                    </a:p>
                  </a:txBody>
                  <a:tcPr marT="114300" marB="85725" marR="114300" marL="8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14300">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GPT-2 total parameters</a:t>
                      </a:r>
                      <a:endParaRPr sz="844" u="none" cap="none" strike="noStrike">
                        <a:latin typeface="Carlito"/>
                        <a:ea typeface="Carlito"/>
                        <a:cs typeface="Carlito"/>
                        <a:sym typeface="Carlito"/>
                      </a:endParaRPr>
                    </a:p>
                  </a:txBody>
                  <a:tcPr marT="128600" marB="100025" marR="128600" marL="100025">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900"/>
                        <a:buFont typeface="Courier New"/>
                        <a:buNone/>
                      </a:pPr>
                      <a:r>
                        <a:rPr lang="en-US" sz="900" u="none" cap="none" strike="noStrike">
                          <a:solidFill>
                            <a:srgbClr val="F0B429"/>
                          </a:solidFill>
                          <a:latin typeface="Courier New"/>
                          <a:ea typeface="Courier New"/>
                          <a:cs typeface="Courier New"/>
                          <a:sym typeface="Courier New"/>
                        </a:rPr>
                        <a:t>124,439,808</a:t>
                      </a:r>
                      <a:endParaRPr sz="900" u="none" cap="none" strike="noStrike">
                        <a:latin typeface="Courier New"/>
                        <a:ea typeface="Courier New"/>
                        <a:cs typeface="Courier New"/>
                        <a:sym typeface="Courier New"/>
                      </a:endParaRPr>
                    </a:p>
                  </a:txBody>
                  <a:tcPr marT="128600" marB="100025" marR="128600" marL="100025">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14300">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LoRA trainable parameters (rank r=8)</a:t>
                      </a:r>
                      <a:endParaRPr sz="844" u="none" cap="none" strike="noStrike">
                        <a:latin typeface="Carlito"/>
                        <a:ea typeface="Carlito"/>
                        <a:cs typeface="Carlito"/>
                        <a:sym typeface="Carlito"/>
                      </a:endParaRPr>
                    </a:p>
                  </a:txBody>
                  <a:tcPr marT="128600" marB="100025" marR="128600" marL="100025">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900"/>
                        <a:buFont typeface="Courier New"/>
                        <a:buNone/>
                      </a:pPr>
                      <a:r>
                        <a:rPr lang="en-US" sz="900" u="none" cap="none" strike="noStrike">
                          <a:solidFill>
                            <a:srgbClr val="F0B429"/>
                          </a:solidFill>
                          <a:latin typeface="Courier New"/>
                          <a:ea typeface="Courier New"/>
                          <a:cs typeface="Courier New"/>
                          <a:sym typeface="Courier New"/>
                        </a:rPr>
                        <a:t>294,912</a:t>
                      </a:r>
                      <a:endParaRPr sz="900" u="none" cap="none" strike="noStrike">
                        <a:latin typeface="Courier New"/>
                        <a:ea typeface="Courier New"/>
                        <a:cs typeface="Courier New"/>
                        <a:sym typeface="Courier New"/>
                      </a:endParaRPr>
                    </a:p>
                  </a:txBody>
                  <a:tcPr marT="128600" marB="100025" marR="128600" marL="100025">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14300">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Trainable percentage</a:t>
                      </a:r>
                      <a:endParaRPr sz="844" u="none" cap="none" strike="noStrike">
                        <a:latin typeface="Carlito"/>
                        <a:ea typeface="Carlito"/>
                        <a:cs typeface="Carlito"/>
                        <a:sym typeface="Carlito"/>
                      </a:endParaRPr>
                    </a:p>
                  </a:txBody>
                  <a:tcPr marT="128600" marB="100025" marR="128600" marL="100025">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900"/>
                        <a:buFont typeface="Courier New"/>
                        <a:buNone/>
                      </a:pPr>
                      <a:r>
                        <a:rPr lang="en-US" sz="900" u="none" cap="none" strike="noStrike">
                          <a:solidFill>
                            <a:srgbClr val="F0B429"/>
                          </a:solidFill>
                          <a:latin typeface="Courier New"/>
                          <a:ea typeface="Courier New"/>
                          <a:cs typeface="Courier New"/>
                          <a:sym typeface="Courier New"/>
                        </a:rPr>
                        <a:t>0.24%</a:t>
                      </a:r>
                      <a:endParaRPr sz="900" u="none" cap="none" strike="noStrike">
                        <a:latin typeface="Courier New"/>
                        <a:ea typeface="Courier New"/>
                        <a:cs typeface="Courier New"/>
                        <a:sym typeface="Courier New"/>
                      </a:endParaRPr>
                    </a:p>
                  </a:txBody>
                  <a:tcPr marT="128600" marB="100025" marR="128600" marL="100025">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14300">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LoRA target module</a:t>
                      </a:r>
                      <a:endParaRPr sz="844" u="none" cap="none" strike="noStrike">
                        <a:latin typeface="Carlito"/>
                        <a:ea typeface="Carlito"/>
                        <a:cs typeface="Carlito"/>
                        <a:sym typeface="Carlito"/>
                      </a:endParaRPr>
                    </a:p>
                  </a:txBody>
                  <a:tcPr marT="128600" marB="100025" marR="128600" marL="100025">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900"/>
                        <a:buFont typeface="Courier New"/>
                        <a:buNone/>
                      </a:pPr>
                      <a:r>
                        <a:rPr lang="en-US" sz="900" u="none" cap="none" strike="noStrike">
                          <a:solidFill>
                            <a:srgbClr val="F0B429"/>
                          </a:solidFill>
                          <a:latin typeface="Courier New"/>
                          <a:ea typeface="Courier New"/>
                          <a:cs typeface="Courier New"/>
                          <a:sym typeface="Courier New"/>
                        </a:rPr>
                        <a:t>c_attn (GPT-2's combined attention projection)</a:t>
                      </a:r>
                      <a:endParaRPr sz="900" u="none" cap="none" strike="noStrike">
                        <a:latin typeface="Courier New"/>
                        <a:ea typeface="Courier New"/>
                        <a:cs typeface="Courier New"/>
                        <a:sym typeface="Courier New"/>
                      </a:endParaRPr>
                    </a:p>
                  </a:txBody>
                  <a:tcPr marT="128600" marB="100025" marR="128600" marL="100025">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
        <p:nvSpPr>
          <p:cNvPr id="1407" name="Google Shape;1407;p51"/>
          <p:cNvSpPr/>
          <p:nvPr/>
        </p:nvSpPr>
        <p:spPr>
          <a:xfrm>
            <a:off x="457200" y="3498986"/>
            <a:ext cx="8229600" cy="875109"/>
          </a:xfrm>
          <a:prstGeom prst="roundRect">
            <a:avLst>
              <a:gd fmla="val 10884" name="adj"/>
            </a:avLst>
          </a:prstGeom>
          <a:solidFill>
            <a:srgbClr val="14233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408" name="Google Shape;1408;p51"/>
          <p:cNvCxnSpPr/>
          <p:nvPr/>
        </p:nvCxnSpPr>
        <p:spPr>
          <a:xfrm>
            <a:off x="457200" y="3502558"/>
            <a:ext cx="8229600" cy="0"/>
          </a:xfrm>
          <a:prstGeom prst="straightConnector1">
            <a:avLst/>
          </a:prstGeom>
          <a:noFill/>
          <a:ln cap="flat" cmpd="sng" w="9525">
            <a:solidFill>
              <a:srgbClr val="2A3B52"/>
            </a:solidFill>
            <a:prstDash val="solid"/>
            <a:round/>
            <a:headEnd len="sm" w="sm" type="none"/>
            <a:tailEnd len="sm" w="sm" type="none"/>
          </a:ln>
        </p:spPr>
      </p:cxnSp>
      <p:cxnSp>
        <p:nvCxnSpPr>
          <p:cNvPr id="1409" name="Google Shape;1409;p51"/>
          <p:cNvCxnSpPr/>
          <p:nvPr/>
        </p:nvCxnSpPr>
        <p:spPr>
          <a:xfrm>
            <a:off x="8683228" y="3498986"/>
            <a:ext cx="0" cy="875109"/>
          </a:xfrm>
          <a:prstGeom prst="straightConnector1">
            <a:avLst/>
          </a:prstGeom>
          <a:noFill/>
          <a:ln cap="flat" cmpd="sng" w="9525">
            <a:solidFill>
              <a:srgbClr val="2A3B52"/>
            </a:solidFill>
            <a:prstDash val="solid"/>
            <a:round/>
            <a:headEnd len="sm" w="sm" type="none"/>
            <a:tailEnd len="sm" w="sm" type="none"/>
          </a:ln>
        </p:spPr>
      </p:cxnSp>
      <p:cxnSp>
        <p:nvCxnSpPr>
          <p:cNvPr id="1410" name="Google Shape;1410;p51"/>
          <p:cNvCxnSpPr/>
          <p:nvPr/>
        </p:nvCxnSpPr>
        <p:spPr>
          <a:xfrm>
            <a:off x="457200" y="4370524"/>
            <a:ext cx="8229600" cy="0"/>
          </a:xfrm>
          <a:prstGeom prst="straightConnector1">
            <a:avLst/>
          </a:prstGeom>
          <a:noFill/>
          <a:ln cap="flat" cmpd="sng" w="9525">
            <a:solidFill>
              <a:srgbClr val="2A3B52"/>
            </a:solidFill>
            <a:prstDash val="solid"/>
            <a:round/>
            <a:headEnd len="sm" w="sm" type="none"/>
            <a:tailEnd len="sm" w="sm" type="none"/>
          </a:ln>
        </p:spPr>
      </p:cxnSp>
      <p:cxnSp>
        <p:nvCxnSpPr>
          <p:cNvPr id="1411" name="Google Shape;1411;p51"/>
          <p:cNvCxnSpPr/>
          <p:nvPr/>
        </p:nvCxnSpPr>
        <p:spPr>
          <a:xfrm>
            <a:off x="471488" y="3498986"/>
            <a:ext cx="0" cy="875109"/>
          </a:xfrm>
          <a:prstGeom prst="straightConnector1">
            <a:avLst/>
          </a:prstGeom>
          <a:noFill/>
          <a:ln cap="flat" cmpd="sng" w="28575">
            <a:solidFill>
              <a:srgbClr val="F0B429"/>
            </a:solidFill>
            <a:prstDash val="solid"/>
            <a:round/>
            <a:headEnd len="sm" w="sm" type="none"/>
            <a:tailEnd len="sm" w="sm" type="none"/>
          </a:ln>
        </p:spPr>
      </p:cxnSp>
      <p:cxnSp>
        <p:nvCxnSpPr>
          <p:cNvPr id="1412" name="Google Shape;1412;p51"/>
          <p:cNvCxnSpPr/>
          <p:nvPr/>
        </p:nvCxnSpPr>
        <p:spPr>
          <a:xfrm>
            <a:off x="1820987" y="3649005"/>
            <a:ext cx="0" cy="575072"/>
          </a:xfrm>
          <a:prstGeom prst="straightConnector1">
            <a:avLst/>
          </a:prstGeom>
          <a:noFill/>
          <a:ln cap="flat" cmpd="sng" w="9525">
            <a:solidFill>
              <a:srgbClr val="2A3B52"/>
            </a:solidFill>
            <a:prstDash val="solid"/>
            <a:round/>
            <a:headEnd len="sm" w="sm" type="none"/>
            <a:tailEnd len="sm" w="sm" type="none"/>
          </a:ln>
        </p:spPr>
      </p:cxnSp>
      <p:sp>
        <p:nvSpPr>
          <p:cNvPr id="1413" name="Google Shape;1413;p51"/>
          <p:cNvSpPr/>
          <p:nvPr/>
        </p:nvSpPr>
        <p:spPr>
          <a:xfrm>
            <a:off x="415857" y="3649005"/>
            <a:ext cx="1442900" cy="42976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0B429"/>
              </a:buClr>
              <a:buSzPts val="3150"/>
              <a:buFont typeface="Arial"/>
              <a:buNone/>
            </a:pPr>
            <a:r>
              <a:rPr b="0" i="0" lang="en-US" sz="3150" u="none" cap="none" strike="noStrike">
                <a:solidFill>
                  <a:srgbClr val="F0B429"/>
                </a:solidFill>
                <a:latin typeface="Arial"/>
                <a:ea typeface="Arial"/>
                <a:cs typeface="Arial"/>
                <a:sym typeface="Arial"/>
              </a:rPr>
              <a:t>0.24%</a:t>
            </a:r>
            <a:endParaRPr b="0" i="0" sz="3150" u="none" cap="none" strike="noStrike">
              <a:solidFill>
                <a:schemeClr val="dk1"/>
              </a:solidFill>
              <a:latin typeface="Calibri"/>
              <a:ea typeface="Calibri"/>
              <a:cs typeface="Calibri"/>
              <a:sym typeface="Calibri"/>
            </a:endParaRPr>
          </a:p>
        </p:txBody>
      </p:sp>
      <p:sp>
        <p:nvSpPr>
          <p:cNvPr id="1414" name="Google Shape;1414;p51"/>
          <p:cNvSpPr/>
          <p:nvPr/>
        </p:nvSpPr>
        <p:spPr>
          <a:xfrm>
            <a:off x="657225" y="4106205"/>
            <a:ext cx="960165" cy="117872"/>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Clr>
                <a:srgbClr val="94A3B8"/>
              </a:buClr>
              <a:buSzPts val="800"/>
              <a:buFont typeface="Carlito"/>
              <a:buNone/>
            </a:pPr>
            <a:r>
              <a:rPr b="0" i="0" lang="en-US" sz="800" u="none" cap="none" strike="noStrike">
                <a:solidFill>
                  <a:srgbClr val="94A3B8"/>
                </a:solidFill>
                <a:latin typeface="Carlito"/>
                <a:ea typeface="Carlito"/>
                <a:cs typeface="Carlito"/>
                <a:sym typeface="Carlito"/>
              </a:rPr>
              <a:t>TRAINABLE</a:t>
            </a:r>
            <a:endParaRPr b="0" i="0" sz="800" u="none" cap="none" strike="noStrike">
              <a:solidFill>
                <a:schemeClr val="dk1"/>
              </a:solidFill>
              <a:latin typeface="Calibri"/>
              <a:ea typeface="Calibri"/>
              <a:cs typeface="Calibri"/>
              <a:sym typeface="Calibri"/>
            </a:endParaRPr>
          </a:p>
        </p:txBody>
      </p:sp>
      <p:sp>
        <p:nvSpPr>
          <p:cNvPr id="1415" name="Google Shape;1415;p51"/>
          <p:cNvSpPr/>
          <p:nvPr/>
        </p:nvSpPr>
        <p:spPr>
          <a:xfrm>
            <a:off x="2024583" y="3776588"/>
            <a:ext cx="6483623" cy="350983"/>
          </a:xfrm>
          <a:prstGeom prst="rect">
            <a:avLst/>
          </a:prstGeom>
          <a:noFill/>
          <a:ln>
            <a:noFill/>
          </a:ln>
        </p:spPr>
        <p:txBody>
          <a:bodyPr anchorCtr="0" anchor="t" bIns="0" lIns="0" spcFirstLastPara="1" rIns="0" wrap="square" tIns="0">
            <a:noAutofit/>
          </a:bodyPr>
          <a:lstStyle/>
          <a:p>
            <a:pPr indent="0" lvl="0" marL="0" marR="0" rtl="0" algn="l">
              <a:lnSpc>
                <a:spcPct val="157500"/>
              </a:lnSpc>
              <a:spcBef>
                <a:spcPts val="0"/>
              </a:spcBef>
              <a:spcAft>
                <a:spcPts val="0"/>
              </a:spcAft>
              <a:buClr>
                <a:srgbClr val="F5F1E6"/>
              </a:buClr>
              <a:buSzPts val="800"/>
              <a:buFont typeface="Carlito"/>
              <a:buNone/>
            </a:pPr>
            <a:r>
              <a:rPr b="0" i="0" lang="en-US" sz="800" u="none" cap="none" strike="noStrike">
                <a:solidFill>
                  <a:srgbClr val="F5F1E6"/>
                </a:solidFill>
                <a:latin typeface="Carlito"/>
                <a:ea typeface="Carlito"/>
                <a:cs typeface="Carlito"/>
                <a:sym typeface="Carlito"/>
              </a:rPr>
              <a:t>Only </a:t>
            </a:r>
            <a:r>
              <a:rPr b="0" i="0" lang="en-US" sz="800" u="none" cap="none" strike="noStrike">
                <a:solidFill>
                  <a:srgbClr val="F0B429"/>
                </a:solidFill>
                <a:latin typeface="Arial"/>
                <a:ea typeface="Arial"/>
                <a:cs typeface="Arial"/>
                <a:sym typeface="Arial"/>
              </a:rPr>
              <a:t>0.24%</a:t>
            </a:r>
            <a:r>
              <a:rPr b="0" i="0" lang="en-US" sz="800" u="none" cap="none" strike="noStrike">
                <a:solidFill>
                  <a:srgbClr val="F5F1E6"/>
                </a:solidFill>
                <a:latin typeface="Carlito"/>
                <a:ea typeface="Carlito"/>
                <a:cs typeface="Carlito"/>
                <a:sym typeface="Carlito"/>
              </a:rPr>
              <a:t> of the model's parameters were updated during fine-tuning. This is the concrete, measured proof of parameter-efficient fine-tuning discussed in </a:t>
            </a:r>
            <a:r>
              <a:rPr b="0" i="0" lang="en-US" sz="800" u="none" cap="none" strike="noStrike">
                <a:solidFill>
                  <a:srgbClr val="F0B429"/>
                </a:solidFill>
                <a:latin typeface="Carlito"/>
                <a:ea typeface="Carlito"/>
                <a:cs typeface="Carlito"/>
                <a:sym typeface="Carlito"/>
              </a:rPr>
              <a:t>Part Three</a:t>
            </a:r>
            <a:r>
              <a:rPr b="0" i="0" lang="en-US" sz="800" u="none" cap="none" strike="noStrike">
                <a:solidFill>
                  <a:srgbClr val="F5F1E6"/>
                </a:solidFill>
                <a:latin typeface="Carlito"/>
                <a:ea typeface="Carlito"/>
                <a:cs typeface="Carlito"/>
                <a:sym typeface="Carlito"/>
              </a:rPr>
              <a:t>.</a:t>
            </a:r>
            <a:endParaRPr b="0" i="0" sz="800" u="none" cap="none" strike="noStrike">
              <a:solidFill>
                <a:schemeClr val="dk1"/>
              </a:solidFill>
              <a:latin typeface="Calibri"/>
              <a:ea typeface="Calibri"/>
              <a:cs typeface="Calibri"/>
              <a:sym typeface="Calibri"/>
            </a:endParaRPr>
          </a:p>
        </p:txBody>
      </p:sp>
      <p:sp>
        <p:nvSpPr>
          <p:cNvPr id="1416" name="Google Shape;1416;p51"/>
          <p:cNvSpPr/>
          <p:nvPr/>
        </p:nvSpPr>
        <p:spPr>
          <a:xfrm>
            <a:off x="457200" y="4857750"/>
            <a:ext cx="7867166"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417" name="Google Shape;1417;p51"/>
          <p:cNvSpPr/>
          <p:nvPr/>
        </p:nvSpPr>
        <p:spPr>
          <a:xfrm>
            <a:off x="8338654" y="4857750"/>
            <a:ext cx="496979"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49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422" name="Shape 1422"/>
        <p:cNvGrpSpPr/>
        <p:nvPr/>
      </p:nvGrpSpPr>
      <p:grpSpPr>
        <a:xfrm>
          <a:off x="0" y="0"/>
          <a:ext cx="0" cy="0"/>
          <a:chOff x="0" y="0"/>
          <a:chExt cx="0" cy="0"/>
        </a:xfrm>
      </p:grpSpPr>
      <p:sp>
        <p:nvSpPr>
          <p:cNvPr id="1423" name="Google Shape;1423;p52"/>
          <p:cNvSpPr/>
          <p:nvPr/>
        </p:nvSpPr>
        <p:spPr>
          <a:xfrm>
            <a:off x="457200" y="400050"/>
            <a:ext cx="8636000" cy="164592"/>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Carlito"/>
              <a:buNone/>
            </a:pPr>
            <a:r>
              <a:rPr b="0" i="0" lang="en-US" sz="800" u="none" cap="none" strike="noStrike">
                <a:solidFill>
                  <a:srgbClr val="F0B429"/>
                </a:solidFill>
                <a:latin typeface="Carlito"/>
                <a:ea typeface="Carlito"/>
                <a:cs typeface="Carlito"/>
                <a:sym typeface="Carlito"/>
              </a:rPr>
              <a:t>PART 08 · LIVE RESULTS · QUANTIZATION</a:t>
            </a:r>
            <a:endParaRPr b="0" i="0" sz="800" u="none" cap="none" strike="noStrike">
              <a:solidFill>
                <a:schemeClr val="dk1"/>
              </a:solidFill>
              <a:latin typeface="Calibri"/>
              <a:ea typeface="Calibri"/>
              <a:cs typeface="Calibri"/>
              <a:sym typeface="Calibri"/>
            </a:endParaRPr>
          </a:p>
        </p:txBody>
      </p:sp>
      <p:sp>
        <p:nvSpPr>
          <p:cNvPr id="1424" name="Google Shape;1424;p52"/>
          <p:cNvSpPr/>
          <p:nvPr/>
        </p:nvSpPr>
        <p:spPr>
          <a:xfrm>
            <a:off x="457200" y="603647"/>
            <a:ext cx="8636000" cy="354902"/>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Live Results — Quantization</a:t>
            </a:r>
            <a:endParaRPr b="0" i="0" sz="2250" u="none" cap="none" strike="noStrike">
              <a:solidFill>
                <a:schemeClr val="dk1"/>
              </a:solidFill>
              <a:latin typeface="Calibri"/>
              <a:ea typeface="Calibri"/>
              <a:cs typeface="Calibri"/>
              <a:sym typeface="Calibri"/>
            </a:endParaRPr>
          </a:p>
        </p:txBody>
      </p:sp>
      <p:pic>
        <p:nvPicPr>
          <p:cNvPr descr="preencoded.png" id="1425" name="Google Shape;1425;p52"/>
          <p:cNvPicPr preferRelativeResize="0"/>
          <p:nvPr/>
        </p:nvPicPr>
        <p:blipFill rotWithShape="1">
          <a:blip r:embed="rId3">
            <a:alphaModFix/>
          </a:blip>
          <a:srcRect b="0" l="0" r="0" t="0"/>
          <a:stretch/>
        </p:blipFill>
        <p:spPr>
          <a:xfrm>
            <a:off x="457200" y="1046559"/>
            <a:ext cx="8229600" cy="357188"/>
          </a:xfrm>
          <a:prstGeom prst="rect">
            <a:avLst/>
          </a:prstGeom>
          <a:noFill/>
          <a:ln>
            <a:noFill/>
          </a:ln>
        </p:spPr>
      </p:pic>
      <p:cxnSp>
        <p:nvCxnSpPr>
          <p:cNvPr id="1426" name="Google Shape;1426;p52"/>
          <p:cNvCxnSpPr/>
          <p:nvPr/>
        </p:nvCxnSpPr>
        <p:spPr>
          <a:xfrm>
            <a:off x="467916" y="1046559"/>
            <a:ext cx="0" cy="357188"/>
          </a:xfrm>
          <a:prstGeom prst="straightConnector1">
            <a:avLst/>
          </a:prstGeom>
          <a:noFill/>
          <a:ln cap="flat" cmpd="sng" w="21425">
            <a:solidFill>
              <a:srgbClr val="4ADE80"/>
            </a:solidFill>
            <a:prstDash val="solid"/>
            <a:round/>
            <a:headEnd len="sm" w="sm" type="none"/>
            <a:tailEnd len="sm" w="sm" type="none"/>
          </a:ln>
        </p:spPr>
      </p:cxnSp>
      <p:sp>
        <p:nvSpPr>
          <p:cNvPr id="1427" name="Google Shape;1427;p52"/>
          <p:cNvSpPr/>
          <p:nvPr/>
        </p:nvSpPr>
        <p:spPr>
          <a:xfrm>
            <a:off x="596503" y="1121569"/>
            <a:ext cx="2591395" cy="207169"/>
          </a:xfrm>
          <a:prstGeom prst="roundRect">
            <a:avLst>
              <a:gd fmla="val 4593098" name="adj"/>
            </a:avLst>
          </a:prstGeom>
          <a:solidFill>
            <a:srgbClr val="4ADE80">
              <a:alpha val="10196"/>
            </a:srgbClr>
          </a:solidFill>
          <a:ln cap="flat" cmpd="sng" w="9525">
            <a:solidFill>
              <a:srgbClr val="4ADE8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28" name="Google Shape;1428;p52"/>
          <p:cNvSpPr/>
          <p:nvPr/>
        </p:nvSpPr>
        <p:spPr>
          <a:xfrm>
            <a:off x="842186" y="1122810"/>
            <a:ext cx="7715400" cy="146400"/>
          </a:xfrm>
          <a:prstGeom prst="rect">
            <a:avLst/>
          </a:prstGeom>
          <a:noFill/>
          <a:ln>
            <a:noFill/>
          </a:ln>
        </p:spPr>
        <p:txBody>
          <a:bodyPr anchorCtr="0" anchor="t" bIns="35700" lIns="100000" spcFirstLastPara="1" rIns="100000" wrap="square" tIns="35700">
            <a:noAutofit/>
          </a:bodyPr>
          <a:lstStyle/>
          <a:p>
            <a:pPr indent="0" lvl="0" marL="0" marR="0" rtl="0" algn="l">
              <a:lnSpc>
                <a:spcPct val="126625"/>
              </a:lnSpc>
              <a:spcBef>
                <a:spcPts val="0"/>
              </a:spcBef>
              <a:spcAft>
                <a:spcPts val="0"/>
              </a:spcAft>
              <a:buClr>
                <a:srgbClr val="4ADE80"/>
              </a:buClr>
              <a:buSzPts val="800"/>
              <a:buFont typeface="Carlito"/>
              <a:buNone/>
            </a:pPr>
            <a:r>
              <a:rPr b="0" i="0" lang="en-US" sz="800" u="none" cap="none" strike="noStrike">
                <a:solidFill>
                  <a:srgbClr val="4ADE80"/>
                </a:solidFill>
                <a:latin typeface="Carlito"/>
                <a:ea typeface="Carlito"/>
                <a:cs typeface="Carlito"/>
                <a:sym typeface="Carlito"/>
              </a:rPr>
              <a:t>VERIFIED LIVE · MEASURED IN TODAY'S SESSION</a:t>
            </a:r>
            <a:endParaRPr b="0" i="0" sz="800" u="none" cap="none" strike="noStrike">
              <a:solidFill>
                <a:schemeClr val="dk1"/>
              </a:solidFill>
              <a:latin typeface="Calibri"/>
              <a:ea typeface="Calibri"/>
              <a:cs typeface="Calibri"/>
              <a:sym typeface="Calibri"/>
            </a:endParaRPr>
          </a:p>
        </p:txBody>
      </p:sp>
      <p:sp>
        <p:nvSpPr>
          <p:cNvPr id="1429" name="Google Shape;1429;p52"/>
          <p:cNvSpPr/>
          <p:nvPr/>
        </p:nvSpPr>
        <p:spPr>
          <a:xfrm>
            <a:off x="700088" y="1175147"/>
            <a:ext cx="100013" cy="1000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DE80"/>
              </a:buClr>
              <a:buSzPts val="984"/>
              <a:buFont typeface="Quattrocento Sans"/>
              <a:buNone/>
            </a:pPr>
            <a:r>
              <a:rPr b="0" i="0" lang="en-US" sz="984" u="none" cap="none" strike="noStrike">
                <a:solidFill>
                  <a:srgbClr val="4ADE80"/>
                </a:solidFill>
                <a:latin typeface="Quattrocento Sans"/>
                <a:ea typeface="Quattrocento Sans"/>
                <a:cs typeface="Quattrocento Sans"/>
                <a:sym typeface="Quattrocento Sans"/>
              </a:rPr>
              <a:t>✓</a:t>
            </a:r>
            <a:endParaRPr b="0" i="0" sz="984" u="none" cap="none" strike="noStrike">
              <a:solidFill>
                <a:schemeClr val="dk1"/>
              </a:solidFill>
              <a:latin typeface="Calibri"/>
              <a:ea typeface="Calibri"/>
              <a:cs typeface="Calibri"/>
              <a:sym typeface="Calibri"/>
            </a:endParaRPr>
          </a:p>
        </p:txBody>
      </p:sp>
      <p:graphicFrame>
        <p:nvGraphicFramePr>
          <p:cNvPr id="1430" name="Google Shape;1430;p52"/>
          <p:cNvGraphicFramePr/>
          <p:nvPr/>
        </p:nvGraphicFramePr>
        <p:xfrm>
          <a:off x="457200" y="1518047"/>
          <a:ext cx="3000000" cy="3000000"/>
        </p:xfrm>
        <a:graphic>
          <a:graphicData uri="http://schemas.openxmlformats.org/drawingml/2006/table">
            <a:tbl>
              <a:tblPr>
                <a:noFill/>
                <a:tableStyleId>{032C9997-6F46-4A23-839E-9CD501ED875D}</a:tableStyleId>
              </a:tblPr>
              <a:tblGrid>
                <a:gridCol w="3127175"/>
                <a:gridCol w="1810500"/>
                <a:gridCol w="3291925"/>
              </a:tblGrid>
              <a:tr h="101600">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Version</a:t>
                      </a:r>
                      <a:endParaRPr sz="800" u="none" cap="none" strike="noStrike">
                        <a:latin typeface="Carlito"/>
                        <a:ea typeface="Carlito"/>
                        <a:cs typeface="Carlito"/>
                        <a:sym typeface="Carlito"/>
                      </a:endParaRPr>
                    </a:p>
                  </a:txBody>
                  <a:tcPr marT="114300" marB="85725" marR="114300" marL="8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Size</a:t>
                      </a:r>
                      <a:endParaRPr sz="800" u="none" cap="none" strike="noStrike">
                        <a:latin typeface="Carlito"/>
                        <a:ea typeface="Carlito"/>
                        <a:cs typeface="Carlito"/>
                        <a:sym typeface="Carlito"/>
                      </a:endParaRPr>
                    </a:p>
                  </a:txBody>
                  <a:tcPr marT="114300" marB="85725" marR="114300" marL="8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Notes</a:t>
                      </a:r>
                      <a:endParaRPr sz="800" u="none" cap="none" strike="noStrike">
                        <a:latin typeface="Carlito"/>
                        <a:ea typeface="Carlito"/>
                        <a:cs typeface="Carlito"/>
                        <a:sym typeface="Carlito"/>
                      </a:endParaRPr>
                    </a:p>
                  </a:txBody>
                  <a:tcPr marT="114300" marB="85725" marR="114300" marL="8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21400">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FP32 (Linear-converted)</a:t>
                      </a:r>
                      <a:endParaRPr sz="844" u="none" cap="none" strike="noStrike">
                        <a:latin typeface="Carlito"/>
                        <a:ea typeface="Carlito"/>
                        <a:cs typeface="Carlito"/>
                        <a:sym typeface="Carlito"/>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94A3B8"/>
                        </a:buClr>
                        <a:buSzPts val="956"/>
                        <a:buFont typeface="Courier New"/>
                        <a:buNone/>
                      </a:pPr>
                      <a:r>
                        <a:rPr lang="en-US" sz="956" u="none" cap="none" strike="noStrike">
                          <a:solidFill>
                            <a:srgbClr val="94A3B8"/>
                          </a:solidFill>
                          <a:latin typeface="Courier New"/>
                          <a:ea typeface="Courier New"/>
                          <a:cs typeface="Courier New"/>
                          <a:sym typeface="Courier New"/>
                        </a:rPr>
                        <a:t>474.70 MB</a:t>
                      </a:r>
                      <a:endParaRPr sz="956" u="none" cap="none" strike="noStrike">
                        <a:latin typeface="Courier New"/>
                        <a:ea typeface="Courier New"/>
                        <a:cs typeface="Courier New"/>
                        <a:sym typeface="Courier New"/>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94A3B8"/>
                        </a:buClr>
                        <a:buSzPts val="843"/>
                        <a:buFont typeface="Carlito"/>
                        <a:buNone/>
                      </a:pPr>
                      <a:r>
                        <a:rPr lang="en-US" sz="844" u="none" cap="none" strike="noStrike">
                          <a:solidFill>
                            <a:srgbClr val="94A3B8"/>
                          </a:solidFill>
                          <a:latin typeface="Carlito"/>
                          <a:ea typeface="Carlito"/>
                          <a:cs typeface="Carlito"/>
                          <a:sym typeface="Carlito"/>
                        </a:rPr>
                        <a:t>Baseline</a:t>
                      </a:r>
                      <a:endParaRPr sz="844" u="none" cap="none" strike="noStrike">
                        <a:latin typeface="Carlito"/>
                        <a:ea typeface="Carlito"/>
                        <a:cs typeface="Carlito"/>
                        <a:sym typeface="Carlito"/>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21400">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INT8 (quantized)</a:t>
                      </a:r>
                      <a:endParaRPr sz="844" u="none" cap="none" strike="noStrike">
                        <a:latin typeface="Carlito"/>
                        <a:ea typeface="Carlito"/>
                        <a:cs typeface="Carlito"/>
                        <a:sym typeface="Carlito"/>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956"/>
                        <a:buFont typeface="Courier New"/>
                        <a:buNone/>
                      </a:pPr>
                      <a:r>
                        <a:rPr lang="en-US" sz="956" u="none" cap="none" strike="noStrike">
                          <a:solidFill>
                            <a:srgbClr val="F0B429"/>
                          </a:solidFill>
                          <a:latin typeface="Courier New"/>
                          <a:ea typeface="Courier New"/>
                          <a:cs typeface="Courier New"/>
                          <a:sym typeface="Courier New"/>
                        </a:rPr>
                        <a:t>269.14 MB</a:t>
                      </a:r>
                      <a:endParaRPr sz="956" u="none" cap="none" strike="noStrike">
                        <a:latin typeface="Courier New"/>
                        <a:ea typeface="Courier New"/>
                        <a:cs typeface="Courier New"/>
                        <a:sym typeface="Courier New"/>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4ADE80"/>
                        </a:buClr>
                        <a:buSzPts val="843"/>
                        <a:buFont typeface="Carlito"/>
                        <a:buNone/>
                      </a:pPr>
                      <a:r>
                        <a:rPr lang="en-US" sz="844" u="none" cap="none" strike="noStrike">
                          <a:solidFill>
                            <a:srgbClr val="4ADE80"/>
                          </a:solidFill>
                          <a:latin typeface="Carlito"/>
                          <a:ea typeface="Carlito"/>
                          <a:cs typeface="Carlito"/>
                          <a:sym typeface="Carlito"/>
                        </a:rPr>
                        <a:t>43.3% smaller</a:t>
                      </a:r>
                      <a:endParaRPr sz="844" u="none" cap="none" strike="noStrike">
                        <a:latin typeface="Carlito"/>
                        <a:ea typeface="Carlito"/>
                        <a:cs typeface="Carlito"/>
                        <a:sym typeface="Carlito"/>
                      </a:endParaRPr>
                    </a:p>
                  </a:txBody>
                  <a:tcPr marT="128600" marB="114300" marR="128600" marL="1143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
        <p:nvSpPr>
          <p:cNvPr id="1431" name="Google Shape;1431;p52"/>
          <p:cNvSpPr/>
          <p:nvPr/>
        </p:nvSpPr>
        <p:spPr>
          <a:xfrm>
            <a:off x="457200" y="2814638"/>
            <a:ext cx="8229600" cy="846534"/>
          </a:xfrm>
          <a:prstGeom prst="roundRect">
            <a:avLst>
              <a:gd fmla="val 11252" name="adj"/>
            </a:avLst>
          </a:prstGeom>
          <a:solidFill>
            <a:srgbClr val="14233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432" name="Google Shape;1432;p52"/>
          <p:cNvCxnSpPr/>
          <p:nvPr/>
        </p:nvCxnSpPr>
        <p:spPr>
          <a:xfrm>
            <a:off x="457200" y="2818209"/>
            <a:ext cx="8229600" cy="0"/>
          </a:xfrm>
          <a:prstGeom prst="straightConnector1">
            <a:avLst/>
          </a:prstGeom>
          <a:noFill/>
          <a:ln cap="flat" cmpd="sng" w="9525">
            <a:solidFill>
              <a:srgbClr val="2A3B52"/>
            </a:solidFill>
            <a:prstDash val="solid"/>
            <a:round/>
            <a:headEnd len="sm" w="sm" type="none"/>
            <a:tailEnd len="sm" w="sm" type="none"/>
          </a:ln>
        </p:spPr>
      </p:cxnSp>
      <p:cxnSp>
        <p:nvCxnSpPr>
          <p:cNvPr id="1433" name="Google Shape;1433;p52"/>
          <p:cNvCxnSpPr/>
          <p:nvPr/>
        </p:nvCxnSpPr>
        <p:spPr>
          <a:xfrm>
            <a:off x="8683228" y="2814638"/>
            <a:ext cx="0" cy="846534"/>
          </a:xfrm>
          <a:prstGeom prst="straightConnector1">
            <a:avLst/>
          </a:prstGeom>
          <a:noFill/>
          <a:ln cap="flat" cmpd="sng" w="9525">
            <a:solidFill>
              <a:srgbClr val="2A3B52"/>
            </a:solidFill>
            <a:prstDash val="solid"/>
            <a:round/>
            <a:headEnd len="sm" w="sm" type="none"/>
            <a:tailEnd len="sm" w="sm" type="none"/>
          </a:ln>
        </p:spPr>
      </p:cxnSp>
      <p:cxnSp>
        <p:nvCxnSpPr>
          <p:cNvPr id="1434" name="Google Shape;1434;p52"/>
          <p:cNvCxnSpPr/>
          <p:nvPr/>
        </p:nvCxnSpPr>
        <p:spPr>
          <a:xfrm>
            <a:off x="457200" y="3657600"/>
            <a:ext cx="8229600" cy="0"/>
          </a:xfrm>
          <a:prstGeom prst="straightConnector1">
            <a:avLst/>
          </a:prstGeom>
          <a:noFill/>
          <a:ln cap="flat" cmpd="sng" w="9525">
            <a:solidFill>
              <a:srgbClr val="2A3B52"/>
            </a:solidFill>
            <a:prstDash val="solid"/>
            <a:round/>
            <a:headEnd len="sm" w="sm" type="none"/>
            <a:tailEnd len="sm" w="sm" type="none"/>
          </a:ln>
        </p:spPr>
      </p:cxnSp>
      <p:cxnSp>
        <p:nvCxnSpPr>
          <p:cNvPr id="1435" name="Google Shape;1435;p52"/>
          <p:cNvCxnSpPr/>
          <p:nvPr/>
        </p:nvCxnSpPr>
        <p:spPr>
          <a:xfrm>
            <a:off x="471488" y="2814638"/>
            <a:ext cx="0" cy="846534"/>
          </a:xfrm>
          <a:prstGeom prst="straightConnector1">
            <a:avLst/>
          </a:prstGeom>
          <a:noFill/>
          <a:ln cap="flat" cmpd="sng" w="28575">
            <a:solidFill>
              <a:srgbClr val="F0B429"/>
            </a:solidFill>
            <a:prstDash val="solid"/>
            <a:round/>
            <a:headEnd len="sm" w="sm" type="none"/>
            <a:tailEnd len="sm" w="sm" type="none"/>
          </a:ln>
        </p:spPr>
      </p:cxnSp>
      <p:cxnSp>
        <p:nvCxnSpPr>
          <p:cNvPr id="1436" name="Google Shape;1436;p52"/>
          <p:cNvCxnSpPr/>
          <p:nvPr/>
        </p:nvCxnSpPr>
        <p:spPr>
          <a:xfrm>
            <a:off x="1698092" y="2978944"/>
            <a:ext cx="0" cy="517922"/>
          </a:xfrm>
          <a:prstGeom prst="straightConnector1">
            <a:avLst/>
          </a:prstGeom>
          <a:noFill/>
          <a:ln cap="flat" cmpd="sng" w="9525">
            <a:solidFill>
              <a:srgbClr val="2A3B52"/>
            </a:solidFill>
            <a:prstDash val="solid"/>
            <a:round/>
            <a:headEnd len="sm" w="sm" type="none"/>
            <a:tailEnd len="sm" w="sm" type="none"/>
          </a:ln>
        </p:spPr>
      </p:cxnSp>
      <p:sp>
        <p:nvSpPr>
          <p:cNvPr id="1437" name="Google Shape;1437;p52"/>
          <p:cNvSpPr/>
          <p:nvPr/>
        </p:nvSpPr>
        <p:spPr>
          <a:xfrm>
            <a:off x="464618" y="2978944"/>
            <a:ext cx="1236772" cy="37033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0B429"/>
              </a:buClr>
              <a:buSzPts val="2700"/>
              <a:buFont typeface="Arial"/>
              <a:buNone/>
            </a:pPr>
            <a:r>
              <a:rPr b="0" i="0" lang="en-US" sz="2700" u="none" cap="none" strike="noStrike">
                <a:solidFill>
                  <a:srgbClr val="F0B429"/>
                </a:solidFill>
                <a:latin typeface="Arial"/>
                <a:ea typeface="Arial"/>
                <a:cs typeface="Arial"/>
                <a:sym typeface="Arial"/>
              </a:rPr>
              <a:t>43.3%</a:t>
            </a:r>
            <a:endParaRPr b="0" i="0" sz="2700" u="none" cap="none" strike="noStrike">
              <a:solidFill>
                <a:schemeClr val="dk1"/>
              </a:solidFill>
              <a:latin typeface="Calibri"/>
              <a:ea typeface="Calibri"/>
              <a:cs typeface="Calibri"/>
              <a:sym typeface="Calibri"/>
            </a:endParaRPr>
          </a:p>
        </p:txBody>
      </p:sp>
      <p:sp>
        <p:nvSpPr>
          <p:cNvPr id="1438" name="Google Shape;1438;p52"/>
          <p:cNvSpPr/>
          <p:nvPr/>
        </p:nvSpPr>
        <p:spPr>
          <a:xfrm>
            <a:off x="671513" y="3378994"/>
            <a:ext cx="822982" cy="117872"/>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Clr>
                <a:srgbClr val="94A3B8"/>
              </a:buClr>
              <a:buSzPts val="800"/>
              <a:buFont typeface="Carlito"/>
              <a:buNone/>
            </a:pPr>
            <a:r>
              <a:rPr b="0" i="0" lang="en-US" sz="800" u="none" cap="none" strike="noStrike">
                <a:solidFill>
                  <a:srgbClr val="94A3B8"/>
                </a:solidFill>
                <a:latin typeface="Carlito"/>
                <a:ea typeface="Carlito"/>
                <a:cs typeface="Carlito"/>
                <a:sym typeface="Carlito"/>
              </a:rPr>
              <a:t>SMALLER</a:t>
            </a:r>
            <a:endParaRPr b="0" i="0" sz="800" u="none" cap="none" strike="noStrike">
              <a:solidFill>
                <a:schemeClr val="dk1"/>
              </a:solidFill>
              <a:latin typeface="Calibri"/>
              <a:ea typeface="Calibri"/>
              <a:cs typeface="Calibri"/>
              <a:sym typeface="Calibri"/>
            </a:endParaRPr>
          </a:p>
        </p:txBody>
      </p:sp>
      <p:sp>
        <p:nvSpPr>
          <p:cNvPr id="1439" name="Google Shape;1439;p52"/>
          <p:cNvSpPr/>
          <p:nvPr/>
        </p:nvSpPr>
        <p:spPr>
          <a:xfrm>
            <a:off x="2668637" y="3085095"/>
            <a:ext cx="460214" cy="142875"/>
          </a:xfrm>
          <a:prstGeom prst="roundRect">
            <a:avLst>
              <a:gd fmla="val 20000" name="adj"/>
            </a:avLst>
          </a:prstGeom>
          <a:solidFill>
            <a:srgbClr val="F0B429">
              <a:alpha val="784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40" name="Google Shape;1440;p52"/>
          <p:cNvSpPr/>
          <p:nvPr/>
        </p:nvSpPr>
        <p:spPr>
          <a:xfrm>
            <a:off x="3274740" y="3085095"/>
            <a:ext cx="640259" cy="142875"/>
          </a:xfrm>
          <a:prstGeom prst="roundRect">
            <a:avLst>
              <a:gd fmla="val 20000" name="adj"/>
            </a:avLst>
          </a:prstGeom>
          <a:solidFill>
            <a:srgbClr val="F0B429">
              <a:alpha val="784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41" name="Google Shape;1441;p52"/>
          <p:cNvSpPr/>
          <p:nvPr/>
        </p:nvSpPr>
        <p:spPr>
          <a:xfrm>
            <a:off x="1901689" y="3077952"/>
            <a:ext cx="6592230" cy="350983"/>
          </a:xfrm>
          <a:prstGeom prst="rect">
            <a:avLst/>
          </a:prstGeom>
          <a:noFill/>
          <a:ln>
            <a:noFill/>
          </a:ln>
        </p:spPr>
        <p:txBody>
          <a:bodyPr anchorCtr="0" anchor="t" bIns="0" lIns="0" spcFirstLastPara="1" rIns="0" wrap="square" tIns="0">
            <a:noAutofit/>
          </a:bodyPr>
          <a:lstStyle/>
          <a:p>
            <a:pPr indent="0" lvl="0" marL="0" marR="0" rtl="0" algn="l">
              <a:lnSpc>
                <a:spcPct val="157500"/>
              </a:lnSpc>
              <a:spcBef>
                <a:spcPts val="0"/>
              </a:spcBef>
              <a:spcAft>
                <a:spcPts val="0"/>
              </a:spcAft>
              <a:buClr>
                <a:srgbClr val="F5F1E6"/>
              </a:buClr>
              <a:buSzPts val="800"/>
              <a:buFont typeface="Carlito"/>
              <a:buNone/>
            </a:pPr>
            <a:r>
              <a:rPr b="0" i="0" lang="en-US" sz="800" u="none" cap="none" strike="noStrike">
                <a:solidFill>
                  <a:srgbClr val="F5F1E6"/>
                </a:solidFill>
                <a:latin typeface="Carlito"/>
                <a:ea typeface="Carlito"/>
                <a:cs typeface="Carlito"/>
                <a:sym typeface="Carlito"/>
              </a:rPr>
              <a:t>This required the </a:t>
            </a:r>
            <a:r>
              <a:rPr b="0" i="0" lang="en-US" sz="800" u="none" cap="none" strike="noStrike">
                <a:solidFill>
                  <a:srgbClr val="FF0000"/>
                </a:solidFill>
                <a:highlight>
                  <a:srgbClr val="F0B429"/>
                </a:highlight>
                <a:latin typeface="Arial"/>
                <a:ea typeface="Arial"/>
                <a:cs typeface="Arial"/>
                <a:sym typeface="Arial"/>
              </a:rPr>
              <a:t>Conv1D</a:t>
            </a:r>
            <a:r>
              <a:rPr b="0" i="0" lang="en-US" sz="800" u="none" cap="none" strike="noStrike">
                <a:solidFill>
                  <a:srgbClr val="FF0000"/>
                </a:solidFill>
                <a:latin typeface="Carlito"/>
                <a:ea typeface="Carlito"/>
                <a:cs typeface="Carlito"/>
                <a:sym typeface="Carlito"/>
              </a:rPr>
              <a:t> </a:t>
            </a:r>
            <a:r>
              <a:rPr b="0" i="0" lang="en-US" sz="800" u="none" cap="none" strike="noStrike">
                <a:solidFill>
                  <a:srgbClr val="F5F1E6"/>
                </a:solidFill>
                <a:latin typeface="Carlito"/>
                <a:ea typeface="Carlito"/>
                <a:cs typeface="Carlito"/>
                <a:sym typeface="Carlito"/>
              </a:rPr>
              <a:t>to </a:t>
            </a:r>
            <a:r>
              <a:rPr b="0" i="0" lang="en-US" sz="800" u="none" cap="none" strike="noStrike">
                <a:solidFill>
                  <a:srgbClr val="FF0000"/>
                </a:solidFill>
                <a:highlight>
                  <a:srgbClr val="F0B429"/>
                </a:highlight>
                <a:latin typeface="Courier New"/>
                <a:ea typeface="Courier New"/>
                <a:cs typeface="Courier New"/>
                <a:sym typeface="Courier New"/>
              </a:rPr>
              <a:t>nn.Linear</a:t>
            </a:r>
            <a:r>
              <a:rPr b="0" i="0" lang="en-US" sz="800" u="none" cap="none" strike="noStrike">
                <a:solidFill>
                  <a:srgbClr val="FF0000"/>
                </a:solidFill>
                <a:latin typeface="Carlito"/>
                <a:ea typeface="Carlito"/>
                <a:cs typeface="Carlito"/>
                <a:sym typeface="Carlito"/>
              </a:rPr>
              <a:t> </a:t>
            </a:r>
            <a:r>
              <a:rPr b="0" i="0" lang="en-US" sz="800" u="none" cap="none" strike="noStrike">
                <a:solidFill>
                  <a:srgbClr val="F5F1E6"/>
                </a:solidFill>
                <a:latin typeface="Carlito"/>
                <a:ea typeface="Carlito"/>
                <a:cs typeface="Carlito"/>
                <a:sym typeface="Carlito"/>
              </a:rPr>
              <a:t>conversion and the corrected measurement approach covered in </a:t>
            </a:r>
            <a:r>
              <a:rPr b="0" i="0" lang="en-US" sz="800" u="none" cap="none" strike="noStrike">
                <a:solidFill>
                  <a:srgbClr val="F0B429"/>
                </a:solidFill>
                <a:latin typeface="Carlito"/>
                <a:ea typeface="Carlito"/>
                <a:cs typeface="Carlito"/>
                <a:sym typeface="Carlito"/>
              </a:rPr>
              <a:t>Part Five</a:t>
            </a:r>
            <a:r>
              <a:rPr b="0" i="0" lang="en-US" sz="800" u="none" cap="none" strike="noStrike">
                <a:solidFill>
                  <a:srgbClr val="F5F1E6"/>
                </a:solidFill>
                <a:latin typeface="Carlito"/>
                <a:ea typeface="Carlito"/>
                <a:cs typeface="Carlito"/>
                <a:sym typeface="Carlito"/>
              </a:rPr>
              <a:t>. The naive path would have shown </a:t>
            </a:r>
            <a:r>
              <a:rPr b="0" i="1" lang="en-US" sz="800" u="none" cap="none" strike="noStrike">
                <a:solidFill>
                  <a:srgbClr val="F5F1E6"/>
                </a:solidFill>
                <a:latin typeface="Carlito"/>
                <a:ea typeface="Carlito"/>
                <a:cs typeface="Carlito"/>
                <a:sym typeface="Carlito"/>
              </a:rPr>
              <a:t>zero</a:t>
            </a:r>
            <a:r>
              <a:rPr b="0" i="0" lang="en-US" sz="800" u="none" cap="none" strike="noStrike">
                <a:solidFill>
                  <a:srgbClr val="F5F1E6"/>
                </a:solidFill>
                <a:latin typeface="Carlito"/>
                <a:ea typeface="Carlito"/>
                <a:cs typeface="Carlito"/>
                <a:sym typeface="Carlito"/>
              </a:rPr>
              <a:t> reduction.</a:t>
            </a:r>
            <a:endParaRPr b="0" i="0" sz="800" u="none" cap="none" strike="noStrike">
              <a:solidFill>
                <a:schemeClr val="dk1"/>
              </a:solidFill>
              <a:latin typeface="Calibri"/>
              <a:ea typeface="Calibri"/>
              <a:cs typeface="Calibri"/>
              <a:sym typeface="Calibri"/>
            </a:endParaRPr>
          </a:p>
        </p:txBody>
      </p:sp>
      <p:sp>
        <p:nvSpPr>
          <p:cNvPr id="1442" name="Google Shape;1442;p52"/>
          <p:cNvSpPr/>
          <p:nvPr/>
        </p:nvSpPr>
        <p:spPr>
          <a:xfrm>
            <a:off x="457200" y="4857750"/>
            <a:ext cx="7867166"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443" name="Google Shape;1443;p52"/>
          <p:cNvSpPr/>
          <p:nvPr/>
        </p:nvSpPr>
        <p:spPr>
          <a:xfrm>
            <a:off x="8338654" y="4857750"/>
            <a:ext cx="496979"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50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448" name="Shape 1448"/>
        <p:cNvGrpSpPr/>
        <p:nvPr/>
      </p:nvGrpSpPr>
      <p:grpSpPr>
        <a:xfrm>
          <a:off x="0" y="0"/>
          <a:ext cx="0" cy="0"/>
          <a:chOff x="0" y="0"/>
          <a:chExt cx="0" cy="0"/>
        </a:xfrm>
      </p:grpSpPr>
      <p:sp>
        <p:nvSpPr>
          <p:cNvPr id="1449" name="Google Shape;1449;p53"/>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Carlito"/>
              <a:buNone/>
            </a:pPr>
            <a:r>
              <a:rPr b="0" i="0" lang="en-US" sz="800" u="none" cap="none" strike="noStrike">
                <a:solidFill>
                  <a:srgbClr val="F0B429"/>
                </a:solidFill>
                <a:latin typeface="Carlito"/>
                <a:ea typeface="Carlito"/>
                <a:cs typeface="Carlito"/>
                <a:sym typeface="Carlito"/>
              </a:rPr>
              <a:t>PART 08 · LIVE RESULTS · SURPRISING FINDING</a:t>
            </a:r>
            <a:endParaRPr b="0" i="0" sz="800" u="none" cap="none" strike="noStrike">
              <a:solidFill>
                <a:schemeClr val="dk1"/>
              </a:solidFill>
              <a:latin typeface="Calibri"/>
              <a:ea typeface="Calibri"/>
              <a:cs typeface="Calibri"/>
              <a:sym typeface="Calibri"/>
            </a:endParaRPr>
          </a:p>
        </p:txBody>
      </p:sp>
      <p:sp>
        <p:nvSpPr>
          <p:cNvPr id="1450" name="Google Shape;1450;p53"/>
          <p:cNvSpPr/>
          <p:nvPr/>
        </p:nvSpPr>
        <p:spPr>
          <a:xfrm>
            <a:off x="457200" y="603647"/>
            <a:ext cx="8636100" cy="29130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Clr>
                <a:srgbClr val="F5F1E6"/>
              </a:buClr>
              <a:buSzPts val="1800"/>
              <a:buFont typeface="Carlito"/>
              <a:buNone/>
            </a:pPr>
            <a:r>
              <a:rPr b="1" i="0" lang="en-US" sz="1800" u="none" cap="none" strike="noStrike">
                <a:solidFill>
                  <a:srgbClr val="F5F1E6"/>
                </a:solidFill>
                <a:latin typeface="Carlito"/>
                <a:ea typeface="Carlito"/>
                <a:cs typeface="Carlito"/>
                <a:sym typeface="Carlito"/>
              </a:rPr>
              <a:t>The Surprising Result: Quantization Made the Model Smaller, But Slower</a:t>
            </a:r>
            <a:endParaRPr b="0" i="0" sz="1800" u="none" cap="none" strike="noStrike">
              <a:solidFill>
                <a:schemeClr val="dk1"/>
              </a:solidFill>
              <a:latin typeface="Calibri"/>
              <a:ea typeface="Calibri"/>
              <a:cs typeface="Calibri"/>
              <a:sym typeface="Calibri"/>
            </a:endParaRPr>
          </a:p>
        </p:txBody>
      </p:sp>
      <p:grpSp>
        <p:nvGrpSpPr>
          <p:cNvPr id="1451" name="Google Shape;1451;p53"/>
          <p:cNvGrpSpPr/>
          <p:nvPr/>
        </p:nvGrpSpPr>
        <p:grpSpPr>
          <a:xfrm>
            <a:off x="457200" y="1000125"/>
            <a:ext cx="8229600" cy="381000"/>
            <a:chOff x="457200" y="1000125"/>
            <a:chExt cx="8229600" cy="381000"/>
          </a:xfrm>
        </p:grpSpPr>
        <p:sp>
          <p:nvSpPr>
            <p:cNvPr id="1452" name="Google Shape;1452;p53"/>
            <p:cNvSpPr/>
            <p:nvPr/>
          </p:nvSpPr>
          <p:spPr>
            <a:xfrm>
              <a:off x="457200" y="1000125"/>
              <a:ext cx="8229600" cy="381000"/>
            </a:xfrm>
            <a:prstGeom prst="roundRect">
              <a:avLst>
                <a:gd fmla="val 15000" name="adj"/>
              </a:avLst>
            </a:prstGeom>
            <a:solidFill>
              <a:srgbClr val="FB923C">
                <a:alpha val="10000"/>
              </a:srgbClr>
            </a:solidFill>
            <a:ln cap="flat" cmpd="sng" w="9525">
              <a:solidFill>
                <a:srgbClr val="FB923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3" name="Google Shape;1453;p53"/>
            <p:cNvSpPr txBox="1"/>
            <p:nvPr/>
          </p:nvSpPr>
          <p:spPr>
            <a:xfrm>
              <a:off x="609600" y="1000125"/>
              <a:ext cx="79248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FB923C"/>
                  </a:solidFill>
                  <a:latin typeface="Arial"/>
                  <a:ea typeface="Arial"/>
                  <a:cs typeface="Arial"/>
                  <a:sym typeface="Arial"/>
                </a:rPr>
                <a:t>⚠️ SURPRISING FINDING</a:t>
              </a:r>
              <a:r>
                <a:rPr lang="en-US" sz="1100">
                  <a:solidFill>
                    <a:srgbClr val="F5F1E6"/>
                  </a:solidFill>
                  <a:latin typeface="Arial"/>
                  <a:ea typeface="Arial"/>
                  <a:cs typeface="Arial"/>
                  <a:sym typeface="Arial"/>
                </a:rPr>
                <a:t> — real trade-off, not a mistake. Measure both axes, always.</a:t>
              </a:r>
              <a:endParaRPr sz="1100">
                <a:solidFill>
                  <a:srgbClr val="F5F1E6"/>
                </a:solidFill>
                <a:latin typeface="Arial"/>
                <a:ea typeface="Arial"/>
                <a:cs typeface="Arial"/>
                <a:sym typeface="Arial"/>
              </a:endParaRPr>
            </a:p>
          </p:txBody>
        </p:sp>
      </p:grpSp>
      <p:grpSp>
        <p:nvGrpSpPr>
          <p:cNvPr id="1454" name="Google Shape;1454;p53"/>
          <p:cNvGrpSpPr/>
          <p:nvPr/>
        </p:nvGrpSpPr>
        <p:grpSpPr>
          <a:xfrm>
            <a:off x="457200" y="1566863"/>
            <a:ext cx="8234438" cy="1438200"/>
            <a:chOff x="457200" y="1566863"/>
            <a:chExt cx="8234438" cy="1438200"/>
          </a:xfrm>
        </p:grpSpPr>
        <p:sp>
          <p:nvSpPr>
            <p:cNvPr id="1455" name="Google Shape;1455;p53"/>
            <p:cNvSpPr/>
            <p:nvPr/>
          </p:nvSpPr>
          <p:spPr>
            <a:xfrm>
              <a:off x="457200" y="1571625"/>
              <a:ext cx="3619500" cy="1428900"/>
            </a:xfrm>
            <a:prstGeom prst="roundRect">
              <a:avLst>
                <a:gd fmla="val 5333"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6" name="Google Shape;1456;p53"/>
            <p:cNvSpPr txBox="1"/>
            <p:nvPr/>
          </p:nvSpPr>
          <p:spPr>
            <a:xfrm>
              <a:off x="685800" y="1714500"/>
              <a:ext cx="31623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94A3B8"/>
                  </a:solidFill>
                  <a:latin typeface="Arial"/>
                  <a:ea typeface="Arial"/>
                  <a:cs typeface="Arial"/>
                  <a:sym typeface="Arial"/>
                </a:rPr>
                <a:t>FP32 BASELINE</a:t>
              </a:r>
              <a:r>
                <a:rPr b="1" lang="en-US" sz="800">
                  <a:solidFill>
                    <a:srgbClr val="4ADE80"/>
                  </a:solidFill>
                  <a:latin typeface="Arial"/>
                  <a:ea typeface="Arial"/>
                  <a:cs typeface="Arial"/>
                  <a:sym typeface="Arial"/>
                </a:rPr>
                <a:t>✓ VERIFIED</a:t>
              </a:r>
              <a:endParaRPr>
                <a:latin typeface="Arial"/>
                <a:ea typeface="Arial"/>
                <a:cs typeface="Arial"/>
                <a:sym typeface="Arial"/>
              </a:endParaRPr>
            </a:p>
            <a:p>
              <a:pPr indent="0" lvl="0" marL="0" rtl="0" algn="l">
                <a:spcBef>
                  <a:spcPts val="750"/>
                </a:spcBef>
                <a:spcAft>
                  <a:spcPts val="0"/>
                </a:spcAft>
                <a:buNone/>
              </a:pPr>
              <a:r>
                <a:rPr b="1" lang="en-US" sz="3200">
                  <a:solidFill>
                    <a:srgbClr val="F5F1E6"/>
                  </a:solidFill>
                  <a:latin typeface="Arial"/>
                  <a:ea typeface="Arial"/>
                  <a:cs typeface="Arial"/>
                  <a:sym typeface="Arial"/>
                </a:rPr>
                <a:t>~0.99 </a:t>
              </a:r>
              <a:r>
                <a:rPr b="0" lang="en-US" sz="2000">
                  <a:solidFill>
                    <a:srgbClr val="94A3B8"/>
                  </a:solidFill>
                  <a:latin typeface="Arial"/>
                  <a:ea typeface="Arial"/>
                  <a:cs typeface="Arial"/>
                  <a:sym typeface="Arial"/>
                </a:rPr>
                <a:t>sec</a:t>
              </a:r>
              <a:endParaRPr b="1" sz="3200">
                <a:solidFill>
                  <a:srgbClr val="F5F1E6"/>
                </a:solidFill>
                <a:latin typeface="Arial"/>
                <a:ea typeface="Arial"/>
                <a:cs typeface="Arial"/>
                <a:sym typeface="Arial"/>
              </a:endParaRPr>
            </a:p>
            <a:p>
              <a:pPr indent="0" lvl="0" marL="0" rtl="0" algn="l">
                <a:spcBef>
                  <a:spcPts val="750"/>
                </a:spcBef>
                <a:spcAft>
                  <a:spcPts val="0"/>
                </a:spcAft>
                <a:buNone/>
              </a:pPr>
              <a:r>
                <a:rPr lang="en-US" sz="900">
                  <a:solidFill>
                    <a:srgbClr val="94A3B8"/>
                  </a:solidFill>
                  <a:latin typeface="Arial"/>
                  <a:ea typeface="Arial"/>
                  <a:cs typeface="Arial"/>
                  <a:sym typeface="Arial"/>
                </a:rPr>
                <a:t>average generation time</a:t>
              </a:r>
              <a:endParaRPr sz="900">
                <a:solidFill>
                  <a:srgbClr val="94A3B8"/>
                </a:solidFill>
                <a:latin typeface="Arial"/>
                <a:ea typeface="Arial"/>
                <a:cs typeface="Arial"/>
                <a:sym typeface="Arial"/>
              </a:endParaRPr>
            </a:p>
          </p:txBody>
        </p:sp>
        <p:grpSp>
          <p:nvGrpSpPr>
            <p:cNvPr id="1457" name="Google Shape;1457;p53"/>
            <p:cNvGrpSpPr/>
            <p:nvPr/>
          </p:nvGrpSpPr>
          <p:grpSpPr>
            <a:xfrm>
              <a:off x="4267200" y="2219325"/>
              <a:ext cx="390525" cy="133500"/>
              <a:chOff x="4267200" y="2219325"/>
              <a:chExt cx="390525" cy="133500"/>
            </a:xfrm>
          </p:grpSpPr>
          <p:cxnSp>
            <p:nvCxnSpPr>
              <p:cNvPr id="1458" name="Google Shape;1458;p53"/>
              <p:cNvCxnSpPr/>
              <p:nvPr/>
            </p:nvCxnSpPr>
            <p:spPr>
              <a:xfrm>
                <a:off x="4267200" y="2286000"/>
                <a:ext cx="381000" cy="0"/>
              </a:xfrm>
              <a:prstGeom prst="straightConnector1">
                <a:avLst/>
              </a:prstGeom>
              <a:solidFill>
                <a:srgbClr val="FFFFFF"/>
              </a:solidFill>
              <a:ln cap="rnd" cmpd="sng" w="19050">
                <a:solidFill>
                  <a:srgbClr val="FB923C"/>
                </a:solidFill>
                <a:prstDash val="solid"/>
                <a:round/>
                <a:headEnd len="sm" w="sm" type="none"/>
                <a:tailEnd len="sm" w="sm" type="none"/>
              </a:ln>
            </p:spPr>
          </p:cxnSp>
          <p:pic>
            <p:nvPicPr>
              <p:cNvPr id="1459" name="Google Shape;1459;p53"/>
              <p:cNvPicPr preferRelativeResize="0"/>
              <p:nvPr/>
            </p:nvPicPr>
            <p:blipFill rotWithShape="1">
              <a:blip r:embed="rId3">
                <a:alphaModFix/>
              </a:blip>
              <a:srcRect b="0" l="0" r="0" t="0"/>
              <a:stretch/>
            </p:blipFill>
            <p:spPr>
              <a:xfrm>
                <a:off x="4581525" y="2219325"/>
                <a:ext cx="76200" cy="133500"/>
              </a:xfrm>
              <a:prstGeom prst="rect">
                <a:avLst/>
              </a:prstGeom>
              <a:noFill/>
              <a:ln>
                <a:noFill/>
              </a:ln>
            </p:spPr>
          </p:pic>
        </p:grpSp>
        <p:pic>
          <p:nvPicPr>
            <p:cNvPr id="1460" name="Google Shape;1460;p53"/>
            <p:cNvPicPr preferRelativeResize="0"/>
            <p:nvPr/>
          </p:nvPicPr>
          <p:blipFill rotWithShape="1">
            <a:blip r:embed="rId4">
              <a:alphaModFix/>
            </a:blip>
            <a:srcRect b="0" l="0" r="0" t="0"/>
            <a:stretch/>
          </p:blipFill>
          <p:spPr>
            <a:xfrm>
              <a:off x="5062538" y="1566863"/>
              <a:ext cx="3629100" cy="1438200"/>
            </a:xfrm>
            <a:prstGeom prst="rect">
              <a:avLst/>
            </a:prstGeom>
            <a:noFill/>
            <a:ln>
              <a:noFill/>
            </a:ln>
          </p:spPr>
        </p:pic>
        <p:sp>
          <p:nvSpPr>
            <p:cNvPr id="1461" name="Google Shape;1461;p53"/>
            <p:cNvSpPr txBox="1"/>
            <p:nvPr/>
          </p:nvSpPr>
          <p:spPr>
            <a:xfrm>
              <a:off x="5295900" y="1714500"/>
              <a:ext cx="31623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B923C"/>
                  </a:solidFill>
                  <a:latin typeface="Arial"/>
                  <a:ea typeface="Arial"/>
                  <a:cs typeface="Arial"/>
                  <a:sym typeface="Arial"/>
                </a:rPr>
                <a:t>INT8 QUANTIZED</a:t>
              </a:r>
              <a:r>
                <a:rPr b="1" lang="en-US" sz="800">
                  <a:solidFill>
                    <a:srgbClr val="4ADE80"/>
                  </a:solidFill>
                  <a:latin typeface="Arial"/>
                  <a:ea typeface="Arial"/>
                  <a:cs typeface="Arial"/>
                  <a:sym typeface="Arial"/>
                </a:rPr>
                <a:t>✓ VERIFIED</a:t>
              </a:r>
              <a:endParaRPr>
                <a:latin typeface="Arial"/>
                <a:ea typeface="Arial"/>
                <a:cs typeface="Arial"/>
                <a:sym typeface="Arial"/>
              </a:endParaRPr>
            </a:p>
            <a:p>
              <a:pPr indent="0" lvl="0" marL="0" rtl="0" algn="l">
                <a:spcBef>
                  <a:spcPts val="750"/>
                </a:spcBef>
                <a:spcAft>
                  <a:spcPts val="0"/>
                </a:spcAft>
                <a:buNone/>
              </a:pPr>
              <a:r>
                <a:rPr b="1" lang="en-US" sz="3200">
                  <a:solidFill>
                    <a:srgbClr val="FB923C"/>
                  </a:solidFill>
                  <a:latin typeface="Arial"/>
                  <a:ea typeface="Arial"/>
                  <a:cs typeface="Arial"/>
                  <a:sym typeface="Arial"/>
                </a:rPr>
                <a:t>~3.20 </a:t>
              </a:r>
              <a:r>
                <a:rPr b="0" lang="en-US" sz="2000">
                  <a:solidFill>
                    <a:srgbClr val="94A3B8"/>
                  </a:solidFill>
                  <a:latin typeface="Arial"/>
                  <a:ea typeface="Arial"/>
                  <a:cs typeface="Arial"/>
                  <a:sym typeface="Arial"/>
                </a:rPr>
                <a:t>sec</a:t>
              </a:r>
              <a:endParaRPr b="1" sz="3200">
                <a:solidFill>
                  <a:srgbClr val="FB923C"/>
                </a:solidFill>
                <a:latin typeface="Arial"/>
                <a:ea typeface="Arial"/>
                <a:cs typeface="Arial"/>
                <a:sym typeface="Arial"/>
              </a:endParaRPr>
            </a:p>
            <a:p>
              <a:pPr indent="0" lvl="0" marL="0" rtl="0" algn="l">
                <a:spcBef>
                  <a:spcPts val="750"/>
                </a:spcBef>
                <a:spcAft>
                  <a:spcPts val="0"/>
                </a:spcAft>
                <a:buNone/>
              </a:pPr>
              <a:r>
                <a:rPr lang="en-US" sz="900">
                  <a:solidFill>
                    <a:srgbClr val="94A3B8"/>
                  </a:solidFill>
                  <a:latin typeface="Arial"/>
                  <a:ea typeface="Arial"/>
                  <a:cs typeface="Arial"/>
                  <a:sym typeface="Arial"/>
                </a:rPr>
                <a:t>avg time · </a:t>
              </a:r>
              <a:r>
                <a:rPr b="1" lang="en-US" sz="900">
                  <a:solidFill>
                    <a:srgbClr val="EF4444"/>
                  </a:solidFill>
                  <a:latin typeface="Arial"/>
                  <a:ea typeface="Arial"/>
                  <a:cs typeface="Arial"/>
                  <a:sym typeface="Arial"/>
                </a:rPr>
                <a:t>~3× slower</a:t>
              </a:r>
              <a:r>
                <a:rPr lang="en-US" sz="800">
                  <a:solidFill>
                    <a:srgbClr val="FB923C"/>
                  </a:solidFill>
                  <a:latin typeface="Arial"/>
                  <a:ea typeface="Arial"/>
                  <a:cs typeface="Arial"/>
                  <a:sym typeface="Arial"/>
                </a:rPr>
                <a:t>43% smaller · but slower</a:t>
              </a:r>
              <a:endParaRPr>
                <a:latin typeface="Arial"/>
                <a:ea typeface="Arial"/>
                <a:cs typeface="Arial"/>
                <a:sym typeface="Arial"/>
              </a:endParaRPr>
            </a:p>
          </p:txBody>
        </p:sp>
      </p:grpSp>
      <p:sp>
        <p:nvSpPr>
          <p:cNvPr id="1462" name="Google Shape;1462;p53"/>
          <p:cNvSpPr txBox="1"/>
          <p:nvPr/>
        </p:nvSpPr>
        <p:spPr>
          <a:xfrm>
            <a:off x="457200" y="3143250"/>
            <a:ext cx="82296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CBD5E1"/>
                </a:solidFill>
                <a:latin typeface="Arial"/>
                <a:ea typeface="Arial"/>
                <a:cs typeface="Arial"/>
                <a:sym typeface="Arial"/>
              </a:rPr>
              <a:t>This is a genuine, real trade-off, not a mistake: the fused low-level kernel that makes </a:t>
            </a:r>
            <a:r>
              <a:rPr b="1" lang="en-US" sz="1000">
                <a:solidFill>
                  <a:srgbClr val="FB923C"/>
                </a:solidFill>
                <a:latin typeface="Arial"/>
                <a:ea typeface="Arial"/>
                <a:cs typeface="Arial"/>
                <a:sym typeface="Arial"/>
              </a:rPr>
              <a:t>INT8</a:t>
            </a:r>
            <a:r>
              <a:rPr lang="en-US" sz="1000">
                <a:solidFill>
                  <a:srgbClr val="CBD5E1"/>
                </a:solidFill>
                <a:latin typeface="Arial"/>
                <a:ea typeface="Arial"/>
                <a:cs typeface="Arial"/>
                <a:sym typeface="Arial"/>
              </a:rPr>
              <a:t> matrix multiplication fast is a newer, less mature code path on this hardware than </a:t>
            </a:r>
            <a:r>
              <a:rPr b="1" lang="en-US" sz="1000">
                <a:solidFill>
                  <a:srgbClr val="94A3B8"/>
                </a:solidFill>
                <a:latin typeface="Arial"/>
                <a:ea typeface="Arial"/>
                <a:cs typeface="Arial"/>
                <a:sym typeface="Arial"/>
              </a:rPr>
              <a:t>FP32</a:t>
            </a:r>
            <a:r>
              <a:rPr lang="en-US" sz="1000">
                <a:solidFill>
                  <a:srgbClr val="CBD5E1"/>
                </a:solidFill>
                <a:latin typeface="Arial"/>
                <a:ea typeface="Arial"/>
                <a:cs typeface="Arial"/>
                <a:sym typeface="Arial"/>
              </a:rPr>
              <a:t>'s well-optimized path.</a:t>
            </a:r>
            <a:endParaRPr sz="1000">
              <a:solidFill>
                <a:srgbClr val="CBD5E1"/>
              </a:solidFill>
              <a:latin typeface="Arial"/>
              <a:ea typeface="Arial"/>
              <a:cs typeface="Arial"/>
              <a:sym typeface="Arial"/>
            </a:endParaRPr>
          </a:p>
          <a:p>
            <a:pPr indent="0" lvl="0" marL="0" rtl="0" algn="l">
              <a:spcBef>
                <a:spcPts val="600"/>
              </a:spcBef>
              <a:spcAft>
                <a:spcPts val="0"/>
              </a:spcAft>
              <a:buNone/>
            </a:pPr>
            <a:r>
              <a:rPr lang="en-US" sz="1000">
                <a:solidFill>
                  <a:srgbClr val="CBD5E1"/>
                </a:solidFill>
                <a:latin typeface="Arial"/>
                <a:ea typeface="Arial"/>
                <a:cs typeface="Arial"/>
                <a:sym typeface="Arial"/>
              </a:rPr>
              <a:t>Speed gains from quantization are hardware- and kernel-maturity-dependent, while the memory savings are consistent and reliable.</a:t>
            </a:r>
            <a:endParaRPr sz="1000">
              <a:solidFill>
                <a:srgbClr val="CBD5E1"/>
              </a:solidFill>
              <a:latin typeface="Arial"/>
              <a:ea typeface="Arial"/>
              <a:cs typeface="Arial"/>
              <a:sym typeface="Arial"/>
            </a:endParaRPr>
          </a:p>
        </p:txBody>
      </p:sp>
      <p:grpSp>
        <p:nvGrpSpPr>
          <p:cNvPr id="1463" name="Google Shape;1463;p53"/>
          <p:cNvGrpSpPr/>
          <p:nvPr/>
        </p:nvGrpSpPr>
        <p:grpSpPr>
          <a:xfrm>
            <a:off x="457200" y="3905250"/>
            <a:ext cx="8234400" cy="571500"/>
            <a:chOff x="457200" y="3905250"/>
            <a:chExt cx="8234400" cy="571500"/>
          </a:xfrm>
        </p:grpSpPr>
        <p:sp>
          <p:nvSpPr>
            <p:cNvPr id="1464" name="Google Shape;1464;p53"/>
            <p:cNvSpPr/>
            <p:nvPr/>
          </p:nvSpPr>
          <p:spPr>
            <a:xfrm>
              <a:off x="457200" y="3905250"/>
              <a:ext cx="8229600" cy="571500"/>
            </a:xfrm>
            <a:prstGeom prst="roundRect">
              <a:avLst>
                <a:gd fmla="val 13333" name="adj"/>
              </a:avLst>
            </a:prstGeom>
            <a:solidFill>
              <a:srgbClr val="F0B429">
                <a:alpha val="8000"/>
              </a:srgbClr>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5" name="Google Shape;1465;p53"/>
            <p:cNvSpPr txBox="1"/>
            <p:nvPr/>
          </p:nvSpPr>
          <p:spPr>
            <a:xfrm>
              <a:off x="462000" y="3905250"/>
              <a:ext cx="82296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FFFFF"/>
                  </a:solidFill>
                </a:rPr>
                <a:t>TEACHING POINT: </a:t>
              </a:r>
              <a:r>
                <a:rPr i="1" lang="en-US" sz="1050">
                  <a:solidFill>
                    <a:srgbClr val="F5F1E6"/>
                  </a:solidFill>
                  <a:latin typeface="Arial"/>
                  <a:ea typeface="Arial"/>
                  <a:cs typeface="Arial"/>
                  <a:sym typeface="Arial"/>
                </a:rPr>
                <a:t>"Never assume a technique that helps on one axis (size) automatically helps on every axis (speed). Always measure both."</a:t>
              </a:r>
              <a:endParaRPr>
                <a:latin typeface="Arial"/>
                <a:ea typeface="Arial"/>
                <a:cs typeface="Arial"/>
                <a:sym typeface="Arial"/>
              </a:endParaRPr>
            </a:p>
          </p:txBody>
        </p:sp>
      </p:grpSp>
      <p:sp>
        <p:nvSpPr>
          <p:cNvPr id="1466" name="Google Shape;1466;p53"/>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467" name="Google Shape;1467;p53"/>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51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472" name="Shape 1472"/>
        <p:cNvGrpSpPr/>
        <p:nvPr/>
      </p:nvGrpSpPr>
      <p:grpSpPr>
        <a:xfrm>
          <a:off x="0" y="0"/>
          <a:ext cx="0" cy="0"/>
          <a:chOff x="0" y="0"/>
          <a:chExt cx="0" cy="0"/>
        </a:xfrm>
      </p:grpSpPr>
      <p:sp>
        <p:nvSpPr>
          <p:cNvPr id="1473" name="Google Shape;1473;p54"/>
          <p:cNvSpPr/>
          <p:nvPr/>
        </p:nvSpPr>
        <p:spPr>
          <a:xfrm>
            <a:off x="457200" y="400050"/>
            <a:ext cx="8636000" cy="164592"/>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08 · LIVE RESULTS · ONNX EXPORT</a:t>
            </a:r>
            <a:endParaRPr b="0" i="0" sz="800" u="none" cap="none" strike="noStrike">
              <a:solidFill>
                <a:schemeClr val="dk1"/>
              </a:solidFill>
              <a:latin typeface="Calibri"/>
              <a:ea typeface="Calibri"/>
              <a:cs typeface="Calibri"/>
              <a:sym typeface="Calibri"/>
            </a:endParaRPr>
          </a:p>
        </p:txBody>
      </p:sp>
      <p:sp>
        <p:nvSpPr>
          <p:cNvPr id="1474" name="Google Shape;1474;p54"/>
          <p:cNvSpPr/>
          <p:nvPr/>
        </p:nvSpPr>
        <p:spPr>
          <a:xfrm>
            <a:off x="2389584" y="653653"/>
            <a:ext cx="665931" cy="292894"/>
          </a:xfrm>
          <a:prstGeom prst="roundRect">
            <a:avLst>
              <a:gd fmla="val 13008" name="adj"/>
            </a:avLst>
          </a:prstGeom>
          <a:solidFill>
            <a:srgbClr val="F0B429">
              <a:alpha val="180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75" name="Google Shape;1475;p54"/>
          <p:cNvSpPr/>
          <p:nvPr/>
        </p:nvSpPr>
        <p:spPr>
          <a:xfrm>
            <a:off x="457200" y="603647"/>
            <a:ext cx="8636000" cy="36105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Live Results — </a:t>
            </a:r>
            <a:r>
              <a:rPr b="1" i="0" lang="en-US" sz="1800" u="none" cap="none" strike="noStrike">
                <a:solidFill>
                  <a:srgbClr val="FF0000"/>
                </a:solidFill>
                <a:highlight>
                  <a:srgbClr val="F0B429"/>
                </a:highlight>
                <a:latin typeface="Courier New"/>
                <a:ea typeface="Courier New"/>
                <a:cs typeface="Courier New"/>
                <a:sym typeface="Courier New"/>
              </a:rPr>
              <a:t>ONNX</a:t>
            </a:r>
            <a:r>
              <a:rPr b="1" i="0" lang="en-US" sz="2250" u="none" cap="none" strike="noStrike">
                <a:solidFill>
                  <a:srgbClr val="F5F1E6"/>
                </a:solidFill>
                <a:latin typeface="Carlito"/>
                <a:ea typeface="Carlito"/>
                <a:cs typeface="Carlito"/>
                <a:sym typeface="Carlito"/>
              </a:rPr>
              <a:t> Export</a:t>
            </a:r>
            <a:endParaRPr b="0" i="0" sz="2250" u="none" cap="none" strike="noStrike">
              <a:solidFill>
                <a:schemeClr val="dk1"/>
              </a:solidFill>
              <a:latin typeface="Calibri"/>
              <a:ea typeface="Calibri"/>
              <a:cs typeface="Calibri"/>
              <a:sym typeface="Calibri"/>
            </a:endParaRPr>
          </a:p>
        </p:txBody>
      </p:sp>
      <p:pic>
        <p:nvPicPr>
          <p:cNvPr descr="preencoded.png" id="1476" name="Google Shape;1476;p54"/>
          <p:cNvPicPr preferRelativeResize="0"/>
          <p:nvPr/>
        </p:nvPicPr>
        <p:blipFill rotWithShape="1">
          <a:blip r:embed="rId3">
            <a:alphaModFix/>
          </a:blip>
          <a:srcRect b="0" l="0" r="0" t="0"/>
          <a:stretch/>
        </p:blipFill>
        <p:spPr>
          <a:xfrm>
            <a:off x="457200" y="1052252"/>
            <a:ext cx="8229600" cy="357188"/>
          </a:xfrm>
          <a:prstGeom prst="rect">
            <a:avLst/>
          </a:prstGeom>
          <a:noFill/>
          <a:ln>
            <a:noFill/>
          </a:ln>
        </p:spPr>
      </p:pic>
      <p:cxnSp>
        <p:nvCxnSpPr>
          <p:cNvPr id="1477" name="Google Shape;1477;p54"/>
          <p:cNvCxnSpPr/>
          <p:nvPr/>
        </p:nvCxnSpPr>
        <p:spPr>
          <a:xfrm>
            <a:off x="467916" y="1052252"/>
            <a:ext cx="0" cy="357188"/>
          </a:xfrm>
          <a:prstGeom prst="straightConnector1">
            <a:avLst/>
          </a:prstGeom>
          <a:noFill/>
          <a:ln cap="flat" cmpd="sng" w="21425">
            <a:solidFill>
              <a:srgbClr val="4ADE80"/>
            </a:solidFill>
            <a:prstDash val="solid"/>
            <a:round/>
            <a:headEnd len="sm" w="sm" type="none"/>
            <a:tailEnd len="sm" w="sm" type="none"/>
          </a:ln>
        </p:spPr>
      </p:cxnSp>
      <p:sp>
        <p:nvSpPr>
          <p:cNvPr id="1478" name="Google Shape;1478;p54"/>
          <p:cNvSpPr/>
          <p:nvPr/>
        </p:nvSpPr>
        <p:spPr>
          <a:xfrm>
            <a:off x="596503" y="1127261"/>
            <a:ext cx="2591395" cy="207169"/>
          </a:xfrm>
          <a:prstGeom prst="roundRect">
            <a:avLst>
              <a:gd fmla="val 4593098" name="adj"/>
            </a:avLst>
          </a:prstGeom>
          <a:solidFill>
            <a:srgbClr val="4ADE80">
              <a:alpha val="10196"/>
            </a:srgbClr>
          </a:solidFill>
          <a:ln cap="flat" cmpd="sng" w="9525">
            <a:solidFill>
              <a:srgbClr val="4ADE8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79" name="Google Shape;1479;p54"/>
          <p:cNvSpPr/>
          <p:nvPr/>
        </p:nvSpPr>
        <p:spPr>
          <a:xfrm>
            <a:off x="849718" y="1134778"/>
            <a:ext cx="7715400" cy="146400"/>
          </a:xfrm>
          <a:prstGeom prst="rect">
            <a:avLst/>
          </a:prstGeom>
          <a:noFill/>
          <a:ln>
            <a:noFill/>
          </a:ln>
        </p:spPr>
        <p:txBody>
          <a:bodyPr anchorCtr="0" anchor="t" bIns="35700" lIns="100000" spcFirstLastPara="1" rIns="100000" wrap="square" tIns="35700">
            <a:noAutofit/>
          </a:bodyPr>
          <a:lstStyle/>
          <a:p>
            <a:pPr indent="0" lvl="0" marL="0" marR="0" rtl="0" algn="l">
              <a:lnSpc>
                <a:spcPct val="126625"/>
              </a:lnSpc>
              <a:spcBef>
                <a:spcPts val="0"/>
              </a:spcBef>
              <a:spcAft>
                <a:spcPts val="0"/>
              </a:spcAft>
              <a:buClr>
                <a:srgbClr val="4ADE80"/>
              </a:buClr>
              <a:buSzPts val="800"/>
              <a:buFont typeface="Carlito"/>
              <a:buNone/>
            </a:pPr>
            <a:r>
              <a:rPr b="0" i="0" lang="en-US" sz="800" u="none" cap="none" strike="noStrike">
                <a:solidFill>
                  <a:srgbClr val="4ADE80"/>
                </a:solidFill>
                <a:latin typeface="Carlito"/>
                <a:ea typeface="Carlito"/>
                <a:cs typeface="Carlito"/>
                <a:sym typeface="Carlito"/>
              </a:rPr>
              <a:t>VERIFIED LIVE · MEASURED IN TODAY'S SESSION</a:t>
            </a:r>
            <a:endParaRPr b="0" i="0" sz="800" u="none" cap="none" strike="noStrike">
              <a:solidFill>
                <a:schemeClr val="dk1"/>
              </a:solidFill>
              <a:latin typeface="Calibri"/>
              <a:ea typeface="Calibri"/>
              <a:cs typeface="Calibri"/>
              <a:sym typeface="Calibri"/>
            </a:endParaRPr>
          </a:p>
        </p:txBody>
      </p:sp>
      <p:sp>
        <p:nvSpPr>
          <p:cNvPr id="1480" name="Google Shape;1480;p54"/>
          <p:cNvSpPr/>
          <p:nvPr/>
        </p:nvSpPr>
        <p:spPr>
          <a:xfrm>
            <a:off x="700088" y="1180840"/>
            <a:ext cx="100013" cy="1000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DE80"/>
              </a:buClr>
              <a:buSzPts val="984"/>
              <a:buFont typeface="Quattrocento Sans"/>
              <a:buNone/>
            </a:pPr>
            <a:r>
              <a:rPr b="0" i="0" lang="en-US" sz="984" u="none" cap="none" strike="noStrike">
                <a:solidFill>
                  <a:srgbClr val="4ADE80"/>
                </a:solidFill>
                <a:latin typeface="Quattrocento Sans"/>
                <a:ea typeface="Quattrocento Sans"/>
                <a:cs typeface="Quattrocento Sans"/>
                <a:sym typeface="Quattrocento Sans"/>
              </a:rPr>
              <a:t>✓</a:t>
            </a:r>
            <a:endParaRPr b="0" i="0" sz="984" u="none" cap="none" strike="noStrike">
              <a:solidFill>
                <a:schemeClr val="dk1"/>
              </a:solidFill>
              <a:latin typeface="Calibri"/>
              <a:ea typeface="Calibri"/>
              <a:cs typeface="Calibri"/>
              <a:sym typeface="Calibri"/>
            </a:endParaRPr>
          </a:p>
        </p:txBody>
      </p:sp>
      <p:graphicFrame>
        <p:nvGraphicFramePr>
          <p:cNvPr id="1481" name="Google Shape;1481;p54"/>
          <p:cNvGraphicFramePr/>
          <p:nvPr/>
        </p:nvGraphicFramePr>
        <p:xfrm>
          <a:off x="457200" y="1523740"/>
          <a:ext cx="3000000" cy="3000000"/>
        </p:xfrm>
        <a:graphic>
          <a:graphicData uri="http://schemas.openxmlformats.org/drawingml/2006/table">
            <a:tbl>
              <a:tblPr>
                <a:noFill/>
                <a:tableStyleId>{032C9997-6F46-4A23-839E-9CD501ED875D}</a:tableStyleId>
              </a:tblPr>
              <a:tblGrid>
                <a:gridCol w="2304200"/>
                <a:gridCol w="1810500"/>
                <a:gridCol w="4114900"/>
              </a:tblGrid>
              <a:tr h="101600">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Version</a:t>
                      </a:r>
                      <a:endParaRPr sz="800" u="none" cap="none" strike="noStrike">
                        <a:latin typeface="Carlito"/>
                        <a:ea typeface="Carlito"/>
                        <a:cs typeface="Carlito"/>
                        <a:sym typeface="Carlito"/>
                      </a:endParaRPr>
                    </a:p>
                  </a:txBody>
                  <a:tcPr marT="114300" marB="85725" marR="114300" marL="8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Size</a:t>
                      </a:r>
                      <a:endParaRPr sz="800" u="none" cap="none" strike="noStrike">
                        <a:latin typeface="Carlito"/>
                        <a:ea typeface="Carlito"/>
                        <a:cs typeface="Carlito"/>
                        <a:sym typeface="Carlito"/>
                      </a:endParaRPr>
                    </a:p>
                  </a:txBody>
                  <a:tcPr marT="114300" marB="85725" marR="114300" marL="8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Avg. Generation Time</a:t>
                      </a:r>
                      <a:endParaRPr sz="800" u="none" cap="none" strike="noStrike">
                        <a:latin typeface="Carlito"/>
                        <a:ea typeface="Carlito"/>
                        <a:cs typeface="Carlito"/>
                        <a:sym typeface="Carlito"/>
                      </a:endParaRPr>
                    </a:p>
                  </a:txBody>
                  <a:tcPr marT="114300" marB="85725" marR="114300" marL="8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28650">
                <a:tc>
                  <a:txBody>
                    <a:bodyPr/>
                    <a:lstStyle/>
                    <a:p>
                      <a:pPr indent="0" lvl="0" marL="0" marR="0" rtl="0" algn="l">
                        <a:spcBef>
                          <a:spcPts val="0"/>
                        </a:spcBef>
                        <a:spcAft>
                          <a:spcPts val="0"/>
                        </a:spcAft>
                        <a:buClr>
                          <a:srgbClr val="F5F1E6"/>
                        </a:buClr>
                        <a:buSzPts val="843"/>
                        <a:buFont typeface="Carlito"/>
                        <a:buNone/>
                      </a:pPr>
                      <a:r>
                        <a:rPr lang="en-US" sz="844" u="none" cap="none" strike="noStrike">
                          <a:solidFill>
                            <a:srgbClr val="F5F1E6"/>
                          </a:solidFill>
                          <a:latin typeface="Carlito"/>
                          <a:ea typeface="Carlito"/>
                          <a:cs typeface="Carlito"/>
                          <a:sym typeface="Carlito"/>
                        </a:rPr>
                        <a:t>ONNX Runtime</a:t>
                      </a:r>
                      <a:endParaRPr sz="844" u="none" cap="none" strike="noStrike">
                        <a:latin typeface="Carlito"/>
                        <a:ea typeface="Carlito"/>
                        <a:cs typeface="Carlito"/>
                        <a:sym typeface="Carlito"/>
                      </a:endParaRPr>
                    </a:p>
                  </a:txBody>
                  <a:tcPr marT="128600" marB="128600" marR="128600" marL="1286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5F1E6"/>
                        </a:buClr>
                        <a:buSzPts val="956"/>
                        <a:buFont typeface="Courier New"/>
                        <a:buNone/>
                      </a:pPr>
                      <a:r>
                        <a:rPr lang="en-US" sz="956" u="none" cap="none" strike="noStrike">
                          <a:solidFill>
                            <a:srgbClr val="F5F1E6"/>
                          </a:solidFill>
                          <a:latin typeface="Courier New"/>
                          <a:ea typeface="Courier New"/>
                          <a:cs typeface="Courier New"/>
                          <a:sym typeface="Courier New"/>
                        </a:rPr>
                        <a:t>475.09 MB</a:t>
                      </a:r>
                      <a:endParaRPr sz="956" u="none" cap="none" strike="noStrike">
                        <a:latin typeface="Courier New"/>
                        <a:ea typeface="Courier New"/>
                        <a:cs typeface="Courier New"/>
                        <a:sym typeface="Courier New"/>
                      </a:endParaRPr>
                    </a:p>
                  </a:txBody>
                  <a:tcPr marT="128600" marB="128600" marR="128600" marL="1286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4ADE80"/>
                        </a:buClr>
                        <a:buSzPts val="1013"/>
                        <a:buFont typeface="Courier New"/>
                        <a:buNone/>
                      </a:pPr>
                      <a:r>
                        <a:rPr lang="en-US" sz="1013" u="none" cap="none" strike="noStrike">
                          <a:solidFill>
                            <a:srgbClr val="4ADE80"/>
                          </a:solidFill>
                          <a:latin typeface="Courier New"/>
                          <a:ea typeface="Courier New"/>
                          <a:cs typeface="Courier New"/>
                          <a:sym typeface="Courier New"/>
                        </a:rPr>
                        <a:t>~0.80 sec ⚡FASTEST OF ALL THREE</a:t>
                      </a:r>
                      <a:endParaRPr sz="1013" u="none" cap="none" strike="noStrike">
                        <a:latin typeface="Courier New"/>
                        <a:ea typeface="Courier New"/>
                        <a:cs typeface="Courier New"/>
                        <a:sym typeface="Courier New"/>
                      </a:endParaRPr>
                    </a:p>
                  </a:txBody>
                  <a:tcPr marT="128600" marB="128600" marR="128600" marL="1286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pic>
        <p:nvPicPr>
          <p:cNvPr descr="preencoded.png" id="1482" name="Google Shape;1482;p54"/>
          <p:cNvPicPr preferRelativeResize="0"/>
          <p:nvPr/>
        </p:nvPicPr>
        <p:blipFill rotWithShape="1">
          <a:blip r:embed="rId4">
            <a:alphaModFix/>
          </a:blip>
          <a:srcRect b="0" l="0" r="0" t="0"/>
          <a:stretch/>
        </p:blipFill>
        <p:spPr>
          <a:xfrm>
            <a:off x="457200" y="2429210"/>
            <a:ext cx="8229600" cy="789384"/>
          </a:xfrm>
          <a:prstGeom prst="rect">
            <a:avLst/>
          </a:prstGeom>
          <a:noFill/>
          <a:ln>
            <a:noFill/>
          </a:ln>
        </p:spPr>
      </p:pic>
      <p:cxnSp>
        <p:nvCxnSpPr>
          <p:cNvPr id="1483" name="Google Shape;1483;p54"/>
          <p:cNvCxnSpPr/>
          <p:nvPr/>
        </p:nvCxnSpPr>
        <p:spPr>
          <a:xfrm>
            <a:off x="457200" y="2432782"/>
            <a:ext cx="8229600" cy="0"/>
          </a:xfrm>
          <a:prstGeom prst="straightConnector1">
            <a:avLst/>
          </a:prstGeom>
          <a:noFill/>
          <a:ln cap="flat" cmpd="sng" w="9525">
            <a:solidFill>
              <a:srgbClr val="F0B429"/>
            </a:solidFill>
            <a:prstDash val="solid"/>
            <a:round/>
            <a:headEnd len="sm" w="sm" type="none"/>
            <a:tailEnd len="sm" w="sm" type="none"/>
          </a:ln>
        </p:spPr>
      </p:cxnSp>
      <p:cxnSp>
        <p:nvCxnSpPr>
          <p:cNvPr id="1484" name="Google Shape;1484;p54"/>
          <p:cNvCxnSpPr/>
          <p:nvPr/>
        </p:nvCxnSpPr>
        <p:spPr>
          <a:xfrm>
            <a:off x="8683228" y="2429210"/>
            <a:ext cx="0" cy="789384"/>
          </a:xfrm>
          <a:prstGeom prst="straightConnector1">
            <a:avLst/>
          </a:prstGeom>
          <a:noFill/>
          <a:ln cap="flat" cmpd="sng" w="9525">
            <a:solidFill>
              <a:srgbClr val="F0B429"/>
            </a:solidFill>
            <a:prstDash val="solid"/>
            <a:round/>
            <a:headEnd len="sm" w="sm" type="none"/>
            <a:tailEnd len="sm" w="sm" type="none"/>
          </a:ln>
        </p:spPr>
      </p:cxnSp>
      <p:cxnSp>
        <p:nvCxnSpPr>
          <p:cNvPr id="1485" name="Google Shape;1485;p54"/>
          <p:cNvCxnSpPr/>
          <p:nvPr/>
        </p:nvCxnSpPr>
        <p:spPr>
          <a:xfrm>
            <a:off x="457200" y="3215022"/>
            <a:ext cx="8229600" cy="0"/>
          </a:xfrm>
          <a:prstGeom prst="straightConnector1">
            <a:avLst/>
          </a:prstGeom>
          <a:noFill/>
          <a:ln cap="flat" cmpd="sng" w="9525">
            <a:solidFill>
              <a:srgbClr val="F0B429"/>
            </a:solidFill>
            <a:prstDash val="solid"/>
            <a:round/>
            <a:headEnd len="sm" w="sm" type="none"/>
            <a:tailEnd len="sm" w="sm" type="none"/>
          </a:ln>
        </p:spPr>
      </p:cxnSp>
      <p:cxnSp>
        <p:nvCxnSpPr>
          <p:cNvPr id="1486" name="Google Shape;1486;p54"/>
          <p:cNvCxnSpPr/>
          <p:nvPr/>
        </p:nvCxnSpPr>
        <p:spPr>
          <a:xfrm>
            <a:off x="471488" y="2429210"/>
            <a:ext cx="0" cy="789384"/>
          </a:xfrm>
          <a:prstGeom prst="straightConnector1">
            <a:avLst/>
          </a:prstGeom>
          <a:noFill/>
          <a:ln cap="flat" cmpd="sng" w="28575">
            <a:solidFill>
              <a:srgbClr val="F0B429"/>
            </a:solidFill>
            <a:prstDash val="solid"/>
            <a:round/>
            <a:headEnd len="sm" w="sm" type="none"/>
            <a:tailEnd len="sm" w="sm" type="none"/>
          </a:ln>
        </p:spPr>
      </p:cxnSp>
      <p:cxnSp>
        <p:nvCxnSpPr>
          <p:cNvPr id="1487" name="Google Shape;1487;p54"/>
          <p:cNvCxnSpPr/>
          <p:nvPr/>
        </p:nvCxnSpPr>
        <p:spPr>
          <a:xfrm>
            <a:off x="2109639" y="2593516"/>
            <a:ext cx="0" cy="460772"/>
          </a:xfrm>
          <a:prstGeom prst="straightConnector1">
            <a:avLst/>
          </a:prstGeom>
          <a:noFill/>
          <a:ln cap="flat" cmpd="sng" w="9525">
            <a:solidFill>
              <a:srgbClr val="F0B429"/>
            </a:solidFill>
            <a:prstDash val="solid"/>
            <a:round/>
            <a:headEnd len="sm" w="sm" type="none"/>
            <a:tailEnd len="sm" w="sm" type="none"/>
          </a:ln>
        </p:spPr>
      </p:cxnSp>
      <p:sp>
        <p:nvSpPr>
          <p:cNvPr id="1488" name="Google Shape;1488;p54"/>
          <p:cNvSpPr/>
          <p:nvPr/>
        </p:nvSpPr>
        <p:spPr>
          <a:xfrm>
            <a:off x="463245" y="2593516"/>
            <a:ext cx="1651063" cy="30861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0B429"/>
              </a:buClr>
              <a:buSzPts val="2250"/>
              <a:buFont typeface="Arial"/>
              <a:buNone/>
            </a:pPr>
            <a:r>
              <a:rPr b="0" i="0" lang="en-US" sz="2250" u="none" cap="none" strike="noStrike">
                <a:solidFill>
                  <a:srgbClr val="F0B429"/>
                </a:solidFill>
                <a:latin typeface="Arial"/>
                <a:ea typeface="Arial"/>
                <a:cs typeface="Arial"/>
                <a:sym typeface="Arial"/>
              </a:rPr>
              <a:t>~0.80 sec</a:t>
            </a:r>
            <a:endParaRPr b="0" i="0" sz="2250" u="none" cap="none" strike="noStrike">
              <a:solidFill>
                <a:schemeClr val="dk1"/>
              </a:solidFill>
              <a:latin typeface="Calibri"/>
              <a:ea typeface="Calibri"/>
              <a:cs typeface="Calibri"/>
              <a:sym typeface="Calibri"/>
            </a:endParaRPr>
          </a:p>
        </p:txBody>
      </p:sp>
      <p:sp>
        <p:nvSpPr>
          <p:cNvPr id="1489" name="Google Shape;1489;p54"/>
          <p:cNvSpPr/>
          <p:nvPr/>
        </p:nvSpPr>
        <p:spPr>
          <a:xfrm>
            <a:off x="671513" y="2936416"/>
            <a:ext cx="1234529" cy="117872"/>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Clr>
                <a:srgbClr val="F0B429"/>
              </a:buClr>
              <a:buSzPts val="800"/>
              <a:buFont typeface="Carlito"/>
              <a:buNone/>
            </a:pPr>
            <a:r>
              <a:rPr b="1" i="0" lang="en-US" sz="800" u="none" cap="none" strike="noStrike">
                <a:solidFill>
                  <a:srgbClr val="F0B429"/>
                </a:solidFill>
                <a:latin typeface="Carlito"/>
                <a:ea typeface="Carlito"/>
                <a:cs typeface="Carlito"/>
                <a:sym typeface="Carlito"/>
              </a:rPr>
              <a:t>FASTEST</a:t>
            </a:r>
            <a:endParaRPr b="0" i="0" sz="800" u="none" cap="none" strike="noStrike">
              <a:solidFill>
                <a:schemeClr val="dk1"/>
              </a:solidFill>
              <a:latin typeface="Calibri"/>
              <a:ea typeface="Calibri"/>
              <a:cs typeface="Calibri"/>
              <a:sym typeface="Calibri"/>
            </a:endParaRPr>
          </a:p>
        </p:txBody>
      </p:sp>
      <p:sp>
        <p:nvSpPr>
          <p:cNvPr id="1490" name="Google Shape;1490;p54"/>
          <p:cNvSpPr/>
          <p:nvPr/>
        </p:nvSpPr>
        <p:spPr>
          <a:xfrm>
            <a:off x="2313236" y="2671093"/>
            <a:ext cx="820303" cy="142875"/>
          </a:xfrm>
          <a:prstGeom prst="roundRect">
            <a:avLst>
              <a:gd fmla="val 20000" name="adj"/>
            </a:avLst>
          </a:prstGeom>
          <a:solidFill>
            <a:srgbClr val="F0B429">
              <a:alpha val="784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91" name="Google Shape;1491;p54"/>
          <p:cNvSpPr/>
          <p:nvPr/>
        </p:nvSpPr>
        <p:spPr>
          <a:xfrm>
            <a:off x="5672138" y="2671093"/>
            <a:ext cx="340109" cy="142875"/>
          </a:xfrm>
          <a:prstGeom prst="roundRect">
            <a:avLst>
              <a:gd fmla="val 20000" name="adj"/>
            </a:avLst>
          </a:prstGeom>
          <a:solidFill>
            <a:srgbClr val="F0B429">
              <a:alpha val="784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92" name="Google Shape;1492;p54"/>
          <p:cNvSpPr/>
          <p:nvPr/>
        </p:nvSpPr>
        <p:spPr>
          <a:xfrm>
            <a:off x="2313236" y="2663949"/>
            <a:ext cx="6180683" cy="350983"/>
          </a:xfrm>
          <a:prstGeom prst="rect">
            <a:avLst/>
          </a:prstGeom>
          <a:noFill/>
          <a:ln>
            <a:noFill/>
          </a:ln>
        </p:spPr>
        <p:txBody>
          <a:bodyPr anchorCtr="0" anchor="t" bIns="0" lIns="0" spcFirstLastPara="1" rIns="0" wrap="square" tIns="0">
            <a:noAutofit/>
          </a:bodyPr>
          <a:lstStyle/>
          <a:p>
            <a:pPr indent="0" lvl="0" marL="0" marR="0" rtl="0" algn="l">
              <a:lnSpc>
                <a:spcPct val="157500"/>
              </a:lnSpc>
              <a:spcBef>
                <a:spcPts val="0"/>
              </a:spcBef>
              <a:spcAft>
                <a:spcPts val="0"/>
              </a:spcAft>
              <a:buClr>
                <a:srgbClr val="F0B429"/>
              </a:buClr>
              <a:buSzPts val="800"/>
              <a:buFont typeface="Courier New"/>
              <a:buNone/>
            </a:pPr>
            <a:r>
              <a:rPr b="0" i="0" lang="en-US" sz="800" u="none" cap="none" strike="noStrike">
                <a:solidFill>
                  <a:srgbClr val="FF0000"/>
                </a:solidFill>
                <a:highlight>
                  <a:srgbClr val="F0B429"/>
                </a:highlight>
                <a:latin typeface="Courier New"/>
                <a:ea typeface="Courier New"/>
                <a:cs typeface="Courier New"/>
                <a:sym typeface="Courier New"/>
              </a:rPr>
              <a:t>ONNX Runtime</a:t>
            </a:r>
            <a:r>
              <a:rPr b="0" i="0" lang="en-US" sz="800" u="none" cap="none" strike="noStrike">
                <a:solidFill>
                  <a:srgbClr val="FF0000"/>
                </a:solidFill>
                <a:latin typeface="Carlito"/>
                <a:ea typeface="Carlito"/>
                <a:cs typeface="Carlito"/>
                <a:sym typeface="Carlito"/>
              </a:rPr>
              <a:t> </a:t>
            </a:r>
            <a:r>
              <a:rPr b="0" i="0" lang="en-US" sz="800" u="none" cap="none" strike="noStrike">
                <a:solidFill>
                  <a:srgbClr val="F5F1E6"/>
                </a:solidFill>
                <a:latin typeface="Carlito"/>
                <a:ea typeface="Carlito"/>
                <a:cs typeface="Carlito"/>
                <a:sym typeface="Carlito"/>
              </a:rPr>
              <a:t>was the fastest option tested overall — faster than plain </a:t>
            </a:r>
            <a:r>
              <a:rPr b="0" i="0" lang="en-US" sz="800" u="none" cap="none" strike="noStrike">
                <a:solidFill>
                  <a:srgbClr val="FF0000"/>
                </a:solidFill>
                <a:highlight>
                  <a:srgbClr val="F0B429"/>
                </a:highlight>
                <a:latin typeface="Arial"/>
                <a:ea typeface="Arial"/>
                <a:cs typeface="Arial"/>
                <a:sym typeface="Arial"/>
              </a:rPr>
              <a:t>FP32</a:t>
            </a:r>
            <a:r>
              <a:rPr b="0" i="0" lang="en-US" sz="800" u="none" cap="none" strike="noStrike">
                <a:solidFill>
                  <a:srgbClr val="F5F1E6"/>
                </a:solidFill>
                <a:latin typeface="Carlito"/>
                <a:ea typeface="Carlito"/>
                <a:cs typeface="Carlito"/>
                <a:sym typeface="Carlito"/>
              </a:rPr>
              <a:t> PyTorch </a:t>
            </a:r>
            <a:r>
              <a:rPr b="0" i="1" lang="en-US" sz="800" u="none" cap="none" strike="noStrike">
                <a:solidFill>
                  <a:srgbClr val="F5F1E6"/>
                </a:solidFill>
                <a:latin typeface="Carlito"/>
                <a:ea typeface="Carlito"/>
                <a:cs typeface="Carlito"/>
                <a:sym typeface="Carlito"/>
              </a:rPr>
              <a:t>and</a:t>
            </a:r>
            <a:r>
              <a:rPr b="0" i="0" lang="en-US" sz="800" u="none" cap="none" strike="noStrike">
                <a:solidFill>
                  <a:srgbClr val="F5F1E6"/>
                </a:solidFill>
                <a:latin typeface="Carlito"/>
                <a:ea typeface="Carlito"/>
                <a:cs typeface="Carlito"/>
                <a:sym typeface="Carlito"/>
              </a:rPr>
              <a:t> faster than the quantized version — purely from </a:t>
            </a:r>
            <a:r>
              <a:rPr b="0" i="0" lang="en-US" sz="800" u="none" cap="none" strike="noStrike">
                <a:solidFill>
                  <a:srgbClr val="F0B429"/>
                </a:solidFill>
                <a:latin typeface="Carlito"/>
                <a:ea typeface="Carlito"/>
                <a:cs typeface="Carlito"/>
                <a:sym typeface="Carlito"/>
              </a:rPr>
              <a:t>graph-level runtime optimizations</a:t>
            </a:r>
            <a:r>
              <a:rPr b="0" i="0" lang="en-US" sz="800" u="none" cap="none" strike="noStrike">
                <a:solidFill>
                  <a:srgbClr val="F5F1E6"/>
                </a:solidFill>
                <a:latin typeface="Carlito"/>
                <a:ea typeface="Carlito"/>
                <a:cs typeface="Carlito"/>
                <a:sym typeface="Carlito"/>
              </a:rPr>
              <a:t>, without any change in model size or numeric precision.</a:t>
            </a:r>
            <a:endParaRPr b="0" i="0" sz="800" u="none" cap="none" strike="noStrike">
              <a:solidFill>
                <a:schemeClr val="dk1"/>
              </a:solidFill>
              <a:latin typeface="Calibri"/>
              <a:ea typeface="Calibri"/>
              <a:cs typeface="Calibri"/>
              <a:sym typeface="Calibri"/>
            </a:endParaRPr>
          </a:p>
        </p:txBody>
      </p:sp>
      <p:sp>
        <p:nvSpPr>
          <p:cNvPr id="1493" name="Google Shape;1493;p54"/>
          <p:cNvSpPr/>
          <p:nvPr/>
        </p:nvSpPr>
        <p:spPr>
          <a:xfrm>
            <a:off x="457200" y="4857750"/>
            <a:ext cx="7867166"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494" name="Google Shape;1494;p54"/>
          <p:cNvSpPr/>
          <p:nvPr/>
        </p:nvSpPr>
        <p:spPr>
          <a:xfrm>
            <a:off x="8338654" y="4857750"/>
            <a:ext cx="496979"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52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499" name="Shape 1499"/>
        <p:cNvGrpSpPr/>
        <p:nvPr/>
      </p:nvGrpSpPr>
      <p:grpSpPr>
        <a:xfrm>
          <a:off x="0" y="0"/>
          <a:ext cx="0" cy="0"/>
          <a:chOff x="0" y="0"/>
          <a:chExt cx="0" cy="0"/>
        </a:xfrm>
      </p:grpSpPr>
      <p:sp>
        <p:nvSpPr>
          <p:cNvPr id="1500" name="Google Shape;1500;p55"/>
          <p:cNvSpPr/>
          <p:nvPr/>
        </p:nvSpPr>
        <p:spPr>
          <a:xfrm>
            <a:off x="457200" y="400050"/>
            <a:ext cx="8636000" cy="164592"/>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Carlito"/>
              <a:buNone/>
            </a:pPr>
            <a:r>
              <a:rPr b="0" i="0" lang="en-US" sz="800" u="none" cap="none" strike="noStrike">
                <a:solidFill>
                  <a:srgbClr val="F0B429"/>
                </a:solidFill>
                <a:latin typeface="Carlito"/>
                <a:ea typeface="Carlito"/>
                <a:cs typeface="Carlito"/>
                <a:sym typeface="Carlito"/>
              </a:rPr>
              <a:t>PART 08 · LIVE RESULTS · FULL COMPARISON</a:t>
            </a:r>
            <a:endParaRPr b="0" i="0" sz="800" u="none" cap="none" strike="noStrike">
              <a:solidFill>
                <a:schemeClr val="dk1"/>
              </a:solidFill>
              <a:latin typeface="Calibri"/>
              <a:ea typeface="Calibri"/>
              <a:cs typeface="Calibri"/>
              <a:sym typeface="Calibri"/>
            </a:endParaRPr>
          </a:p>
        </p:txBody>
      </p:sp>
      <p:sp>
        <p:nvSpPr>
          <p:cNvPr id="1501" name="Google Shape;1501;p55"/>
          <p:cNvSpPr/>
          <p:nvPr/>
        </p:nvSpPr>
        <p:spPr>
          <a:xfrm>
            <a:off x="457200" y="603647"/>
            <a:ext cx="8636000" cy="301618"/>
          </a:xfrm>
          <a:prstGeom prst="rect">
            <a:avLst/>
          </a:prstGeom>
          <a:noFill/>
          <a:ln>
            <a:noFill/>
          </a:ln>
        </p:spPr>
        <p:txBody>
          <a:bodyPr anchorCtr="0" anchor="t" bIns="0" lIns="0" spcFirstLastPara="1" rIns="0" wrap="square" tIns="0">
            <a:noAutofit/>
          </a:bodyPr>
          <a:lstStyle/>
          <a:p>
            <a:pPr indent="0" lvl="0" marL="0" marR="0" rtl="0" algn="l">
              <a:lnSpc>
                <a:spcPct val="115010"/>
              </a:lnSpc>
              <a:spcBef>
                <a:spcPts val="0"/>
              </a:spcBef>
              <a:spcAft>
                <a:spcPts val="0"/>
              </a:spcAft>
              <a:buClr>
                <a:srgbClr val="F5F1E6"/>
              </a:buClr>
              <a:buSzPts val="1912"/>
              <a:buFont typeface="Carlito"/>
              <a:buNone/>
            </a:pPr>
            <a:r>
              <a:rPr b="1" i="0" lang="en-US" sz="1913" u="none" cap="none" strike="noStrike">
                <a:solidFill>
                  <a:srgbClr val="F5F1E6"/>
                </a:solidFill>
                <a:latin typeface="Carlito"/>
                <a:ea typeface="Carlito"/>
                <a:cs typeface="Carlito"/>
                <a:sym typeface="Carlito"/>
              </a:rPr>
              <a:t>Full Comparison — Every Version Tested Today</a:t>
            </a:r>
            <a:endParaRPr b="0" i="0" sz="1913" u="none" cap="none" strike="noStrike">
              <a:solidFill>
                <a:schemeClr val="dk1"/>
              </a:solidFill>
              <a:latin typeface="Calibri"/>
              <a:ea typeface="Calibri"/>
              <a:cs typeface="Calibri"/>
              <a:sym typeface="Calibri"/>
            </a:endParaRPr>
          </a:p>
        </p:txBody>
      </p:sp>
      <p:pic>
        <p:nvPicPr>
          <p:cNvPr descr="preencoded.png" id="1502" name="Google Shape;1502;p55"/>
          <p:cNvPicPr preferRelativeResize="0"/>
          <p:nvPr/>
        </p:nvPicPr>
        <p:blipFill rotWithShape="1">
          <a:blip r:embed="rId3">
            <a:alphaModFix/>
          </a:blip>
          <a:srcRect b="0" l="0" r="0" t="0"/>
          <a:stretch/>
        </p:blipFill>
        <p:spPr>
          <a:xfrm>
            <a:off x="457200" y="982935"/>
            <a:ext cx="8229600" cy="357188"/>
          </a:xfrm>
          <a:prstGeom prst="rect">
            <a:avLst/>
          </a:prstGeom>
          <a:noFill/>
          <a:ln>
            <a:noFill/>
          </a:ln>
        </p:spPr>
      </p:pic>
      <p:cxnSp>
        <p:nvCxnSpPr>
          <p:cNvPr id="1503" name="Google Shape;1503;p55"/>
          <p:cNvCxnSpPr/>
          <p:nvPr/>
        </p:nvCxnSpPr>
        <p:spPr>
          <a:xfrm>
            <a:off x="467916" y="982935"/>
            <a:ext cx="0" cy="357188"/>
          </a:xfrm>
          <a:prstGeom prst="straightConnector1">
            <a:avLst/>
          </a:prstGeom>
          <a:noFill/>
          <a:ln cap="flat" cmpd="sng" w="21425">
            <a:solidFill>
              <a:srgbClr val="4ADE80"/>
            </a:solidFill>
            <a:prstDash val="solid"/>
            <a:round/>
            <a:headEnd len="sm" w="sm" type="none"/>
            <a:tailEnd len="sm" w="sm" type="none"/>
          </a:ln>
        </p:spPr>
      </p:cxnSp>
      <p:sp>
        <p:nvSpPr>
          <p:cNvPr id="1504" name="Google Shape;1504;p55"/>
          <p:cNvSpPr/>
          <p:nvPr/>
        </p:nvSpPr>
        <p:spPr>
          <a:xfrm>
            <a:off x="596503" y="1057945"/>
            <a:ext cx="2591395" cy="207169"/>
          </a:xfrm>
          <a:prstGeom prst="roundRect">
            <a:avLst>
              <a:gd fmla="val 4593098" name="adj"/>
            </a:avLst>
          </a:prstGeom>
          <a:solidFill>
            <a:srgbClr val="4ADE80">
              <a:alpha val="10196"/>
            </a:srgbClr>
          </a:solidFill>
          <a:ln cap="flat" cmpd="sng" w="9525">
            <a:solidFill>
              <a:srgbClr val="4ADE8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05" name="Google Shape;1505;p55"/>
          <p:cNvSpPr/>
          <p:nvPr/>
        </p:nvSpPr>
        <p:spPr>
          <a:xfrm>
            <a:off x="857250" y="1066718"/>
            <a:ext cx="7715400" cy="146400"/>
          </a:xfrm>
          <a:prstGeom prst="rect">
            <a:avLst/>
          </a:prstGeom>
          <a:noFill/>
          <a:ln>
            <a:noFill/>
          </a:ln>
        </p:spPr>
        <p:txBody>
          <a:bodyPr anchorCtr="0" anchor="t" bIns="35700" lIns="100000" spcFirstLastPara="1" rIns="100000" wrap="square" tIns="35700">
            <a:noAutofit/>
          </a:bodyPr>
          <a:lstStyle/>
          <a:p>
            <a:pPr indent="0" lvl="0" marL="0" marR="0" rtl="0" algn="l">
              <a:lnSpc>
                <a:spcPct val="126625"/>
              </a:lnSpc>
              <a:spcBef>
                <a:spcPts val="0"/>
              </a:spcBef>
              <a:spcAft>
                <a:spcPts val="0"/>
              </a:spcAft>
              <a:buClr>
                <a:srgbClr val="4ADE80"/>
              </a:buClr>
              <a:buSzPts val="800"/>
              <a:buFont typeface="Carlito"/>
              <a:buNone/>
            </a:pPr>
            <a:r>
              <a:rPr b="0" i="0" lang="en-US" sz="800" u="none" cap="none" strike="noStrike">
                <a:solidFill>
                  <a:srgbClr val="4ADE80"/>
                </a:solidFill>
                <a:latin typeface="Carlito"/>
                <a:ea typeface="Carlito"/>
                <a:cs typeface="Carlito"/>
                <a:sym typeface="Carlito"/>
              </a:rPr>
              <a:t>VERIFIED LIVE · MEASURED IN TODAY'S SESSION</a:t>
            </a:r>
            <a:endParaRPr b="0" i="0" sz="800" u="none" cap="none" strike="noStrike">
              <a:solidFill>
                <a:schemeClr val="dk1"/>
              </a:solidFill>
              <a:latin typeface="Calibri"/>
              <a:ea typeface="Calibri"/>
              <a:cs typeface="Calibri"/>
              <a:sym typeface="Calibri"/>
            </a:endParaRPr>
          </a:p>
        </p:txBody>
      </p:sp>
      <p:sp>
        <p:nvSpPr>
          <p:cNvPr id="1506" name="Google Shape;1506;p55"/>
          <p:cNvSpPr/>
          <p:nvPr/>
        </p:nvSpPr>
        <p:spPr>
          <a:xfrm>
            <a:off x="700088" y="1111523"/>
            <a:ext cx="100013" cy="10001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DE80"/>
              </a:buClr>
              <a:buSzPts val="984"/>
              <a:buFont typeface="Quattrocento Sans"/>
              <a:buNone/>
            </a:pPr>
            <a:r>
              <a:rPr b="0" i="0" lang="en-US" sz="984" u="none" cap="none" strike="noStrike">
                <a:solidFill>
                  <a:srgbClr val="4ADE80"/>
                </a:solidFill>
                <a:latin typeface="Quattrocento Sans"/>
                <a:ea typeface="Quattrocento Sans"/>
                <a:cs typeface="Quattrocento Sans"/>
                <a:sym typeface="Quattrocento Sans"/>
              </a:rPr>
              <a:t>✓</a:t>
            </a:r>
            <a:endParaRPr b="0" i="0" sz="984" u="none" cap="none" strike="noStrike">
              <a:solidFill>
                <a:schemeClr val="dk1"/>
              </a:solidFill>
              <a:latin typeface="Calibri"/>
              <a:ea typeface="Calibri"/>
              <a:cs typeface="Calibri"/>
              <a:sym typeface="Calibri"/>
            </a:endParaRPr>
          </a:p>
        </p:txBody>
      </p:sp>
      <p:graphicFrame>
        <p:nvGraphicFramePr>
          <p:cNvPr id="1507" name="Google Shape;1507;p55"/>
          <p:cNvGraphicFramePr/>
          <p:nvPr/>
        </p:nvGraphicFramePr>
        <p:xfrm>
          <a:off x="457200" y="1454423"/>
          <a:ext cx="3000000" cy="3000000"/>
        </p:xfrm>
        <a:graphic>
          <a:graphicData uri="http://schemas.openxmlformats.org/drawingml/2006/table">
            <a:tbl>
              <a:tblPr>
                <a:noFill/>
                <a:tableStyleId>{032C9997-6F46-4A23-839E-9CD501ED875D}</a:tableStyleId>
              </a:tblPr>
              <a:tblGrid>
                <a:gridCol w="1975025"/>
                <a:gridCol w="987500"/>
                <a:gridCol w="1316675"/>
                <a:gridCol w="1975025"/>
                <a:gridCol w="1975350"/>
              </a:tblGrid>
              <a:tr h="101600">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Version</a:t>
                      </a:r>
                      <a:endParaRPr sz="800" u="none" cap="none" strike="noStrike">
                        <a:latin typeface="Carlito"/>
                        <a:ea typeface="Carlito"/>
                        <a:cs typeface="Carlito"/>
                        <a:sym typeface="Carlito"/>
                      </a:endParaRPr>
                    </a:p>
                  </a:txBody>
                  <a:tcPr marT="100025" marB="100025" marR="100025" marL="1000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Size (MB)</a:t>
                      </a:r>
                      <a:endParaRPr sz="800" u="none" cap="none" strike="noStrike">
                        <a:latin typeface="Carlito"/>
                        <a:ea typeface="Carlito"/>
                        <a:cs typeface="Carlito"/>
                        <a:sym typeface="Carlito"/>
                      </a:endParaRPr>
                    </a:p>
                  </a:txBody>
                  <a:tcPr marT="100025" marB="100025" marR="100025" marL="1000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Avg. Generation Time (s)</a:t>
                      </a:r>
                      <a:endParaRPr sz="800" u="none" cap="none" strike="noStrike">
                        <a:latin typeface="Carlito"/>
                        <a:ea typeface="Carlito"/>
                        <a:cs typeface="Carlito"/>
                        <a:sym typeface="Carlito"/>
                      </a:endParaRPr>
                    </a:p>
                  </a:txBody>
                  <a:tcPr marT="100025" marB="100025" marR="100025" marL="1000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What it won</a:t>
                      </a:r>
                      <a:endParaRPr sz="800" u="none" cap="none" strike="noStrike">
                        <a:latin typeface="Carlito"/>
                        <a:ea typeface="Carlito"/>
                        <a:cs typeface="Carlito"/>
                        <a:sym typeface="Carlito"/>
                      </a:endParaRPr>
                    </a:p>
                  </a:txBody>
                  <a:tcPr marT="100025" marB="100025" marR="100025" marL="1000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800"/>
                        <a:buFont typeface="Carlito"/>
                        <a:buNone/>
                      </a:pPr>
                      <a:r>
                        <a:rPr b="1" lang="en-US" sz="800" u="none" cap="none" strike="noStrike">
                          <a:solidFill>
                            <a:srgbClr val="F0B429"/>
                          </a:solidFill>
                          <a:latin typeface="Carlito"/>
                          <a:ea typeface="Carlito"/>
                          <a:cs typeface="Carlito"/>
                          <a:sym typeface="Carlito"/>
                        </a:rPr>
                        <a:t>What it lost</a:t>
                      </a:r>
                      <a:endParaRPr sz="800" u="none" cap="none" strike="noStrike">
                        <a:latin typeface="Carlito"/>
                        <a:ea typeface="Carlito"/>
                        <a:cs typeface="Carlito"/>
                        <a:sym typeface="Carlito"/>
                      </a:endParaRPr>
                    </a:p>
                  </a:txBody>
                  <a:tcPr marT="100025" marB="100025" marR="100025" marL="1000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14300">
                <a:tc>
                  <a:txBody>
                    <a:bodyPr/>
                    <a:lstStyle/>
                    <a:p>
                      <a:pPr indent="0" lvl="0" marL="0" marR="0" rtl="0" algn="l">
                        <a:spcBef>
                          <a:spcPts val="0"/>
                        </a:spcBef>
                        <a:spcAft>
                          <a:spcPts val="0"/>
                        </a:spcAft>
                        <a:buClr>
                          <a:srgbClr val="F5F1E6"/>
                        </a:buClr>
                        <a:buSzPts val="800"/>
                        <a:buFont typeface="Carlito"/>
                        <a:buNone/>
                      </a:pPr>
                      <a:r>
                        <a:rPr lang="en-US" sz="800" u="none" cap="none" strike="noStrike">
                          <a:solidFill>
                            <a:srgbClr val="F5F1E6"/>
                          </a:solidFill>
                          <a:latin typeface="Carlito"/>
                          <a:ea typeface="Carlito"/>
                          <a:cs typeface="Carlito"/>
                          <a:sym typeface="Carlito"/>
                        </a:rPr>
                        <a:t>FP32 (Linear-converted)</a:t>
                      </a:r>
                      <a:endParaRPr sz="800" u="none" cap="none" strike="noStrike">
                        <a:latin typeface="Carlito"/>
                        <a:ea typeface="Carlito"/>
                        <a:cs typeface="Carlito"/>
                        <a:sym typeface="Carlito"/>
                      </a:endParaRPr>
                    </a:p>
                  </a:txBody>
                  <a:tcPr marT="100025" marB="114300" marR="100025" marL="11430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900"/>
                        <a:buFont typeface="Courier New"/>
                        <a:buNone/>
                      </a:pPr>
                      <a:r>
                        <a:rPr lang="en-US" sz="900" u="none" cap="none" strike="noStrike">
                          <a:solidFill>
                            <a:srgbClr val="F0B429"/>
                          </a:solidFill>
                          <a:latin typeface="Courier New"/>
                          <a:ea typeface="Courier New"/>
                          <a:cs typeface="Courier New"/>
                          <a:sym typeface="Courier New"/>
                        </a:rPr>
                        <a:t>474.70</a:t>
                      </a:r>
                      <a:endParaRPr sz="900" u="none" cap="none" strike="noStrike">
                        <a:latin typeface="Courier New"/>
                        <a:ea typeface="Courier New"/>
                        <a:cs typeface="Courier New"/>
                        <a:sym typeface="Courier New"/>
                      </a:endParaRPr>
                    </a:p>
                  </a:txBody>
                  <a:tcPr marT="100025" marB="114300" marR="100025" marL="11430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900"/>
                        <a:buFont typeface="Courier New"/>
                        <a:buNone/>
                      </a:pPr>
                      <a:r>
                        <a:rPr lang="en-US" sz="900" u="none" cap="none" strike="noStrike">
                          <a:solidFill>
                            <a:srgbClr val="F0B429"/>
                          </a:solidFill>
                          <a:latin typeface="Courier New"/>
                          <a:ea typeface="Courier New"/>
                          <a:cs typeface="Courier New"/>
                          <a:sym typeface="Courier New"/>
                        </a:rPr>
                        <a:t>0.99</a:t>
                      </a:r>
                      <a:endParaRPr sz="900" u="none" cap="none" strike="noStrike">
                        <a:latin typeface="Courier New"/>
                        <a:ea typeface="Courier New"/>
                        <a:cs typeface="Courier New"/>
                        <a:sym typeface="Courier New"/>
                      </a:endParaRPr>
                    </a:p>
                  </a:txBody>
                  <a:tcPr marT="100025" marB="114300" marR="100025" marL="11430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4ADE80"/>
                        </a:buClr>
                        <a:buSzPts val="800"/>
                        <a:buFont typeface="Carlito"/>
                        <a:buNone/>
                      </a:pPr>
                      <a:r>
                        <a:rPr lang="en-US" sz="800" u="none" cap="none" strike="noStrike">
                          <a:solidFill>
                            <a:srgbClr val="4ADE80"/>
                          </a:solidFill>
                          <a:latin typeface="Carlito"/>
                          <a:ea typeface="Carlito"/>
                          <a:cs typeface="Carlito"/>
                          <a:sym typeface="Carlito"/>
                        </a:rPr>
                        <a:t>⚑Baseline</a:t>
                      </a:r>
                      <a:endParaRPr sz="800" u="none" cap="none" strike="noStrike">
                        <a:latin typeface="Carlito"/>
                        <a:ea typeface="Carlito"/>
                        <a:cs typeface="Carlito"/>
                        <a:sym typeface="Carlito"/>
                      </a:endParaRPr>
                    </a:p>
                  </a:txBody>
                  <a:tcPr marT="100025" marB="114300" marR="100025" marL="11430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800"/>
                        <a:buFont typeface="Courier New"/>
                        <a:buNone/>
                      </a:pPr>
                      <a:r>
                        <a:rPr lang="en-US" sz="800" u="none" cap="none" strike="noStrike">
                          <a:solidFill>
                            <a:srgbClr val="64748B"/>
                          </a:solidFill>
                          <a:latin typeface="Courier New"/>
                          <a:ea typeface="Courier New"/>
                          <a:cs typeface="Courier New"/>
                          <a:sym typeface="Courier New"/>
                        </a:rPr>
                        <a:t>—</a:t>
                      </a:r>
                      <a:endParaRPr sz="800" u="none" cap="none" strike="noStrike">
                        <a:latin typeface="Courier New"/>
                        <a:ea typeface="Courier New"/>
                        <a:cs typeface="Courier New"/>
                        <a:sym typeface="Courier New"/>
                      </a:endParaRPr>
                    </a:p>
                  </a:txBody>
                  <a:tcPr marT="100025" marB="114300" marR="100025" marL="11430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14300">
                <a:tc>
                  <a:txBody>
                    <a:bodyPr/>
                    <a:lstStyle/>
                    <a:p>
                      <a:pPr indent="0" lvl="0" marL="0" marR="0" rtl="0" algn="l">
                        <a:spcBef>
                          <a:spcPts val="0"/>
                        </a:spcBef>
                        <a:spcAft>
                          <a:spcPts val="0"/>
                        </a:spcAft>
                        <a:buClr>
                          <a:srgbClr val="F5F1E6"/>
                        </a:buClr>
                        <a:buSzPts val="800"/>
                        <a:buFont typeface="Carlito"/>
                        <a:buNone/>
                      </a:pPr>
                      <a:r>
                        <a:rPr lang="en-US" sz="800" u="none" cap="none" strike="noStrike">
                          <a:solidFill>
                            <a:srgbClr val="F5F1E6"/>
                          </a:solidFill>
                          <a:latin typeface="Carlito"/>
                          <a:ea typeface="Carlito"/>
                          <a:cs typeface="Carlito"/>
                          <a:sym typeface="Carlito"/>
                        </a:rPr>
                        <a:t>INT8 Quantized</a:t>
                      </a:r>
                      <a:endParaRPr sz="800" u="none" cap="none" strike="noStrike">
                        <a:latin typeface="Carlito"/>
                        <a:ea typeface="Carlito"/>
                        <a:cs typeface="Carlito"/>
                        <a:sym typeface="Carlito"/>
                      </a:endParaRPr>
                    </a:p>
                  </a:txBody>
                  <a:tcPr marT="100025" marB="114300" marR="100025" marL="11430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900"/>
                        <a:buFont typeface="Courier New"/>
                        <a:buNone/>
                      </a:pPr>
                      <a:r>
                        <a:rPr lang="en-US" sz="900" u="none" cap="none" strike="noStrike">
                          <a:solidFill>
                            <a:srgbClr val="F0B429"/>
                          </a:solidFill>
                          <a:latin typeface="Courier New"/>
                          <a:ea typeface="Courier New"/>
                          <a:cs typeface="Courier New"/>
                          <a:sym typeface="Courier New"/>
                        </a:rPr>
                        <a:t>269.14</a:t>
                      </a:r>
                      <a:endParaRPr sz="900" u="none" cap="none" strike="noStrike">
                        <a:latin typeface="Courier New"/>
                        <a:ea typeface="Courier New"/>
                        <a:cs typeface="Courier New"/>
                        <a:sym typeface="Courier New"/>
                      </a:endParaRPr>
                    </a:p>
                  </a:txBody>
                  <a:tcPr marT="100025" marB="114300" marR="100025" marL="11430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0B429"/>
                        </a:buClr>
                        <a:buSzPts val="900"/>
                        <a:buFont typeface="Courier New"/>
                        <a:buNone/>
                      </a:pPr>
                      <a:r>
                        <a:rPr lang="en-US" sz="900" u="none" cap="none" strike="noStrike">
                          <a:solidFill>
                            <a:srgbClr val="F0B429"/>
                          </a:solidFill>
                          <a:latin typeface="Courier New"/>
                          <a:ea typeface="Courier New"/>
                          <a:cs typeface="Courier New"/>
                          <a:sym typeface="Courier New"/>
                        </a:rPr>
                        <a:t>3.20</a:t>
                      </a:r>
                      <a:endParaRPr sz="900" u="none" cap="none" strike="noStrike">
                        <a:latin typeface="Courier New"/>
                        <a:ea typeface="Courier New"/>
                        <a:cs typeface="Courier New"/>
                        <a:sym typeface="Courier New"/>
                      </a:endParaRPr>
                    </a:p>
                  </a:txBody>
                  <a:tcPr marT="100025" marB="114300" marR="100025" marL="11430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4ADE80"/>
                        </a:buClr>
                        <a:buSzPts val="800"/>
                        <a:buFont typeface="Carlito"/>
                        <a:buNone/>
                      </a:pPr>
                      <a:r>
                        <a:rPr lang="en-US" sz="800" u="none" cap="none" strike="noStrike">
                          <a:solidFill>
                            <a:srgbClr val="4ADE80"/>
                          </a:solidFill>
                          <a:latin typeface="Carlito"/>
                          <a:ea typeface="Carlito"/>
                          <a:cs typeface="Carlito"/>
                          <a:sym typeface="Carlito"/>
                        </a:rPr>
                        <a:t>✦43% smaller</a:t>
                      </a:r>
                      <a:endParaRPr sz="800" u="none" cap="none" strike="noStrike">
                        <a:latin typeface="Carlito"/>
                        <a:ea typeface="Carlito"/>
                        <a:cs typeface="Carlito"/>
                        <a:sym typeface="Carlito"/>
                      </a:endParaRPr>
                    </a:p>
                  </a:txBody>
                  <a:tcPr marT="100025" marB="114300" marR="100025" marL="11430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B923C"/>
                        </a:buClr>
                        <a:buSzPts val="800"/>
                        <a:buFont typeface="Carlito"/>
                        <a:buNone/>
                      </a:pPr>
                      <a:r>
                        <a:rPr lang="en-US" sz="800" u="none" cap="none" strike="noStrike">
                          <a:solidFill>
                            <a:srgbClr val="FB923C"/>
                          </a:solidFill>
                          <a:latin typeface="Carlito"/>
                          <a:ea typeface="Carlito"/>
                          <a:cs typeface="Carlito"/>
                          <a:sym typeface="Carlito"/>
                        </a:rPr>
                        <a:t>↘3×+ slower</a:t>
                      </a:r>
                      <a:endParaRPr sz="800" u="none" cap="none" strike="noStrike">
                        <a:latin typeface="Carlito"/>
                        <a:ea typeface="Carlito"/>
                        <a:cs typeface="Carlito"/>
                        <a:sym typeface="Carlito"/>
                      </a:endParaRPr>
                    </a:p>
                  </a:txBody>
                  <a:tcPr marT="100025" marB="114300" marR="100025" marL="11430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114300">
                <a:tc>
                  <a:txBody>
                    <a:bodyPr/>
                    <a:lstStyle/>
                    <a:p>
                      <a:pPr indent="0" lvl="0" marL="0" marR="0" rtl="0" algn="l">
                        <a:spcBef>
                          <a:spcPts val="0"/>
                        </a:spcBef>
                        <a:spcAft>
                          <a:spcPts val="0"/>
                        </a:spcAft>
                        <a:buClr>
                          <a:srgbClr val="F5F1E6"/>
                        </a:buClr>
                        <a:buSzPts val="800"/>
                        <a:buFont typeface="Carlito"/>
                        <a:buNone/>
                      </a:pPr>
                      <a:r>
                        <a:rPr lang="en-US" sz="800" u="none" cap="none" strike="noStrike">
                          <a:solidFill>
                            <a:srgbClr val="F5F1E6"/>
                          </a:solidFill>
                          <a:latin typeface="Carlito"/>
                          <a:ea typeface="Carlito"/>
                          <a:cs typeface="Carlito"/>
                          <a:sym typeface="Carlito"/>
                        </a:rPr>
                        <a:t>ONNX Runtime</a:t>
                      </a:r>
                      <a:endParaRPr sz="800" u="none" cap="none" strike="noStrike">
                        <a:latin typeface="Carlito"/>
                        <a:ea typeface="Carlito"/>
                        <a:cs typeface="Carlito"/>
                        <a:sym typeface="Carlito"/>
                      </a:endParaRPr>
                    </a:p>
                  </a:txBody>
                  <a:tcPr marT="100025" marB="114300" marR="100025" marL="11430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4ADE80"/>
                        </a:buClr>
                        <a:buSzPts val="900"/>
                        <a:buFont typeface="Courier New"/>
                        <a:buNone/>
                      </a:pPr>
                      <a:r>
                        <a:rPr lang="en-US" sz="900" u="none" cap="none" strike="noStrike">
                          <a:solidFill>
                            <a:srgbClr val="4ADE80"/>
                          </a:solidFill>
                          <a:latin typeface="Courier New"/>
                          <a:ea typeface="Courier New"/>
                          <a:cs typeface="Courier New"/>
                          <a:sym typeface="Courier New"/>
                        </a:rPr>
                        <a:t>475.09</a:t>
                      </a:r>
                      <a:endParaRPr sz="900" u="none" cap="none" strike="noStrike">
                        <a:latin typeface="Courier New"/>
                        <a:ea typeface="Courier New"/>
                        <a:cs typeface="Courier New"/>
                        <a:sym typeface="Courier New"/>
                      </a:endParaRPr>
                    </a:p>
                  </a:txBody>
                  <a:tcPr marT="100025" marB="114300" marR="100025" marL="11430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4ADE80"/>
                        </a:buClr>
                        <a:buSzPts val="900"/>
                        <a:buFont typeface="Courier New"/>
                        <a:buNone/>
                      </a:pPr>
                      <a:r>
                        <a:rPr lang="en-US" sz="900" u="none" cap="none" strike="noStrike">
                          <a:solidFill>
                            <a:srgbClr val="4ADE80"/>
                          </a:solidFill>
                          <a:latin typeface="Courier New"/>
                          <a:ea typeface="Courier New"/>
                          <a:cs typeface="Courier New"/>
                          <a:sym typeface="Courier New"/>
                        </a:rPr>
                        <a:t>0.80</a:t>
                      </a:r>
                      <a:endParaRPr sz="900" u="none" cap="none" strike="noStrike">
                        <a:latin typeface="Courier New"/>
                        <a:ea typeface="Courier New"/>
                        <a:cs typeface="Courier New"/>
                        <a:sym typeface="Courier New"/>
                      </a:endParaRPr>
                    </a:p>
                  </a:txBody>
                  <a:tcPr marT="100025" marB="114300" marR="100025" marL="11430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4ADE80"/>
                        </a:buClr>
                        <a:buSzPts val="800"/>
                        <a:buFont typeface="Carlito"/>
                        <a:buNone/>
                      </a:pPr>
                      <a:r>
                        <a:rPr lang="en-US" sz="800" u="none" cap="none" strike="noStrike">
                          <a:solidFill>
                            <a:srgbClr val="4ADE80"/>
                          </a:solidFill>
                          <a:latin typeface="Carlito"/>
                          <a:ea typeface="Carlito"/>
                          <a:cs typeface="Carlito"/>
                          <a:sym typeface="Carlito"/>
                        </a:rPr>
                        <a:t>⚡Fastest overall</a:t>
                      </a:r>
                      <a:endParaRPr sz="800" u="none" cap="none" strike="noStrike">
                        <a:latin typeface="Carlito"/>
                        <a:ea typeface="Carlito"/>
                        <a:cs typeface="Carlito"/>
                        <a:sym typeface="Carlito"/>
                      </a:endParaRPr>
                    </a:p>
                  </a:txBody>
                  <a:tcPr marT="100025" marB="114300" marR="100025" marL="11430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spcBef>
                          <a:spcPts val="0"/>
                        </a:spcBef>
                        <a:spcAft>
                          <a:spcPts val="0"/>
                        </a:spcAft>
                        <a:buClr>
                          <a:srgbClr val="FB923C"/>
                        </a:buClr>
                        <a:buSzPts val="800"/>
                        <a:buFont typeface="Carlito"/>
                        <a:buNone/>
                      </a:pPr>
                      <a:r>
                        <a:rPr lang="en-US" sz="800" u="none" cap="none" strike="noStrike">
                          <a:solidFill>
                            <a:srgbClr val="FB923C"/>
                          </a:solidFill>
                          <a:latin typeface="Carlito"/>
                          <a:ea typeface="Carlito"/>
                          <a:cs typeface="Carlito"/>
                          <a:sym typeface="Carlito"/>
                        </a:rPr>
                        <a:t>ⓘNo size reduction alone</a:t>
                      </a:r>
                      <a:endParaRPr sz="800" u="none" cap="none" strike="noStrike">
                        <a:latin typeface="Carlito"/>
                        <a:ea typeface="Carlito"/>
                        <a:cs typeface="Carlito"/>
                        <a:sym typeface="Carlito"/>
                      </a:endParaRPr>
                    </a:p>
                  </a:txBody>
                  <a:tcPr marT="100025" marB="114300" marR="100025" marL="11430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pic>
        <p:nvPicPr>
          <p:cNvPr descr="preencoded.png" id="1508" name="Google Shape;1508;p55"/>
          <p:cNvPicPr preferRelativeResize="0"/>
          <p:nvPr/>
        </p:nvPicPr>
        <p:blipFill rotWithShape="1">
          <a:blip r:embed="rId4">
            <a:alphaModFix/>
          </a:blip>
          <a:srcRect b="0" l="0" r="0" t="0"/>
          <a:stretch/>
        </p:blipFill>
        <p:spPr>
          <a:xfrm>
            <a:off x="457200" y="3258220"/>
            <a:ext cx="8229600" cy="579983"/>
          </a:xfrm>
          <a:prstGeom prst="rect">
            <a:avLst/>
          </a:prstGeom>
          <a:noFill/>
          <a:ln>
            <a:noFill/>
          </a:ln>
        </p:spPr>
      </p:pic>
      <p:cxnSp>
        <p:nvCxnSpPr>
          <p:cNvPr id="1509" name="Google Shape;1509;p55"/>
          <p:cNvCxnSpPr/>
          <p:nvPr/>
        </p:nvCxnSpPr>
        <p:spPr>
          <a:xfrm>
            <a:off x="457200" y="3261792"/>
            <a:ext cx="8229600" cy="0"/>
          </a:xfrm>
          <a:prstGeom prst="straightConnector1">
            <a:avLst/>
          </a:prstGeom>
          <a:noFill/>
          <a:ln cap="flat" cmpd="sng" w="9525">
            <a:solidFill>
              <a:srgbClr val="F0B429"/>
            </a:solidFill>
            <a:prstDash val="solid"/>
            <a:round/>
            <a:headEnd len="sm" w="sm" type="none"/>
            <a:tailEnd len="sm" w="sm" type="none"/>
          </a:ln>
        </p:spPr>
      </p:cxnSp>
      <p:cxnSp>
        <p:nvCxnSpPr>
          <p:cNvPr id="1510" name="Google Shape;1510;p55"/>
          <p:cNvCxnSpPr/>
          <p:nvPr/>
        </p:nvCxnSpPr>
        <p:spPr>
          <a:xfrm>
            <a:off x="8683228" y="3258220"/>
            <a:ext cx="0" cy="579983"/>
          </a:xfrm>
          <a:prstGeom prst="straightConnector1">
            <a:avLst/>
          </a:prstGeom>
          <a:noFill/>
          <a:ln cap="flat" cmpd="sng" w="9525">
            <a:solidFill>
              <a:srgbClr val="F0B429"/>
            </a:solidFill>
            <a:prstDash val="solid"/>
            <a:round/>
            <a:headEnd len="sm" w="sm" type="none"/>
            <a:tailEnd len="sm" w="sm" type="none"/>
          </a:ln>
        </p:spPr>
      </p:cxnSp>
      <p:cxnSp>
        <p:nvCxnSpPr>
          <p:cNvPr id="1511" name="Google Shape;1511;p55"/>
          <p:cNvCxnSpPr/>
          <p:nvPr/>
        </p:nvCxnSpPr>
        <p:spPr>
          <a:xfrm>
            <a:off x="457200" y="3834631"/>
            <a:ext cx="8229600" cy="0"/>
          </a:xfrm>
          <a:prstGeom prst="straightConnector1">
            <a:avLst/>
          </a:prstGeom>
          <a:noFill/>
          <a:ln cap="flat" cmpd="sng" w="9525">
            <a:solidFill>
              <a:srgbClr val="F0B429"/>
            </a:solidFill>
            <a:prstDash val="solid"/>
            <a:round/>
            <a:headEnd len="sm" w="sm" type="none"/>
            <a:tailEnd len="sm" w="sm" type="none"/>
          </a:ln>
        </p:spPr>
      </p:cxnSp>
      <p:cxnSp>
        <p:nvCxnSpPr>
          <p:cNvPr id="1512" name="Google Shape;1512;p55"/>
          <p:cNvCxnSpPr/>
          <p:nvPr/>
        </p:nvCxnSpPr>
        <p:spPr>
          <a:xfrm>
            <a:off x="471488" y="3258220"/>
            <a:ext cx="0" cy="579983"/>
          </a:xfrm>
          <a:prstGeom prst="straightConnector1">
            <a:avLst/>
          </a:prstGeom>
          <a:noFill/>
          <a:ln cap="flat" cmpd="sng" w="28575">
            <a:solidFill>
              <a:srgbClr val="F0B429"/>
            </a:solidFill>
            <a:prstDash val="solid"/>
            <a:round/>
            <a:headEnd len="sm" w="sm" type="none"/>
            <a:tailEnd len="sm" w="sm" type="none"/>
          </a:ln>
        </p:spPr>
      </p:cxnSp>
      <p:sp>
        <p:nvSpPr>
          <p:cNvPr id="1513" name="Google Shape;1513;p55"/>
          <p:cNvSpPr/>
          <p:nvPr/>
        </p:nvSpPr>
        <p:spPr>
          <a:xfrm>
            <a:off x="621055" y="3396666"/>
            <a:ext cx="590819" cy="216027"/>
          </a:xfrm>
          <a:prstGeom prst="roundRect">
            <a:avLst>
              <a:gd fmla="val 13228" name="adj"/>
            </a:avLst>
          </a:prstGeom>
          <a:solidFill>
            <a:srgbClr val="142339"/>
          </a:solidFill>
          <a:ln cap="flat" cmpd="sng" w="9525">
            <a:solidFill>
              <a:srgbClr val="F0B4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14" name="Google Shape;1514;p55"/>
          <p:cNvSpPr/>
          <p:nvPr/>
        </p:nvSpPr>
        <p:spPr>
          <a:xfrm>
            <a:off x="621744" y="3408238"/>
            <a:ext cx="589443" cy="192881"/>
          </a:xfrm>
          <a:prstGeom prst="rect">
            <a:avLst/>
          </a:prstGeom>
          <a:noFill/>
          <a:ln>
            <a:noFill/>
          </a:ln>
        </p:spPr>
        <p:txBody>
          <a:bodyPr anchorCtr="0" anchor="ctr" bIns="0" lIns="0" spcFirstLastPara="1" rIns="0" wrap="square" tIns="0">
            <a:noAutofit/>
          </a:bodyPr>
          <a:lstStyle/>
          <a:p>
            <a:pPr indent="0" lvl="0" marL="0" marR="0" rtl="0" algn="ctr">
              <a:lnSpc>
                <a:spcPct val="105499"/>
              </a:lnSpc>
              <a:spcBef>
                <a:spcPts val="0"/>
              </a:spcBef>
              <a:spcAft>
                <a:spcPts val="0"/>
              </a:spcAft>
              <a:buClr>
                <a:srgbClr val="F0B429"/>
              </a:buClr>
              <a:buSzPts val="800"/>
              <a:buFont typeface="Carlito"/>
              <a:buNone/>
            </a:pPr>
            <a:r>
              <a:rPr b="1" i="0" lang="en-US" sz="800" u="none" cap="none" strike="noStrike">
                <a:solidFill>
                  <a:srgbClr val="F0B429"/>
                </a:solidFill>
                <a:latin typeface="Carlito"/>
                <a:ea typeface="Carlito"/>
                <a:cs typeface="Carlito"/>
                <a:sym typeface="Carlito"/>
              </a:rPr>
              <a:t>KEY LINE</a:t>
            </a:r>
            <a:endParaRPr b="0" i="0" sz="800" u="none" cap="none" strike="noStrike">
              <a:solidFill>
                <a:schemeClr val="dk1"/>
              </a:solidFill>
              <a:latin typeface="Calibri"/>
              <a:ea typeface="Calibri"/>
              <a:cs typeface="Calibri"/>
              <a:sym typeface="Calibri"/>
            </a:endParaRPr>
          </a:p>
        </p:txBody>
      </p:sp>
      <p:sp>
        <p:nvSpPr>
          <p:cNvPr id="1515" name="Google Shape;1515;p55"/>
          <p:cNvSpPr/>
          <p:nvPr/>
        </p:nvSpPr>
        <p:spPr>
          <a:xfrm>
            <a:off x="1304292" y="3393951"/>
            <a:ext cx="7218201" cy="308521"/>
          </a:xfrm>
          <a:prstGeom prst="rect">
            <a:avLst/>
          </a:prstGeom>
          <a:noFill/>
          <a:ln>
            <a:noFill/>
          </a:ln>
        </p:spPr>
        <p:txBody>
          <a:bodyPr anchorCtr="0" anchor="t" bIns="0" lIns="0" spcFirstLastPara="1" rIns="0" wrap="square" tIns="0">
            <a:noAutofit/>
          </a:bodyPr>
          <a:lstStyle/>
          <a:p>
            <a:pPr indent="0" lvl="0" marL="0" marR="0" rtl="0" algn="l">
              <a:lnSpc>
                <a:spcPct val="151875"/>
              </a:lnSpc>
              <a:spcBef>
                <a:spcPts val="0"/>
              </a:spcBef>
              <a:spcAft>
                <a:spcPts val="0"/>
              </a:spcAft>
              <a:buClr>
                <a:srgbClr val="F5F1E6"/>
              </a:buClr>
              <a:buSzPts val="800"/>
              <a:buFont typeface="Carlito"/>
              <a:buNone/>
            </a:pPr>
            <a:r>
              <a:rPr b="0" i="1" lang="en-US" sz="800" u="none" cap="none" strike="noStrike">
                <a:solidFill>
                  <a:srgbClr val="F5F1E6"/>
                </a:solidFill>
                <a:latin typeface="Carlito"/>
                <a:ea typeface="Carlito"/>
                <a:cs typeface="Carlito"/>
                <a:sym typeface="Carlito"/>
              </a:rPr>
              <a:t>No single technique won on every axis. This is a live demonstration of the core principle of this entire session: </a:t>
            </a:r>
            <a:r>
              <a:rPr b="0" i="1" lang="en-US" sz="800" u="none" cap="none" strike="noStrike">
                <a:solidFill>
                  <a:srgbClr val="F0B429"/>
                </a:solidFill>
                <a:latin typeface="Carlito"/>
                <a:ea typeface="Carlito"/>
                <a:cs typeface="Carlito"/>
                <a:sym typeface="Carlito"/>
              </a:rPr>
              <a:t>always measure size, speed, and quality together.</a:t>
            </a:r>
            <a:r>
              <a:rPr b="0" i="1" lang="en-US" sz="800" u="none" cap="none" strike="noStrike">
                <a:solidFill>
                  <a:srgbClr val="F5F1E6"/>
                </a:solidFill>
                <a:latin typeface="Carlito"/>
                <a:ea typeface="Carlito"/>
                <a:cs typeface="Carlito"/>
                <a:sym typeface="Carlito"/>
              </a:rPr>
              <a:t> Never assume a technique that helps on one dimension helps on all of them.</a:t>
            </a:r>
            <a:endParaRPr b="0" i="0" sz="800" u="none" cap="none" strike="noStrike">
              <a:solidFill>
                <a:schemeClr val="dk1"/>
              </a:solidFill>
              <a:latin typeface="Calibri"/>
              <a:ea typeface="Calibri"/>
              <a:cs typeface="Calibri"/>
              <a:sym typeface="Calibri"/>
            </a:endParaRPr>
          </a:p>
        </p:txBody>
      </p:sp>
      <p:sp>
        <p:nvSpPr>
          <p:cNvPr id="1516" name="Google Shape;1516;p55"/>
          <p:cNvSpPr/>
          <p:nvPr/>
        </p:nvSpPr>
        <p:spPr>
          <a:xfrm>
            <a:off x="457200" y="4857750"/>
            <a:ext cx="7867166"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517" name="Google Shape;1517;p55"/>
          <p:cNvSpPr/>
          <p:nvPr/>
        </p:nvSpPr>
        <p:spPr>
          <a:xfrm>
            <a:off x="8338654" y="4857750"/>
            <a:ext cx="496979" cy="164592"/>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53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522" name="Shape 1522"/>
        <p:cNvGrpSpPr/>
        <p:nvPr/>
      </p:nvGrpSpPr>
      <p:grpSpPr>
        <a:xfrm>
          <a:off x="0" y="0"/>
          <a:ext cx="0" cy="0"/>
          <a:chOff x="0" y="0"/>
          <a:chExt cx="0" cy="0"/>
        </a:xfrm>
      </p:grpSpPr>
      <p:sp>
        <p:nvSpPr>
          <p:cNvPr id="1523" name="Google Shape;1523;p56"/>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Carlito"/>
              <a:buNone/>
            </a:pPr>
            <a:r>
              <a:rPr b="0" i="0" lang="en-US" sz="800" u="none" cap="none" strike="noStrike">
                <a:solidFill>
                  <a:srgbClr val="F0B429"/>
                </a:solidFill>
                <a:latin typeface="Carlito"/>
                <a:ea typeface="Carlito"/>
                <a:cs typeface="Carlito"/>
                <a:sym typeface="Carlito"/>
              </a:rPr>
              <a:t>PART 08 · LIVE RESULTS · OPTIONAL · TIME-PERMITTING</a:t>
            </a:r>
            <a:endParaRPr b="0" i="0" sz="800" u="none" cap="none" strike="noStrike">
              <a:solidFill>
                <a:schemeClr val="dk1"/>
              </a:solidFill>
              <a:latin typeface="Calibri"/>
              <a:ea typeface="Calibri"/>
              <a:cs typeface="Calibri"/>
              <a:sym typeface="Calibri"/>
            </a:endParaRPr>
          </a:p>
        </p:txBody>
      </p:sp>
      <p:sp>
        <p:nvSpPr>
          <p:cNvPr id="1524" name="Google Shape;1524;p56"/>
          <p:cNvSpPr/>
          <p:nvPr/>
        </p:nvSpPr>
        <p:spPr>
          <a:xfrm>
            <a:off x="457200" y="603647"/>
            <a:ext cx="6759300" cy="283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5F1E6"/>
              </a:buClr>
              <a:buSzPts val="1800"/>
              <a:buFont typeface="Carlito"/>
              <a:buNone/>
            </a:pPr>
            <a:r>
              <a:rPr b="1" i="0" lang="en-US" sz="1800" u="none" cap="none" strike="noStrike">
                <a:solidFill>
                  <a:srgbClr val="F5F1E6"/>
                </a:solidFill>
                <a:latin typeface="Carlito"/>
                <a:ea typeface="Carlito"/>
                <a:cs typeface="Carlito"/>
                <a:sym typeface="Carlito"/>
              </a:rPr>
              <a:t>What We Actually Hit While Building This Demo</a:t>
            </a:r>
            <a:endParaRPr b="0" i="0" sz="1800" u="none" cap="none" strike="noStrike">
              <a:solidFill>
                <a:schemeClr val="dk1"/>
              </a:solidFill>
              <a:latin typeface="Calibri"/>
              <a:ea typeface="Calibri"/>
              <a:cs typeface="Calibri"/>
              <a:sym typeface="Calibri"/>
            </a:endParaRPr>
          </a:p>
        </p:txBody>
      </p:sp>
      <p:sp>
        <p:nvSpPr>
          <p:cNvPr id="1525" name="Google Shape;1525;p56"/>
          <p:cNvSpPr/>
          <p:nvPr/>
        </p:nvSpPr>
        <p:spPr>
          <a:xfrm>
            <a:off x="7234498" y="649300"/>
            <a:ext cx="1448700" cy="171600"/>
          </a:xfrm>
          <a:prstGeom prst="roundRect">
            <a:avLst>
              <a:gd fmla="val 16667" name="adj"/>
            </a:avLst>
          </a:prstGeom>
          <a:solidFill>
            <a:srgbClr val="142339"/>
          </a:solidFill>
          <a:ln cap="flat" cmpd="sng" w="9525">
            <a:solidFill>
              <a:srgbClr val="2A3B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26" name="Google Shape;1526;p56"/>
          <p:cNvSpPr/>
          <p:nvPr/>
        </p:nvSpPr>
        <p:spPr>
          <a:xfrm>
            <a:off x="7392908" y="658472"/>
            <a:ext cx="1397700" cy="142500"/>
          </a:xfrm>
          <a:prstGeom prst="rect">
            <a:avLst/>
          </a:prstGeom>
          <a:noFill/>
          <a:ln>
            <a:noFill/>
          </a:ln>
        </p:spPr>
        <p:txBody>
          <a:bodyPr anchorCtr="0" anchor="t" bIns="28575" lIns="71425" spcFirstLastPara="1" rIns="71425" wrap="square" tIns="28575">
            <a:noAutofit/>
          </a:bodyPr>
          <a:lstStyle/>
          <a:p>
            <a:pPr indent="0" lvl="0" marL="0" marR="0" rtl="0" algn="l">
              <a:lnSpc>
                <a:spcPct val="140666"/>
              </a:lnSpc>
              <a:spcBef>
                <a:spcPts val="0"/>
              </a:spcBef>
              <a:spcAft>
                <a:spcPts val="0"/>
              </a:spcAft>
              <a:buClr>
                <a:srgbClr val="94A3B8"/>
              </a:buClr>
              <a:buSzPts val="600"/>
              <a:buFont typeface="Courier New"/>
              <a:buNone/>
            </a:pPr>
            <a:r>
              <a:rPr b="0" i="0" lang="en-US" sz="600" u="none" cap="none" strike="noStrike">
                <a:solidFill>
                  <a:srgbClr val="94A3B8"/>
                </a:solidFill>
                <a:latin typeface="Courier New"/>
                <a:ea typeface="Courier New"/>
                <a:cs typeface="Courier New"/>
                <a:sym typeface="Courier New"/>
              </a:rPr>
              <a:t>OPTIONAL · TIME-PERMITTING</a:t>
            </a:r>
            <a:endParaRPr b="0" i="0" sz="600" u="none" cap="none" strike="noStrike">
              <a:solidFill>
                <a:schemeClr val="dk1"/>
              </a:solidFill>
              <a:latin typeface="Calibri"/>
              <a:ea typeface="Calibri"/>
              <a:cs typeface="Calibri"/>
              <a:sym typeface="Calibri"/>
            </a:endParaRPr>
          </a:p>
        </p:txBody>
      </p:sp>
      <p:sp>
        <p:nvSpPr>
          <p:cNvPr id="1527" name="Google Shape;1527;p56"/>
          <p:cNvSpPr/>
          <p:nvPr/>
        </p:nvSpPr>
        <p:spPr>
          <a:xfrm>
            <a:off x="7309507" y="692162"/>
            <a:ext cx="91500" cy="9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43"/>
              <a:buFont typeface="Quattrocento Sans"/>
              <a:buNone/>
            </a:pPr>
            <a:r>
              <a:rPr b="0" i="0" lang="en-US" sz="844" u="none" cap="none" strike="noStrike">
                <a:solidFill>
                  <a:srgbClr val="94A3B8"/>
                </a:solidFill>
                <a:latin typeface="Quattrocento Sans"/>
                <a:ea typeface="Quattrocento Sans"/>
                <a:cs typeface="Quattrocento Sans"/>
                <a:sym typeface="Quattrocento Sans"/>
              </a:rPr>
              <a:t>◔</a:t>
            </a:r>
            <a:endParaRPr b="0" i="0" sz="844" u="none" cap="none" strike="noStrike">
              <a:solidFill>
                <a:schemeClr val="dk1"/>
              </a:solidFill>
              <a:latin typeface="Calibri"/>
              <a:ea typeface="Calibri"/>
              <a:cs typeface="Calibri"/>
              <a:sym typeface="Calibri"/>
            </a:endParaRPr>
          </a:p>
        </p:txBody>
      </p:sp>
      <p:sp>
        <p:nvSpPr>
          <p:cNvPr id="1528" name="Google Shape;1528;p56"/>
          <p:cNvSpPr/>
          <p:nvPr/>
        </p:nvSpPr>
        <p:spPr>
          <a:xfrm>
            <a:off x="457200" y="1023677"/>
            <a:ext cx="8229600" cy="216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4A3B8"/>
              </a:buClr>
              <a:buSzPts val="1125"/>
              <a:buFont typeface="Carlito"/>
              <a:buNone/>
            </a:pPr>
            <a:r>
              <a:rPr b="0" i="0" lang="en-US" sz="1125" u="none" cap="none" strike="noStrike">
                <a:solidFill>
                  <a:srgbClr val="94A3B8"/>
                </a:solidFill>
                <a:latin typeface="Carlito"/>
                <a:ea typeface="Carlito"/>
                <a:cs typeface="Carlito"/>
                <a:sym typeface="Carlito"/>
              </a:rPr>
              <a:t>Three real ecosystem issues — exactly the kind of friction you'll hit doing this yourself.</a:t>
            </a:r>
            <a:endParaRPr b="0" i="0" sz="1125" u="none" cap="none" strike="noStrike">
              <a:solidFill>
                <a:schemeClr val="dk1"/>
              </a:solidFill>
              <a:latin typeface="Calibri"/>
              <a:ea typeface="Calibri"/>
              <a:cs typeface="Calibri"/>
              <a:sym typeface="Calibri"/>
            </a:endParaRPr>
          </a:p>
        </p:txBody>
      </p:sp>
      <p:grpSp>
        <p:nvGrpSpPr>
          <p:cNvPr id="1529" name="Google Shape;1529;p56"/>
          <p:cNvGrpSpPr/>
          <p:nvPr/>
        </p:nvGrpSpPr>
        <p:grpSpPr>
          <a:xfrm>
            <a:off x="457200" y="1333500"/>
            <a:ext cx="8229600" cy="2809800"/>
            <a:chOff x="457200" y="1333500"/>
            <a:chExt cx="8229600" cy="2809800"/>
          </a:xfrm>
        </p:grpSpPr>
        <p:sp>
          <p:nvSpPr>
            <p:cNvPr id="1530" name="Google Shape;1530;p56"/>
            <p:cNvSpPr/>
            <p:nvPr/>
          </p:nvSpPr>
          <p:spPr>
            <a:xfrm>
              <a:off x="457200" y="1333500"/>
              <a:ext cx="2590800" cy="2809800"/>
            </a:xfrm>
            <a:prstGeom prst="roundRect">
              <a:avLst>
                <a:gd fmla="val 2941"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531" name="Google Shape;1531;p56"/>
            <p:cNvCxnSpPr/>
            <p:nvPr/>
          </p:nvCxnSpPr>
          <p:spPr>
            <a:xfrm>
              <a:off x="457200" y="1333500"/>
              <a:ext cx="2590800" cy="0"/>
            </a:xfrm>
            <a:prstGeom prst="straightConnector1">
              <a:avLst/>
            </a:prstGeom>
            <a:solidFill>
              <a:srgbClr val="FFFFFF"/>
            </a:solidFill>
            <a:ln cap="flat" cmpd="sng" w="28575">
              <a:solidFill>
                <a:srgbClr val="FB923C"/>
              </a:solidFill>
              <a:prstDash val="solid"/>
              <a:round/>
              <a:headEnd len="sm" w="sm" type="none"/>
              <a:tailEnd len="sm" w="sm" type="none"/>
            </a:ln>
          </p:spPr>
        </p:cxnSp>
        <p:sp>
          <p:nvSpPr>
            <p:cNvPr id="1532" name="Google Shape;1532;p56"/>
            <p:cNvSpPr txBox="1"/>
            <p:nvPr/>
          </p:nvSpPr>
          <p:spPr>
            <a:xfrm>
              <a:off x="571500" y="1476375"/>
              <a:ext cx="2362200" cy="2524200"/>
            </a:xfrm>
            <a:prstGeom prst="rect">
              <a:avLst/>
            </a:prstGeom>
            <a:noFill/>
            <a:ln>
              <a:noFill/>
            </a:ln>
          </p:spPr>
          <p:txBody>
            <a:bodyPr anchorCtr="0" anchor="t" bIns="47625" lIns="47625" spcFirstLastPara="1" rIns="47625" wrap="square" tIns="47625">
              <a:noAutofit/>
            </a:bodyPr>
            <a:lstStyle/>
            <a:p>
              <a:pPr indent="0" lvl="0" marL="0" rtl="0" algn="l">
                <a:spcBef>
                  <a:spcPts val="0"/>
                </a:spcBef>
                <a:spcAft>
                  <a:spcPts val="0"/>
                </a:spcAft>
                <a:buNone/>
              </a:pPr>
              <a:r>
                <a:rPr b="1" lang="en-US" sz="800">
                  <a:solidFill>
                    <a:srgbClr val="FB923C"/>
                  </a:solidFill>
                  <a:latin typeface="Carlito"/>
                  <a:ea typeface="Carlito"/>
                  <a:cs typeface="Carlito"/>
                  <a:sym typeface="Carlito"/>
                </a:rPr>
                <a:t>⊗ ISSUE 01</a:t>
              </a:r>
              <a:endParaRPr b="1" sz="800">
                <a:solidFill>
                  <a:srgbClr val="FB923C"/>
                </a:solidFill>
                <a:latin typeface="Carlito"/>
                <a:ea typeface="Carlito"/>
                <a:cs typeface="Carlito"/>
                <a:sym typeface="Carlito"/>
              </a:endParaRPr>
            </a:p>
            <a:p>
              <a:pPr indent="0" lvl="0" marL="0" rtl="0" algn="l">
                <a:spcBef>
                  <a:spcPts val="900"/>
                </a:spcBef>
                <a:spcAft>
                  <a:spcPts val="0"/>
                </a:spcAft>
                <a:buNone/>
              </a:pPr>
              <a:r>
                <a:rPr b="1" lang="en-US" sz="1200">
                  <a:solidFill>
                    <a:srgbClr val="F5F1E6"/>
                  </a:solidFill>
                  <a:latin typeface="Carlito"/>
                  <a:ea typeface="Carlito"/>
                  <a:cs typeface="Carlito"/>
                  <a:sym typeface="Carlito"/>
                </a:rPr>
                <a:t>GPT-2 </a:t>
              </a:r>
              <a:r>
                <a:rPr b="1" lang="en-US" sz="1200">
                  <a:solidFill>
                    <a:srgbClr val="F0B429"/>
                  </a:solidFill>
                  <a:latin typeface="Courier New"/>
                  <a:ea typeface="Courier New"/>
                  <a:cs typeface="Courier New"/>
                  <a:sym typeface="Courier New"/>
                </a:rPr>
                <a:t>Conv1D</a:t>
              </a:r>
              <a:r>
                <a:rPr b="1" lang="en-US" sz="1200">
                  <a:solidFill>
                    <a:srgbClr val="F5F1E6"/>
                  </a:solidFill>
                  <a:latin typeface="Carlito"/>
                  <a:ea typeface="Carlito"/>
                  <a:cs typeface="Carlito"/>
                  <a:sym typeface="Carlito"/>
                </a:rPr>
                <a:t> layers break naive quantization</a:t>
              </a:r>
              <a:endParaRPr b="1" sz="1200">
                <a:solidFill>
                  <a:srgbClr val="F5F1E6"/>
                </a:solidFill>
                <a:latin typeface="Carlito"/>
                <a:ea typeface="Carlito"/>
                <a:cs typeface="Carlito"/>
                <a:sym typeface="Carlito"/>
              </a:endParaRPr>
            </a:p>
            <a:p>
              <a:pPr indent="0" lvl="0" marL="0" rtl="0" algn="l">
                <a:spcBef>
                  <a:spcPts val="900"/>
                </a:spcBef>
                <a:spcAft>
                  <a:spcPts val="0"/>
                </a:spcAft>
                <a:buNone/>
              </a:pPr>
              <a:r>
                <a:rPr lang="en-US" sz="950">
                  <a:solidFill>
                    <a:srgbClr val="94A3B8"/>
                  </a:solidFill>
                  <a:latin typeface="Carlito"/>
                  <a:ea typeface="Carlito"/>
                  <a:cs typeface="Carlito"/>
                  <a:sym typeface="Carlito"/>
                </a:rPr>
                <a:t>Fixed with a verified weight conversion step — transpose </a:t>
              </a:r>
              <a:r>
                <a:rPr lang="en-US" sz="950">
                  <a:solidFill>
                    <a:srgbClr val="F0B429"/>
                  </a:solidFill>
                  <a:latin typeface="Courier New"/>
                  <a:ea typeface="Courier New"/>
                  <a:cs typeface="Courier New"/>
                  <a:sym typeface="Courier New"/>
                </a:rPr>
                <a:t>Conv1D</a:t>
              </a:r>
              <a:r>
                <a:rPr lang="en-US" sz="950">
                  <a:solidFill>
                    <a:srgbClr val="94A3B8"/>
                  </a:solidFill>
                  <a:latin typeface="Carlito"/>
                  <a:ea typeface="Carlito"/>
                  <a:cs typeface="Carlito"/>
                  <a:sym typeface="Carlito"/>
                </a:rPr>
                <a:t> weights into </a:t>
              </a:r>
              <a:r>
                <a:rPr lang="en-US" sz="950">
                  <a:solidFill>
                    <a:srgbClr val="F0B429"/>
                  </a:solidFill>
                  <a:latin typeface="Courier New"/>
                  <a:ea typeface="Courier New"/>
                  <a:cs typeface="Courier New"/>
                  <a:sym typeface="Courier New"/>
                </a:rPr>
                <a:t>nn.Linear</a:t>
              </a:r>
              <a:r>
                <a:rPr lang="en-US" sz="950">
                  <a:solidFill>
                    <a:srgbClr val="94A3B8"/>
                  </a:solidFill>
                  <a:latin typeface="Carlito"/>
                  <a:ea typeface="Carlito"/>
                  <a:cs typeface="Carlito"/>
                  <a:sym typeface="Carlito"/>
                </a:rPr>
                <a:t> before quantizing.</a:t>
              </a:r>
              <a:endParaRPr sz="950">
                <a:solidFill>
                  <a:srgbClr val="94A3B8"/>
                </a:solidFill>
                <a:latin typeface="Carlito"/>
                <a:ea typeface="Carlito"/>
                <a:cs typeface="Carlito"/>
                <a:sym typeface="Carlito"/>
              </a:endParaRPr>
            </a:p>
            <a:p>
              <a:pPr indent="0" lvl="0" marL="0" rtl="0" algn="l">
                <a:spcBef>
                  <a:spcPts val="900"/>
                </a:spcBef>
                <a:spcAft>
                  <a:spcPts val="0"/>
                </a:spcAft>
                <a:buNone/>
              </a:pPr>
              <a:r>
                <a:rPr b="1" lang="en-US" sz="850">
                  <a:solidFill>
                    <a:srgbClr val="FB923C"/>
                  </a:solidFill>
                  <a:latin typeface="Carlito"/>
                  <a:ea typeface="Carlito"/>
                  <a:cs typeface="Carlito"/>
                  <a:sym typeface="Carlito"/>
                </a:rPr>
                <a:t>Covered in Part Five, Gotcha #1.</a:t>
              </a:r>
              <a:endParaRPr b="1" sz="850">
                <a:solidFill>
                  <a:srgbClr val="FB923C"/>
                </a:solidFill>
                <a:latin typeface="Carlito"/>
                <a:ea typeface="Carlito"/>
                <a:cs typeface="Carlito"/>
                <a:sym typeface="Carlito"/>
              </a:endParaRPr>
            </a:p>
          </p:txBody>
        </p:sp>
        <p:sp>
          <p:nvSpPr>
            <p:cNvPr id="1533" name="Google Shape;1533;p56"/>
            <p:cNvSpPr/>
            <p:nvPr/>
          </p:nvSpPr>
          <p:spPr>
            <a:xfrm>
              <a:off x="3276600" y="1333500"/>
              <a:ext cx="2590800" cy="2809800"/>
            </a:xfrm>
            <a:prstGeom prst="roundRect">
              <a:avLst>
                <a:gd fmla="val 2941"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534" name="Google Shape;1534;p56"/>
            <p:cNvCxnSpPr/>
            <p:nvPr/>
          </p:nvCxnSpPr>
          <p:spPr>
            <a:xfrm>
              <a:off x="3276600" y="1333500"/>
              <a:ext cx="2590800" cy="0"/>
            </a:xfrm>
            <a:prstGeom prst="straightConnector1">
              <a:avLst/>
            </a:prstGeom>
            <a:solidFill>
              <a:srgbClr val="FFFFFF"/>
            </a:solidFill>
            <a:ln cap="flat" cmpd="sng" w="28575">
              <a:solidFill>
                <a:srgbClr val="FB923C"/>
              </a:solidFill>
              <a:prstDash val="solid"/>
              <a:round/>
              <a:headEnd len="sm" w="sm" type="none"/>
              <a:tailEnd len="sm" w="sm" type="none"/>
            </a:ln>
          </p:spPr>
        </p:cxnSp>
        <p:sp>
          <p:nvSpPr>
            <p:cNvPr id="1535" name="Google Shape;1535;p56"/>
            <p:cNvSpPr txBox="1"/>
            <p:nvPr/>
          </p:nvSpPr>
          <p:spPr>
            <a:xfrm>
              <a:off x="3390900" y="1476375"/>
              <a:ext cx="2362200" cy="2524200"/>
            </a:xfrm>
            <a:prstGeom prst="rect">
              <a:avLst/>
            </a:prstGeom>
            <a:noFill/>
            <a:ln>
              <a:noFill/>
            </a:ln>
          </p:spPr>
          <p:txBody>
            <a:bodyPr anchorCtr="0" anchor="t" bIns="47625" lIns="47625" spcFirstLastPara="1" rIns="47625" wrap="square" tIns="47625">
              <a:noAutofit/>
            </a:bodyPr>
            <a:lstStyle/>
            <a:p>
              <a:pPr indent="0" lvl="0" marL="0" rtl="0" algn="l">
                <a:spcBef>
                  <a:spcPts val="0"/>
                </a:spcBef>
                <a:spcAft>
                  <a:spcPts val="0"/>
                </a:spcAft>
                <a:buNone/>
              </a:pPr>
              <a:r>
                <a:rPr b="1" lang="en-US" sz="800">
                  <a:solidFill>
                    <a:srgbClr val="FB923C"/>
                  </a:solidFill>
                  <a:latin typeface="Carlito"/>
                  <a:ea typeface="Carlito"/>
                  <a:cs typeface="Carlito"/>
                  <a:sym typeface="Carlito"/>
                </a:rPr>
                <a:t>⊗ ISSUE 02</a:t>
              </a:r>
              <a:endParaRPr b="1" sz="800">
                <a:solidFill>
                  <a:srgbClr val="FB923C"/>
                </a:solidFill>
                <a:latin typeface="Carlito"/>
                <a:ea typeface="Carlito"/>
                <a:cs typeface="Carlito"/>
                <a:sym typeface="Carlito"/>
              </a:endParaRPr>
            </a:p>
            <a:p>
              <a:pPr indent="0" lvl="0" marL="0" rtl="0" algn="l">
                <a:spcBef>
                  <a:spcPts val="900"/>
                </a:spcBef>
                <a:spcAft>
                  <a:spcPts val="0"/>
                </a:spcAft>
                <a:buNone/>
              </a:pPr>
              <a:r>
                <a:rPr b="1" lang="en-US" sz="1200">
                  <a:solidFill>
                    <a:srgbClr val="F0B429"/>
                  </a:solidFill>
                  <a:latin typeface="Courier New"/>
                  <a:ea typeface="Courier New"/>
                  <a:cs typeface="Courier New"/>
                  <a:sym typeface="Courier New"/>
                </a:rPr>
                <a:t>get_memory_footprint</a:t>
              </a:r>
              <a:r>
                <a:rPr b="1" lang="en-US" sz="1200">
                  <a:solidFill>
                    <a:srgbClr val="F5F1E6"/>
                  </a:solidFill>
                  <a:latin typeface="Carlito"/>
                  <a:ea typeface="Carlito"/>
                  <a:cs typeface="Carlito"/>
                  <a:sym typeface="Carlito"/>
                </a:rPr>
                <a:t> reported zero reduction</a:t>
              </a:r>
              <a:endParaRPr b="1" sz="1200">
                <a:solidFill>
                  <a:srgbClr val="F5F1E6"/>
                </a:solidFill>
                <a:latin typeface="Carlito"/>
                <a:ea typeface="Carlito"/>
                <a:cs typeface="Carlito"/>
                <a:sym typeface="Carlito"/>
              </a:endParaRPr>
            </a:p>
            <a:p>
              <a:pPr indent="0" lvl="0" marL="0" rtl="0" algn="l">
                <a:spcBef>
                  <a:spcPts val="900"/>
                </a:spcBef>
                <a:spcAft>
                  <a:spcPts val="0"/>
                </a:spcAft>
                <a:buNone/>
              </a:pPr>
              <a:r>
                <a:rPr lang="en-US" sz="950">
                  <a:solidFill>
                    <a:srgbClr val="94A3B8"/>
                  </a:solidFill>
                  <a:latin typeface="Carlito"/>
                  <a:ea typeface="Carlito"/>
                  <a:cs typeface="Carlito"/>
                  <a:sym typeface="Carlito"/>
                </a:rPr>
                <a:t>Fixed by measuring actual compressed storage tensors directly, rather than trusting high-level size-reporting methods.</a:t>
              </a:r>
              <a:endParaRPr sz="950">
                <a:solidFill>
                  <a:srgbClr val="94A3B8"/>
                </a:solidFill>
                <a:latin typeface="Carlito"/>
                <a:ea typeface="Carlito"/>
                <a:cs typeface="Carlito"/>
                <a:sym typeface="Carlito"/>
              </a:endParaRPr>
            </a:p>
            <a:p>
              <a:pPr indent="0" lvl="0" marL="0" rtl="0" algn="l">
                <a:spcBef>
                  <a:spcPts val="900"/>
                </a:spcBef>
                <a:spcAft>
                  <a:spcPts val="0"/>
                </a:spcAft>
                <a:buNone/>
              </a:pPr>
              <a:r>
                <a:rPr b="1" lang="en-US" sz="850">
                  <a:solidFill>
                    <a:srgbClr val="FB923C"/>
                  </a:solidFill>
                  <a:latin typeface="Carlito"/>
                  <a:ea typeface="Carlito"/>
                  <a:cs typeface="Carlito"/>
                  <a:sym typeface="Carlito"/>
                </a:rPr>
                <a:t>Covered in Part Five, Gotcha #2.</a:t>
              </a:r>
              <a:endParaRPr b="1" sz="850">
                <a:solidFill>
                  <a:srgbClr val="FB923C"/>
                </a:solidFill>
                <a:latin typeface="Carlito"/>
                <a:ea typeface="Carlito"/>
                <a:cs typeface="Carlito"/>
                <a:sym typeface="Carlito"/>
              </a:endParaRPr>
            </a:p>
          </p:txBody>
        </p:sp>
        <p:sp>
          <p:nvSpPr>
            <p:cNvPr id="1536" name="Google Shape;1536;p56"/>
            <p:cNvSpPr/>
            <p:nvPr/>
          </p:nvSpPr>
          <p:spPr>
            <a:xfrm>
              <a:off x="6096000" y="1333500"/>
              <a:ext cx="2590800" cy="2809800"/>
            </a:xfrm>
            <a:prstGeom prst="roundRect">
              <a:avLst>
                <a:gd fmla="val 2941"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537" name="Google Shape;1537;p56"/>
            <p:cNvCxnSpPr/>
            <p:nvPr/>
          </p:nvCxnSpPr>
          <p:spPr>
            <a:xfrm>
              <a:off x="6096000" y="1333500"/>
              <a:ext cx="2590800" cy="0"/>
            </a:xfrm>
            <a:prstGeom prst="straightConnector1">
              <a:avLst/>
            </a:prstGeom>
            <a:solidFill>
              <a:srgbClr val="FFFFFF"/>
            </a:solidFill>
            <a:ln cap="flat" cmpd="sng" w="28575">
              <a:solidFill>
                <a:srgbClr val="FB923C"/>
              </a:solidFill>
              <a:prstDash val="solid"/>
              <a:round/>
              <a:headEnd len="sm" w="sm" type="none"/>
              <a:tailEnd len="sm" w="sm" type="none"/>
            </a:ln>
          </p:spPr>
        </p:cxnSp>
        <p:sp>
          <p:nvSpPr>
            <p:cNvPr id="1538" name="Google Shape;1538;p56"/>
            <p:cNvSpPr txBox="1"/>
            <p:nvPr/>
          </p:nvSpPr>
          <p:spPr>
            <a:xfrm>
              <a:off x="6210300" y="1476375"/>
              <a:ext cx="2362200" cy="2524200"/>
            </a:xfrm>
            <a:prstGeom prst="rect">
              <a:avLst/>
            </a:prstGeom>
            <a:noFill/>
            <a:ln>
              <a:noFill/>
            </a:ln>
          </p:spPr>
          <p:txBody>
            <a:bodyPr anchorCtr="0" anchor="t" bIns="47625" lIns="47625" spcFirstLastPara="1" rIns="47625" wrap="square" tIns="47625">
              <a:noAutofit/>
            </a:bodyPr>
            <a:lstStyle/>
            <a:p>
              <a:pPr indent="0" lvl="0" marL="0" rtl="0" algn="l">
                <a:spcBef>
                  <a:spcPts val="0"/>
                </a:spcBef>
                <a:spcAft>
                  <a:spcPts val="0"/>
                </a:spcAft>
                <a:buNone/>
              </a:pPr>
              <a:r>
                <a:rPr b="1" lang="en-US" sz="800">
                  <a:solidFill>
                    <a:srgbClr val="FB923C"/>
                  </a:solidFill>
                  <a:latin typeface="Carlito"/>
                  <a:ea typeface="Carlito"/>
                  <a:cs typeface="Carlito"/>
                  <a:sym typeface="Carlito"/>
                </a:rPr>
                <a:t>⊗ ISSUE 03</a:t>
              </a:r>
              <a:endParaRPr b="1" sz="800">
                <a:solidFill>
                  <a:srgbClr val="FB923C"/>
                </a:solidFill>
                <a:latin typeface="Carlito"/>
                <a:ea typeface="Carlito"/>
                <a:cs typeface="Carlito"/>
                <a:sym typeface="Carlito"/>
              </a:endParaRPr>
            </a:p>
            <a:p>
              <a:pPr indent="0" lvl="0" marL="0" rtl="0" algn="l">
                <a:spcBef>
                  <a:spcPts val="900"/>
                </a:spcBef>
                <a:spcAft>
                  <a:spcPts val="0"/>
                </a:spcAft>
                <a:buNone/>
              </a:pPr>
              <a:r>
                <a:rPr b="1" lang="en-US" sz="1200">
                  <a:solidFill>
                    <a:srgbClr val="F5F1E6"/>
                  </a:solidFill>
                  <a:latin typeface="Carlito"/>
                  <a:ea typeface="Carlito"/>
                  <a:cs typeface="Carlito"/>
                  <a:sym typeface="Carlito"/>
                </a:rPr>
                <a:t>Dependency version check caused import error</a:t>
              </a:r>
              <a:endParaRPr b="1" sz="1200">
                <a:solidFill>
                  <a:srgbClr val="F5F1E6"/>
                </a:solidFill>
                <a:latin typeface="Carlito"/>
                <a:ea typeface="Carlito"/>
                <a:cs typeface="Carlito"/>
                <a:sym typeface="Carlito"/>
              </a:endParaRPr>
            </a:p>
            <a:p>
              <a:pPr indent="0" lvl="0" marL="0" rtl="0" algn="l">
                <a:spcBef>
                  <a:spcPts val="900"/>
                </a:spcBef>
                <a:spcAft>
                  <a:spcPts val="0"/>
                </a:spcAft>
                <a:buNone/>
              </a:pPr>
              <a:r>
                <a:rPr lang="en-US" sz="950">
                  <a:solidFill>
                    <a:srgbClr val="94A3B8"/>
                  </a:solidFill>
                  <a:latin typeface="Carlito"/>
                  <a:ea typeface="Carlito"/>
                  <a:cs typeface="Carlito"/>
                  <a:sym typeface="Carlito"/>
                </a:rPr>
                <a:t>Triggered in code not using </a:t>
              </a:r>
              <a:r>
                <a:rPr lang="en-US" sz="950">
                  <a:solidFill>
                    <a:srgbClr val="F0B429"/>
                  </a:solidFill>
                  <a:latin typeface="Courier New"/>
                  <a:ea typeface="Courier New"/>
                  <a:cs typeface="Courier New"/>
                  <a:sym typeface="Courier New"/>
                </a:rPr>
                <a:t>torchao</a:t>
              </a:r>
              <a:r>
                <a:rPr lang="en-US" sz="950">
                  <a:solidFill>
                    <a:srgbClr val="94A3B8"/>
                  </a:solidFill>
                  <a:latin typeface="Carlito"/>
                  <a:ea typeface="Carlito"/>
                  <a:cs typeface="Carlito"/>
                  <a:sym typeface="Carlito"/>
                </a:rPr>
                <a:t>. Fixed by installing correct </a:t>
              </a:r>
              <a:r>
                <a:rPr lang="en-US" sz="950">
                  <a:solidFill>
                    <a:srgbClr val="F0B429"/>
                  </a:solidFill>
                  <a:latin typeface="Courier New"/>
                  <a:ea typeface="Courier New"/>
                  <a:cs typeface="Courier New"/>
                  <a:sym typeface="Courier New"/>
                </a:rPr>
                <a:t>torchao</a:t>
              </a:r>
              <a:r>
                <a:rPr lang="en-US" sz="950">
                  <a:solidFill>
                    <a:srgbClr val="94A3B8"/>
                  </a:solidFill>
                  <a:latin typeface="Carlito"/>
                  <a:ea typeface="Carlito"/>
                  <a:cs typeface="Carlito"/>
                  <a:sym typeface="Carlito"/>
                </a:rPr>
                <a:t> before importing </a:t>
              </a:r>
              <a:r>
                <a:rPr lang="en-US" sz="950">
                  <a:solidFill>
                    <a:srgbClr val="F0B429"/>
                  </a:solidFill>
                  <a:latin typeface="Courier New"/>
                  <a:ea typeface="Courier New"/>
                  <a:cs typeface="Courier New"/>
                  <a:sym typeface="Courier New"/>
                </a:rPr>
                <a:t>peft</a:t>
              </a:r>
              <a:r>
                <a:rPr lang="en-US" sz="950">
                  <a:solidFill>
                    <a:srgbClr val="94A3B8"/>
                  </a:solidFill>
                  <a:latin typeface="Carlito"/>
                  <a:ea typeface="Carlito"/>
                  <a:cs typeface="Carlito"/>
                  <a:sym typeface="Carlito"/>
                </a:rPr>
                <a:t>.</a:t>
              </a:r>
              <a:endParaRPr sz="950">
                <a:solidFill>
                  <a:srgbClr val="94A3B8"/>
                </a:solidFill>
                <a:latin typeface="Carlito"/>
                <a:ea typeface="Carlito"/>
                <a:cs typeface="Carlito"/>
                <a:sym typeface="Carlito"/>
              </a:endParaRPr>
            </a:p>
            <a:p>
              <a:pPr indent="0" lvl="0" marL="0" rtl="0" algn="l">
                <a:spcBef>
                  <a:spcPts val="900"/>
                </a:spcBef>
                <a:spcAft>
                  <a:spcPts val="0"/>
                </a:spcAft>
                <a:buNone/>
              </a:pPr>
              <a:r>
                <a:rPr b="1" lang="en-US" sz="850">
                  <a:solidFill>
                    <a:srgbClr val="FB923C"/>
                  </a:solidFill>
                  <a:latin typeface="Carlito"/>
                  <a:ea typeface="Carlito"/>
                  <a:cs typeface="Carlito"/>
                  <a:sym typeface="Carlito"/>
                </a:rPr>
                <a:t>Environment Setup Issue</a:t>
              </a:r>
              <a:endParaRPr b="1" sz="850">
                <a:solidFill>
                  <a:srgbClr val="FB923C"/>
                </a:solidFill>
                <a:latin typeface="Carlito"/>
                <a:ea typeface="Carlito"/>
                <a:cs typeface="Carlito"/>
                <a:sym typeface="Carlito"/>
              </a:endParaRPr>
            </a:p>
          </p:txBody>
        </p:sp>
      </p:grpSp>
      <p:grpSp>
        <p:nvGrpSpPr>
          <p:cNvPr id="1539" name="Google Shape;1539;p56"/>
          <p:cNvGrpSpPr/>
          <p:nvPr/>
        </p:nvGrpSpPr>
        <p:grpSpPr>
          <a:xfrm>
            <a:off x="442913" y="4271963"/>
            <a:ext cx="8243888" cy="466800"/>
            <a:chOff x="442913" y="4271963"/>
            <a:chExt cx="8243888" cy="466800"/>
          </a:xfrm>
        </p:grpSpPr>
        <p:sp>
          <p:nvSpPr>
            <p:cNvPr id="1540" name="Google Shape;1540;p56"/>
            <p:cNvSpPr/>
            <p:nvPr/>
          </p:nvSpPr>
          <p:spPr>
            <a:xfrm>
              <a:off x="457200" y="4286250"/>
              <a:ext cx="8229600" cy="438300"/>
            </a:xfrm>
            <a:prstGeom prst="roundRect">
              <a:avLst>
                <a:gd fmla="val 8695"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541" name="Google Shape;1541;p56"/>
            <p:cNvPicPr preferRelativeResize="0"/>
            <p:nvPr/>
          </p:nvPicPr>
          <p:blipFill rotWithShape="1">
            <a:blip r:embed="rId3">
              <a:alphaModFix/>
            </a:blip>
            <a:srcRect b="0" l="0" r="0" t="0"/>
            <a:stretch/>
          </p:blipFill>
          <p:spPr>
            <a:xfrm>
              <a:off x="442913" y="4271963"/>
              <a:ext cx="28500" cy="466800"/>
            </a:xfrm>
            <a:prstGeom prst="rect">
              <a:avLst/>
            </a:prstGeom>
            <a:noFill/>
            <a:ln>
              <a:noFill/>
            </a:ln>
          </p:spPr>
        </p:pic>
        <p:sp>
          <p:nvSpPr>
            <p:cNvPr id="1542" name="Google Shape;1542;p56"/>
            <p:cNvSpPr txBox="1"/>
            <p:nvPr/>
          </p:nvSpPr>
          <p:spPr>
            <a:xfrm>
              <a:off x="571500" y="4286250"/>
              <a:ext cx="8001000" cy="438300"/>
            </a:xfrm>
            <a:prstGeom prst="rect">
              <a:avLst/>
            </a:prstGeom>
            <a:noFill/>
            <a:ln>
              <a:noFill/>
            </a:ln>
          </p:spPr>
          <p:txBody>
            <a:bodyPr anchorCtr="0" anchor="ctr" bIns="0" lIns="95250" spcFirstLastPara="1" rIns="0" wrap="square" tIns="0">
              <a:noAutofit/>
            </a:bodyPr>
            <a:lstStyle/>
            <a:p>
              <a:pPr indent="0" lvl="0" marL="0" rtl="0" algn="ctr">
                <a:spcBef>
                  <a:spcPts val="0"/>
                </a:spcBef>
                <a:spcAft>
                  <a:spcPts val="0"/>
                </a:spcAft>
                <a:buNone/>
              </a:pPr>
              <a:r>
                <a:rPr b="1" lang="en-US" sz="800">
                  <a:solidFill>
                    <a:srgbClr val="F0B429"/>
                  </a:solidFill>
                  <a:latin typeface="Carlito"/>
                  <a:ea typeface="Carlito"/>
                  <a:cs typeface="Carlito"/>
                  <a:sym typeface="Carlito"/>
                </a:rPr>
                <a:t>FRAMING </a:t>
              </a:r>
              <a:r>
                <a:rPr i="1" lang="en-US" sz="950">
                  <a:solidFill>
                    <a:srgbClr val="F5F1E6"/>
                  </a:solidFill>
                  <a:latin typeface="Carlito"/>
                  <a:ea typeface="Carlito"/>
                  <a:cs typeface="Carlito"/>
                  <a:sym typeface="Carlito"/>
                </a:rPr>
                <a:t>These aren't failures to hide — they're exactly the kind of </a:t>
              </a:r>
              <a:r>
                <a:rPr b="1" i="0" lang="en-US" sz="950">
                  <a:solidFill>
                    <a:srgbClr val="F0B429"/>
                  </a:solidFill>
                  <a:latin typeface="Carlito"/>
                  <a:ea typeface="Carlito"/>
                  <a:cs typeface="Carlito"/>
                  <a:sym typeface="Carlito"/>
                </a:rPr>
                <a:t>real, current ecosystem friction</a:t>
              </a:r>
              <a:r>
                <a:rPr i="1" lang="en-US" sz="950">
                  <a:solidFill>
                    <a:srgbClr val="F5F1E6"/>
                  </a:solidFill>
                  <a:latin typeface="Carlito"/>
                  <a:ea typeface="Carlito"/>
                  <a:cs typeface="Carlito"/>
                  <a:sym typeface="Carlito"/>
                </a:rPr>
                <a:t> you'll hit doing this yourself, and now you know what to look for.</a:t>
              </a:r>
              <a:endParaRPr>
                <a:latin typeface="Carlito"/>
                <a:ea typeface="Carlito"/>
                <a:cs typeface="Carlito"/>
                <a:sym typeface="Carlito"/>
              </a:endParaRPr>
            </a:p>
          </p:txBody>
        </p:sp>
      </p:grpSp>
      <p:sp>
        <p:nvSpPr>
          <p:cNvPr id="1543" name="Google Shape;1543;p56"/>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544" name="Google Shape;1544;p56"/>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54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549" name="Shape 1549"/>
        <p:cNvGrpSpPr/>
        <p:nvPr/>
      </p:nvGrpSpPr>
      <p:grpSpPr>
        <a:xfrm>
          <a:off x="0" y="0"/>
          <a:ext cx="0" cy="0"/>
          <a:chOff x="0" y="0"/>
          <a:chExt cx="0" cy="0"/>
        </a:xfrm>
      </p:grpSpPr>
      <p:sp>
        <p:nvSpPr>
          <p:cNvPr id="1550" name="Google Shape;1550;p57"/>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08 · TAKEAWAYS</a:t>
            </a:r>
            <a:endParaRPr b="0" i="0" sz="800" u="none" cap="none" strike="noStrike">
              <a:solidFill>
                <a:schemeClr val="dk1"/>
              </a:solidFill>
              <a:latin typeface="Calibri"/>
              <a:ea typeface="Calibri"/>
              <a:cs typeface="Calibri"/>
              <a:sym typeface="Calibri"/>
            </a:endParaRPr>
          </a:p>
        </p:txBody>
      </p:sp>
      <p:sp>
        <p:nvSpPr>
          <p:cNvPr id="1551" name="Google Shape;1551;p57"/>
          <p:cNvSpPr/>
          <p:nvPr/>
        </p:nvSpPr>
        <p:spPr>
          <a:xfrm>
            <a:off x="457200" y="603647"/>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The Three Big Ideas From Today</a:t>
            </a:r>
            <a:endParaRPr b="0" i="0" sz="2250" u="none" cap="none" strike="noStrike">
              <a:solidFill>
                <a:schemeClr val="dk1"/>
              </a:solidFill>
              <a:latin typeface="Calibri"/>
              <a:ea typeface="Calibri"/>
              <a:cs typeface="Calibri"/>
              <a:sym typeface="Calibri"/>
            </a:endParaRPr>
          </a:p>
        </p:txBody>
      </p:sp>
      <p:sp>
        <p:nvSpPr>
          <p:cNvPr id="1552" name="Google Shape;1552;p57"/>
          <p:cNvSpPr/>
          <p:nvPr/>
        </p:nvSpPr>
        <p:spPr>
          <a:xfrm>
            <a:off x="457200" y="989409"/>
            <a:ext cx="8229600" cy="216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4A3B8"/>
              </a:buClr>
              <a:buSzPts val="1125"/>
              <a:buFont typeface="Carlito"/>
              <a:buNone/>
            </a:pPr>
            <a:r>
              <a:rPr b="0" i="0" lang="en-US" sz="1125" u="none" cap="none" strike="noStrike">
                <a:solidFill>
                  <a:srgbClr val="94A3B8"/>
                </a:solidFill>
                <a:latin typeface="Carlito"/>
                <a:ea typeface="Carlito"/>
                <a:cs typeface="Carlito"/>
                <a:sym typeface="Carlito"/>
              </a:rPr>
              <a:t>If you remember three things from this session, remember these.</a:t>
            </a:r>
            <a:endParaRPr b="0" i="0" sz="1125" u="none" cap="none" strike="noStrike">
              <a:solidFill>
                <a:schemeClr val="dk1"/>
              </a:solidFill>
              <a:latin typeface="Calibri"/>
              <a:ea typeface="Calibri"/>
              <a:cs typeface="Calibri"/>
              <a:sym typeface="Calibri"/>
            </a:endParaRPr>
          </a:p>
        </p:txBody>
      </p:sp>
      <p:grpSp>
        <p:nvGrpSpPr>
          <p:cNvPr id="1553" name="Google Shape;1553;p57"/>
          <p:cNvGrpSpPr/>
          <p:nvPr/>
        </p:nvGrpSpPr>
        <p:grpSpPr>
          <a:xfrm>
            <a:off x="457200" y="1381125"/>
            <a:ext cx="2648100" cy="3381300"/>
            <a:chOff x="457200" y="1381125"/>
            <a:chExt cx="2648100" cy="3381300"/>
          </a:xfrm>
        </p:grpSpPr>
        <p:sp>
          <p:nvSpPr>
            <p:cNvPr id="1554" name="Google Shape;1554;p57"/>
            <p:cNvSpPr/>
            <p:nvPr/>
          </p:nvSpPr>
          <p:spPr>
            <a:xfrm>
              <a:off x="457200" y="1381125"/>
              <a:ext cx="2648100" cy="3381300"/>
            </a:xfrm>
            <a:prstGeom prst="roundRect">
              <a:avLst>
                <a:gd fmla="val 2877" name="adj"/>
              </a:avLst>
            </a:prstGeom>
            <a:solidFill>
              <a:srgbClr val="1423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5" name="Google Shape;1555;p57"/>
            <p:cNvSpPr/>
            <p:nvPr/>
          </p:nvSpPr>
          <p:spPr>
            <a:xfrm>
              <a:off x="457200" y="1381125"/>
              <a:ext cx="26481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6" name="Google Shape;1556;p57"/>
            <p:cNvSpPr/>
            <p:nvPr/>
          </p:nvSpPr>
          <p:spPr>
            <a:xfrm>
              <a:off x="609600" y="1571625"/>
              <a:ext cx="800100" cy="209700"/>
            </a:xfrm>
            <a:prstGeom prst="roundRect">
              <a:avLst>
                <a:gd fmla="val 13636" name="adj"/>
              </a:avLst>
            </a:prstGeom>
            <a:solidFill>
              <a:srgbClr val="F0B429">
                <a:alpha val="12000"/>
              </a:srgbClr>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7" name="Google Shape;1557;p57"/>
            <p:cNvSpPr txBox="1"/>
            <p:nvPr/>
          </p:nvSpPr>
          <p:spPr>
            <a:xfrm>
              <a:off x="609600" y="1571625"/>
              <a:ext cx="8001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0B429"/>
                  </a:solidFill>
                  <a:latin typeface="Arial"/>
                  <a:ea typeface="Arial"/>
                  <a:cs typeface="Arial"/>
                  <a:sym typeface="Arial"/>
                </a:rPr>
                <a:t>BIG IDEA 01</a:t>
              </a:r>
              <a:endParaRPr b="1" sz="800">
                <a:solidFill>
                  <a:srgbClr val="F0B429"/>
                </a:solidFill>
                <a:latin typeface="Arial"/>
                <a:ea typeface="Arial"/>
                <a:cs typeface="Arial"/>
                <a:sym typeface="Arial"/>
              </a:endParaRPr>
            </a:p>
          </p:txBody>
        </p:sp>
        <p:sp>
          <p:nvSpPr>
            <p:cNvPr id="1558" name="Google Shape;1558;p57"/>
            <p:cNvSpPr txBox="1"/>
            <p:nvPr/>
          </p:nvSpPr>
          <p:spPr>
            <a:xfrm>
              <a:off x="2762250" y="1571625"/>
              <a:ext cx="1905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295">
                  <a:solidFill>
                    <a:srgbClr val="F0B429"/>
                  </a:solidFill>
                  <a:latin typeface="Quattrocento Sans"/>
                  <a:ea typeface="Quattrocento Sans"/>
                  <a:cs typeface="Quattrocento Sans"/>
                  <a:sym typeface="Quattrocento Sans"/>
                </a:rPr>
                <a:t>▿</a:t>
              </a:r>
              <a:endParaRPr sz="1295">
                <a:solidFill>
                  <a:srgbClr val="F0B429"/>
                </a:solidFill>
                <a:latin typeface="Quattrocento Sans"/>
                <a:ea typeface="Quattrocento Sans"/>
                <a:cs typeface="Quattrocento Sans"/>
                <a:sym typeface="Quattrocento Sans"/>
              </a:endParaRPr>
            </a:p>
          </p:txBody>
        </p:sp>
        <p:sp>
          <p:nvSpPr>
            <p:cNvPr id="1559" name="Google Shape;1559;p57"/>
            <p:cNvSpPr txBox="1"/>
            <p:nvPr/>
          </p:nvSpPr>
          <p:spPr>
            <a:xfrm>
              <a:off x="609600" y="1905000"/>
              <a:ext cx="23433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F0B429"/>
                  </a:solidFill>
                  <a:latin typeface="Carlito"/>
                  <a:ea typeface="Carlito"/>
                  <a:cs typeface="Carlito"/>
                  <a:sym typeface="Carlito"/>
                </a:rPr>
                <a:t>Train Less,</a:t>
              </a:r>
              <a:br>
                <a:rPr b="1" lang="en-US" sz="1600">
                  <a:solidFill>
                    <a:srgbClr val="F0B429"/>
                  </a:solidFill>
                  <a:latin typeface="Carlito"/>
                  <a:ea typeface="Carlito"/>
                  <a:cs typeface="Carlito"/>
                  <a:sym typeface="Carlito"/>
                </a:rPr>
              </a:br>
              <a:r>
                <a:rPr b="1" lang="en-US" sz="1600">
                  <a:solidFill>
                    <a:srgbClr val="F0B429"/>
                  </a:solidFill>
                  <a:latin typeface="Carlito"/>
                  <a:ea typeface="Carlito"/>
                  <a:cs typeface="Carlito"/>
                  <a:sym typeface="Carlito"/>
                </a:rPr>
                <a:t>Not From Scratch</a:t>
              </a:r>
              <a:endParaRPr b="1" sz="1600">
                <a:solidFill>
                  <a:srgbClr val="F0B429"/>
                </a:solidFill>
                <a:latin typeface="Carlito"/>
                <a:ea typeface="Carlito"/>
                <a:cs typeface="Carlito"/>
                <a:sym typeface="Carlito"/>
              </a:endParaRPr>
            </a:p>
            <a:p>
              <a:pPr indent="0" lvl="0" marL="0" rtl="0" algn="l">
                <a:spcBef>
                  <a:spcPts val="900"/>
                </a:spcBef>
                <a:spcAft>
                  <a:spcPts val="0"/>
                </a:spcAft>
                <a:buNone/>
              </a:pPr>
              <a:r>
                <a:rPr b="1" lang="en-US" sz="1050">
                  <a:solidFill>
                    <a:srgbClr val="F0B429"/>
                  </a:solidFill>
                  <a:latin typeface="Carlito"/>
                  <a:ea typeface="Carlito"/>
                  <a:cs typeface="Carlito"/>
                  <a:sym typeface="Carlito"/>
                </a:rPr>
                <a:t>PEFT</a:t>
              </a:r>
              <a:r>
                <a:rPr b="0" lang="en-US" sz="1050">
                  <a:solidFill>
                    <a:srgbClr val="F5F1E6"/>
                  </a:solidFill>
                  <a:latin typeface="Carlito"/>
                  <a:ea typeface="Carlito"/>
                  <a:cs typeface="Carlito"/>
                  <a:sym typeface="Carlito"/>
                </a:rPr>
                <a:t> and </a:t>
              </a:r>
              <a:r>
                <a:rPr b="1" lang="en-US" sz="1050">
                  <a:solidFill>
                    <a:srgbClr val="F0B429"/>
                  </a:solidFill>
                  <a:latin typeface="Carlito"/>
                  <a:ea typeface="Carlito"/>
                  <a:cs typeface="Carlito"/>
                  <a:sym typeface="Carlito"/>
                </a:rPr>
                <a:t>LoRA</a:t>
              </a:r>
              <a:r>
                <a:rPr b="0" lang="en-US" sz="1050">
                  <a:solidFill>
                    <a:srgbClr val="F5F1E6"/>
                  </a:solidFill>
                  <a:latin typeface="Carlito"/>
                  <a:ea typeface="Carlito"/>
                  <a:cs typeface="Carlito"/>
                  <a:sym typeface="Carlito"/>
                </a:rPr>
                <a:t> freeze a capable pretrained model and adapt it with a small number of new parameters — democratizing fine-tuning beyond large compute budgets.</a:t>
              </a:r>
              <a:endParaRPr b="0" sz="1050">
                <a:solidFill>
                  <a:srgbClr val="F5F1E6"/>
                </a:solidFill>
                <a:latin typeface="Carlito"/>
                <a:ea typeface="Carlito"/>
                <a:cs typeface="Carlito"/>
                <a:sym typeface="Carlito"/>
              </a:endParaRPr>
            </a:p>
          </p:txBody>
        </p:sp>
        <p:cxnSp>
          <p:nvCxnSpPr>
            <p:cNvPr id="1560" name="Google Shape;1560;p57"/>
            <p:cNvCxnSpPr/>
            <p:nvPr/>
          </p:nvCxnSpPr>
          <p:spPr>
            <a:xfrm>
              <a:off x="609600" y="3981450"/>
              <a:ext cx="2343300" cy="0"/>
            </a:xfrm>
            <a:prstGeom prst="straightConnector1">
              <a:avLst/>
            </a:prstGeom>
            <a:solidFill>
              <a:srgbClr val="FFFFFF"/>
            </a:solidFill>
            <a:ln cap="flat" cmpd="sng" w="9525">
              <a:solidFill>
                <a:srgbClr val="2A3B52"/>
              </a:solidFill>
              <a:prstDash val="solid"/>
              <a:round/>
              <a:headEnd len="sm" w="sm" type="none"/>
              <a:tailEnd len="sm" w="sm" type="none"/>
            </a:ln>
          </p:spPr>
        </p:cxnSp>
        <p:sp>
          <p:nvSpPr>
            <p:cNvPr id="1561" name="Google Shape;1561;p57"/>
            <p:cNvSpPr txBox="1"/>
            <p:nvPr/>
          </p:nvSpPr>
          <p:spPr>
            <a:xfrm>
              <a:off x="609600" y="4076700"/>
              <a:ext cx="23433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750">
                  <a:solidFill>
                    <a:srgbClr val="F0B429"/>
                  </a:solidFill>
                  <a:latin typeface="Carlito"/>
                  <a:ea typeface="Carlito"/>
                  <a:cs typeface="Carlito"/>
                  <a:sym typeface="Carlito"/>
                </a:rPr>
                <a:t>TODAY'S DEMO</a:t>
              </a:r>
              <a:endParaRPr b="1" sz="750">
                <a:solidFill>
                  <a:srgbClr val="F0B429"/>
                </a:solidFill>
                <a:latin typeface="Carlito"/>
                <a:ea typeface="Carlito"/>
                <a:cs typeface="Carlito"/>
                <a:sym typeface="Carlito"/>
              </a:endParaRPr>
            </a:p>
            <a:p>
              <a:pPr indent="0" lvl="0" marL="0" rtl="0" algn="l">
                <a:spcBef>
                  <a:spcPts val="450"/>
                </a:spcBef>
                <a:spcAft>
                  <a:spcPts val="0"/>
                </a:spcAft>
                <a:buNone/>
              </a:pPr>
              <a:r>
                <a:rPr b="1" lang="en-US" sz="850">
                  <a:solidFill>
                    <a:srgbClr val="F0B429"/>
                  </a:solidFill>
                  <a:latin typeface="Carlito"/>
                  <a:ea typeface="Carlito"/>
                  <a:cs typeface="Carlito"/>
                  <a:sym typeface="Carlito"/>
                </a:rPr>
                <a:t>0.24%</a:t>
              </a:r>
              <a:r>
                <a:rPr b="0" lang="en-US" sz="1000">
                  <a:solidFill>
                    <a:srgbClr val="94A3B8"/>
                  </a:solidFill>
                  <a:latin typeface="Carlito"/>
                  <a:ea typeface="Carlito"/>
                  <a:cs typeface="Carlito"/>
                  <a:sym typeface="Carlito"/>
                </a:rPr>
                <a:t> of parameters trained, full task adaptation achieved.</a:t>
              </a:r>
              <a:endParaRPr b="0" sz="1000">
                <a:solidFill>
                  <a:srgbClr val="94A3B8"/>
                </a:solidFill>
                <a:latin typeface="Carlito"/>
                <a:ea typeface="Carlito"/>
                <a:cs typeface="Carlito"/>
                <a:sym typeface="Carlito"/>
              </a:endParaRPr>
            </a:p>
          </p:txBody>
        </p:sp>
      </p:grpSp>
      <p:grpSp>
        <p:nvGrpSpPr>
          <p:cNvPr id="1562" name="Google Shape;1562;p57"/>
          <p:cNvGrpSpPr/>
          <p:nvPr/>
        </p:nvGrpSpPr>
        <p:grpSpPr>
          <a:xfrm>
            <a:off x="3248025" y="1381125"/>
            <a:ext cx="2648100" cy="3381300"/>
            <a:chOff x="3248025" y="1381125"/>
            <a:chExt cx="2648100" cy="3381300"/>
          </a:xfrm>
        </p:grpSpPr>
        <p:sp>
          <p:nvSpPr>
            <p:cNvPr id="1563" name="Google Shape;1563;p57"/>
            <p:cNvSpPr/>
            <p:nvPr/>
          </p:nvSpPr>
          <p:spPr>
            <a:xfrm>
              <a:off x="3248025" y="1381125"/>
              <a:ext cx="2648100" cy="3381300"/>
            </a:xfrm>
            <a:prstGeom prst="roundRect">
              <a:avLst>
                <a:gd fmla="val 2877" name="adj"/>
              </a:avLst>
            </a:prstGeom>
            <a:solidFill>
              <a:srgbClr val="1423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4" name="Google Shape;1564;p57"/>
            <p:cNvSpPr/>
            <p:nvPr/>
          </p:nvSpPr>
          <p:spPr>
            <a:xfrm>
              <a:off x="3248025" y="1381125"/>
              <a:ext cx="26481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5" name="Google Shape;1565;p57"/>
            <p:cNvSpPr/>
            <p:nvPr/>
          </p:nvSpPr>
          <p:spPr>
            <a:xfrm>
              <a:off x="3400425" y="1571625"/>
              <a:ext cx="800100" cy="209700"/>
            </a:xfrm>
            <a:prstGeom prst="roundRect">
              <a:avLst>
                <a:gd fmla="val 13636" name="adj"/>
              </a:avLst>
            </a:prstGeom>
            <a:solidFill>
              <a:srgbClr val="F0B429">
                <a:alpha val="12000"/>
              </a:srgbClr>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6" name="Google Shape;1566;p57"/>
            <p:cNvSpPr txBox="1"/>
            <p:nvPr/>
          </p:nvSpPr>
          <p:spPr>
            <a:xfrm>
              <a:off x="3400425" y="1571625"/>
              <a:ext cx="8001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0B429"/>
                  </a:solidFill>
                  <a:latin typeface="Arial"/>
                  <a:ea typeface="Arial"/>
                  <a:cs typeface="Arial"/>
                  <a:sym typeface="Arial"/>
                </a:rPr>
                <a:t>BIG IDEA 02</a:t>
              </a:r>
              <a:endParaRPr b="1" sz="800">
                <a:solidFill>
                  <a:srgbClr val="F0B429"/>
                </a:solidFill>
                <a:latin typeface="Arial"/>
                <a:ea typeface="Arial"/>
                <a:cs typeface="Arial"/>
                <a:sym typeface="Arial"/>
              </a:endParaRPr>
            </a:p>
          </p:txBody>
        </p:sp>
        <p:sp>
          <p:nvSpPr>
            <p:cNvPr id="1567" name="Google Shape;1567;p57"/>
            <p:cNvSpPr txBox="1"/>
            <p:nvPr/>
          </p:nvSpPr>
          <p:spPr>
            <a:xfrm>
              <a:off x="5553075" y="1571625"/>
              <a:ext cx="1905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295">
                  <a:solidFill>
                    <a:srgbClr val="F0B429"/>
                  </a:solidFill>
                  <a:latin typeface="Quattrocento Sans"/>
                  <a:ea typeface="Quattrocento Sans"/>
                  <a:cs typeface="Quattrocento Sans"/>
                  <a:sym typeface="Quattrocento Sans"/>
                </a:rPr>
                <a:t>✦</a:t>
              </a:r>
              <a:endParaRPr sz="1295">
                <a:solidFill>
                  <a:srgbClr val="F0B429"/>
                </a:solidFill>
                <a:latin typeface="Quattrocento Sans"/>
                <a:ea typeface="Quattrocento Sans"/>
                <a:cs typeface="Quattrocento Sans"/>
                <a:sym typeface="Quattrocento Sans"/>
              </a:endParaRPr>
            </a:p>
          </p:txBody>
        </p:sp>
        <p:sp>
          <p:nvSpPr>
            <p:cNvPr id="1568" name="Google Shape;1568;p57"/>
            <p:cNvSpPr txBox="1"/>
            <p:nvPr/>
          </p:nvSpPr>
          <p:spPr>
            <a:xfrm>
              <a:off x="3400425" y="1905000"/>
              <a:ext cx="23433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F0B429"/>
                  </a:solidFill>
                  <a:latin typeface="Carlito"/>
                  <a:ea typeface="Carlito"/>
                  <a:cs typeface="Carlito"/>
                  <a:sym typeface="Carlito"/>
                </a:rPr>
                <a:t>Store and Compute</a:t>
              </a:r>
              <a:br>
                <a:rPr b="1" lang="en-US" sz="1600">
                  <a:solidFill>
                    <a:srgbClr val="F0B429"/>
                  </a:solidFill>
                  <a:latin typeface="Carlito"/>
                  <a:ea typeface="Carlito"/>
                  <a:cs typeface="Carlito"/>
                  <a:sym typeface="Carlito"/>
                </a:rPr>
              </a:br>
              <a:r>
                <a:rPr b="1" lang="en-US" sz="1600">
                  <a:solidFill>
                    <a:srgbClr val="F0B429"/>
                  </a:solidFill>
                  <a:latin typeface="Carlito"/>
                  <a:ea typeface="Carlito"/>
                  <a:cs typeface="Carlito"/>
                  <a:sym typeface="Carlito"/>
                </a:rPr>
                <a:t>Smaller, Carefully</a:t>
              </a:r>
              <a:endParaRPr b="1" sz="1600">
                <a:solidFill>
                  <a:srgbClr val="F0B429"/>
                </a:solidFill>
                <a:latin typeface="Carlito"/>
                <a:ea typeface="Carlito"/>
                <a:cs typeface="Carlito"/>
                <a:sym typeface="Carlito"/>
              </a:endParaRPr>
            </a:p>
            <a:p>
              <a:pPr indent="0" lvl="0" marL="0" rtl="0" algn="l">
                <a:spcBef>
                  <a:spcPts val="900"/>
                </a:spcBef>
                <a:spcAft>
                  <a:spcPts val="0"/>
                </a:spcAft>
                <a:buNone/>
              </a:pPr>
              <a:r>
                <a:rPr b="0" lang="en-US" sz="1050">
                  <a:solidFill>
                    <a:srgbClr val="F5F1E6"/>
                  </a:solidFill>
                  <a:latin typeface="Carlito"/>
                  <a:ea typeface="Carlito"/>
                  <a:cs typeface="Carlito"/>
                  <a:sym typeface="Carlito"/>
                </a:rPr>
                <a:t>Precision formats and quantization reduce bytes and operations per parameter, with real trade-offs that must be measured, not assumed.</a:t>
              </a:r>
              <a:endParaRPr b="0" sz="1050">
                <a:solidFill>
                  <a:srgbClr val="F5F1E6"/>
                </a:solidFill>
                <a:latin typeface="Carlito"/>
                <a:ea typeface="Carlito"/>
                <a:cs typeface="Carlito"/>
                <a:sym typeface="Carlito"/>
              </a:endParaRPr>
            </a:p>
          </p:txBody>
        </p:sp>
        <p:cxnSp>
          <p:nvCxnSpPr>
            <p:cNvPr id="1569" name="Google Shape;1569;p57"/>
            <p:cNvCxnSpPr/>
            <p:nvPr/>
          </p:nvCxnSpPr>
          <p:spPr>
            <a:xfrm>
              <a:off x="3400425" y="3981450"/>
              <a:ext cx="2343300" cy="0"/>
            </a:xfrm>
            <a:prstGeom prst="straightConnector1">
              <a:avLst/>
            </a:prstGeom>
            <a:solidFill>
              <a:srgbClr val="FFFFFF"/>
            </a:solidFill>
            <a:ln cap="flat" cmpd="sng" w="9525">
              <a:solidFill>
                <a:srgbClr val="2A3B52"/>
              </a:solidFill>
              <a:prstDash val="solid"/>
              <a:round/>
              <a:headEnd len="sm" w="sm" type="none"/>
              <a:tailEnd len="sm" w="sm" type="none"/>
            </a:ln>
          </p:spPr>
        </p:cxnSp>
        <p:sp>
          <p:nvSpPr>
            <p:cNvPr id="1570" name="Google Shape;1570;p57"/>
            <p:cNvSpPr txBox="1"/>
            <p:nvPr/>
          </p:nvSpPr>
          <p:spPr>
            <a:xfrm>
              <a:off x="3400425" y="4076700"/>
              <a:ext cx="23433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750">
                  <a:solidFill>
                    <a:srgbClr val="F0B429"/>
                  </a:solidFill>
                  <a:latin typeface="Carlito"/>
                  <a:ea typeface="Carlito"/>
                  <a:cs typeface="Carlito"/>
                  <a:sym typeface="Carlito"/>
                </a:rPr>
                <a:t>TODAY'S DEMO</a:t>
              </a:r>
              <a:endParaRPr b="1" sz="750">
                <a:solidFill>
                  <a:srgbClr val="F0B429"/>
                </a:solidFill>
                <a:latin typeface="Carlito"/>
                <a:ea typeface="Carlito"/>
                <a:cs typeface="Carlito"/>
                <a:sym typeface="Carlito"/>
              </a:endParaRPr>
            </a:p>
            <a:p>
              <a:pPr indent="0" lvl="0" marL="0" rtl="0" algn="l">
                <a:spcBef>
                  <a:spcPts val="450"/>
                </a:spcBef>
                <a:spcAft>
                  <a:spcPts val="0"/>
                </a:spcAft>
                <a:buNone/>
              </a:pPr>
              <a:r>
                <a:rPr b="1" lang="en-US" sz="850">
                  <a:solidFill>
                    <a:srgbClr val="F0B429"/>
                  </a:solidFill>
                  <a:latin typeface="Carlito"/>
                  <a:ea typeface="Carlito"/>
                  <a:cs typeface="Carlito"/>
                  <a:sym typeface="Carlito"/>
                </a:rPr>
                <a:t>43%</a:t>
              </a:r>
              <a:r>
                <a:rPr b="0" lang="en-US" sz="1000">
                  <a:solidFill>
                    <a:srgbClr val="94A3B8"/>
                  </a:solidFill>
                  <a:latin typeface="Carlito"/>
                  <a:ea typeface="Carlito"/>
                  <a:cs typeface="Carlito"/>
                  <a:sym typeface="Carlito"/>
                </a:rPr>
                <a:t> size reduction — but </a:t>
              </a:r>
              <a:r>
                <a:rPr b="1" lang="en-US" sz="850">
                  <a:solidFill>
                    <a:srgbClr val="F0B429"/>
                  </a:solidFill>
                  <a:latin typeface="Carlito"/>
                  <a:ea typeface="Carlito"/>
                  <a:cs typeface="Carlito"/>
                  <a:sym typeface="Carlito"/>
                </a:rPr>
                <a:t>3×</a:t>
              </a:r>
              <a:r>
                <a:rPr b="0" lang="en-US" sz="1000">
                  <a:solidFill>
                    <a:srgbClr val="94A3B8"/>
                  </a:solidFill>
                  <a:latin typeface="Carlito"/>
                  <a:ea typeface="Carlito"/>
                  <a:cs typeface="Carlito"/>
                  <a:sym typeface="Carlito"/>
                </a:rPr>
                <a:t> slower inference, a real trade-off.</a:t>
              </a:r>
              <a:endParaRPr b="0" sz="1000">
                <a:solidFill>
                  <a:srgbClr val="94A3B8"/>
                </a:solidFill>
                <a:latin typeface="Carlito"/>
                <a:ea typeface="Carlito"/>
                <a:cs typeface="Carlito"/>
                <a:sym typeface="Carlito"/>
              </a:endParaRPr>
            </a:p>
          </p:txBody>
        </p:sp>
      </p:grpSp>
      <p:grpSp>
        <p:nvGrpSpPr>
          <p:cNvPr id="1571" name="Google Shape;1571;p57"/>
          <p:cNvGrpSpPr/>
          <p:nvPr/>
        </p:nvGrpSpPr>
        <p:grpSpPr>
          <a:xfrm>
            <a:off x="6038850" y="1381125"/>
            <a:ext cx="2648100" cy="3381300"/>
            <a:chOff x="6038850" y="1381125"/>
            <a:chExt cx="2648100" cy="3381300"/>
          </a:xfrm>
        </p:grpSpPr>
        <p:sp>
          <p:nvSpPr>
            <p:cNvPr id="1572" name="Google Shape;1572;p57"/>
            <p:cNvSpPr/>
            <p:nvPr/>
          </p:nvSpPr>
          <p:spPr>
            <a:xfrm>
              <a:off x="6038850" y="1381125"/>
              <a:ext cx="2648100" cy="3381300"/>
            </a:xfrm>
            <a:prstGeom prst="roundRect">
              <a:avLst>
                <a:gd fmla="val 2877" name="adj"/>
              </a:avLst>
            </a:prstGeom>
            <a:solidFill>
              <a:srgbClr val="1423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3" name="Google Shape;1573;p57"/>
            <p:cNvSpPr/>
            <p:nvPr/>
          </p:nvSpPr>
          <p:spPr>
            <a:xfrm>
              <a:off x="6038850" y="1381125"/>
              <a:ext cx="26481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4" name="Google Shape;1574;p57"/>
            <p:cNvSpPr/>
            <p:nvPr/>
          </p:nvSpPr>
          <p:spPr>
            <a:xfrm>
              <a:off x="6191250" y="1571625"/>
              <a:ext cx="800100" cy="209700"/>
            </a:xfrm>
            <a:prstGeom prst="roundRect">
              <a:avLst>
                <a:gd fmla="val 13636" name="adj"/>
              </a:avLst>
            </a:prstGeom>
            <a:solidFill>
              <a:srgbClr val="F0B429">
                <a:alpha val="12000"/>
              </a:srgbClr>
            </a:solidFill>
            <a:ln cap="flat" cmpd="sng" w="9525">
              <a:solidFill>
                <a:srgbClr val="F0B42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5" name="Google Shape;1575;p57"/>
            <p:cNvSpPr txBox="1"/>
            <p:nvPr/>
          </p:nvSpPr>
          <p:spPr>
            <a:xfrm>
              <a:off x="6191250" y="1571625"/>
              <a:ext cx="8001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0B429"/>
                  </a:solidFill>
                  <a:latin typeface="Arial"/>
                  <a:ea typeface="Arial"/>
                  <a:cs typeface="Arial"/>
                  <a:sym typeface="Arial"/>
                </a:rPr>
                <a:t>BIG IDEA 03</a:t>
              </a:r>
              <a:endParaRPr b="1" sz="800">
                <a:solidFill>
                  <a:srgbClr val="F0B429"/>
                </a:solidFill>
                <a:latin typeface="Arial"/>
                <a:ea typeface="Arial"/>
                <a:cs typeface="Arial"/>
                <a:sym typeface="Arial"/>
              </a:endParaRPr>
            </a:p>
          </p:txBody>
        </p:sp>
        <p:sp>
          <p:nvSpPr>
            <p:cNvPr id="1576" name="Google Shape;1576;p57"/>
            <p:cNvSpPr txBox="1"/>
            <p:nvPr/>
          </p:nvSpPr>
          <p:spPr>
            <a:xfrm>
              <a:off x="8343900" y="1571625"/>
              <a:ext cx="1905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295">
                  <a:solidFill>
                    <a:srgbClr val="F0B429"/>
                  </a:solidFill>
                  <a:latin typeface="Quattrocento Sans"/>
                  <a:ea typeface="Quattrocento Sans"/>
                  <a:cs typeface="Quattrocento Sans"/>
                  <a:sym typeface="Quattrocento Sans"/>
                </a:rPr>
                <a:t>➤</a:t>
              </a:r>
              <a:endParaRPr sz="1295">
                <a:solidFill>
                  <a:srgbClr val="F0B429"/>
                </a:solidFill>
                <a:latin typeface="Quattrocento Sans"/>
                <a:ea typeface="Quattrocento Sans"/>
                <a:cs typeface="Quattrocento Sans"/>
                <a:sym typeface="Quattrocento Sans"/>
              </a:endParaRPr>
            </a:p>
          </p:txBody>
        </p:sp>
        <p:sp>
          <p:nvSpPr>
            <p:cNvPr id="1577" name="Google Shape;1577;p57"/>
            <p:cNvSpPr txBox="1"/>
            <p:nvPr/>
          </p:nvSpPr>
          <p:spPr>
            <a:xfrm>
              <a:off x="6191250" y="1905000"/>
              <a:ext cx="23433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F0B429"/>
                  </a:solidFill>
                  <a:latin typeface="Carlito"/>
                  <a:ea typeface="Carlito"/>
                  <a:cs typeface="Carlito"/>
                  <a:sym typeface="Carlito"/>
                </a:rPr>
                <a:t>Deploy Portably</a:t>
              </a:r>
              <a:br>
                <a:rPr b="1" lang="en-US" sz="1600">
                  <a:solidFill>
                    <a:srgbClr val="F0B429"/>
                  </a:solidFill>
                  <a:latin typeface="Carlito"/>
                  <a:ea typeface="Carlito"/>
                  <a:cs typeface="Carlito"/>
                  <a:sym typeface="Carlito"/>
                </a:rPr>
              </a:br>
              <a:r>
                <a:rPr b="1" lang="en-US" sz="1600">
                  <a:solidFill>
                    <a:srgbClr val="F0B429"/>
                  </a:solidFill>
                  <a:latin typeface="Carlito"/>
                  <a:ea typeface="Carlito"/>
                  <a:cs typeface="Carlito"/>
                  <a:sym typeface="Carlito"/>
                </a:rPr>
                <a:t>and Fast</a:t>
              </a:r>
              <a:endParaRPr b="1" sz="1600">
                <a:solidFill>
                  <a:srgbClr val="F0B429"/>
                </a:solidFill>
                <a:latin typeface="Carlito"/>
                <a:ea typeface="Carlito"/>
                <a:cs typeface="Carlito"/>
                <a:sym typeface="Carlito"/>
              </a:endParaRPr>
            </a:p>
            <a:p>
              <a:pPr indent="0" lvl="0" marL="0" rtl="0" algn="l">
                <a:spcBef>
                  <a:spcPts val="900"/>
                </a:spcBef>
                <a:spcAft>
                  <a:spcPts val="0"/>
                </a:spcAft>
                <a:buNone/>
              </a:pPr>
              <a:r>
                <a:rPr b="1" lang="en-US" sz="1050">
                  <a:solidFill>
                    <a:srgbClr val="F0B429"/>
                  </a:solidFill>
                  <a:latin typeface="Carlito"/>
                  <a:ea typeface="Carlito"/>
                  <a:cs typeface="Carlito"/>
                  <a:sym typeface="Carlito"/>
                </a:rPr>
                <a:t>ONNX</a:t>
              </a:r>
              <a:r>
                <a:rPr b="0" lang="en-US" sz="1050">
                  <a:solidFill>
                    <a:srgbClr val="F5F1E6"/>
                  </a:solidFill>
                  <a:latin typeface="Carlito"/>
                  <a:ea typeface="Carlito"/>
                  <a:cs typeface="Carlito"/>
                  <a:sym typeface="Carlito"/>
                </a:rPr>
                <a:t> decouples a trained model from its training framework, enabling optimized inference across diverse real-world deployment targets.</a:t>
              </a:r>
              <a:endParaRPr b="0" sz="1050">
                <a:solidFill>
                  <a:srgbClr val="F5F1E6"/>
                </a:solidFill>
                <a:latin typeface="Carlito"/>
                <a:ea typeface="Carlito"/>
                <a:cs typeface="Carlito"/>
                <a:sym typeface="Carlito"/>
              </a:endParaRPr>
            </a:p>
          </p:txBody>
        </p:sp>
        <p:cxnSp>
          <p:nvCxnSpPr>
            <p:cNvPr id="1578" name="Google Shape;1578;p57"/>
            <p:cNvCxnSpPr/>
            <p:nvPr/>
          </p:nvCxnSpPr>
          <p:spPr>
            <a:xfrm>
              <a:off x="6191250" y="3981450"/>
              <a:ext cx="2343300" cy="0"/>
            </a:xfrm>
            <a:prstGeom prst="straightConnector1">
              <a:avLst/>
            </a:prstGeom>
            <a:solidFill>
              <a:srgbClr val="FFFFFF"/>
            </a:solidFill>
            <a:ln cap="flat" cmpd="sng" w="9525">
              <a:solidFill>
                <a:srgbClr val="2A3B52"/>
              </a:solidFill>
              <a:prstDash val="solid"/>
              <a:round/>
              <a:headEnd len="sm" w="sm" type="none"/>
              <a:tailEnd len="sm" w="sm" type="none"/>
            </a:ln>
          </p:spPr>
        </p:cxnSp>
        <p:sp>
          <p:nvSpPr>
            <p:cNvPr id="1579" name="Google Shape;1579;p57"/>
            <p:cNvSpPr txBox="1"/>
            <p:nvPr/>
          </p:nvSpPr>
          <p:spPr>
            <a:xfrm>
              <a:off x="6191250" y="4076700"/>
              <a:ext cx="23433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750">
                  <a:solidFill>
                    <a:srgbClr val="F0B429"/>
                  </a:solidFill>
                  <a:latin typeface="Carlito"/>
                  <a:ea typeface="Carlito"/>
                  <a:cs typeface="Carlito"/>
                  <a:sym typeface="Carlito"/>
                </a:rPr>
                <a:t>TODAY'S DEMO</a:t>
              </a:r>
              <a:endParaRPr b="1" sz="750">
                <a:solidFill>
                  <a:srgbClr val="F0B429"/>
                </a:solidFill>
                <a:latin typeface="Carlito"/>
                <a:ea typeface="Carlito"/>
                <a:cs typeface="Carlito"/>
                <a:sym typeface="Carlito"/>
              </a:endParaRPr>
            </a:p>
            <a:p>
              <a:pPr indent="0" lvl="0" marL="0" rtl="0" algn="l">
                <a:spcBef>
                  <a:spcPts val="450"/>
                </a:spcBef>
                <a:spcAft>
                  <a:spcPts val="0"/>
                </a:spcAft>
                <a:buNone/>
              </a:pPr>
              <a:r>
                <a:rPr b="1" lang="en-US" sz="850">
                  <a:solidFill>
                    <a:srgbClr val="F0B429"/>
                  </a:solidFill>
                  <a:latin typeface="Carlito"/>
                  <a:ea typeface="Carlito"/>
                  <a:cs typeface="Carlito"/>
                  <a:sym typeface="Carlito"/>
                </a:rPr>
                <a:t>ONNX Runtime</a:t>
              </a:r>
              <a:r>
                <a:rPr b="0" lang="en-US" sz="1000">
                  <a:solidFill>
                    <a:srgbClr val="94A3B8"/>
                  </a:solidFill>
                  <a:latin typeface="Carlito"/>
                  <a:ea typeface="Carlito"/>
                  <a:cs typeface="Carlito"/>
                  <a:sym typeface="Carlito"/>
                </a:rPr>
                <a:t> was the fastest version tested, with no size change.</a:t>
              </a:r>
              <a:endParaRPr b="0" sz="1000">
                <a:solidFill>
                  <a:srgbClr val="94A3B8"/>
                </a:solidFill>
                <a:latin typeface="Carlito"/>
                <a:ea typeface="Carlito"/>
                <a:cs typeface="Carlito"/>
                <a:sym typeface="Carlito"/>
              </a:endParaRPr>
            </a:p>
          </p:txBody>
        </p:sp>
      </p:grpSp>
      <p:sp>
        <p:nvSpPr>
          <p:cNvPr id="1580" name="Google Shape;1580;p57"/>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581" name="Google Shape;1581;p57"/>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55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586" name="Shape 1586"/>
        <p:cNvGrpSpPr/>
        <p:nvPr/>
      </p:nvGrpSpPr>
      <p:grpSpPr>
        <a:xfrm>
          <a:off x="0" y="0"/>
          <a:ext cx="0" cy="0"/>
          <a:chOff x="0" y="0"/>
          <a:chExt cx="0" cy="0"/>
        </a:xfrm>
      </p:grpSpPr>
      <p:sp>
        <p:nvSpPr>
          <p:cNvPr id="1587" name="Google Shape;1587;p58"/>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08 · TAKEAWAYS</a:t>
            </a:r>
            <a:endParaRPr b="0" i="0" sz="800" u="none" cap="none" strike="noStrike">
              <a:solidFill>
                <a:schemeClr val="dk1"/>
              </a:solidFill>
              <a:latin typeface="Calibri"/>
              <a:ea typeface="Calibri"/>
              <a:cs typeface="Calibri"/>
              <a:sym typeface="Calibri"/>
            </a:endParaRPr>
          </a:p>
        </p:txBody>
      </p:sp>
      <p:sp>
        <p:nvSpPr>
          <p:cNvPr id="1588" name="Google Shape;1588;p58"/>
          <p:cNvSpPr/>
          <p:nvPr/>
        </p:nvSpPr>
        <p:spPr>
          <a:xfrm>
            <a:off x="457200" y="603647"/>
            <a:ext cx="86361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Mapping This Back to Your Own Research</a:t>
            </a:r>
            <a:endParaRPr b="0" i="0" sz="2250" u="none" cap="none" strike="noStrike">
              <a:solidFill>
                <a:schemeClr val="dk1"/>
              </a:solidFill>
              <a:latin typeface="Calibri"/>
              <a:ea typeface="Calibri"/>
              <a:cs typeface="Calibri"/>
              <a:sym typeface="Calibri"/>
            </a:endParaRPr>
          </a:p>
        </p:txBody>
      </p:sp>
      <p:grpSp>
        <p:nvGrpSpPr>
          <p:cNvPr id="1589" name="Google Shape;1589;p58"/>
          <p:cNvGrpSpPr/>
          <p:nvPr/>
        </p:nvGrpSpPr>
        <p:grpSpPr>
          <a:xfrm>
            <a:off x="457200" y="1095375"/>
            <a:ext cx="8229750" cy="1428900"/>
            <a:chOff x="457200" y="1095375"/>
            <a:chExt cx="8229750" cy="1428900"/>
          </a:xfrm>
        </p:grpSpPr>
        <p:sp>
          <p:nvSpPr>
            <p:cNvPr id="1590" name="Google Shape;1590;p58"/>
            <p:cNvSpPr/>
            <p:nvPr/>
          </p:nvSpPr>
          <p:spPr>
            <a:xfrm>
              <a:off x="457200" y="1095375"/>
              <a:ext cx="3981600" cy="1428900"/>
            </a:xfrm>
            <a:prstGeom prst="roundRect">
              <a:avLst>
                <a:gd fmla="val 4000" name="adj"/>
              </a:avLst>
            </a:prstGeom>
            <a:solidFill>
              <a:srgbClr val="1423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591" name="Google Shape;1591;p58"/>
            <p:cNvCxnSpPr/>
            <p:nvPr/>
          </p:nvCxnSpPr>
          <p:spPr>
            <a:xfrm>
              <a:off x="457200" y="1095375"/>
              <a:ext cx="0" cy="1428900"/>
            </a:xfrm>
            <a:prstGeom prst="straightConnector1">
              <a:avLst/>
            </a:prstGeom>
            <a:solidFill>
              <a:srgbClr val="FFFFFF"/>
            </a:solidFill>
            <a:ln cap="flat" cmpd="sng" w="28575">
              <a:solidFill>
                <a:srgbClr val="F0B429"/>
              </a:solidFill>
              <a:prstDash val="solid"/>
              <a:round/>
              <a:headEnd len="sm" w="sm" type="none"/>
              <a:tailEnd len="sm" w="sm" type="none"/>
            </a:ln>
          </p:spPr>
        </p:cxnSp>
        <p:sp>
          <p:nvSpPr>
            <p:cNvPr id="1592" name="Google Shape;1592;p58"/>
            <p:cNvSpPr txBox="1"/>
            <p:nvPr/>
          </p:nvSpPr>
          <p:spPr>
            <a:xfrm>
              <a:off x="609600" y="1209675"/>
              <a:ext cx="3676800" cy="1200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750">
                  <a:solidFill>
                    <a:srgbClr val="F0B429"/>
                  </a:solidFill>
                  <a:latin typeface="Courier New"/>
                  <a:ea typeface="Courier New"/>
                  <a:cs typeface="Courier New"/>
                  <a:sym typeface="Courier New"/>
                </a:rPr>
                <a:t>¶ 01 — TECHNIQUES THAT APPLY DIRECTLY</a:t>
              </a:r>
              <a:endParaRPr b="1" sz="750">
                <a:solidFill>
                  <a:srgbClr val="F0B429"/>
                </a:solidFill>
                <a:latin typeface="Courier New"/>
                <a:ea typeface="Courier New"/>
                <a:cs typeface="Courier New"/>
                <a:sym typeface="Courier New"/>
              </a:endParaRPr>
            </a:p>
            <a:p>
              <a:pPr indent="0" lvl="0" marL="0" rtl="0" algn="l">
                <a:spcBef>
                  <a:spcPts val="600"/>
                </a:spcBef>
                <a:spcAft>
                  <a:spcPts val="0"/>
                </a:spcAft>
                <a:buNone/>
              </a:pPr>
              <a:r>
                <a:rPr lang="en-US" sz="1050">
                  <a:solidFill>
                    <a:srgbClr val="F5F1E6"/>
                  </a:solidFill>
                  <a:latin typeface="Carlito"/>
                  <a:ea typeface="Carlito"/>
                  <a:cs typeface="Carlito"/>
                  <a:sym typeface="Carlito"/>
                </a:rPr>
                <a:t>If you're working with any pretrained model — vision, language, or otherwise — and compute or deployment resources are a constraint, every technique covered today applies directly: </a:t>
              </a:r>
              <a:r>
                <a:rPr b="1" lang="en-US" sz="1050">
                  <a:solidFill>
                    <a:srgbClr val="F0B429"/>
                  </a:solidFill>
                  <a:latin typeface="Courier New"/>
                  <a:ea typeface="Courier New"/>
                  <a:cs typeface="Courier New"/>
                  <a:sym typeface="Courier New"/>
                </a:rPr>
                <a:t>LoRA</a:t>
              </a:r>
              <a:r>
                <a:rPr lang="en-US" sz="1050">
                  <a:solidFill>
                    <a:srgbClr val="F5F1E6"/>
                  </a:solidFill>
                  <a:latin typeface="Carlito"/>
                  <a:ea typeface="Carlito"/>
                  <a:cs typeface="Carlito"/>
                  <a:sym typeface="Carlito"/>
                </a:rPr>
                <a:t> for efficient adaptation, quantization for a smaller footprint measured correctly, </a:t>
              </a:r>
              <a:r>
                <a:rPr b="1" lang="en-US" sz="1050">
                  <a:solidFill>
                    <a:srgbClr val="F0B429"/>
                  </a:solidFill>
                  <a:latin typeface="Courier New"/>
                  <a:ea typeface="Courier New"/>
                  <a:cs typeface="Courier New"/>
                  <a:sym typeface="Courier New"/>
                </a:rPr>
                <a:t>ONNX</a:t>
              </a:r>
              <a:r>
                <a:rPr lang="en-US" sz="1050">
                  <a:solidFill>
                    <a:srgbClr val="F5F1E6"/>
                  </a:solidFill>
                  <a:latin typeface="Carlito"/>
                  <a:ea typeface="Carlito"/>
                  <a:cs typeface="Carlito"/>
                  <a:sym typeface="Carlito"/>
                </a:rPr>
                <a:t> for portable deployment.</a:t>
              </a:r>
              <a:endParaRPr sz="1050">
                <a:solidFill>
                  <a:srgbClr val="F5F1E6"/>
                </a:solidFill>
                <a:latin typeface="Carlito"/>
                <a:ea typeface="Carlito"/>
                <a:cs typeface="Carlito"/>
                <a:sym typeface="Carlito"/>
              </a:endParaRPr>
            </a:p>
          </p:txBody>
        </p:sp>
        <p:sp>
          <p:nvSpPr>
            <p:cNvPr id="1593" name="Google Shape;1593;p58"/>
            <p:cNvSpPr/>
            <p:nvPr/>
          </p:nvSpPr>
          <p:spPr>
            <a:xfrm>
              <a:off x="4705350" y="1095375"/>
              <a:ext cx="3981600" cy="1428900"/>
            </a:xfrm>
            <a:prstGeom prst="roundRect">
              <a:avLst>
                <a:gd fmla="val 4000" name="adj"/>
              </a:avLst>
            </a:prstGeom>
            <a:solidFill>
              <a:srgbClr val="1423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594" name="Google Shape;1594;p58"/>
            <p:cNvCxnSpPr/>
            <p:nvPr/>
          </p:nvCxnSpPr>
          <p:spPr>
            <a:xfrm>
              <a:off x="4705350" y="1095375"/>
              <a:ext cx="0" cy="1428900"/>
            </a:xfrm>
            <a:prstGeom prst="straightConnector1">
              <a:avLst/>
            </a:prstGeom>
            <a:solidFill>
              <a:srgbClr val="FFFFFF"/>
            </a:solidFill>
            <a:ln cap="flat" cmpd="sng" w="28575">
              <a:solidFill>
                <a:srgbClr val="94A3B8"/>
              </a:solidFill>
              <a:prstDash val="solid"/>
              <a:round/>
              <a:headEnd len="sm" w="sm" type="none"/>
              <a:tailEnd len="sm" w="sm" type="none"/>
            </a:ln>
          </p:spPr>
        </p:cxnSp>
        <p:sp>
          <p:nvSpPr>
            <p:cNvPr id="1595" name="Google Shape;1595;p58"/>
            <p:cNvSpPr txBox="1"/>
            <p:nvPr/>
          </p:nvSpPr>
          <p:spPr>
            <a:xfrm>
              <a:off x="4857750" y="1209675"/>
              <a:ext cx="3676800" cy="1200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750">
                  <a:solidFill>
                    <a:srgbClr val="94A3B8"/>
                  </a:solidFill>
                  <a:latin typeface="Courier New"/>
                  <a:ea typeface="Courier New"/>
                  <a:cs typeface="Courier New"/>
                  <a:sym typeface="Courier New"/>
                </a:rPr>
                <a:t>¶ 02 — BRING IT TO THE OPEN DISCUSSION</a:t>
              </a:r>
              <a:endParaRPr b="1" sz="750">
                <a:solidFill>
                  <a:srgbClr val="94A3B8"/>
                </a:solidFill>
                <a:latin typeface="Courier New"/>
                <a:ea typeface="Courier New"/>
                <a:cs typeface="Courier New"/>
                <a:sym typeface="Courier New"/>
              </a:endParaRPr>
            </a:p>
            <a:p>
              <a:pPr indent="0" lvl="0" marL="0" rtl="0" algn="l">
                <a:spcBef>
                  <a:spcPts val="600"/>
                </a:spcBef>
                <a:spcAft>
                  <a:spcPts val="0"/>
                </a:spcAft>
                <a:buNone/>
              </a:pPr>
              <a:r>
                <a:rPr lang="en-US" sz="1050">
                  <a:solidFill>
                    <a:srgbClr val="F5F1E6"/>
                  </a:solidFill>
                  <a:latin typeface="Carlito"/>
                  <a:ea typeface="Carlito"/>
                  <a:cs typeface="Carlito"/>
                  <a:sym typeface="Carlito"/>
                </a:rPr>
                <a:t>The open discussion that follows is a chance to connect these techniques to constraints already present in your own work — a specific model you'd like to fine-tune, a deployment target you need to hit, or a compute budget you need to fit within.</a:t>
              </a:r>
              <a:endParaRPr sz="1050">
                <a:solidFill>
                  <a:srgbClr val="F5F1E6"/>
                </a:solidFill>
                <a:latin typeface="Carlito"/>
                <a:ea typeface="Carlito"/>
                <a:cs typeface="Carlito"/>
                <a:sym typeface="Carlito"/>
              </a:endParaRPr>
            </a:p>
          </p:txBody>
        </p:sp>
      </p:grpSp>
      <p:sp>
        <p:nvSpPr>
          <p:cNvPr id="1596" name="Google Shape;1596;p58"/>
          <p:cNvSpPr txBox="1"/>
          <p:nvPr/>
        </p:nvSpPr>
        <p:spPr>
          <a:xfrm>
            <a:off x="457200" y="2714625"/>
            <a:ext cx="82296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94A3B8"/>
                </a:solidFill>
                <a:latin typeface="Carlito"/>
                <a:ea typeface="Carlito"/>
                <a:cs typeface="Carlito"/>
                <a:sym typeface="Carlito"/>
              </a:rPr>
              <a:t>WHERE THE TECHNIQUES APPLY</a:t>
            </a:r>
            <a:endParaRPr b="1" sz="900">
              <a:solidFill>
                <a:srgbClr val="94A3B8"/>
              </a:solidFill>
              <a:latin typeface="Carlito"/>
              <a:ea typeface="Carlito"/>
              <a:cs typeface="Carlito"/>
              <a:sym typeface="Carlito"/>
            </a:endParaRPr>
          </a:p>
        </p:txBody>
      </p:sp>
      <p:grpSp>
        <p:nvGrpSpPr>
          <p:cNvPr id="1597" name="Google Shape;1597;p58"/>
          <p:cNvGrpSpPr/>
          <p:nvPr/>
        </p:nvGrpSpPr>
        <p:grpSpPr>
          <a:xfrm>
            <a:off x="457200" y="3000375"/>
            <a:ext cx="8229600" cy="1476300"/>
            <a:chOff x="457200" y="3000375"/>
            <a:chExt cx="8229600" cy="1476300"/>
          </a:xfrm>
        </p:grpSpPr>
        <p:sp>
          <p:nvSpPr>
            <p:cNvPr id="1598" name="Google Shape;1598;p58"/>
            <p:cNvSpPr/>
            <p:nvPr/>
          </p:nvSpPr>
          <p:spPr>
            <a:xfrm>
              <a:off x="457200" y="3000375"/>
              <a:ext cx="2590800" cy="1476300"/>
            </a:xfrm>
            <a:prstGeom prst="roundRect">
              <a:avLst>
                <a:gd fmla="val 3870" name="adj"/>
              </a:avLst>
            </a:prstGeom>
            <a:solidFill>
              <a:srgbClr val="1423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9" name="Google Shape;1599;p58"/>
            <p:cNvSpPr/>
            <p:nvPr/>
          </p:nvSpPr>
          <p:spPr>
            <a:xfrm>
              <a:off x="457200" y="3000375"/>
              <a:ext cx="2590800" cy="285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0" name="Google Shape;1600;p58"/>
            <p:cNvSpPr txBox="1"/>
            <p:nvPr/>
          </p:nvSpPr>
          <p:spPr>
            <a:xfrm>
              <a:off x="609600" y="3143250"/>
              <a:ext cx="22860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VISION MODELS </a:t>
              </a:r>
              <a:r>
                <a:rPr lang="en-US" sz="1200">
                  <a:solidFill>
                    <a:srgbClr val="F0B429"/>
                  </a:solidFill>
                  <a:latin typeface="Quattrocento Sans"/>
                  <a:ea typeface="Quattrocento Sans"/>
                  <a:cs typeface="Quattrocento Sans"/>
                  <a:sym typeface="Quattrocento Sans"/>
                </a:rPr>
                <a:t>◉</a:t>
              </a:r>
              <a:endParaRPr/>
            </a:p>
            <a:p>
              <a:pPr indent="0" lvl="0" marL="0" rtl="0" algn="l">
                <a:spcBef>
                  <a:spcPts val="900"/>
                </a:spcBef>
                <a:spcAft>
                  <a:spcPts val="0"/>
                </a:spcAft>
                <a:buNone/>
              </a:pPr>
              <a:r>
                <a:rPr b="1" lang="en-US" sz="1000">
                  <a:solidFill>
                    <a:srgbClr val="F0B429"/>
                  </a:solidFill>
                  <a:latin typeface="Courier New"/>
                  <a:ea typeface="Courier New"/>
                  <a:cs typeface="Courier New"/>
                  <a:sym typeface="Courier New"/>
                </a:rPr>
                <a:t>LoRA</a:t>
              </a:r>
              <a:r>
                <a:rPr b="0" lang="en-US" sz="1000">
                  <a:solidFill>
                    <a:srgbClr val="94A3B8"/>
                  </a:solidFill>
                  <a:latin typeface="Carlito"/>
                  <a:ea typeface="Carlito"/>
                  <a:cs typeface="Carlito"/>
                  <a:sym typeface="Carlito"/>
                </a:rPr>
                <a:t> fine-tune </a:t>
              </a:r>
              <a:r>
                <a:rPr b="1" lang="en-US" sz="1000">
                  <a:solidFill>
                    <a:srgbClr val="F0B429"/>
                  </a:solidFill>
                  <a:latin typeface="Courier New"/>
                  <a:ea typeface="Courier New"/>
                  <a:cs typeface="Courier New"/>
                  <a:sym typeface="Courier New"/>
                </a:rPr>
                <a:t>CLIP</a:t>
              </a:r>
              <a:r>
                <a:rPr b="0" lang="en-US" sz="1000">
                  <a:solidFill>
                    <a:srgbClr val="94A3B8"/>
                  </a:solidFill>
                  <a:latin typeface="Carlito"/>
                  <a:ea typeface="Carlito"/>
                  <a:cs typeface="Carlito"/>
                  <a:sym typeface="Carlito"/>
                </a:rPr>
                <a:t> / </a:t>
              </a:r>
              <a:r>
                <a:rPr b="1" lang="en-US" sz="1000">
                  <a:solidFill>
                    <a:srgbClr val="F0B429"/>
                  </a:solidFill>
                  <a:latin typeface="Courier New"/>
                  <a:ea typeface="Courier New"/>
                  <a:cs typeface="Courier New"/>
                  <a:sym typeface="Courier New"/>
                </a:rPr>
                <a:t>ViT</a:t>
              </a:r>
              <a:r>
                <a:rPr b="0" lang="en-US" sz="1000">
                  <a:solidFill>
                    <a:srgbClr val="94A3B8"/>
                  </a:solidFill>
                  <a:latin typeface="Carlito"/>
                  <a:ea typeface="Carlito"/>
                  <a:cs typeface="Carlito"/>
                  <a:sym typeface="Carlito"/>
                </a:rPr>
                <a:t> · quantize for edge deployment</a:t>
              </a:r>
              <a:endParaRPr b="0" sz="1000">
                <a:solidFill>
                  <a:srgbClr val="94A3B8"/>
                </a:solidFill>
                <a:latin typeface="Carlito"/>
                <a:ea typeface="Carlito"/>
                <a:cs typeface="Carlito"/>
                <a:sym typeface="Carlito"/>
              </a:endParaRPr>
            </a:p>
          </p:txBody>
        </p:sp>
        <p:sp>
          <p:nvSpPr>
            <p:cNvPr id="1601" name="Google Shape;1601;p58"/>
            <p:cNvSpPr/>
            <p:nvPr/>
          </p:nvSpPr>
          <p:spPr>
            <a:xfrm>
              <a:off x="3276600" y="3000375"/>
              <a:ext cx="2590800" cy="1476300"/>
            </a:xfrm>
            <a:prstGeom prst="roundRect">
              <a:avLst>
                <a:gd fmla="val 3870" name="adj"/>
              </a:avLst>
            </a:prstGeom>
            <a:solidFill>
              <a:srgbClr val="1423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2" name="Google Shape;1602;p58"/>
            <p:cNvSpPr/>
            <p:nvPr/>
          </p:nvSpPr>
          <p:spPr>
            <a:xfrm>
              <a:off x="3276600" y="3000375"/>
              <a:ext cx="2590800" cy="285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3" name="Google Shape;1603;p58"/>
            <p:cNvSpPr txBox="1"/>
            <p:nvPr/>
          </p:nvSpPr>
          <p:spPr>
            <a:xfrm>
              <a:off x="3429000" y="3143250"/>
              <a:ext cx="22860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LANGUAGE MODELS </a:t>
              </a:r>
              <a:r>
                <a:rPr lang="en-US" sz="1200">
                  <a:solidFill>
                    <a:srgbClr val="F0B429"/>
                  </a:solidFill>
                  <a:latin typeface="Quattrocento Sans"/>
                  <a:ea typeface="Quattrocento Sans"/>
                  <a:cs typeface="Quattrocento Sans"/>
                  <a:sym typeface="Quattrocento Sans"/>
                </a:rPr>
                <a:t>◌</a:t>
              </a:r>
              <a:endParaRPr/>
            </a:p>
            <a:p>
              <a:pPr indent="0" lvl="0" marL="0" rtl="0" algn="l">
                <a:spcBef>
                  <a:spcPts val="900"/>
                </a:spcBef>
                <a:spcAft>
                  <a:spcPts val="0"/>
                </a:spcAft>
                <a:buNone/>
              </a:pPr>
              <a:r>
                <a:rPr b="1" lang="en-US" sz="1000">
                  <a:solidFill>
                    <a:srgbClr val="F0B429"/>
                  </a:solidFill>
                  <a:latin typeface="Courier New"/>
                  <a:ea typeface="Courier New"/>
                  <a:cs typeface="Courier New"/>
                  <a:sym typeface="Courier New"/>
                </a:rPr>
                <a:t>LoRA</a:t>
              </a:r>
              <a:r>
                <a:rPr b="0" lang="en-US" sz="1000">
                  <a:solidFill>
                    <a:srgbClr val="94A3B8"/>
                  </a:solidFill>
                  <a:latin typeface="Carlito"/>
                  <a:ea typeface="Carlito"/>
                  <a:cs typeface="Carlito"/>
                  <a:sym typeface="Carlito"/>
                </a:rPr>
                <a:t> fine-tune </a:t>
              </a:r>
              <a:r>
                <a:rPr b="1" lang="en-US" sz="1000">
                  <a:solidFill>
                    <a:srgbClr val="F0B429"/>
                  </a:solidFill>
                  <a:latin typeface="Courier New"/>
                  <a:ea typeface="Courier New"/>
                  <a:cs typeface="Courier New"/>
                  <a:sym typeface="Courier New"/>
                </a:rPr>
                <a:t>LLMs</a:t>
              </a:r>
              <a:r>
                <a:rPr b="0" lang="en-US" sz="1000">
                  <a:solidFill>
                    <a:srgbClr val="94A3B8"/>
                  </a:solidFill>
                  <a:latin typeface="Carlito"/>
                  <a:ea typeface="Carlito"/>
                  <a:cs typeface="Carlito"/>
                  <a:sym typeface="Carlito"/>
                </a:rPr>
                <a:t> · </a:t>
              </a:r>
              <a:r>
                <a:rPr b="1" lang="en-US" sz="1000">
                  <a:solidFill>
                    <a:srgbClr val="F0B429"/>
                  </a:solidFill>
                  <a:latin typeface="Courier New"/>
                  <a:ea typeface="Courier New"/>
                  <a:cs typeface="Courier New"/>
                  <a:sym typeface="Courier New"/>
                </a:rPr>
                <a:t>INT8</a:t>
              </a:r>
              <a:r>
                <a:rPr b="0" lang="en-US" sz="1000">
                  <a:solidFill>
                    <a:srgbClr val="94A3B8"/>
                  </a:solidFill>
                  <a:latin typeface="Carlito"/>
                  <a:ea typeface="Carlito"/>
                  <a:cs typeface="Carlito"/>
                  <a:sym typeface="Carlito"/>
                </a:rPr>
                <a:t>/4-bit for inference · </a:t>
              </a:r>
              <a:r>
                <a:rPr b="1" lang="en-US" sz="1000">
                  <a:solidFill>
                    <a:srgbClr val="F0B429"/>
                  </a:solidFill>
                  <a:latin typeface="Courier New"/>
                  <a:ea typeface="Courier New"/>
                  <a:cs typeface="Courier New"/>
                  <a:sym typeface="Courier New"/>
                </a:rPr>
                <a:t>ONNX</a:t>
              </a:r>
              <a:r>
                <a:rPr b="0" lang="en-US" sz="1000">
                  <a:solidFill>
                    <a:srgbClr val="94A3B8"/>
                  </a:solidFill>
                  <a:latin typeface="Carlito"/>
                  <a:ea typeface="Carlito"/>
                  <a:cs typeface="Carlito"/>
                  <a:sym typeface="Carlito"/>
                </a:rPr>
                <a:t> for serving</a:t>
              </a:r>
              <a:endParaRPr b="0" sz="1000">
                <a:solidFill>
                  <a:srgbClr val="94A3B8"/>
                </a:solidFill>
                <a:latin typeface="Carlito"/>
                <a:ea typeface="Carlito"/>
                <a:cs typeface="Carlito"/>
                <a:sym typeface="Carlito"/>
              </a:endParaRPr>
            </a:p>
          </p:txBody>
        </p:sp>
        <p:sp>
          <p:nvSpPr>
            <p:cNvPr id="1604" name="Google Shape;1604;p58"/>
            <p:cNvSpPr/>
            <p:nvPr/>
          </p:nvSpPr>
          <p:spPr>
            <a:xfrm>
              <a:off x="6096000" y="3000375"/>
              <a:ext cx="2590800" cy="1476300"/>
            </a:xfrm>
            <a:prstGeom prst="roundRect">
              <a:avLst>
                <a:gd fmla="val 3870" name="adj"/>
              </a:avLst>
            </a:prstGeom>
            <a:solidFill>
              <a:srgbClr val="1423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5" name="Google Shape;1605;p58"/>
            <p:cNvSpPr/>
            <p:nvPr/>
          </p:nvSpPr>
          <p:spPr>
            <a:xfrm>
              <a:off x="6096000" y="3000375"/>
              <a:ext cx="2590800" cy="285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6" name="Google Shape;1606;p58"/>
            <p:cNvSpPr txBox="1"/>
            <p:nvPr/>
          </p:nvSpPr>
          <p:spPr>
            <a:xfrm>
              <a:off x="6248400" y="3143250"/>
              <a:ext cx="22860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0B429"/>
                  </a:solidFill>
                  <a:latin typeface="Carlito"/>
                  <a:ea typeface="Carlito"/>
                  <a:cs typeface="Carlito"/>
                  <a:sym typeface="Carlito"/>
                </a:rPr>
                <a:t>SPEECH / AUDIO </a:t>
              </a:r>
              <a:r>
                <a:rPr lang="en-US" sz="1200">
                  <a:solidFill>
                    <a:srgbClr val="F0B429"/>
                  </a:solidFill>
                  <a:latin typeface="Quattrocento Sans"/>
                  <a:ea typeface="Quattrocento Sans"/>
                  <a:cs typeface="Quattrocento Sans"/>
                  <a:sym typeface="Quattrocento Sans"/>
                </a:rPr>
                <a:t>▦</a:t>
              </a:r>
              <a:endParaRPr/>
            </a:p>
            <a:p>
              <a:pPr indent="0" lvl="0" marL="0" rtl="0" algn="l">
                <a:spcBef>
                  <a:spcPts val="900"/>
                </a:spcBef>
                <a:spcAft>
                  <a:spcPts val="0"/>
                </a:spcAft>
                <a:buNone/>
              </a:pPr>
              <a:r>
                <a:rPr b="1" lang="en-US" sz="1000">
                  <a:solidFill>
                    <a:srgbClr val="F0B429"/>
                  </a:solidFill>
                  <a:latin typeface="Courier New"/>
                  <a:ea typeface="Courier New"/>
                  <a:cs typeface="Courier New"/>
                  <a:sym typeface="Courier New"/>
                </a:rPr>
                <a:t>LoRA</a:t>
              </a:r>
              <a:r>
                <a:rPr b="0" lang="en-US" sz="1000">
                  <a:solidFill>
                    <a:srgbClr val="94A3B8"/>
                  </a:solidFill>
                  <a:latin typeface="Carlito"/>
                  <a:ea typeface="Carlito"/>
                  <a:cs typeface="Carlito"/>
                  <a:sym typeface="Carlito"/>
                </a:rPr>
                <a:t> </a:t>
              </a:r>
              <a:r>
                <a:rPr b="1" lang="en-US" sz="1000">
                  <a:solidFill>
                    <a:srgbClr val="F0B429"/>
                  </a:solidFill>
                  <a:latin typeface="Courier New"/>
                  <a:ea typeface="Courier New"/>
                  <a:cs typeface="Courier New"/>
                  <a:sym typeface="Courier New"/>
                </a:rPr>
                <a:t>Whisper</a:t>
              </a:r>
              <a:r>
                <a:rPr b="0" lang="en-US" sz="1000">
                  <a:solidFill>
                    <a:srgbClr val="94A3B8"/>
                  </a:solidFill>
                  <a:latin typeface="Carlito"/>
                  <a:ea typeface="Carlito"/>
                  <a:cs typeface="Carlito"/>
                  <a:sym typeface="Carlito"/>
                </a:rPr>
                <a:t> variants · </a:t>
              </a:r>
              <a:r>
                <a:rPr b="1" lang="en-US" sz="1000">
                  <a:solidFill>
                    <a:srgbClr val="F0B429"/>
                  </a:solidFill>
                  <a:latin typeface="Courier New"/>
                  <a:ea typeface="Courier New"/>
                  <a:cs typeface="Courier New"/>
                  <a:sym typeface="Courier New"/>
                </a:rPr>
                <a:t>ONNX</a:t>
              </a:r>
              <a:r>
                <a:rPr b="0" lang="en-US" sz="1000">
                  <a:solidFill>
                    <a:srgbClr val="94A3B8"/>
                  </a:solidFill>
                  <a:latin typeface="Carlito"/>
                  <a:ea typeface="Carlito"/>
                  <a:cs typeface="Carlito"/>
                  <a:sym typeface="Carlito"/>
                </a:rPr>
                <a:t> for real-time inference</a:t>
              </a:r>
              <a:endParaRPr b="0" sz="1000">
                <a:solidFill>
                  <a:srgbClr val="94A3B8"/>
                </a:solidFill>
                <a:latin typeface="Carlito"/>
                <a:ea typeface="Carlito"/>
                <a:cs typeface="Carlito"/>
                <a:sym typeface="Carlito"/>
              </a:endParaRPr>
            </a:p>
          </p:txBody>
        </p:sp>
      </p:grpSp>
      <p:sp>
        <p:nvSpPr>
          <p:cNvPr id="1607" name="Google Shape;1607;p58"/>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608" name="Google Shape;1608;p58"/>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56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613" name="Shape 1613"/>
        <p:cNvGrpSpPr/>
        <p:nvPr/>
      </p:nvGrpSpPr>
      <p:grpSpPr>
        <a:xfrm>
          <a:off x="0" y="0"/>
          <a:ext cx="0" cy="0"/>
          <a:chOff x="0" y="0"/>
          <a:chExt cx="0" cy="0"/>
        </a:xfrm>
      </p:grpSpPr>
      <p:sp>
        <p:nvSpPr>
          <p:cNvPr id="1614" name="Google Shape;1614;p59"/>
          <p:cNvSpPr/>
          <p:nvPr/>
        </p:nvSpPr>
        <p:spPr>
          <a:xfrm>
            <a:off x="457200" y="400050"/>
            <a:ext cx="8636100" cy="164700"/>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F0B429"/>
              </a:buClr>
              <a:buSzPts val="800"/>
              <a:buFont typeface="Arial"/>
              <a:buNone/>
            </a:pPr>
            <a:r>
              <a:rPr b="0" i="0" lang="en-US" sz="800" u="none" cap="none" strike="noStrike">
                <a:solidFill>
                  <a:srgbClr val="F0B429"/>
                </a:solidFill>
                <a:latin typeface="Arial"/>
                <a:ea typeface="Arial"/>
                <a:cs typeface="Arial"/>
                <a:sym typeface="Arial"/>
              </a:rPr>
              <a:t>PART 08 · OPEN DISCUSSION</a:t>
            </a:r>
            <a:endParaRPr b="0" i="0" sz="800" u="none" cap="none" strike="noStrike">
              <a:solidFill>
                <a:schemeClr val="dk1"/>
              </a:solidFill>
              <a:latin typeface="Calibri"/>
              <a:ea typeface="Calibri"/>
              <a:cs typeface="Calibri"/>
              <a:sym typeface="Calibri"/>
            </a:endParaRPr>
          </a:p>
        </p:txBody>
      </p:sp>
      <p:sp>
        <p:nvSpPr>
          <p:cNvPr id="1615" name="Google Shape;1615;p59"/>
          <p:cNvSpPr/>
          <p:nvPr/>
        </p:nvSpPr>
        <p:spPr>
          <a:xfrm>
            <a:off x="457200" y="603647"/>
            <a:ext cx="2578800" cy="354900"/>
          </a:xfrm>
          <a:prstGeom prst="rect">
            <a:avLst/>
          </a:prstGeom>
          <a:noFill/>
          <a:ln>
            <a:noFill/>
          </a:ln>
        </p:spPr>
        <p:txBody>
          <a:bodyPr anchorCtr="0" anchor="t" bIns="0" lIns="0" spcFirstLastPara="1" rIns="0" wrap="square" tIns="0">
            <a:noAutofit/>
          </a:bodyPr>
          <a:lstStyle/>
          <a:p>
            <a:pPr indent="0" lvl="0" marL="0" marR="0" rtl="0" algn="l">
              <a:lnSpc>
                <a:spcPct val="115022"/>
              </a:lnSpc>
              <a:spcBef>
                <a:spcPts val="0"/>
              </a:spcBef>
              <a:spcAft>
                <a:spcPts val="0"/>
              </a:spcAft>
              <a:buClr>
                <a:srgbClr val="F5F1E6"/>
              </a:buClr>
              <a:buSzPts val="2250"/>
              <a:buFont typeface="Carlito"/>
              <a:buNone/>
            </a:pPr>
            <a:r>
              <a:rPr b="1" i="0" lang="en-US" sz="2250" u="none" cap="none" strike="noStrike">
                <a:solidFill>
                  <a:srgbClr val="F5F1E6"/>
                </a:solidFill>
                <a:latin typeface="Carlito"/>
                <a:ea typeface="Carlito"/>
                <a:cs typeface="Carlito"/>
                <a:sym typeface="Carlito"/>
              </a:rPr>
              <a:t>Open Discussion</a:t>
            </a:r>
            <a:endParaRPr b="0" i="0" sz="2250" u="none" cap="none" strike="noStrike">
              <a:solidFill>
                <a:schemeClr val="dk1"/>
              </a:solidFill>
              <a:latin typeface="Calibri"/>
              <a:ea typeface="Calibri"/>
              <a:cs typeface="Calibri"/>
              <a:sym typeface="Calibri"/>
            </a:endParaRPr>
          </a:p>
        </p:txBody>
      </p:sp>
      <p:sp>
        <p:nvSpPr>
          <p:cNvPr id="1616" name="Google Shape;1616;p59"/>
          <p:cNvSpPr/>
          <p:nvPr/>
        </p:nvSpPr>
        <p:spPr>
          <a:xfrm>
            <a:off x="2625900" y="732225"/>
            <a:ext cx="1072500" cy="212100"/>
          </a:xfrm>
          <a:prstGeom prst="roundRect">
            <a:avLst>
              <a:gd fmla="val 14286" name="adj"/>
            </a:avLst>
          </a:prstGeom>
          <a:solidFill>
            <a:srgbClr val="F0B429">
              <a:alpha val="12157"/>
            </a:srgbClr>
          </a:solidFill>
          <a:ln cap="flat" cmpd="sng" w="9525">
            <a:solidFill>
              <a:srgbClr val="F0B4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17" name="Google Shape;1617;p59"/>
          <p:cNvSpPr/>
          <p:nvPr/>
        </p:nvSpPr>
        <p:spPr>
          <a:xfrm>
            <a:off x="2855937" y="785813"/>
            <a:ext cx="5830800" cy="142500"/>
          </a:xfrm>
          <a:prstGeom prst="rect">
            <a:avLst/>
          </a:prstGeom>
          <a:noFill/>
          <a:ln>
            <a:noFill/>
          </a:ln>
        </p:spPr>
        <p:txBody>
          <a:bodyPr anchorCtr="0" anchor="t" bIns="0" lIns="0" spcFirstLastPara="1" rIns="0" wrap="square" tIns="0">
            <a:noAutofit/>
          </a:bodyPr>
          <a:lstStyle/>
          <a:p>
            <a:pPr indent="0" lvl="0" marL="0" marR="0" rtl="0" algn="l">
              <a:lnSpc>
                <a:spcPct val="105499"/>
              </a:lnSpc>
              <a:spcBef>
                <a:spcPts val="0"/>
              </a:spcBef>
              <a:spcAft>
                <a:spcPts val="0"/>
              </a:spcAft>
              <a:buClr>
                <a:srgbClr val="F0B429"/>
              </a:buClr>
              <a:buSzPts val="800"/>
              <a:buFont typeface="Courier New"/>
              <a:buNone/>
            </a:pPr>
            <a:r>
              <a:rPr b="0" i="0" lang="en-US" sz="800" u="none" cap="none" strike="noStrike">
                <a:solidFill>
                  <a:srgbClr val="F0B429"/>
                </a:solidFill>
                <a:latin typeface="Courier New"/>
                <a:ea typeface="Courier New"/>
                <a:cs typeface="Courier New"/>
                <a:sym typeface="Courier New"/>
              </a:rPr>
              <a:t>FLOOR IS OPEN</a:t>
            </a:r>
            <a:endParaRPr b="0" i="0" sz="800" u="none" cap="none" strike="noStrike">
              <a:solidFill>
                <a:schemeClr val="dk1"/>
              </a:solidFill>
              <a:latin typeface="Calibri"/>
              <a:ea typeface="Calibri"/>
              <a:cs typeface="Calibri"/>
              <a:sym typeface="Calibri"/>
            </a:endParaRPr>
          </a:p>
        </p:txBody>
      </p:sp>
      <p:sp>
        <p:nvSpPr>
          <p:cNvPr id="1618" name="Google Shape;1618;p59"/>
          <p:cNvSpPr/>
          <p:nvPr/>
        </p:nvSpPr>
        <p:spPr>
          <a:xfrm>
            <a:off x="2727350" y="789384"/>
            <a:ext cx="91500" cy="9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B429"/>
              </a:buClr>
              <a:buSzPts val="843"/>
              <a:buFont typeface="Quattrocento Sans"/>
              <a:buNone/>
            </a:pPr>
            <a:r>
              <a:rPr b="0" i="0" lang="en-US" sz="844" u="none" cap="none" strike="noStrike">
                <a:solidFill>
                  <a:srgbClr val="F0B429"/>
                </a:solidFill>
                <a:latin typeface="Quattrocento Sans"/>
                <a:ea typeface="Quattrocento Sans"/>
                <a:cs typeface="Quattrocento Sans"/>
                <a:sym typeface="Quattrocento Sans"/>
              </a:rPr>
              <a:t>◌</a:t>
            </a:r>
            <a:endParaRPr b="0" i="0" sz="844" u="none" cap="none" strike="noStrike">
              <a:solidFill>
                <a:schemeClr val="dk1"/>
              </a:solidFill>
              <a:latin typeface="Calibri"/>
              <a:ea typeface="Calibri"/>
              <a:cs typeface="Calibri"/>
              <a:sym typeface="Calibri"/>
            </a:endParaRPr>
          </a:p>
        </p:txBody>
      </p:sp>
      <p:grpSp>
        <p:nvGrpSpPr>
          <p:cNvPr id="1619" name="Google Shape;1619;p59"/>
          <p:cNvGrpSpPr/>
          <p:nvPr/>
        </p:nvGrpSpPr>
        <p:grpSpPr>
          <a:xfrm>
            <a:off x="457200" y="1190625"/>
            <a:ext cx="8229600" cy="1143000"/>
            <a:chOff x="457200" y="1190625"/>
            <a:chExt cx="8229600" cy="1143000"/>
          </a:xfrm>
        </p:grpSpPr>
        <p:sp>
          <p:nvSpPr>
            <p:cNvPr id="1620" name="Google Shape;1620;p59"/>
            <p:cNvSpPr/>
            <p:nvPr/>
          </p:nvSpPr>
          <p:spPr>
            <a:xfrm>
              <a:off x="457200" y="1190625"/>
              <a:ext cx="82296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1" name="Google Shape;1621;p59"/>
            <p:cNvSpPr txBox="1"/>
            <p:nvPr/>
          </p:nvSpPr>
          <p:spPr>
            <a:xfrm>
              <a:off x="457200" y="1190625"/>
              <a:ext cx="8229600" cy="1143000"/>
            </a:xfrm>
            <a:prstGeom prst="rect">
              <a:avLst/>
            </a:prstGeom>
            <a:noFill/>
            <a:ln>
              <a:noFill/>
            </a:ln>
          </p:spPr>
          <p:txBody>
            <a:bodyPr anchorCtr="0" anchor="ctr" bIns="0" lIns="228600" spcFirstLastPara="1" rIns="0" wrap="square" tIns="0">
              <a:noAutofit/>
            </a:bodyPr>
            <a:lstStyle/>
            <a:p>
              <a:pPr indent="0" lvl="0" marL="0" rtl="0" algn="l">
                <a:spcBef>
                  <a:spcPts val="0"/>
                </a:spcBef>
                <a:spcAft>
                  <a:spcPts val="0"/>
                </a:spcAft>
                <a:buNone/>
              </a:pPr>
              <a:r>
                <a:rPr i="1" lang="en-US" sz="1900">
                  <a:solidFill>
                    <a:srgbClr val="F5F1E6"/>
                  </a:solidFill>
                  <a:latin typeface="Carlito"/>
                  <a:ea typeface="Carlito"/>
                  <a:cs typeface="Carlito"/>
                  <a:sym typeface="Carlito"/>
                </a:rPr>
                <a:t>Where in your own research or teaching would a </a:t>
              </a:r>
              <a:r>
                <a:rPr b="1" i="1" lang="en-US" sz="1900">
                  <a:solidFill>
                    <a:srgbClr val="F0B429"/>
                  </a:solidFill>
                  <a:latin typeface="Carlito"/>
                  <a:ea typeface="Carlito"/>
                  <a:cs typeface="Carlito"/>
                  <a:sym typeface="Carlito"/>
                </a:rPr>
                <a:t>resource-constrained model</a:t>
              </a:r>
              <a:r>
                <a:rPr i="1" lang="en-US" sz="1900">
                  <a:solidFill>
                    <a:srgbClr val="F5F1E6"/>
                  </a:solidFill>
                  <a:latin typeface="Carlito"/>
                  <a:ea typeface="Carlito"/>
                  <a:cs typeface="Carlito"/>
                  <a:sym typeface="Carlito"/>
                </a:rPr>
                <a:t> — smaller, faster, or cheaper to run — open up something that's currently out of reach?</a:t>
              </a:r>
              <a:endParaRPr i="1" sz="1900">
                <a:solidFill>
                  <a:srgbClr val="F5F1E6"/>
                </a:solidFill>
                <a:latin typeface="Carlito"/>
                <a:ea typeface="Carlito"/>
                <a:cs typeface="Carlito"/>
                <a:sym typeface="Carlito"/>
              </a:endParaRPr>
            </a:p>
          </p:txBody>
        </p:sp>
      </p:grpSp>
      <p:grpSp>
        <p:nvGrpSpPr>
          <p:cNvPr id="1622" name="Google Shape;1622;p59"/>
          <p:cNvGrpSpPr/>
          <p:nvPr/>
        </p:nvGrpSpPr>
        <p:grpSpPr>
          <a:xfrm>
            <a:off x="457200" y="2619375"/>
            <a:ext cx="2590800" cy="1524000"/>
            <a:chOff x="457200" y="2619375"/>
            <a:chExt cx="2590800" cy="1524000"/>
          </a:xfrm>
        </p:grpSpPr>
        <p:sp>
          <p:nvSpPr>
            <p:cNvPr id="1623" name="Google Shape;1623;p59"/>
            <p:cNvSpPr/>
            <p:nvPr/>
          </p:nvSpPr>
          <p:spPr>
            <a:xfrm>
              <a:off x="457200" y="2619375"/>
              <a:ext cx="2590800" cy="1524000"/>
            </a:xfrm>
            <a:prstGeom prst="roundRect">
              <a:avLst>
                <a:gd fmla="val 5000"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4" name="Google Shape;1624;p59"/>
            <p:cNvSpPr/>
            <p:nvPr/>
          </p:nvSpPr>
          <p:spPr>
            <a:xfrm>
              <a:off x="457200" y="2619375"/>
              <a:ext cx="25908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5" name="Google Shape;1625;p59"/>
            <p:cNvSpPr txBox="1"/>
            <p:nvPr/>
          </p:nvSpPr>
          <p:spPr>
            <a:xfrm>
              <a:off x="609600" y="2809875"/>
              <a:ext cx="22860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rgbClr val="F0B429"/>
                  </a:solidFill>
                  <a:latin typeface="Material Icons"/>
                  <a:ea typeface="Material Icons"/>
                  <a:cs typeface="Material Icons"/>
                  <a:sym typeface="Material Icons"/>
                </a:rPr>
                <a:t>settings</a:t>
              </a:r>
              <a:endParaRPr>
                <a:latin typeface="Carlito"/>
                <a:ea typeface="Carlito"/>
                <a:cs typeface="Carlito"/>
                <a:sym typeface="Carlito"/>
              </a:endParaRPr>
            </a:p>
            <a:p>
              <a:pPr indent="0" lvl="0" marL="0" rtl="0" algn="l">
                <a:spcBef>
                  <a:spcPts val="0"/>
                </a:spcBef>
                <a:spcAft>
                  <a:spcPts val="0"/>
                </a:spcAft>
                <a:buNone/>
              </a:pPr>
              <a:r>
                <a:rPr b="1" lang="en-US" sz="1250">
                  <a:solidFill>
                    <a:srgbClr val="F5F1E6"/>
                  </a:solidFill>
                  <a:latin typeface="Carlito"/>
                  <a:ea typeface="Carlito"/>
                  <a:cs typeface="Carlito"/>
                  <a:sym typeface="Carlito"/>
                </a:rPr>
                <a:t>A specific model you want to fine-tune?</a:t>
              </a:r>
              <a:endParaRPr b="1" sz="1250">
                <a:solidFill>
                  <a:srgbClr val="F5F1E6"/>
                </a:solidFill>
                <a:latin typeface="Carlito"/>
                <a:ea typeface="Carlito"/>
                <a:cs typeface="Carlito"/>
                <a:sym typeface="Carlito"/>
              </a:endParaRPr>
            </a:p>
          </p:txBody>
        </p:sp>
      </p:grpSp>
      <p:grpSp>
        <p:nvGrpSpPr>
          <p:cNvPr id="1626" name="Google Shape;1626;p59"/>
          <p:cNvGrpSpPr/>
          <p:nvPr/>
        </p:nvGrpSpPr>
        <p:grpSpPr>
          <a:xfrm>
            <a:off x="3276600" y="2619375"/>
            <a:ext cx="2590800" cy="1524000"/>
            <a:chOff x="3276600" y="2619375"/>
            <a:chExt cx="2590800" cy="1524000"/>
          </a:xfrm>
        </p:grpSpPr>
        <p:sp>
          <p:nvSpPr>
            <p:cNvPr id="1627" name="Google Shape;1627;p59"/>
            <p:cNvSpPr/>
            <p:nvPr/>
          </p:nvSpPr>
          <p:spPr>
            <a:xfrm>
              <a:off x="3276600" y="2619375"/>
              <a:ext cx="2590800" cy="1524000"/>
            </a:xfrm>
            <a:prstGeom prst="roundRect">
              <a:avLst>
                <a:gd fmla="val 5000"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8" name="Google Shape;1628;p59"/>
            <p:cNvSpPr/>
            <p:nvPr/>
          </p:nvSpPr>
          <p:spPr>
            <a:xfrm>
              <a:off x="3276600" y="2619375"/>
              <a:ext cx="25908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9" name="Google Shape;1629;p59"/>
            <p:cNvSpPr txBox="1"/>
            <p:nvPr/>
          </p:nvSpPr>
          <p:spPr>
            <a:xfrm>
              <a:off x="3429000" y="2809875"/>
              <a:ext cx="22860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rgbClr val="F0B429"/>
                  </a:solidFill>
                  <a:latin typeface="Material Icons"/>
                  <a:ea typeface="Material Icons"/>
                  <a:cs typeface="Material Icons"/>
                  <a:sym typeface="Material Icons"/>
                </a:rPr>
                <a:t>speed</a:t>
              </a:r>
              <a:endParaRPr>
                <a:latin typeface="Carlito"/>
                <a:ea typeface="Carlito"/>
                <a:cs typeface="Carlito"/>
                <a:sym typeface="Carlito"/>
              </a:endParaRPr>
            </a:p>
            <a:p>
              <a:pPr indent="0" lvl="0" marL="0" rtl="0" algn="l">
                <a:spcBef>
                  <a:spcPts val="0"/>
                </a:spcBef>
                <a:spcAft>
                  <a:spcPts val="0"/>
                </a:spcAft>
                <a:buNone/>
              </a:pPr>
              <a:r>
                <a:rPr b="1" lang="en-US" sz="1250">
                  <a:solidFill>
                    <a:srgbClr val="F5F1E6"/>
                  </a:solidFill>
                  <a:latin typeface="Carlito"/>
                  <a:ea typeface="Carlito"/>
                  <a:cs typeface="Carlito"/>
                  <a:sym typeface="Carlito"/>
                </a:rPr>
                <a:t>A deployment target you need to hit?</a:t>
              </a:r>
              <a:endParaRPr b="1" sz="1250">
                <a:solidFill>
                  <a:srgbClr val="F5F1E6"/>
                </a:solidFill>
                <a:latin typeface="Carlito"/>
                <a:ea typeface="Carlito"/>
                <a:cs typeface="Carlito"/>
                <a:sym typeface="Carlito"/>
              </a:endParaRPr>
            </a:p>
          </p:txBody>
        </p:sp>
      </p:grpSp>
      <p:grpSp>
        <p:nvGrpSpPr>
          <p:cNvPr id="1630" name="Google Shape;1630;p59"/>
          <p:cNvGrpSpPr/>
          <p:nvPr/>
        </p:nvGrpSpPr>
        <p:grpSpPr>
          <a:xfrm>
            <a:off x="6096000" y="2619375"/>
            <a:ext cx="2590800" cy="1524000"/>
            <a:chOff x="6096000" y="2619375"/>
            <a:chExt cx="2590800" cy="1524000"/>
          </a:xfrm>
        </p:grpSpPr>
        <p:sp>
          <p:nvSpPr>
            <p:cNvPr id="1631" name="Google Shape;1631;p59"/>
            <p:cNvSpPr/>
            <p:nvPr/>
          </p:nvSpPr>
          <p:spPr>
            <a:xfrm>
              <a:off x="6096000" y="2619375"/>
              <a:ext cx="2590800" cy="1524000"/>
            </a:xfrm>
            <a:prstGeom prst="roundRect">
              <a:avLst>
                <a:gd fmla="val 5000"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2" name="Google Shape;1632;p59"/>
            <p:cNvSpPr/>
            <p:nvPr/>
          </p:nvSpPr>
          <p:spPr>
            <a:xfrm>
              <a:off x="6096000" y="2619375"/>
              <a:ext cx="2590800" cy="381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3" name="Google Shape;1633;p59"/>
            <p:cNvSpPr txBox="1"/>
            <p:nvPr/>
          </p:nvSpPr>
          <p:spPr>
            <a:xfrm>
              <a:off x="6248400" y="2809875"/>
              <a:ext cx="22860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rgbClr val="F0B429"/>
                  </a:solidFill>
                  <a:latin typeface="Material Icons"/>
                  <a:ea typeface="Material Icons"/>
                  <a:cs typeface="Material Icons"/>
                  <a:sym typeface="Material Icons"/>
                </a:rPr>
                <a:t>memory</a:t>
              </a:r>
              <a:endParaRPr>
                <a:latin typeface="Carlito"/>
                <a:ea typeface="Carlito"/>
                <a:cs typeface="Carlito"/>
                <a:sym typeface="Carlito"/>
              </a:endParaRPr>
            </a:p>
            <a:p>
              <a:pPr indent="0" lvl="0" marL="0" rtl="0" algn="l">
                <a:spcBef>
                  <a:spcPts val="0"/>
                </a:spcBef>
                <a:spcAft>
                  <a:spcPts val="0"/>
                </a:spcAft>
                <a:buNone/>
              </a:pPr>
              <a:r>
                <a:rPr b="1" lang="en-US" sz="1250">
                  <a:solidFill>
                    <a:srgbClr val="F5F1E6"/>
                  </a:solidFill>
                  <a:latin typeface="Carlito"/>
                  <a:ea typeface="Carlito"/>
                  <a:cs typeface="Carlito"/>
                  <a:sym typeface="Carlito"/>
                </a:rPr>
                <a:t>A compute or memory budget to fit within?</a:t>
              </a:r>
              <a:endParaRPr b="1" sz="1250">
                <a:solidFill>
                  <a:srgbClr val="F5F1E6"/>
                </a:solidFill>
                <a:latin typeface="Carlito"/>
                <a:ea typeface="Carlito"/>
                <a:cs typeface="Carlito"/>
                <a:sym typeface="Carlito"/>
              </a:endParaRPr>
            </a:p>
          </p:txBody>
        </p:sp>
      </p:grpSp>
      <p:sp>
        <p:nvSpPr>
          <p:cNvPr id="1634" name="Google Shape;1634;p59"/>
          <p:cNvSpPr/>
          <p:nvPr/>
        </p:nvSpPr>
        <p:spPr>
          <a:xfrm>
            <a:off x="7455642" y="4585645"/>
            <a:ext cx="1254000" cy="212100"/>
          </a:xfrm>
          <a:prstGeom prst="roundRect">
            <a:avLst>
              <a:gd fmla="val 17969" name="adj"/>
            </a:avLst>
          </a:prstGeom>
          <a:solidFill>
            <a:srgbClr val="142339"/>
          </a:solidFill>
          <a:ln cap="flat" cmpd="sng" w="9525">
            <a:solidFill>
              <a:srgbClr val="2A3B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35" name="Google Shape;1635;p59"/>
          <p:cNvSpPr/>
          <p:nvPr/>
        </p:nvSpPr>
        <p:spPr>
          <a:xfrm>
            <a:off x="7685670" y="4639866"/>
            <a:ext cx="922500" cy="139800"/>
          </a:xfrm>
          <a:prstGeom prst="rect">
            <a:avLst/>
          </a:prstGeom>
          <a:noFill/>
          <a:ln>
            <a:noFill/>
          </a:ln>
        </p:spPr>
        <p:txBody>
          <a:bodyPr anchorCtr="0" anchor="t" bIns="0" lIns="0" spcFirstLastPara="1" rIns="0" wrap="square" tIns="0">
            <a:noAutofit/>
          </a:bodyPr>
          <a:lstStyle/>
          <a:p>
            <a:pPr indent="0" lvl="0" marL="0" marR="0" rtl="0" algn="l">
              <a:lnSpc>
                <a:spcPct val="149919"/>
              </a:lnSpc>
              <a:spcBef>
                <a:spcPts val="0"/>
              </a:spcBef>
              <a:spcAft>
                <a:spcPts val="0"/>
              </a:spcAft>
              <a:buClr>
                <a:srgbClr val="94A3B8"/>
              </a:buClr>
              <a:buSzPts val="619"/>
              <a:buFont typeface="Arial"/>
              <a:buNone/>
            </a:pPr>
            <a:r>
              <a:rPr b="0" i="0" lang="en-US" sz="619" u="none" cap="none" strike="noStrike">
                <a:solidFill>
                  <a:srgbClr val="94A3B8"/>
                </a:solidFill>
                <a:latin typeface="Arial"/>
                <a:ea typeface="Arial"/>
                <a:cs typeface="Arial"/>
                <a:sym typeface="Arial"/>
              </a:rPr>
              <a:t>~10 MIN · OPEN FLOOR</a:t>
            </a:r>
            <a:endParaRPr b="0" i="0" sz="619" u="none" cap="none" strike="noStrike">
              <a:solidFill>
                <a:schemeClr val="dk1"/>
              </a:solidFill>
              <a:latin typeface="Calibri"/>
              <a:ea typeface="Calibri"/>
              <a:cs typeface="Calibri"/>
              <a:sym typeface="Calibri"/>
            </a:endParaRPr>
          </a:p>
        </p:txBody>
      </p:sp>
      <p:sp>
        <p:nvSpPr>
          <p:cNvPr id="1636" name="Google Shape;1636;p59"/>
          <p:cNvSpPr/>
          <p:nvPr/>
        </p:nvSpPr>
        <p:spPr>
          <a:xfrm>
            <a:off x="7557083" y="4648795"/>
            <a:ext cx="91500" cy="9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B429"/>
              </a:buClr>
              <a:buSzPts val="843"/>
              <a:buFont typeface="Quattrocento Sans"/>
              <a:buNone/>
            </a:pPr>
            <a:r>
              <a:rPr b="0" i="0" lang="en-US" sz="844" u="none" cap="none" strike="noStrike">
                <a:solidFill>
                  <a:srgbClr val="F0B429"/>
                </a:solidFill>
                <a:latin typeface="Quattrocento Sans"/>
                <a:ea typeface="Quattrocento Sans"/>
                <a:cs typeface="Quattrocento Sans"/>
                <a:sym typeface="Quattrocento Sans"/>
              </a:rPr>
              <a:t>◔</a:t>
            </a:r>
            <a:endParaRPr b="0" i="0" sz="844" u="none" cap="none" strike="noStrike">
              <a:solidFill>
                <a:schemeClr val="dk1"/>
              </a:solidFill>
              <a:latin typeface="Calibri"/>
              <a:ea typeface="Calibri"/>
              <a:cs typeface="Calibri"/>
              <a:sym typeface="Calibri"/>
            </a:endParaRPr>
          </a:p>
        </p:txBody>
      </p:sp>
      <p:sp>
        <p:nvSpPr>
          <p:cNvPr id="1637" name="Google Shape;1637;p59"/>
          <p:cNvSpPr/>
          <p:nvPr/>
        </p:nvSpPr>
        <p:spPr>
          <a:xfrm>
            <a:off x="457200" y="4857750"/>
            <a:ext cx="78672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64748B"/>
              </a:buClr>
              <a:buSzPts val="800"/>
              <a:buFont typeface="Carlito"/>
              <a:buNone/>
            </a:pPr>
            <a:r>
              <a:rPr b="0" i="0" lang="en-US" sz="800" u="none" cap="none" strike="noStrike">
                <a:solidFill>
                  <a:srgbClr val="64748B"/>
                </a:solidFill>
                <a:latin typeface="Carlito"/>
                <a:ea typeface="Carlito"/>
                <a:cs typeface="Carlito"/>
                <a:sym typeface="Carlito"/>
              </a:rPr>
              <a:t>DEEP LEARNING FOR RESOURCE OPTIMIZATION</a:t>
            </a:r>
            <a:endParaRPr b="0" i="0" sz="800" u="none" cap="none" strike="noStrike">
              <a:solidFill>
                <a:schemeClr val="dk1"/>
              </a:solidFill>
              <a:latin typeface="Calibri"/>
              <a:ea typeface="Calibri"/>
              <a:cs typeface="Calibri"/>
              <a:sym typeface="Calibri"/>
            </a:endParaRPr>
          </a:p>
        </p:txBody>
      </p:sp>
      <p:sp>
        <p:nvSpPr>
          <p:cNvPr id="1638" name="Google Shape;1638;p59"/>
          <p:cNvSpPr/>
          <p:nvPr/>
        </p:nvSpPr>
        <p:spPr>
          <a:xfrm>
            <a:off x="8338654" y="4857750"/>
            <a:ext cx="497100" cy="164700"/>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94A3B8"/>
              </a:buClr>
              <a:buSzPts val="800"/>
              <a:buFont typeface="Arial"/>
              <a:buNone/>
            </a:pPr>
            <a:r>
              <a:rPr b="0" i="0" lang="en-US" sz="800" u="none" cap="none" strike="noStrike">
                <a:solidFill>
                  <a:srgbClr val="94A3B8"/>
                </a:solidFill>
                <a:latin typeface="Arial"/>
                <a:ea typeface="Arial"/>
                <a:cs typeface="Arial"/>
                <a:sym typeface="Arial"/>
              </a:rPr>
              <a:t>57 </a:t>
            </a:r>
            <a:r>
              <a:rPr b="0" i="0" lang="en-US" sz="800" u="none" cap="none" strike="noStrike">
                <a:solidFill>
                  <a:srgbClr val="64748B"/>
                </a:solidFill>
                <a:latin typeface="Arial"/>
                <a:ea typeface="Arial"/>
                <a:cs typeface="Arial"/>
                <a:sym typeface="Arial"/>
              </a:rPr>
              <a:t>/ 58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43" name="Shape 1643"/>
        <p:cNvGrpSpPr/>
        <p:nvPr/>
      </p:nvGrpSpPr>
      <p:grpSpPr>
        <a:xfrm>
          <a:off x="0" y="0"/>
          <a:ext cx="0" cy="0"/>
          <a:chOff x="0" y="0"/>
          <a:chExt cx="0" cy="0"/>
        </a:xfrm>
      </p:grpSpPr>
      <p:grpSp>
        <p:nvGrpSpPr>
          <p:cNvPr id="1644" name="Google Shape;1644;p60"/>
          <p:cNvGrpSpPr/>
          <p:nvPr/>
        </p:nvGrpSpPr>
        <p:grpSpPr>
          <a:xfrm>
            <a:off x="457200" y="4743450"/>
            <a:ext cx="1428900" cy="190500"/>
            <a:chOff x="457200" y="4743450"/>
            <a:chExt cx="1428900" cy="190500"/>
          </a:xfrm>
        </p:grpSpPr>
        <p:sp>
          <p:nvSpPr>
            <p:cNvPr id="1645" name="Google Shape;1645;p60"/>
            <p:cNvSpPr/>
            <p:nvPr/>
          </p:nvSpPr>
          <p:spPr>
            <a:xfrm>
              <a:off x="457200" y="4743450"/>
              <a:ext cx="14289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6" name="Google Shape;1646;p60"/>
            <p:cNvSpPr txBox="1"/>
            <p:nvPr/>
          </p:nvSpPr>
          <p:spPr>
            <a:xfrm>
              <a:off x="457200" y="4743450"/>
              <a:ext cx="14289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900">
                  <a:solidFill>
                    <a:srgbClr val="F0B429"/>
                  </a:solidFill>
                  <a:latin typeface="Quattrocento Sans"/>
                  <a:ea typeface="Quattrocento Sans"/>
                  <a:cs typeface="Quattrocento Sans"/>
                  <a:sym typeface="Quattrocento Sans"/>
                </a:rPr>
                <a:t>▦ </a:t>
              </a:r>
              <a:r>
                <a:rPr lang="en-US" sz="900">
                  <a:solidFill>
                    <a:srgbClr val="64748B"/>
                  </a:solidFill>
                  <a:latin typeface="Carlito"/>
                  <a:ea typeface="Carlito"/>
                  <a:cs typeface="Carlito"/>
                  <a:sym typeface="Carlito"/>
                </a:rPr>
                <a:t>FDP · 30 JULY 2026</a:t>
              </a:r>
              <a:endParaRPr sz="900">
                <a:solidFill>
                  <a:srgbClr val="64748B"/>
                </a:solidFill>
                <a:latin typeface="Carlito"/>
                <a:ea typeface="Carlito"/>
                <a:cs typeface="Carlito"/>
                <a:sym typeface="Carlito"/>
              </a:endParaRPr>
            </a:p>
          </p:txBody>
        </p:sp>
      </p:grpSp>
      <p:grpSp>
        <p:nvGrpSpPr>
          <p:cNvPr id="1647" name="Google Shape;1647;p60"/>
          <p:cNvGrpSpPr/>
          <p:nvPr/>
        </p:nvGrpSpPr>
        <p:grpSpPr>
          <a:xfrm>
            <a:off x="6781800" y="4743450"/>
            <a:ext cx="1905000" cy="190500"/>
            <a:chOff x="6781800" y="4743450"/>
            <a:chExt cx="1905000" cy="190500"/>
          </a:xfrm>
        </p:grpSpPr>
        <p:sp>
          <p:nvSpPr>
            <p:cNvPr id="1648" name="Google Shape;1648;p60"/>
            <p:cNvSpPr/>
            <p:nvPr/>
          </p:nvSpPr>
          <p:spPr>
            <a:xfrm>
              <a:off x="6781800" y="4743450"/>
              <a:ext cx="19050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9" name="Google Shape;1649;p60"/>
            <p:cNvSpPr txBox="1"/>
            <p:nvPr/>
          </p:nvSpPr>
          <p:spPr>
            <a:xfrm>
              <a:off x="6781800" y="4743450"/>
              <a:ext cx="1905000" cy="1905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lang="en-US" sz="800">
                  <a:solidFill>
                    <a:srgbClr val="F0B429"/>
                  </a:solidFill>
                  <a:latin typeface="Quattrocento Sans"/>
                  <a:ea typeface="Quattrocento Sans"/>
                  <a:cs typeface="Quattrocento Sans"/>
                  <a:sym typeface="Quattrocento Sans"/>
                </a:rPr>
                <a:t>◌ </a:t>
              </a:r>
              <a:r>
                <a:rPr lang="en-US" sz="800">
                  <a:solidFill>
                    <a:srgbClr val="64748B"/>
                  </a:solidFill>
                  <a:latin typeface="Courier New"/>
                  <a:ea typeface="Courier New"/>
                  <a:cs typeface="Courier New"/>
                  <a:sym typeface="Courier New"/>
                </a:rPr>
                <a:t>OPEN DISCUSSION WELCOME</a:t>
              </a:r>
              <a:endParaRPr sz="800">
                <a:solidFill>
                  <a:srgbClr val="64748B"/>
                </a:solidFill>
                <a:latin typeface="Courier New"/>
                <a:ea typeface="Courier New"/>
                <a:cs typeface="Courier New"/>
                <a:sym typeface="Courier New"/>
              </a:endParaRPr>
            </a:p>
          </p:txBody>
        </p:sp>
      </p:grpSp>
      <p:sp>
        <p:nvSpPr>
          <p:cNvPr id="1650" name="Google Shape;1650;p60"/>
          <p:cNvSpPr txBox="1"/>
          <p:nvPr/>
        </p:nvSpPr>
        <p:spPr>
          <a:xfrm>
            <a:off x="457200" y="762000"/>
            <a:ext cx="8229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F0B429"/>
                </a:solidFill>
                <a:latin typeface="Carlito"/>
                <a:ea typeface="Carlito"/>
                <a:cs typeface="Carlito"/>
                <a:sym typeface="Carlito"/>
              </a:rPr>
              <a:t>DEEP LEARNING FOR RESOURCE OPTIMIZATION</a:t>
            </a:r>
            <a:endParaRPr b="1" sz="900">
              <a:solidFill>
                <a:srgbClr val="F0B429"/>
              </a:solidFill>
              <a:latin typeface="Carlito"/>
              <a:ea typeface="Carlito"/>
              <a:cs typeface="Carlito"/>
              <a:sym typeface="Carlito"/>
            </a:endParaRPr>
          </a:p>
        </p:txBody>
      </p:sp>
      <p:sp>
        <p:nvSpPr>
          <p:cNvPr id="1651" name="Google Shape;1651;p60"/>
          <p:cNvSpPr txBox="1"/>
          <p:nvPr/>
        </p:nvSpPr>
        <p:spPr>
          <a:xfrm>
            <a:off x="457200" y="1095375"/>
            <a:ext cx="82296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5600">
                <a:solidFill>
                  <a:srgbClr val="F5F1E6"/>
                </a:solidFill>
                <a:latin typeface="Carlito"/>
                <a:ea typeface="Carlito"/>
                <a:cs typeface="Carlito"/>
                <a:sym typeface="Carlito"/>
              </a:rPr>
              <a:t>Thank You</a:t>
            </a:r>
            <a:endParaRPr b="1" sz="5600">
              <a:solidFill>
                <a:srgbClr val="F5F1E6"/>
              </a:solidFill>
              <a:latin typeface="Carlito"/>
              <a:ea typeface="Carlito"/>
              <a:cs typeface="Carlito"/>
              <a:sym typeface="Carlito"/>
            </a:endParaRPr>
          </a:p>
        </p:txBody>
      </p:sp>
      <p:sp>
        <p:nvSpPr>
          <p:cNvPr id="1652" name="Google Shape;1652;p60"/>
          <p:cNvSpPr txBox="1"/>
          <p:nvPr/>
        </p:nvSpPr>
        <p:spPr>
          <a:xfrm>
            <a:off x="457200" y="2047875"/>
            <a:ext cx="82296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400">
                <a:solidFill>
                  <a:srgbClr val="F5F1E6"/>
                </a:solidFill>
                <a:latin typeface="Carlito"/>
                <a:ea typeface="Carlito"/>
                <a:cs typeface="Carlito"/>
                <a:sym typeface="Carlito"/>
              </a:rPr>
              <a:t>Deep Learning Applications for Resource Optimization</a:t>
            </a:r>
            <a:endParaRPr b="1" sz="1400">
              <a:solidFill>
                <a:srgbClr val="F5F1E6"/>
              </a:solidFill>
              <a:latin typeface="Carlito"/>
              <a:ea typeface="Carlito"/>
              <a:cs typeface="Carlito"/>
              <a:sym typeface="Carlito"/>
            </a:endParaRPr>
          </a:p>
          <a:p>
            <a:pPr indent="0" lvl="0" marL="0" rtl="0" algn="ctr">
              <a:spcBef>
                <a:spcPts val="450"/>
              </a:spcBef>
              <a:spcAft>
                <a:spcPts val="0"/>
              </a:spcAft>
              <a:buNone/>
            </a:pPr>
            <a:r>
              <a:rPr lang="en-US" sz="1100">
                <a:solidFill>
                  <a:srgbClr val="94A3B8"/>
                </a:solidFill>
                <a:latin typeface="Carlito"/>
                <a:ea typeface="Carlito"/>
                <a:cs typeface="Carlito"/>
                <a:sym typeface="Carlito"/>
              </a:rPr>
              <a:t>Efficient training, compression, and deployment of neural networks</a:t>
            </a:r>
            <a:endParaRPr sz="1100">
              <a:solidFill>
                <a:srgbClr val="94A3B8"/>
              </a:solidFill>
              <a:latin typeface="Carlito"/>
              <a:ea typeface="Carlito"/>
              <a:cs typeface="Carlito"/>
              <a:sym typeface="Carlito"/>
            </a:endParaRPr>
          </a:p>
        </p:txBody>
      </p:sp>
      <p:grpSp>
        <p:nvGrpSpPr>
          <p:cNvPr id="1653" name="Google Shape;1653;p60"/>
          <p:cNvGrpSpPr/>
          <p:nvPr/>
        </p:nvGrpSpPr>
        <p:grpSpPr>
          <a:xfrm>
            <a:off x="2762250" y="2952750"/>
            <a:ext cx="3619500" cy="1047900"/>
            <a:chOff x="2762250" y="2952750"/>
            <a:chExt cx="3619500" cy="1047900"/>
          </a:xfrm>
        </p:grpSpPr>
        <p:sp>
          <p:nvSpPr>
            <p:cNvPr id="1654" name="Google Shape;1654;p60"/>
            <p:cNvSpPr/>
            <p:nvPr/>
          </p:nvSpPr>
          <p:spPr>
            <a:xfrm>
              <a:off x="2762250" y="2952750"/>
              <a:ext cx="3619500" cy="1047900"/>
            </a:xfrm>
            <a:prstGeom prst="roundRect">
              <a:avLst>
                <a:gd fmla="val 7272" name="adj"/>
              </a:avLst>
            </a:prstGeom>
            <a:solidFill>
              <a:srgbClr val="142339"/>
            </a:solidFill>
            <a:ln cap="flat" cmpd="sng" w="9525">
              <a:solidFill>
                <a:srgbClr val="2A3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5" name="Google Shape;1655;p60"/>
            <p:cNvSpPr/>
            <p:nvPr/>
          </p:nvSpPr>
          <p:spPr>
            <a:xfrm>
              <a:off x="2762250" y="2952750"/>
              <a:ext cx="38100" cy="1047900"/>
            </a:xfrm>
            <a:prstGeom prst="roundRect">
              <a:avLst>
                <a:gd fmla="val 50000" name="adj"/>
              </a:avLst>
            </a:prstGeom>
            <a:solidFill>
              <a:srgbClr val="F0B4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6" name="Google Shape;1656;p60"/>
            <p:cNvSpPr txBox="1"/>
            <p:nvPr/>
          </p:nvSpPr>
          <p:spPr>
            <a:xfrm>
              <a:off x="2952750" y="3095625"/>
              <a:ext cx="3238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F5F1E6"/>
                  </a:solidFill>
                  <a:latin typeface="Carlito"/>
                  <a:ea typeface="Carlito"/>
                  <a:cs typeface="Carlito"/>
                  <a:sym typeface="Carlito"/>
                </a:rPr>
                <a:t>Er. Abhishek Kumar Shukla</a:t>
              </a:r>
              <a:endParaRPr b="1" sz="1400">
                <a:solidFill>
                  <a:srgbClr val="F5F1E6"/>
                </a:solidFill>
                <a:latin typeface="Carlito"/>
                <a:ea typeface="Carlito"/>
                <a:cs typeface="Carlito"/>
                <a:sym typeface="Carlito"/>
              </a:endParaRPr>
            </a:p>
            <a:p>
              <a:pPr indent="0" lvl="0" marL="0" rtl="0" algn="l">
                <a:spcBef>
                  <a:spcPts val="450"/>
                </a:spcBef>
                <a:spcAft>
                  <a:spcPts val="0"/>
                </a:spcAft>
                <a:buNone/>
              </a:pPr>
              <a:r>
                <a:rPr lang="en-US" sz="1000">
                  <a:solidFill>
                    <a:srgbClr val="94A3B8"/>
                  </a:solidFill>
                  <a:latin typeface="Carlito"/>
                  <a:ea typeface="Carlito"/>
                  <a:cs typeface="Carlito"/>
                  <a:sym typeface="Carlito"/>
                </a:rPr>
                <a:t>Senior AI Developer</a:t>
              </a:r>
              <a:endParaRPr sz="1000">
                <a:solidFill>
                  <a:srgbClr val="94A3B8"/>
                </a:solidFill>
                <a:latin typeface="Carlito"/>
                <a:ea typeface="Carlito"/>
                <a:cs typeface="Carlito"/>
                <a:sym typeface="Carlito"/>
              </a:endParaRPr>
            </a:p>
            <a:p>
              <a:pPr indent="0" lvl="0" marL="0" rtl="0" algn="l">
                <a:spcBef>
                  <a:spcPts val="300"/>
                </a:spcBef>
                <a:spcAft>
                  <a:spcPts val="0"/>
                </a:spcAft>
                <a:buNone/>
              </a:pPr>
              <a:r>
                <a:rPr b="1" lang="en-US" sz="1000">
                  <a:solidFill>
                    <a:srgbClr val="F0B429"/>
                  </a:solidFill>
                  <a:latin typeface="Carlito"/>
                  <a:ea typeface="Carlito"/>
                  <a:cs typeface="Carlito"/>
                  <a:sym typeface="Carlito"/>
                </a:rPr>
                <a:t>UniConverge Technologies Pvt. Ltd.</a:t>
              </a:r>
              <a:endParaRPr b="1" sz="1000">
                <a:solidFill>
                  <a:srgbClr val="F0B429"/>
                </a:solidFill>
                <a:latin typeface="Carlito"/>
                <a:ea typeface="Carlito"/>
                <a:cs typeface="Carlito"/>
                <a:sym typeface="Carlito"/>
              </a:endParaRPr>
            </a:p>
          </p:txBody>
        </p:sp>
      </p:grpSp>
      <p:pic>
        <p:nvPicPr>
          <p:cNvPr id="1657" name="Google Shape;1657;p60" title="WhatsApp Image 2026-07-22 at 7.27.24 AM.jpeg"/>
          <p:cNvPicPr preferRelativeResize="0"/>
          <p:nvPr/>
        </p:nvPicPr>
        <p:blipFill rotWithShape="1">
          <a:blip r:embed="rId4">
            <a:alphaModFix/>
          </a:blip>
          <a:srcRect b="8206" l="0" r="0" t="0"/>
          <a:stretch/>
        </p:blipFill>
        <p:spPr>
          <a:xfrm>
            <a:off x="7034925" y="1860449"/>
            <a:ext cx="1398750" cy="1422600"/>
          </a:xfrm>
          <a:prstGeom prst="rect">
            <a:avLst/>
          </a:prstGeom>
          <a:noFill/>
          <a:ln>
            <a:noFill/>
          </a:ln>
        </p:spPr>
      </p:pic>
      <p:pic>
        <p:nvPicPr>
          <p:cNvPr id="1658" name="Google Shape;1658;p60" title="uct consulting.png"/>
          <p:cNvPicPr preferRelativeResize="0"/>
          <p:nvPr/>
        </p:nvPicPr>
        <p:blipFill>
          <a:blip r:embed="rId5">
            <a:alphaModFix/>
          </a:blip>
          <a:stretch>
            <a:fillRect/>
          </a:stretch>
        </p:blipFill>
        <p:spPr>
          <a:xfrm>
            <a:off x="457200" y="2254526"/>
            <a:ext cx="1899599" cy="6344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